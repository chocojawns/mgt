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6" r:id="rId5"/>
  </p:sldMasterIdLst>
  <p:notesMasterIdLst>
    <p:notesMasterId r:id="rId42"/>
  </p:notesMasterIdLst>
  <p:handoutMasterIdLst>
    <p:handoutMasterId r:id="rId43"/>
  </p:handoutMasterIdLst>
  <p:sldIdLst>
    <p:sldId id="310" r:id="rId6"/>
    <p:sldId id="425" r:id="rId7"/>
    <p:sldId id="426" r:id="rId8"/>
    <p:sldId id="459" r:id="rId9"/>
    <p:sldId id="688" r:id="rId10"/>
    <p:sldId id="460" r:id="rId11"/>
    <p:sldId id="430" r:id="rId12"/>
    <p:sldId id="431" r:id="rId13"/>
    <p:sldId id="461" r:id="rId14"/>
    <p:sldId id="433" r:id="rId15"/>
    <p:sldId id="462" r:id="rId16"/>
    <p:sldId id="689" r:id="rId17"/>
    <p:sldId id="436" r:id="rId18"/>
    <p:sldId id="690" r:id="rId19"/>
    <p:sldId id="438" r:id="rId20"/>
    <p:sldId id="439" r:id="rId21"/>
    <p:sldId id="691" r:id="rId22"/>
    <p:sldId id="441" r:id="rId23"/>
    <p:sldId id="463" r:id="rId24"/>
    <p:sldId id="692" r:id="rId25"/>
    <p:sldId id="444" r:id="rId26"/>
    <p:sldId id="445" r:id="rId27"/>
    <p:sldId id="446" r:id="rId28"/>
    <p:sldId id="447" r:id="rId29"/>
    <p:sldId id="448" r:id="rId30"/>
    <p:sldId id="449" r:id="rId31"/>
    <p:sldId id="450" r:id="rId32"/>
    <p:sldId id="451" r:id="rId33"/>
    <p:sldId id="452" r:id="rId34"/>
    <p:sldId id="453" r:id="rId35"/>
    <p:sldId id="454" r:id="rId36"/>
    <p:sldId id="455" r:id="rId37"/>
    <p:sldId id="456" r:id="rId38"/>
    <p:sldId id="457" r:id="rId39"/>
    <p:sldId id="458" r:id="rId40"/>
    <p:sldId id="68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laser" initials="l" lastIdx="1" clrIdx="1"/>
  <p:cmAuthor id="3" name="Darathie Renganathan, Integra-PDY, IN" initials="DRII" lastIdx="3" clrIdx="2"/>
  <p:cmAuthor id="4" name="veronica bashian" initials="vb" lastIdx="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0292" autoAdjust="0"/>
  </p:normalViewPr>
  <p:slideViewPr>
    <p:cSldViewPr>
      <p:cViewPr varScale="1">
        <p:scale>
          <a:sx n="77" d="100"/>
          <a:sy n="77" d="100"/>
        </p:scale>
        <p:origin x="1646" y="72"/>
      </p:cViewPr>
      <p:guideLst/>
    </p:cSldViewPr>
  </p:slideViewPr>
  <p:outlineViewPr>
    <p:cViewPr>
      <p:scale>
        <a:sx n="33" d="100"/>
        <a:sy n="33" d="100"/>
      </p:scale>
      <p:origin x="0" y="-16704"/>
    </p:cViewPr>
  </p:outlineViewPr>
  <p:notesTextViewPr>
    <p:cViewPr>
      <p:scale>
        <a:sx n="1" d="1"/>
        <a:sy n="1" d="1"/>
      </p:scale>
      <p:origin x="0" y="0"/>
    </p:cViewPr>
  </p:notesTextViewPr>
  <p:sorterViewPr>
    <p:cViewPr>
      <p:scale>
        <a:sx n="100" d="100"/>
        <a:sy n="100" d="100"/>
      </p:scale>
      <p:origin x="0" y="-4854"/>
    </p:cViewPr>
  </p:sorterViewPr>
  <p:notesViewPr>
    <p:cSldViewPr>
      <p:cViewPr varScale="1">
        <p:scale>
          <a:sx n="54" d="100"/>
          <a:sy n="54" d="100"/>
        </p:scale>
        <p:origin x="179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935204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Char char="•"/>
            </a:pPr>
            <a:endParaRPr lang="en-US" altLang="en-US" sz="1200" dirty="0">
              <a:solidFill>
                <a:schemeClr val="tx1">
                  <a:lumMod val="75000"/>
                  <a:lumOff val="25000"/>
                </a:schemeClr>
              </a:solidFill>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906888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35296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460618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1323519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1500366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637091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1535690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buFont typeface="+mj-lt" charset="0"/>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000399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2167371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26331713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4267200"/>
          </a:xfrm>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1102543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4267200"/>
          </a:xfrm>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4278116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4267200"/>
          </a:xfrm>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24475178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4267200"/>
          </a:xfrm>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6182007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36</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9" name="TextBox 8"/>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178399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429119"/>
            <a:ext cx="918000" cy="279915"/>
          </a:xfrm>
          <a:prstGeom prst="rect">
            <a:avLst/>
          </a:prstGeom>
        </p:spPr>
      </p:pic>
    </p:spTree>
    <p:extLst>
      <p:ext uri="{BB962C8B-B14F-4D97-AF65-F5344CB8AC3E}">
        <p14:creationId xmlns:p14="http://schemas.microsoft.com/office/powerpoint/2010/main" val="223603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055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8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828800"/>
          </a:xfrm>
        </p:spPr>
        <p:txBody>
          <a:bodyPr/>
          <a:lstStyle>
            <a:lvl1pPr marL="0" indent="0">
              <a:buClr>
                <a:srgbClr val="007FA3"/>
              </a:buClr>
              <a:buSzPct val="100000"/>
              <a:buNone/>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Content Placeholder 3"/>
          <p:cNvSpPr>
            <a:spLocks noGrp="1"/>
          </p:cNvSpPr>
          <p:nvPr>
            <p:ph sz="quarter" idx="13"/>
          </p:nvPr>
        </p:nvSpPr>
        <p:spPr>
          <a:xfrm>
            <a:off x="468313" y="4292600"/>
            <a:ext cx="8064500" cy="1728788"/>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55175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5582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962682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8246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38932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313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95107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grpSp>
        <p:nvGrpSpPr>
          <p:cNvPr id="2" name="Group 4"/>
          <p:cNvGrpSpPr>
            <a:grpSpLocks noChangeAspect="1"/>
          </p:cNvGrpSpPr>
          <p:nvPr userDrawn="1"/>
        </p:nvGrpSpPr>
        <p:grpSpPr bwMode="auto">
          <a:xfrm>
            <a:off x="57755" y="6407126"/>
            <a:ext cx="1611690" cy="417560"/>
            <a:chOff x="21" y="4059"/>
            <a:chExt cx="1046" cy="271"/>
          </a:xfrm>
        </p:grpSpPr>
        <p:sp>
          <p:nvSpPr>
            <p:cNvPr id="3" name="AutoShape 3"/>
            <p:cNvSpPr>
              <a:spLocks noChangeAspect="1" noChangeArrowheads="1" noTextEdit="1"/>
            </p:cNvSpPr>
            <p:nvPr userDrawn="1"/>
          </p:nvSpPr>
          <p:spPr bwMode="auto">
            <a:xfrm>
              <a:off x="21" y="4059"/>
              <a:ext cx="1046"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sp>
          <p:nvSpPr>
            <p:cNvPr id="6" name="Freeform 5"/>
            <p:cNvSpPr>
              <a:spLocks noEditPoints="1"/>
            </p:cNvSpPr>
            <p:nvPr userDrawn="1"/>
          </p:nvSpPr>
          <p:spPr bwMode="auto">
            <a:xfrm>
              <a:off x="125" y="4168"/>
              <a:ext cx="838" cy="51"/>
            </a:xfrm>
            <a:custGeom>
              <a:avLst/>
              <a:gdLst>
                <a:gd name="T0" fmla="*/ 1055 w 21137"/>
                <a:gd name="T1" fmla="*/ 1285 h 1300"/>
                <a:gd name="T2" fmla="*/ 0 w 21137"/>
                <a:gd name="T3" fmla="*/ 1285 h 1300"/>
                <a:gd name="T4" fmla="*/ 417 w 21137"/>
                <a:gd name="T5" fmla="*/ 748 h 1300"/>
                <a:gd name="T6" fmla="*/ 1860 w 21137"/>
                <a:gd name="T7" fmla="*/ 1119 h 1300"/>
                <a:gd name="T8" fmla="*/ 1678 w 21137"/>
                <a:gd name="T9" fmla="*/ 16 h 1300"/>
                <a:gd name="T10" fmla="*/ 4021 w 21137"/>
                <a:gd name="T11" fmla="*/ 1290 h 1300"/>
                <a:gd name="T12" fmla="*/ 2636 w 21137"/>
                <a:gd name="T13" fmla="*/ 16 h 1300"/>
                <a:gd name="T14" fmla="*/ 3693 w 21137"/>
                <a:gd name="T15" fmla="*/ 16 h 1300"/>
                <a:gd name="T16" fmla="*/ 5470 w 21137"/>
                <a:gd name="T17" fmla="*/ 9 h 1300"/>
                <a:gd name="T18" fmla="*/ 5143 w 21137"/>
                <a:gd name="T19" fmla="*/ 909 h 1300"/>
                <a:gd name="T20" fmla="*/ 5610 w 21137"/>
                <a:gd name="T21" fmla="*/ 748 h 1300"/>
                <a:gd name="T22" fmla="*/ 7109 w 21137"/>
                <a:gd name="T23" fmla="*/ 16 h 1300"/>
                <a:gd name="T24" fmla="*/ 6675 w 21137"/>
                <a:gd name="T25" fmla="*/ 1285 h 1300"/>
                <a:gd name="T26" fmla="*/ 6765 w 21137"/>
                <a:gd name="T27" fmla="*/ 453 h 1300"/>
                <a:gd name="T28" fmla="*/ 7796 w 21137"/>
                <a:gd name="T29" fmla="*/ 514 h 1300"/>
                <a:gd name="T30" fmla="*/ 8407 w 21137"/>
                <a:gd name="T31" fmla="*/ 89 h 1300"/>
                <a:gd name="T32" fmla="*/ 7908 w 21137"/>
                <a:gd name="T33" fmla="*/ 309 h 1300"/>
                <a:gd name="T34" fmla="*/ 8457 w 21137"/>
                <a:gd name="T35" fmla="*/ 956 h 1300"/>
                <a:gd name="T36" fmla="*/ 7746 w 21137"/>
                <a:gd name="T37" fmla="*/ 953 h 1300"/>
                <a:gd name="T38" fmla="*/ 8119 w 21137"/>
                <a:gd name="T39" fmla="*/ 754 h 1300"/>
                <a:gd name="T40" fmla="*/ 10671 w 21137"/>
                <a:gd name="T41" fmla="*/ 1119 h 1300"/>
                <a:gd name="T42" fmla="*/ 11202 w 21137"/>
                <a:gd name="T43" fmla="*/ 16 h 1300"/>
                <a:gd name="T44" fmla="*/ 11383 w 21137"/>
                <a:gd name="T45" fmla="*/ 565 h 1300"/>
                <a:gd name="T46" fmla="*/ 11383 w 21137"/>
                <a:gd name="T47" fmla="*/ 1122 h 1300"/>
                <a:gd name="T48" fmla="*/ 11202 w 21137"/>
                <a:gd name="T49" fmla="*/ 16 h 1300"/>
                <a:gd name="T50" fmla="*/ 13458 w 21137"/>
                <a:gd name="T51" fmla="*/ 1285 h 1300"/>
                <a:gd name="T52" fmla="*/ 12402 w 21137"/>
                <a:gd name="T53" fmla="*/ 1285 h 1300"/>
                <a:gd name="T54" fmla="*/ 12819 w 21137"/>
                <a:gd name="T55" fmla="*/ 748 h 1300"/>
                <a:gd name="T56" fmla="*/ 14478 w 21137"/>
                <a:gd name="T57" fmla="*/ 16 h 1300"/>
                <a:gd name="T58" fmla="*/ 14682 w 21137"/>
                <a:gd name="T59" fmla="*/ 682 h 1300"/>
                <a:gd name="T60" fmla="*/ 15138 w 21137"/>
                <a:gd name="T61" fmla="*/ 1285 h 1300"/>
                <a:gd name="T62" fmla="*/ 14820 w 21137"/>
                <a:gd name="T63" fmla="*/ 1136 h 1300"/>
                <a:gd name="T64" fmla="*/ 14516 w 21137"/>
                <a:gd name="T65" fmla="*/ 754 h 1300"/>
                <a:gd name="T66" fmla="*/ 14160 w 21137"/>
                <a:gd name="T67" fmla="*/ 1285 h 1300"/>
                <a:gd name="T68" fmla="*/ 14411 w 21137"/>
                <a:gd name="T69" fmla="*/ 572 h 1300"/>
                <a:gd name="T70" fmla="*/ 14677 w 21137"/>
                <a:gd name="T71" fmla="*/ 260 h 1300"/>
                <a:gd name="T72" fmla="*/ 16830 w 21137"/>
                <a:gd name="T73" fmla="*/ 16 h 1300"/>
                <a:gd name="T74" fmla="*/ 15827 w 21137"/>
                <a:gd name="T75" fmla="*/ 1285 h 1300"/>
                <a:gd name="T76" fmla="*/ 16658 w 21137"/>
                <a:gd name="T77" fmla="*/ 1002 h 1300"/>
                <a:gd name="T78" fmla="*/ 17658 w 21137"/>
                <a:gd name="T79" fmla="*/ 1285 h 1300"/>
                <a:gd name="T80" fmla="*/ 19493 w 21137"/>
                <a:gd name="T81" fmla="*/ 16 h 1300"/>
                <a:gd name="T82" fmla="*/ 18488 w 21137"/>
                <a:gd name="T83" fmla="*/ 1285 h 1300"/>
                <a:gd name="T84" fmla="*/ 19320 w 21137"/>
                <a:gd name="T85" fmla="*/ 1002 h 1300"/>
                <a:gd name="T86" fmla="*/ 21137 w 21137"/>
                <a:gd name="T87" fmla="*/ 1198 h 1300"/>
                <a:gd name="T88" fmla="*/ 20176 w 21137"/>
                <a:gd name="T89" fmla="*/ 189 h 1300"/>
                <a:gd name="T90" fmla="*/ 21112 w 21137"/>
                <a:gd name="T91" fmla="*/ 293 h 1300"/>
                <a:gd name="T92" fmla="*/ 20311 w 21137"/>
                <a:gd name="T93" fmla="*/ 1004 h 1300"/>
                <a:gd name="T94" fmla="*/ 20956 w 21137"/>
                <a:gd name="T95" fmla="*/ 821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137" h="1300">
                  <a:moveTo>
                    <a:pt x="545" y="9"/>
                  </a:moveTo>
                  <a:cubicBezTo>
                    <a:pt x="672" y="9"/>
                    <a:pt x="672" y="9"/>
                    <a:pt x="672" y="9"/>
                  </a:cubicBezTo>
                  <a:cubicBezTo>
                    <a:pt x="1241" y="1285"/>
                    <a:pt x="1241" y="1285"/>
                    <a:pt x="1241" y="1285"/>
                  </a:cubicBezTo>
                  <a:cubicBezTo>
                    <a:pt x="1055" y="1285"/>
                    <a:pt x="1055" y="1285"/>
                    <a:pt x="1055" y="1285"/>
                  </a:cubicBezTo>
                  <a:cubicBezTo>
                    <a:pt x="886" y="909"/>
                    <a:pt x="886" y="909"/>
                    <a:pt x="886" y="909"/>
                  </a:cubicBezTo>
                  <a:cubicBezTo>
                    <a:pt x="345" y="909"/>
                    <a:pt x="345" y="909"/>
                    <a:pt x="345" y="909"/>
                  </a:cubicBezTo>
                  <a:cubicBezTo>
                    <a:pt x="186" y="1285"/>
                    <a:pt x="186" y="1285"/>
                    <a:pt x="186" y="1285"/>
                  </a:cubicBezTo>
                  <a:cubicBezTo>
                    <a:pt x="0" y="1285"/>
                    <a:pt x="0" y="1285"/>
                    <a:pt x="0" y="1285"/>
                  </a:cubicBezTo>
                  <a:lnTo>
                    <a:pt x="545" y="9"/>
                  </a:lnTo>
                  <a:close/>
                  <a:moveTo>
                    <a:pt x="812" y="748"/>
                  </a:moveTo>
                  <a:cubicBezTo>
                    <a:pt x="607" y="287"/>
                    <a:pt x="607" y="287"/>
                    <a:pt x="607" y="287"/>
                  </a:cubicBezTo>
                  <a:cubicBezTo>
                    <a:pt x="417" y="748"/>
                    <a:pt x="417" y="748"/>
                    <a:pt x="417" y="748"/>
                  </a:cubicBezTo>
                  <a:lnTo>
                    <a:pt x="812" y="748"/>
                  </a:lnTo>
                  <a:close/>
                  <a:moveTo>
                    <a:pt x="1678" y="16"/>
                  </a:moveTo>
                  <a:cubicBezTo>
                    <a:pt x="1860" y="16"/>
                    <a:pt x="1860" y="16"/>
                    <a:pt x="1860" y="16"/>
                  </a:cubicBezTo>
                  <a:cubicBezTo>
                    <a:pt x="1860" y="1119"/>
                    <a:pt x="1860" y="1119"/>
                    <a:pt x="1860" y="1119"/>
                  </a:cubicBezTo>
                  <a:cubicBezTo>
                    <a:pt x="2431" y="1119"/>
                    <a:pt x="2431" y="1119"/>
                    <a:pt x="2431" y="1119"/>
                  </a:cubicBezTo>
                  <a:cubicBezTo>
                    <a:pt x="2431" y="1285"/>
                    <a:pt x="2431" y="1285"/>
                    <a:pt x="2431" y="1285"/>
                  </a:cubicBezTo>
                  <a:cubicBezTo>
                    <a:pt x="1678" y="1285"/>
                    <a:pt x="1678" y="1285"/>
                    <a:pt x="1678" y="1285"/>
                  </a:cubicBezTo>
                  <a:lnTo>
                    <a:pt x="1678" y="16"/>
                  </a:lnTo>
                  <a:close/>
                  <a:moveTo>
                    <a:pt x="4392" y="16"/>
                  </a:moveTo>
                  <a:cubicBezTo>
                    <a:pt x="4573" y="16"/>
                    <a:pt x="4573" y="16"/>
                    <a:pt x="4573" y="16"/>
                  </a:cubicBezTo>
                  <a:cubicBezTo>
                    <a:pt x="4061" y="1290"/>
                    <a:pt x="4061" y="1290"/>
                    <a:pt x="4061" y="1290"/>
                  </a:cubicBezTo>
                  <a:cubicBezTo>
                    <a:pt x="4021" y="1290"/>
                    <a:pt x="4021" y="1290"/>
                    <a:pt x="4021" y="1290"/>
                  </a:cubicBezTo>
                  <a:cubicBezTo>
                    <a:pt x="3606" y="258"/>
                    <a:pt x="3606" y="258"/>
                    <a:pt x="3606" y="258"/>
                  </a:cubicBezTo>
                  <a:cubicBezTo>
                    <a:pt x="3187" y="1290"/>
                    <a:pt x="3187" y="1290"/>
                    <a:pt x="3187" y="1290"/>
                  </a:cubicBezTo>
                  <a:cubicBezTo>
                    <a:pt x="3147" y="1290"/>
                    <a:pt x="3147" y="1290"/>
                    <a:pt x="3147" y="1290"/>
                  </a:cubicBezTo>
                  <a:cubicBezTo>
                    <a:pt x="2636" y="16"/>
                    <a:pt x="2636" y="16"/>
                    <a:pt x="2636" y="16"/>
                  </a:cubicBezTo>
                  <a:cubicBezTo>
                    <a:pt x="2819" y="16"/>
                    <a:pt x="2819" y="16"/>
                    <a:pt x="2819" y="16"/>
                  </a:cubicBezTo>
                  <a:cubicBezTo>
                    <a:pt x="3168" y="891"/>
                    <a:pt x="3168" y="891"/>
                    <a:pt x="3168" y="891"/>
                  </a:cubicBezTo>
                  <a:cubicBezTo>
                    <a:pt x="3521" y="16"/>
                    <a:pt x="3521" y="16"/>
                    <a:pt x="3521" y="16"/>
                  </a:cubicBezTo>
                  <a:cubicBezTo>
                    <a:pt x="3693" y="16"/>
                    <a:pt x="3693" y="16"/>
                    <a:pt x="3693" y="16"/>
                  </a:cubicBezTo>
                  <a:cubicBezTo>
                    <a:pt x="4047" y="891"/>
                    <a:pt x="4047" y="891"/>
                    <a:pt x="4047" y="891"/>
                  </a:cubicBezTo>
                  <a:lnTo>
                    <a:pt x="4392" y="16"/>
                  </a:lnTo>
                  <a:close/>
                  <a:moveTo>
                    <a:pt x="5343" y="9"/>
                  </a:moveTo>
                  <a:cubicBezTo>
                    <a:pt x="5470" y="9"/>
                    <a:pt x="5470" y="9"/>
                    <a:pt x="5470" y="9"/>
                  </a:cubicBezTo>
                  <a:cubicBezTo>
                    <a:pt x="6039" y="1285"/>
                    <a:pt x="6039" y="1285"/>
                    <a:pt x="6039" y="1285"/>
                  </a:cubicBezTo>
                  <a:cubicBezTo>
                    <a:pt x="5853" y="1285"/>
                    <a:pt x="5853" y="1285"/>
                    <a:pt x="5853" y="1285"/>
                  </a:cubicBezTo>
                  <a:cubicBezTo>
                    <a:pt x="5685" y="909"/>
                    <a:pt x="5685" y="909"/>
                    <a:pt x="5685" y="909"/>
                  </a:cubicBezTo>
                  <a:cubicBezTo>
                    <a:pt x="5143" y="909"/>
                    <a:pt x="5143" y="909"/>
                    <a:pt x="5143" y="909"/>
                  </a:cubicBezTo>
                  <a:cubicBezTo>
                    <a:pt x="4984" y="1285"/>
                    <a:pt x="4984" y="1285"/>
                    <a:pt x="4984" y="1285"/>
                  </a:cubicBezTo>
                  <a:cubicBezTo>
                    <a:pt x="4798" y="1285"/>
                    <a:pt x="4798" y="1285"/>
                    <a:pt x="4798" y="1285"/>
                  </a:cubicBezTo>
                  <a:lnTo>
                    <a:pt x="5343" y="9"/>
                  </a:lnTo>
                  <a:close/>
                  <a:moveTo>
                    <a:pt x="5610" y="748"/>
                  </a:moveTo>
                  <a:cubicBezTo>
                    <a:pt x="5405" y="287"/>
                    <a:pt x="5405" y="287"/>
                    <a:pt x="5405" y="287"/>
                  </a:cubicBezTo>
                  <a:cubicBezTo>
                    <a:pt x="5215" y="748"/>
                    <a:pt x="5215" y="748"/>
                    <a:pt x="5215" y="748"/>
                  </a:cubicBezTo>
                  <a:lnTo>
                    <a:pt x="5610" y="748"/>
                  </a:lnTo>
                  <a:close/>
                  <a:moveTo>
                    <a:pt x="7109" y="16"/>
                  </a:moveTo>
                  <a:cubicBezTo>
                    <a:pt x="7330" y="16"/>
                    <a:pt x="7330" y="16"/>
                    <a:pt x="7330" y="16"/>
                  </a:cubicBezTo>
                  <a:cubicBezTo>
                    <a:pt x="6861" y="614"/>
                    <a:pt x="6861" y="614"/>
                    <a:pt x="6861" y="614"/>
                  </a:cubicBezTo>
                  <a:cubicBezTo>
                    <a:pt x="6861" y="1285"/>
                    <a:pt x="6861" y="1285"/>
                    <a:pt x="6861" y="1285"/>
                  </a:cubicBezTo>
                  <a:cubicBezTo>
                    <a:pt x="6675" y="1285"/>
                    <a:pt x="6675" y="1285"/>
                    <a:pt x="6675" y="1285"/>
                  </a:cubicBezTo>
                  <a:cubicBezTo>
                    <a:pt x="6675" y="614"/>
                    <a:pt x="6675" y="614"/>
                    <a:pt x="6675" y="614"/>
                  </a:cubicBezTo>
                  <a:cubicBezTo>
                    <a:pt x="6206" y="16"/>
                    <a:pt x="6206" y="16"/>
                    <a:pt x="6206" y="16"/>
                  </a:cubicBezTo>
                  <a:cubicBezTo>
                    <a:pt x="6426" y="16"/>
                    <a:pt x="6426" y="16"/>
                    <a:pt x="6426" y="16"/>
                  </a:cubicBezTo>
                  <a:cubicBezTo>
                    <a:pt x="6765" y="453"/>
                    <a:pt x="6765" y="453"/>
                    <a:pt x="6765" y="453"/>
                  </a:cubicBezTo>
                  <a:lnTo>
                    <a:pt x="7109" y="16"/>
                  </a:lnTo>
                  <a:close/>
                  <a:moveTo>
                    <a:pt x="8119" y="754"/>
                  </a:moveTo>
                  <a:cubicBezTo>
                    <a:pt x="7981" y="670"/>
                    <a:pt x="7981" y="670"/>
                    <a:pt x="7981" y="670"/>
                  </a:cubicBezTo>
                  <a:cubicBezTo>
                    <a:pt x="7894" y="617"/>
                    <a:pt x="7833" y="565"/>
                    <a:pt x="7796" y="514"/>
                  </a:cubicBezTo>
                  <a:cubicBezTo>
                    <a:pt x="7759" y="463"/>
                    <a:pt x="7741" y="404"/>
                    <a:pt x="7741" y="337"/>
                  </a:cubicBezTo>
                  <a:cubicBezTo>
                    <a:pt x="7741" y="236"/>
                    <a:pt x="7776" y="157"/>
                    <a:pt x="7845" y="93"/>
                  </a:cubicBezTo>
                  <a:cubicBezTo>
                    <a:pt x="7914" y="31"/>
                    <a:pt x="8005" y="0"/>
                    <a:pt x="8115" y="0"/>
                  </a:cubicBezTo>
                  <a:cubicBezTo>
                    <a:pt x="8221" y="0"/>
                    <a:pt x="8318" y="30"/>
                    <a:pt x="8407" y="89"/>
                  </a:cubicBezTo>
                  <a:cubicBezTo>
                    <a:pt x="8407" y="295"/>
                    <a:pt x="8407" y="295"/>
                    <a:pt x="8407" y="295"/>
                  </a:cubicBezTo>
                  <a:cubicBezTo>
                    <a:pt x="8315" y="208"/>
                    <a:pt x="8217" y="164"/>
                    <a:pt x="8112" y="164"/>
                  </a:cubicBezTo>
                  <a:cubicBezTo>
                    <a:pt x="8052" y="164"/>
                    <a:pt x="8004" y="177"/>
                    <a:pt x="7965" y="204"/>
                  </a:cubicBezTo>
                  <a:cubicBezTo>
                    <a:pt x="7927" y="232"/>
                    <a:pt x="7908" y="267"/>
                    <a:pt x="7908" y="309"/>
                  </a:cubicBezTo>
                  <a:cubicBezTo>
                    <a:pt x="7908" y="348"/>
                    <a:pt x="7922" y="384"/>
                    <a:pt x="7950" y="416"/>
                  </a:cubicBezTo>
                  <a:cubicBezTo>
                    <a:pt x="7979" y="450"/>
                    <a:pt x="8023" y="485"/>
                    <a:pt x="8086" y="521"/>
                  </a:cubicBezTo>
                  <a:cubicBezTo>
                    <a:pt x="8224" y="603"/>
                    <a:pt x="8224" y="603"/>
                    <a:pt x="8224" y="603"/>
                  </a:cubicBezTo>
                  <a:cubicBezTo>
                    <a:pt x="8379" y="696"/>
                    <a:pt x="8457" y="813"/>
                    <a:pt x="8457" y="956"/>
                  </a:cubicBezTo>
                  <a:cubicBezTo>
                    <a:pt x="8457" y="1057"/>
                    <a:pt x="8423" y="1141"/>
                    <a:pt x="8355" y="1204"/>
                  </a:cubicBezTo>
                  <a:cubicBezTo>
                    <a:pt x="8287" y="1268"/>
                    <a:pt x="8198" y="1300"/>
                    <a:pt x="8089" y="1300"/>
                  </a:cubicBezTo>
                  <a:cubicBezTo>
                    <a:pt x="7964" y="1300"/>
                    <a:pt x="7849" y="1261"/>
                    <a:pt x="7746" y="1185"/>
                  </a:cubicBezTo>
                  <a:cubicBezTo>
                    <a:pt x="7746" y="953"/>
                    <a:pt x="7746" y="953"/>
                    <a:pt x="7746" y="953"/>
                  </a:cubicBezTo>
                  <a:cubicBezTo>
                    <a:pt x="7845" y="1077"/>
                    <a:pt x="7958" y="1140"/>
                    <a:pt x="8087" y="1140"/>
                  </a:cubicBezTo>
                  <a:cubicBezTo>
                    <a:pt x="8144" y="1140"/>
                    <a:pt x="8192" y="1124"/>
                    <a:pt x="8229" y="1092"/>
                  </a:cubicBezTo>
                  <a:cubicBezTo>
                    <a:pt x="8267" y="1061"/>
                    <a:pt x="8286" y="1021"/>
                    <a:pt x="8286" y="973"/>
                  </a:cubicBezTo>
                  <a:cubicBezTo>
                    <a:pt x="8286" y="896"/>
                    <a:pt x="8230" y="823"/>
                    <a:pt x="8119" y="754"/>
                  </a:cubicBezTo>
                  <a:moveTo>
                    <a:pt x="9917" y="16"/>
                  </a:moveTo>
                  <a:cubicBezTo>
                    <a:pt x="10099" y="16"/>
                    <a:pt x="10099" y="16"/>
                    <a:pt x="10099" y="16"/>
                  </a:cubicBezTo>
                  <a:cubicBezTo>
                    <a:pt x="10099" y="1119"/>
                    <a:pt x="10099" y="1119"/>
                    <a:pt x="10099" y="1119"/>
                  </a:cubicBezTo>
                  <a:cubicBezTo>
                    <a:pt x="10671" y="1119"/>
                    <a:pt x="10671" y="1119"/>
                    <a:pt x="10671" y="1119"/>
                  </a:cubicBezTo>
                  <a:cubicBezTo>
                    <a:pt x="10671" y="1285"/>
                    <a:pt x="10671" y="1285"/>
                    <a:pt x="10671" y="1285"/>
                  </a:cubicBezTo>
                  <a:cubicBezTo>
                    <a:pt x="9917" y="1285"/>
                    <a:pt x="9917" y="1285"/>
                    <a:pt x="9917" y="1285"/>
                  </a:cubicBezTo>
                  <a:lnTo>
                    <a:pt x="9917" y="16"/>
                  </a:lnTo>
                  <a:close/>
                  <a:moveTo>
                    <a:pt x="11202" y="16"/>
                  </a:moveTo>
                  <a:cubicBezTo>
                    <a:pt x="11921" y="16"/>
                    <a:pt x="11921" y="16"/>
                    <a:pt x="11921" y="16"/>
                  </a:cubicBezTo>
                  <a:cubicBezTo>
                    <a:pt x="11921" y="177"/>
                    <a:pt x="11921" y="177"/>
                    <a:pt x="11921" y="177"/>
                  </a:cubicBezTo>
                  <a:cubicBezTo>
                    <a:pt x="11383" y="177"/>
                    <a:pt x="11383" y="177"/>
                    <a:pt x="11383" y="177"/>
                  </a:cubicBezTo>
                  <a:cubicBezTo>
                    <a:pt x="11383" y="565"/>
                    <a:pt x="11383" y="565"/>
                    <a:pt x="11383" y="565"/>
                  </a:cubicBezTo>
                  <a:cubicBezTo>
                    <a:pt x="11903" y="565"/>
                    <a:pt x="11903" y="565"/>
                    <a:pt x="11903" y="565"/>
                  </a:cubicBezTo>
                  <a:cubicBezTo>
                    <a:pt x="11903" y="727"/>
                    <a:pt x="11903" y="727"/>
                    <a:pt x="11903" y="727"/>
                  </a:cubicBezTo>
                  <a:cubicBezTo>
                    <a:pt x="11383" y="727"/>
                    <a:pt x="11383" y="727"/>
                    <a:pt x="11383" y="727"/>
                  </a:cubicBezTo>
                  <a:cubicBezTo>
                    <a:pt x="11383" y="1122"/>
                    <a:pt x="11383" y="1122"/>
                    <a:pt x="11383" y="1122"/>
                  </a:cubicBezTo>
                  <a:cubicBezTo>
                    <a:pt x="11939" y="1122"/>
                    <a:pt x="11939" y="1122"/>
                    <a:pt x="11939" y="1122"/>
                  </a:cubicBezTo>
                  <a:cubicBezTo>
                    <a:pt x="11939" y="1283"/>
                    <a:pt x="11939" y="1283"/>
                    <a:pt x="11939" y="1283"/>
                  </a:cubicBezTo>
                  <a:cubicBezTo>
                    <a:pt x="11202" y="1283"/>
                    <a:pt x="11202" y="1283"/>
                    <a:pt x="11202" y="1283"/>
                  </a:cubicBezTo>
                  <a:lnTo>
                    <a:pt x="11202" y="16"/>
                  </a:lnTo>
                  <a:close/>
                  <a:moveTo>
                    <a:pt x="12946" y="9"/>
                  </a:moveTo>
                  <a:cubicBezTo>
                    <a:pt x="13075" y="9"/>
                    <a:pt x="13075" y="9"/>
                    <a:pt x="13075" y="9"/>
                  </a:cubicBezTo>
                  <a:cubicBezTo>
                    <a:pt x="13643" y="1285"/>
                    <a:pt x="13643" y="1285"/>
                    <a:pt x="13643" y="1285"/>
                  </a:cubicBezTo>
                  <a:cubicBezTo>
                    <a:pt x="13458" y="1285"/>
                    <a:pt x="13458" y="1285"/>
                    <a:pt x="13458" y="1285"/>
                  </a:cubicBezTo>
                  <a:cubicBezTo>
                    <a:pt x="13288" y="909"/>
                    <a:pt x="13288" y="909"/>
                    <a:pt x="13288" y="909"/>
                  </a:cubicBezTo>
                  <a:cubicBezTo>
                    <a:pt x="12746" y="909"/>
                    <a:pt x="12746" y="909"/>
                    <a:pt x="12746" y="909"/>
                  </a:cubicBezTo>
                  <a:cubicBezTo>
                    <a:pt x="12588" y="1285"/>
                    <a:pt x="12588" y="1285"/>
                    <a:pt x="12588" y="1285"/>
                  </a:cubicBezTo>
                  <a:cubicBezTo>
                    <a:pt x="12402" y="1285"/>
                    <a:pt x="12402" y="1285"/>
                    <a:pt x="12402" y="1285"/>
                  </a:cubicBezTo>
                  <a:lnTo>
                    <a:pt x="12946" y="9"/>
                  </a:lnTo>
                  <a:close/>
                  <a:moveTo>
                    <a:pt x="13214" y="748"/>
                  </a:moveTo>
                  <a:cubicBezTo>
                    <a:pt x="13009" y="287"/>
                    <a:pt x="13009" y="287"/>
                    <a:pt x="13009" y="287"/>
                  </a:cubicBezTo>
                  <a:cubicBezTo>
                    <a:pt x="12819" y="748"/>
                    <a:pt x="12819" y="748"/>
                    <a:pt x="12819" y="748"/>
                  </a:cubicBezTo>
                  <a:lnTo>
                    <a:pt x="13214" y="748"/>
                  </a:lnTo>
                  <a:close/>
                  <a:moveTo>
                    <a:pt x="14160" y="1285"/>
                  </a:moveTo>
                  <a:cubicBezTo>
                    <a:pt x="14160" y="16"/>
                    <a:pt x="14160" y="16"/>
                    <a:pt x="14160" y="16"/>
                  </a:cubicBezTo>
                  <a:cubicBezTo>
                    <a:pt x="14478" y="16"/>
                    <a:pt x="14478" y="16"/>
                    <a:pt x="14478" y="16"/>
                  </a:cubicBezTo>
                  <a:cubicBezTo>
                    <a:pt x="14606" y="16"/>
                    <a:pt x="14708" y="48"/>
                    <a:pt x="14784" y="112"/>
                  </a:cubicBezTo>
                  <a:cubicBezTo>
                    <a:pt x="14859" y="175"/>
                    <a:pt x="14896" y="261"/>
                    <a:pt x="14896" y="369"/>
                  </a:cubicBezTo>
                  <a:cubicBezTo>
                    <a:pt x="14896" y="444"/>
                    <a:pt x="14878" y="507"/>
                    <a:pt x="14841" y="560"/>
                  </a:cubicBezTo>
                  <a:cubicBezTo>
                    <a:pt x="14804" y="616"/>
                    <a:pt x="14751" y="655"/>
                    <a:pt x="14682" y="682"/>
                  </a:cubicBezTo>
                  <a:cubicBezTo>
                    <a:pt x="14723" y="708"/>
                    <a:pt x="14762" y="745"/>
                    <a:pt x="14801" y="791"/>
                  </a:cubicBezTo>
                  <a:cubicBezTo>
                    <a:pt x="14840" y="837"/>
                    <a:pt x="14895" y="917"/>
                    <a:pt x="14964" y="1031"/>
                  </a:cubicBezTo>
                  <a:cubicBezTo>
                    <a:pt x="15008" y="1103"/>
                    <a:pt x="15045" y="1158"/>
                    <a:pt x="15071" y="1195"/>
                  </a:cubicBezTo>
                  <a:cubicBezTo>
                    <a:pt x="15138" y="1285"/>
                    <a:pt x="15138" y="1285"/>
                    <a:pt x="15138" y="1285"/>
                  </a:cubicBezTo>
                  <a:cubicBezTo>
                    <a:pt x="14922" y="1285"/>
                    <a:pt x="14922" y="1285"/>
                    <a:pt x="14922" y="1285"/>
                  </a:cubicBezTo>
                  <a:cubicBezTo>
                    <a:pt x="14867" y="1201"/>
                    <a:pt x="14867" y="1201"/>
                    <a:pt x="14867" y="1201"/>
                  </a:cubicBezTo>
                  <a:cubicBezTo>
                    <a:pt x="14865" y="1199"/>
                    <a:pt x="14861" y="1193"/>
                    <a:pt x="14856" y="1186"/>
                  </a:cubicBezTo>
                  <a:cubicBezTo>
                    <a:pt x="14820" y="1136"/>
                    <a:pt x="14820" y="1136"/>
                    <a:pt x="14820" y="1136"/>
                  </a:cubicBezTo>
                  <a:cubicBezTo>
                    <a:pt x="14764" y="1043"/>
                    <a:pt x="14764" y="1043"/>
                    <a:pt x="14764" y="1043"/>
                  </a:cubicBezTo>
                  <a:cubicBezTo>
                    <a:pt x="14704" y="944"/>
                    <a:pt x="14704" y="944"/>
                    <a:pt x="14704" y="944"/>
                  </a:cubicBezTo>
                  <a:cubicBezTo>
                    <a:pt x="14666" y="893"/>
                    <a:pt x="14631" y="851"/>
                    <a:pt x="14600" y="820"/>
                  </a:cubicBezTo>
                  <a:cubicBezTo>
                    <a:pt x="14569" y="788"/>
                    <a:pt x="14541" y="767"/>
                    <a:pt x="14516" y="754"/>
                  </a:cubicBezTo>
                  <a:cubicBezTo>
                    <a:pt x="14490" y="740"/>
                    <a:pt x="14449" y="733"/>
                    <a:pt x="14389" y="733"/>
                  </a:cubicBezTo>
                  <a:cubicBezTo>
                    <a:pt x="14342" y="733"/>
                    <a:pt x="14342" y="733"/>
                    <a:pt x="14342" y="733"/>
                  </a:cubicBezTo>
                  <a:cubicBezTo>
                    <a:pt x="14342" y="1285"/>
                    <a:pt x="14342" y="1285"/>
                    <a:pt x="14342" y="1285"/>
                  </a:cubicBezTo>
                  <a:lnTo>
                    <a:pt x="14160" y="1285"/>
                  </a:lnTo>
                  <a:close/>
                  <a:moveTo>
                    <a:pt x="14396" y="170"/>
                  </a:moveTo>
                  <a:cubicBezTo>
                    <a:pt x="14342" y="170"/>
                    <a:pt x="14342" y="170"/>
                    <a:pt x="14342" y="170"/>
                  </a:cubicBezTo>
                  <a:cubicBezTo>
                    <a:pt x="14342" y="572"/>
                    <a:pt x="14342" y="572"/>
                    <a:pt x="14342" y="572"/>
                  </a:cubicBezTo>
                  <a:cubicBezTo>
                    <a:pt x="14411" y="572"/>
                    <a:pt x="14411" y="572"/>
                    <a:pt x="14411" y="572"/>
                  </a:cubicBezTo>
                  <a:cubicBezTo>
                    <a:pt x="14503" y="572"/>
                    <a:pt x="14566" y="564"/>
                    <a:pt x="14600" y="548"/>
                  </a:cubicBezTo>
                  <a:cubicBezTo>
                    <a:pt x="14634" y="531"/>
                    <a:pt x="14661" y="508"/>
                    <a:pt x="14680" y="476"/>
                  </a:cubicBezTo>
                  <a:cubicBezTo>
                    <a:pt x="14699" y="445"/>
                    <a:pt x="14709" y="408"/>
                    <a:pt x="14709" y="368"/>
                  </a:cubicBezTo>
                  <a:cubicBezTo>
                    <a:pt x="14709" y="327"/>
                    <a:pt x="14698" y="292"/>
                    <a:pt x="14677" y="260"/>
                  </a:cubicBezTo>
                  <a:cubicBezTo>
                    <a:pt x="14655" y="227"/>
                    <a:pt x="14626" y="204"/>
                    <a:pt x="14587" y="191"/>
                  </a:cubicBezTo>
                  <a:cubicBezTo>
                    <a:pt x="14548" y="177"/>
                    <a:pt x="14485" y="170"/>
                    <a:pt x="14396" y="170"/>
                  </a:cubicBezTo>
                  <a:moveTo>
                    <a:pt x="16658" y="16"/>
                  </a:moveTo>
                  <a:cubicBezTo>
                    <a:pt x="16830" y="16"/>
                    <a:pt x="16830" y="16"/>
                    <a:pt x="16830" y="16"/>
                  </a:cubicBezTo>
                  <a:cubicBezTo>
                    <a:pt x="16830" y="1285"/>
                    <a:pt x="16830" y="1285"/>
                    <a:pt x="16830" y="1285"/>
                  </a:cubicBezTo>
                  <a:cubicBezTo>
                    <a:pt x="16675" y="1285"/>
                    <a:pt x="16675" y="1285"/>
                    <a:pt x="16675" y="1285"/>
                  </a:cubicBezTo>
                  <a:cubicBezTo>
                    <a:pt x="15827" y="308"/>
                    <a:pt x="15827" y="308"/>
                    <a:pt x="15827" y="308"/>
                  </a:cubicBezTo>
                  <a:cubicBezTo>
                    <a:pt x="15827" y="1285"/>
                    <a:pt x="15827" y="1285"/>
                    <a:pt x="15827" y="1285"/>
                  </a:cubicBezTo>
                  <a:cubicBezTo>
                    <a:pt x="15656" y="1285"/>
                    <a:pt x="15656" y="1285"/>
                    <a:pt x="15656" y="1285"/>
                  </a:cubicBezTo>
                  <a:cubicBezTo>
                    <a:pt x="15656" y="16"/>
                    <a:pt x="15656" y="16"/>
                    <a:pt x="15656" y="16"/>
                  </a:cubicBezTo>
                  <a:cubicBezTo>
                    <a:pt x="15803" y="16"/>
                    <a:pt x="15803" y="16"/>
                    <a:pt x="15803" y="16"/>
                  </a:cubicBezTo>
                  <a:cubicBezTo>
                    <a:pt x="16658" y="1002"/>
                    <a:pt x="16658" y="1002"/>
                    <a:pt x="16658" y="1002"/>
                  </a:cubicBezTo>
                  <a:lnTo>
                    <a:pt x="16658" y="16"/>
                  </a:lnTo>
                  <a:close/>
                  <a:moveTo>
                    <a:pt x="17477" y="16"/>
                  </a:moveTo>
                  <a:cubicBezTo>
                    <a:pt x="17658" y="16"/>
                    <a:pt x="17658" y="16"/>
                    <a:pt x="17658" y="16"/>
                  </a:cubicBezTo>
                  <a:cubicBezTo>
                    <a:pt x="17658" y="1285"/>
                    <a:pt x="17658" y="1285"/>
                    <a:pt x="17658" y="1285"/>
                  </a:cubicBezTo>
                  <a:cubicBezTo>
                    <a:pt x="17477" y="1285"/>
                    <a:pt x="17477" y="1285"/>
                    <a:pt x="17477" y="1285"/>
                  </a:cubicBezTo>
                  <a:lnTo>
                    <a:pt x="17477" y="16"/>
                  </a:lnTo>
                  <a:close/>
                  <a:moveTo>
                    <a:pt x="19320" y="16"/>
                  </a:moveTo>
                  <a:cubicBezTo>
                    <a:pt x="19493" y="16"/>
                    <a:pt x="19493" y="16"/>
                    <a:pt x="19493" y="16"/>
                  </a:cubicBezTo>
                  <a:cubicBezTo>
                    <a:pt x="19493" y="1285"/>
                    <a:pt x="19493" y="1285"/>
                    <a:pt x="19493" y="1285"/>
                  </a:cubicBezTo>
                  <a:cubicBezTo>
                    <a:pt x="19337" y="1285"/>
                    <a:pt x="19337" y="1285"/>
                    <a:pt x="19337" y="1285"/>
                  </a:cubicBezTo>
                  <a:cubicBezTo>
                    <a:pt x="18488" y="308"/>
                    <a:pt x="18488" y="308"/>
                    <a:pt x="18488" y="308"/>
                  </a:cubicBezTo>
                  <a:cubicBezTo>
                    <a:pt x="18488" y="1285"/>
                    <a:pt x="18488" y="1285"/>
                    <a:pt x="18488" y="1285"/>
                  </a:cubicBezTo>
                  <a:cubicBezTo>
                    <a:pt x="18317" y="1285"/>
                    <a:pt x="18317" y="1285"/>
                    <a:pt x="18317" y="1285"/>
                  </a:cubicBezTo>
                  <a:cubicBezTo>
                    <a:pt x="18317" y="16"/>
                    <a:pt x="18317" y="16"/>
                    <a:pt x="18317" y="16"/>
                  </a:cubicBezTo>
                  <a:cubicBezTo>
                    <a:pt x="18464" y="16"/>
                    <a:pt x="18464" y="16"/>
                    <a:pt x="18464" y="16"/>
                  </a:cubicBezTo>
                  <a:cubicBezTo>
                    <a:pt x="19320" y="1002"/>
                    <a:pt x="19320" y="1002"/>
                    <a:pt x="19320" y="1002"/>
                  </a:cubicBezTo>
                  <a:lnTo>
                    <a:pt x="19320" y="16"/>
                  </a:lnTo>
                  <a:close/>
                  <a:moveTo>
                    <a:pt x="20712" y="659"/>
                  </a:moveTo>
                  <a:cubicBezTo>
                    <a:pt x="21137" y="659"/>
                    <a:pt x="21137" y="659"/>
                    <a:pt x="21137" y="659"/>
                  </a:cubicBezTo>
                  <a:cubicBezTo>
                    <a:pt x="21137" y="1198"/>
                    <a:pt x="21137" y="1198"/>
                    <a:pt x="21137" y="1198"/>
                  </a:cubicBezTo>
                  <a:cubicBezTo>
                    <a:pt x="20981" y="1266"/>
                    <a:pt x="20826" y="1300"/>
                    <a:pt x="20673" y="1300"/>
                  </a:cubicBezTo>
                  <a:cubicBezTo>
                    <a:pt x="20463" y="1300"/>
                    <a:pt x="20294" y="1239"/>
                    <a:pt x="20169" y="1115"/>
                  </a:cubicBezTo>
                  <a:cubicBezTo>
                    <a:pt x="20043" y="994"/>
                    <a:pt x="19980" y="842"/>
                    <a:pt x="19980" y="662"/>
                  </a:cubicBezTo>
                  <a:cubicBezTo>
                    <a:pt x="19980" y="473"/>
                    <a:pt x="20045" y="314"/>
                    <a:pt x="20176" y="189"/>
                  </a:cubicBezTo>
                  <a:cubicBezTo>
                    <a:pt x="20306" y="63"/>
                    <a:pt x="20469" y="0"/>
                    <a:pt x="20666" y="0"/>
                  </a:cubicBezTo>
                  <a:cubicBezTo>
                    <a:pt x="20736" y="0"/>
                    <a:pt x="20804" y="8"/>
                    <a:pt x="20869" y="22"/>
                  </a:cubicBezTo>
                  <a:cubicBezTo>
                    <a:pt x="20933" y="39"/>
                    <a:pt x="21014" y="66"/>
                    <a:pt x="21112" y="109"/>
                  </a:cubicBezTo>
                  <a:cubicBezTo>
                    <a:pt x="21112" y="293"/>
                    <a:pt x="21112" y="293"/>
                    <a:pt x="21112" y="293"/>
                  </a:cubicBezTo>
                  <a:cubicBezTo>
                    <a:pt x="20961" y="205"/>
                    <a:pt x="20811" y="161"/>
                    <a:pt x="20661" y="161"/>
                  </a:cubicBezTo>
                  <a:cubicBezTo>
                    <a:pt x="20523" y="161"/>
                    <a:pt x="20407" y="209"/>
                    <a:pt x="20311" y="303"/>
                  </a:cubicBezTo>
                  <a:cubicBezTo>
                    <a:pt x="20215" y="397"/>
                    <a:pt x="20169" y="514"/>
                    <a:pt x="20169" y="651"/>
                  </a:cubicBezTo>
                  <a:cubicBezTo>
                    <a:pt x="20169" y="795"/>
                    <a:pt x="20215" y="913"/>
                    <a:pt x="20311" y="1004"/>
                  </a:cubicBezTo>
                  <a:cubicBezTo>
                    <a:pt x="20407" y="1096"/>
                    <a:pt x="20528" y="1142"/>
                    <a:pt x="20678" y="1142"/>
                  </a:cubicBezTo>
                  <a:cubicBezTo>
                    <a:pt x="20750" y="1142"/>
                    <a:pt x="20838" y="1125"/>
                    <a:pt x="20939" y="1092"/>
                  </a:cubicBezTo>
                  <a:cubicBezTo>
                    <a:pt x="20956" y="1087"/>
                    <a:pt x="20956" y="1087"/>
                    <a:pt x="20956" y="1087"/>
                  </a:cubicBezTo>
                  <a:cubicBezTo>
                    <a:pt x="20956" y="821"/>
                    <a:pt x="20956" y="821"/>
                    <a:pt x="20956" y="821"/>
                  </a:cubicBezTo>
                  <a:cubicBezTo>
                    <a:pt x="20712" y="821"/>
                    <a:pt x="20712" y="821"/>
                    <a:pt x="20712" y="821"/>
                  </a:cubicBezTo>
                  <a:lnTo>
                    <a:pt x="20712" y="6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gr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755" y="6211761"/>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39734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4"/>
          </p:nvPr>
        </p:nvSpPr>
        <p:spPr>
          <a:xfrm>
            <a:off x="468313" y="5013175"/>
            <a:ext cx="8280400" cy="1295549"/>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endParaRPr lang="en-IN" dirty="0"/>
          </a:p>
        </p:txBody>
      </p:sp>
    </p:spTree>
    <p:extLst>
      <p:ext uri="{BB962C8B-B14F-4D97-AF65-F5344CB8AC3E}">
        <p14:creationId xmlns:p14="http://schemas.microsoft.com/office/powerpoint/2010/main" val="3526922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0" indent="0">
              <a:buClr>
                <a:srgbClr val="007FA3"/>
              </a:buClr>
              <a:buSzPct val="100000"/>
              <a:buNone/>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
        <p:nvSpPr>
          <p:cNvPr id="9" name="Content Placeholder 8"/>
          <p:cNvSpPr>
            <a:spLocks noGrp="1"/>
          </p:cNvSpPr>
          <p:nvPr>
            <p:ph sz="quarter" idx="14"/>
          </p:nvPr>
        </p:nvSpPr>
        <p:spPr>
          <a:xfrm>
            <a:off x="468313" y="5013175"/>
            <a:ext cx="8280400" cy="1295549"/>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1538622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24319919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A86D8D65-0761-4EEF-9A51-BE3E5DD33334}"/>
              </a:ext>
            </a:extLst>
          </p:cNvPr>
          <p:cNvSpPr>
            <a:spLocks noGrp="1"/>
          </p:cNvSpPr>
          <p:nvPr>
            <p:ph sz="quarter" idx="13"/>
          </p:nvPr>
        </p:nvSpPr>
        <p:spPr>
          <a:xfrm>
            <a:off x="457200" y="1628775"/>
            <a:ext cx="1377950"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ADDB751-03D9-4D09-8F65-E090FE16F27B}"/>
              </a:ext>
            </a:extLst>
          </p:cNvPr>
          <p:cNvSpPr>
            <a:spLocks noGrp="1"/>
          </p:cNvSpPr>
          <p:nvPr>
            <p:ph sz="quarter" idx="14"/>
          </p:nvPr>
        </p:nvSpPr>
        <p:spPr>
          <a:xfrm>
            <a:off x="1979613" y="1700213"/>
            <a:ext cx="9366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59862159-C00A-42F8-96E6-40D81FE03BA3}"/>
              </a:ext>
            </a:extLst>
          </p:cNvPr>
          <p:cNvSpPr>
            <a:spLocks noGrp="1"/>
          </p:cNvSpPr>
          <p:nvPr>
            <p:ph sz="quarter" idx="15"/>
          </p:nvPr>
        </p:nvSpPr>
        <p:spPr>
          <a:xfrm>
            <a:off x="3203575" y="1844675"/>
            <a:ext cx="936625"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1DBE703D-B82C-4A93-8EDA-6BC2DFA55520}"/>
              </a:ext>
            </a:extLst>
          </p:cNvPr>
          <p:cNvSpPr>
            <a:spLocks noGrp="1"/>
          </p:cNvSpPr>
          <p:nvPr>
            <p:ph sz="quarter" idx="16"/>
          </p:nvPr>
        </p:nvSpPr>
        <p:spPr>
          <a:xfrm>
            <a:off x="4356100" y="1844675"/>
            <a:ext cx="1295400"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8F542A31-08B2-48B9-B7D7-36E42AB9B4AC}"/>
              </a:ext>
            </a:extLst>
          </p:cNvPr>
          <p:cNvSpPr>
            <a:spLocks noGrp="1"/>
          </p:cNvSpPr>
          <p:nvPr>
            <p:ph sz="quarter" idx="17"/>
          </p:nvPr>
        </p:nvSpPr>
        <p:spPr>
          <a:xfrm>
            <a:off x="5795963" y="1916113"/>
            <a:ext cx="1223962" cy="144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BB1F85E7-1F14-422D-9FB2-7D3CE62AC469}"/>
              </a:ext>
            </a:extLst>
          </p:cNvPr>
          <p:cNvSpPr>
            <a:spLocks noGrp="1"/>
          </p:cNvSpPr>
          <p:nvPr>
            <p:ph sz="quarter" idx="18"/>
          </p:nvPr>
        </p:nvSpPr>
        <p:spPr>
          <a:xfrm>
            <a:off x="539750" y="2636838"/>
            <a:ext cx="10080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A4FD5757-7391-4BED-B248-ED8013CFD6EC}"/>
              </a:ext>
            </a:extLst>
          </p:cNvPr>
          <p:cNvSpPr>
            <a:spLocks noGrp="1"/>
          </p:cNvSpPr>
          <p:nvPr>
            <p:ph sz="quarter" idx="19"/>
          </p:nvPr>
        </p:nvSpPr>
        <p:spPr>
          <a:xfrm>
            <a:off x="1835150" y="2708275"/>
            <a:ext cx="18002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21FCFA6E-9512-4D49-B23F-BE25DA91CCE5}"/>
              </a:ext>
            </a:extLst>
          </p:cNvPr>
          <p:cNvSpPr>
            <a:spLocks noGrp="1"/>
          </p:cNvSpPr>
          <p:nvPr>
            <p:ph sz="quarter" idx="20"/>
          </p:nvPr>
        </p:nvSpPr>
        <p:spPr>
          <a:xfrm>
            <a:off x="3851275" y="2708275"/>
            <a:ext cx="7207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FBFF441-24D0-4000-ABD5-279FDBCBA848}"/>
              </a:ext>
            </a:extLst>
          </p:cNvPr>
          <p:cNvSpPr>
            <a:spLocks noGrp="1"/>
          </p:cNvSpPr>
          <p:nvPr>
            <p:ph sz="quarter" idx="21"/>
          </p:nvPr>
        </p:nvSpPr>
        <p:spPr>
          <a:xfrm>
            <a:off x="4859338" y="2852738"/>
            <a:ext cx="936625"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D17254F4-E158-428C-AF99-BB5E3AF645C4}"/>
              </a:ext>
            </a:extLst>
          </p:cNvPr>
          <p:cNvSpPr>
            <a:spLocks noGrp="1"/>
          </p:cNvSpPr>
          <p:nvPr>
            <p:ph sz="quarter" idx="22"/>
          </p:nvPr>
        </p:nvSpPr>
        <p:spPr>
          <a:xfrm>
            <a:off x="6011863" y="2997200"/>
            <a:ext cx="1223962" cy="257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0947FA81-4A5F-4211-B32D-72FB9143E3B6}"/>
              </a:ext>
            </a:extLst>
          </p:cNvPr>
          <p:cNvSpPr>
            <a:spLocks noGrp="1"/>
          </p:cNvSpPr>
          <p:nvPr>
            <p:ph sz="quarter" idx="23"/>
          </p:nvPr>
        </p:nvSpPr>
        <p:spPr>
          <a:xfrm>
            <a:off x="457200" y="3429000"/>
            <a:ext cx="1235075" cy="576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B151B7FF-CCEF-48EF-A939-81B6724F74A7}"/>
              </a:ext>
            </a:extLst>
          </p:cNvPr>
          <p:cNvSpPr>
            <a:spLocks noGrp="1"/>
          </p:cNvSpPr>
          <p:nvPr>
            <p:ph sz="quarter" idx="24"/>
          </p:nvPr>
        </p:nvSpPr>
        <p:spPr>
          <a:xfrm>
            <a:off x="1835150" y="3573463"/>
            <a:ext cx="1008063" cy="287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5BAE6649-E23E-4091-8262-89B3F8FEAD24}"/>
              </a:ext>
            </a:extLst>
          </p:cNvPr>
          <p:cNvSpPr>
            <a:spLocks noGrp="1"/>
          </p:cNvSpPr>
          <p:nvPr>
            <p:ph sz="quarter" idx="25"/>
          </p:nvPr>
        </p:nvSpPr>
        <p:spPr>
          <a:xfrm>
            <a:off x="3059113" y="3573463"/>
            <a:ext cx="1008062"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F1756D1-89F4-4A22-AEE4-EDF664434B44}"/>
              </a:ext>
            </a:extLst>
          </p:cNvPr>
          <p:cNvSpPr>
            <a:spLocks noGrp="1"/>
          </p:cNvSpPr>
          <p:nvPr>
            <p:ph sz="quarter" idx="26"/>
          </p:nvPr>
        </p:nvSpPr>
        <p:spPr>
          <a:xfrm>
            <a:off x="4356100" y="3716338"/>
            <a:ext cx="1077913"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B35734F6-A281-454B-ABAD-36D6FE6729C9}"/>
              </a:ext>
            </a:extLst>
          </p:cNvPr>
          <p:cNvSpPr>
            <a:spLocks noGrp="1"/>
          </p:cNvSpPr>
          <p:nvPr>
            <p:ph sz="quarter" idx="27"/>
          </p:nvPr>
        </p:nvSpPr>
        <p:spPr>
          <a:xfrm>
            <a:off x="5795963" y="3860800"/>
            <a:ext cx="1223962" cy="41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CAC0ACA8-F91A-4698-9F23-2644812432E0}"/>
              </a:ext>
            </a:extLst>
          </p:cNvPr>
          <p:cNvSpPr>
            <a:spLocks noGrp="1"/>
          </p:cNvSpPr>
          <p:nvPr>
            <p:ph sz="quarter" idx="28"/>
          </p:nvPr>
        </p:nvSpPr>
        <p:spPr>
          <a:xfrm>
            <a:off x="539750" y="4271963"/>
            <a:ext cx="1377950" cy="62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B6169D4C-61F2-4379-89B2-DCF5AEF3ABE7}"/>
              </a:ext>
            </a:extLst>
          </p:cNvPr>
          <p:cNvSpPr>
            <a:spLocks noGrp="1"/>
          </p:cNvSpPr>
          <p:nvPr>
            <p:ph sz="quarter" idx="29"/>
          </p:nvPr>
        </p:nvSpPr>
        <p:spPr>
          <a:xfrm>
            <a:off x="2268538" y="4437063"/>
            <a:ext cx="1295400" cy="67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Picture Placeholder 41">
            <a:extLst>
              <a:ext uri="{FF2B5EF4-FFF2-40B4-BE49-F238E27FC236}">
                <a16:creationId xmlns:a16="http://schemas.microsoft.com/office/drawing/2014/main" id="{7D307D5D-6564-4A14-9605-D945EAEB26C4}"/>
              </a:ext>
            </a:extLst>
          </p:cNvPr>
          <p:cNvSpPr>
            <a:spLocks noGrp="1"/>
          </p:cNvSpPr>
          <p:nvPr>
            <p:ph type="pic" sz="quarter" idx="30"/>
          </p:nvPr>
        </p:nvSpPr>
        <p:spPr>
          <a:xfrm>
            <a:off x="3924300" y="4652963"/>
            <a:ext cx="1368425" cy="460375"/>
          </a:xfrm>
        </p:spPr>
        <p:txBody>
          <a:bodyPr/>
          <a:lstStyle/>
          <a:p>
            <a:endParaRPr lang="en-US"/>
          </a:p>
        </p:txBody>
      </p:sp>
      <p:sp>
        <p:nvSpPr>
          <p:cNvPr id="44" name="Picture Placeholder 43">
            <a:extLst>
              <a:ext uri="{FF2B5EF4-FFF2-40B4-BE49-F238E27FC236}">
                <a16:creationId xmlns:a16="http://schemas.microsoft.com/office/drawing/2014/main" id="{A5355258-4F4E-4030-9FFA-2D603A8F7C0C}"/>
              </a:ext>
            </a:extLst>
          </p:cNvPr>
          <p:cNvSpPr>
            <a:spLocks noGrp="1"/>
          </p:cNvSpPr>
          <p:nvPr>
            <p:ph type="pic" sz="quarter" idx="31"/>
          </p:nvPr>
        </p:nvSpPr>
        <p:spPr>
          <a:xfrm>
            <a:off x="5580063" y="4797425"/>
            <a:ext cx="1079500" cy="411163"/>
          </a:xfrm>
        </p:spPr>
        <p:txBody>
          <a:bodyPr/>
          <a:lstStyle/>
          <a:p>
            <a:endParaRPr lang="en-US"/>
          </a:p>
        </p:txBody>
      </p:sp>
      <p:sp>
        <p:nvSpPr>
          <p:cNvPr id="46" name="Picture Placeholder 45">
            <a:extLst>
              <a:ext uri="{FF2B5EF4-FFF2-40B4-BE49-F238E27FC236}">
                <a16:creationId xmlns:a16="http://schemas.microsoft.com/office/drawing/2014/main" id="{B0363641-3460-4012-A273-F08B5C0482B5}"/>
              </a:ext>
            </a:extLst>
          </p:cNvPr>
          <p:cNvSpPr>
            <a:spLocks noGrp="1"/>
          </p:cNvSpPr>
          <p:nvPr>
            <p:ph type="pic" sz="quarter" idx="32"/>
          </p:nvPr>
        </p:nvSpPr>
        <p:spPr>
          <a:xfrm>
            <a:off x="4356100" y="5516563"/>
            <a:ext cx="1077913" cy="287337"/>
          </a:xfrm>
        </p:spPr>
        <p:txBody>
          <a:bodyPr/>
          <a:lstStyle/>
          <a:p>
            <a:endParaRPr lang="en-US"/>
          </a:p>
        </p:txBody>
      </p:sp>
      <p:sp>
        <p:nvSpPr>
          <p:cNvPr id="48" name="Picture Placeholder 47">
            <a:extLst>
              <a:ext uri="{FF2B5EF4-FFF2-40B4-BE49-F238E27FC236}">
                <a16:creationId xmlns:a16="http://schemas.microsoft.com/office/drawing/2014/main" id="{90B152CE-3AF3-4BD6-8956-A4576FFC2849}"/>
              </a:ext>
            </a:extLst>
          </p:cNvPr>
          <p:cNvSpPr>
            <a:spLocks noGrp="1"/>
          </p:cNvSpPr>
          <p:nvPr>
            <p:ph type="pic" sz="quarter" idx="33"/>
          </p:nvPr>
        </p:nvSpPr>
        <p:spPr>
          <a:xfrm>
            <a:off x="5795963" y="5589588"/>
            <a:ext cx="720725" cy="411162"/>
          </a:xfrm>
        </p:spPr>
        <p:txBody>
          <a:bodyPr/>
          <a:lstStyle/>
          <a:p>
            <a:endParaRPr lang="en-US"/>
          </a:p>
        </p:txBody>
      </p:sp>
    </p:spTree>
    <p:extLst>
      <p:ext uri="{BB962C8B-B14F-4D97-AF65-F5344CB8AC3E}">
        <p14:creationId xmlns:p14="http://schemas.microsoft.com/office/powerpoint/2010/main" val="15246947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099448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4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3484320991"/>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27886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14705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14705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8" name="Picture Placeholder 29" descr="Pearson Logo">
            <a:extLst>
              <a:ext uri="{FF2B5EF4-FFF2-40B4-BE49-F238E27FC236}">
                <a16:creationId xmlns:a16="http://schemas.microsoft.com/office/drawing/2014/main" id="{D177A6D5-C180-4378-ABC4-D88FD6E82CAE}"/>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323528" y="6520768"/>
            <a:ext cx="1152144" cy="292608"/>
          </a:xfrm>
          <a:prstGeom prst="rect">
            <a:avLst/>
          </a:prstGeom>
        </p:spPr>
      </p:pic>
      <p:sp>
        <p:nvSpPr>
          <p:cNvPr id="12" name="Text Placeholder 6">
            <a:extLst>
              <a:ext uri="{FF2B5EF4-FFF2-40B4-BE49-F238E27FC236}">
                <a16:creationId xmlns:a16="http://schemas.microsoft.com/office/drawing/2014/main" id="{5D9C337D-AC8D-4331-83A0-9EE14EE7C6CA}"/>
              </a:ext>
            </a:extLst>
          </p:cNvPr>
          <p:cNvSpPr txBox="1">
            <a:spLocks/>
          </p:cNvSpPr>
          <p:nvPr userDrawn="1"/>
        </p:nvSpPr>
        <p:spPr>
          <a:xfrm>
            <a:off x="2667953" y="6556563"/>
            <a:ext cx="6080760" cy="221018"/>
          </a:xfrm>
          <a:prstGeom prst="rect">
            <a:avLst/>
          </a:prstGeom>
        </p:spPr>
        <p:txBody>
          <a:bodyPr lIns="0" tIns="18000" rIns="0" bIns="18000" anchor="t" anchorCtr="0">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ClrTx/>
              <a:buFont typeface="Arial" panose="020B0604020202020204" pitchFamily="34" charset="0"/>
              <a:buNone/>
              <a:defRPr/>
            </a:pPr>
            <a:r>
              <a:rPr lang="en-US" altLang="en-US" sz="120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8485671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5" r:id="rId5"/>
    <p:sldLayoutId id="2147483666" r:id="rId6"/>
    <p:sldLayoutId id="2147483667" r:id="rId7"/>
    <p:sldLayoutId id="2147483668" r:id="rId8"/>
    <p:sldLayoutId id="2147483669" r:id="rId9"/>
    <p:sldLayoutId id="2147483670" r:id="rId10"/>
    <p:sldLayoutId id="2147483671" r:id="rId11"/>
    <p:sldLayoutId id="2147483657" r:id="rId12"/>
    <p:sldLayoutId id="2147483656" r:id="rId13"/>
    <p:sldLayoutId id="2147483650" r:id="rId14"/>
    <p:sldLayoutId id="2147483659" r:id="rId15"/>
    <p:sldLayoutId id="2147483672" r:id="rId16"/>
    <p:sldLayoutId id="2147483673" r:id="rId17"/>
    <p:sldLayoutId id="2147483674" r:id="rId18"/>
    <p:sldLayoutId id="2147483658" r:id="rId19"/>
    <p:sldLayoutId id="2147483660" r:id="rId20"/>
    <p:sldLayoutId id="2147483654" r:id="rId21"/>
    <p:sldLayoutId id="2147483655" r:id="rId22"/>
    <p:sldLayoutId id="2147483681" r:id="rId23"/>
    <p:sldLayoutId id="2147483682" r:id="rId24"/>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2090599544"/>
      </p:ext>
    </p:extLst>
  </p:cSld>
  <p:clrMap bg1="lt1" tx1="dk1" bg2="dk2" tx2="lt2" accent1="accent1" accent2="accent2" accent3="accent3" accent4="accent4" accent5="accent5" accent6="accent6" hlink="hlink" folHlink="folHlink"/>
  <p:sldLayoutIdLst>
    <p:sldLayoutId id="2147483677" r:id="rId1"/>
    <p:sldLayoutId id="2147483680" r:id="rId2"/>
    <p:sldLayoutId id="214748367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4250" cy="590349"/>
          </a:xfrm>
        </p:spPr>
        <p:txBody>
          <a:bodyPr wrap="square" lIns="0" tIns="18000" rIns="0" bIns="18000">
            <a:spAutoFit/>
          </a:bodyPr>
          <a:lstStyle/>
          <a:p>
            <a:r>
              <a:rPr lang="en-US" sz="3600">
                <a:latin typeface="+mj-lt"/>
              </a:rPr>
              <a:t>Fundamentals of Management</a:t>
            </a:r>
            <a:endParaRPr lang="en-US" sz="2800"/>
          </a:p>
        </p:txBody>
      </p:sp>
      <p:sp>
        <p:nvSpPr>
          <p:cNvPr id="3" name="Text Placeholder 2"/>
          <p:cNvSpPr>
            <a:spLocks noGrp="1"/>
          </p:cNvSpPr>
          <p:nvPr>
            <p:ph type="body" sz="quarter" idx="13"/>
          </p:nvPr>
        </p:nvSpPr>
        <p:spPr>
          <a:xfrm>
            <a:off x="468000" y="1008979"/>
            <a:ext cx="8274250" cy="344128"/>
          </a:xfrm>
        </p:spPr>
        <p:txBody>
          <a:bodyPr wrap="square" lIns="0" tIns="18000" rIns="0" bIns="18000" anchor="ctr">
            <a:spAutoFit/>
          </a:bodyPr>
          <a:lstStyle/>
          <a:p>
            <a:r>
              <a:rPr lang="en-US">
                <a:latin typeface="Arial" panose="020B0604020202020204" pitchFamily="34" charset="0"/>
                <a:cs typeface="Arial" panose="020B0604020202020204" pitchFamily="34" charset="0"/>
              </a:rPr>
              <a:t>Eleventh Edition</a:t>
            </a:r>
          </a:p>
        </p:txBody>
      </p:sp>
      <p:pic>
        <p:nvPicPr>
          <p:cNvPr id="9" name="Picture Placeholder 8" descr="Front Cover: Fundamentals of Management Eleventh Edition by Robbins, Coulter and DeCenzo.">
            <a:extLst>
              <a:ext uri="{FF2B5EF4-FFF2-40B4-BE49-F238E27FC236}">
                <a16:creationId xmlns:a16="http://schemas.microsoft.com/office/drawing/2014/main" id="{AC243915-3F84-4C0C-BAAC-E22CD4EC1B80}"/>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3083" r="3083"/>
          <a:stretch>
            <a:fillRect/>
          </a:stretch>
        </p:blipFill>
        <p:spPr>
          <a:xfrm>
            <a:off x="467544" y="1685925"/>
            <a:ext cx="3260725" cy="4440238"/>
          </a:xfrm>
        </p:spPr>
      </p:pic>
      <p:sp>
        <p:nvSpPr>
          <p:cNvPr id="4" name="Text Placeholder 3"/>
          <p:cNvSpPr>
            <a:spLocks noGrp="1"/>
          </p:cNvSpPr>
          <p:nvPr>
            <p:ph type="body" sz="quarter" idx="14"/>
          </p:nvPr>
        </p:nvSpPr>
        <p:spPr>
          <a:xfrm>
            <a:off x="4576812" y="2888099"/>
            <a:ext cx="4171901" cy="498016"/>
          </a:xfrm>
        </p:spPr>
        <p:txBody>
          <a:bodyPr wrap="square" lIns="0" tIns="18000" rIns="0" bIns="18000">
            <a:spAutoFit/>
          </a:bodyPr>
          <a:lstStyle/>
          <a:p>
            <a:r>
              <a:rPr lang="en-US" dirty="0">
                <a:latin typeface="Arial" panose="020B0604020202020204" pitchFamily="34" charset="0"/>
                <a:cs typeface="Arial" panose="020B0604020202020204" pitchFamily="34" charset="0"/>
              </a:rPr>
              <a:t>Chapter 2</a:t>
            </a:r>
          </a:p>
        </p:txBody>
      </p:sp>
      <p:sp>
        <p:nvSpPr>
          <p:cNvPr id="5" name="Text Placeholder 4"/>
          <p:cNvSpPr>
            <a:spLocks noGrp="1"/>
          </p:cNvSpPr>
          <p:nvPr>
            <p:ph type="body" sz="quarter" idx="15"/>
          </p:nvPr>
        </p:nvSpPr>
        <p:spPr>
          <a:xfrm>
            <a:off x="4580142" y="3528119"/>
            <a:ext cx="4168571" cy="374906"/>
          </a:xfrm>
        </p:spPr>
        <p:txBody>
          <a:bodyPr wrap="square" lIns="0" tIns="18000" rIns="0" bIns="18000">
            <a:spAutoFit/>
          </a:bodyPr>
          <a:lstStyle/>
          <a:p>
            <a:r>
              <a:rPr lang="en-US" altLang="en-US">
                <a:latin typeface="Arial" panose="020B0604020202020204" pitchFamily="34" charset="0"/>
                <a:ea typeface="Malgun Gothic" pitchFamily="34" charset="-127"/>
                <a:cs typeface="Arial" panose="020B0604020202020204" pitchFamily="34" charset="0"/>
              </a:rPr>
              <a:t>The Management Environment</a:t>
            </a:r>
            <a:endParaRPr lang="en-US">
              <a:latin typeface="Arial" panose="020B0604020202020204" pitchFamily="34" charset="0"/>
              <a:cs typeface="Arial" panose="020B0604020202020204" pitchFamily="34" charset="0"/>
            </a:endParaRPr>
          </a:p>
        </p:txBody>
      </p:sp>
      <p:pic>
        <p:nvPicPr>
          <p:cNvPr id="30" name="Picture Placeholder 29" descr="Pearson Logo">
            <a:extLst>
              <a:ext uri="{FF2B5EF4-FFF2-40B4-BE49-F238E27FC236}">
                <a16:creationId xmlns:a16="http://schemas.microsoft.com/office/drawing/2014/main" id="{55E920AB-A07A-4031-92B0-F06A28CEC914}"/>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323528" y="6520768"/>
            <a:ext cx="1152144" cy="292608"/>
          </a:xfrm>
          <a:prstGeom prst="rect">
            <a:avLst/>
          </a:prstGeom>
        </p:spPr>
      </p:pic>
      <p:sp>
        <p:nvSpPr>
          <p:cNvPr id="11" name="Text Placeholder 6"/>
          <p:cNvSpPr>
            <a:spLocks noGrp="1"/>
          </p:cNvSpPr>
          <p:nvPr>
            <p:ph type="body" sz="quarter" idx="16"/>
          </p:nvPr>
        </p:nvSpPr>
        <p:spPr>
          <a:xfrm>
            <a:off x="2678550" y="6556563"/>
            <a:ext cx="6080760" cy="221018"/>
          </a:xfrm>
        </p:spPr>
        <p:txBody>
          <a:bodyPr lIns="0" tIns="18000" rIns="0" bIns="18000" anchor="t" anchorCtr="0">
            <a:spAutoFit/>
          </a:bodyPr>
          <a:lstStyle/>
          <a:p>
            <a:pPr marL="0" indent="0" algn="r">
              <a:buClrTx/>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25868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dirty="0">
                <a:latin typeface="+mj-lt"/>
              </a:rPr>
              <a:t>Learning Objectives</a:t>
            </a:r>
            <a:endParaRPr lang="en-IN" sz="3600" dirty="0">
              <a:latin typeface="+mj-lt"/>
            </a:endParaRPr>
          </a:p>
        </p:txBody>
      </p:sp>
      <p:sp>
        <p:nvSpPr>
          <p:cNvPr id="3" name="Content Placeholder 2"/>
          <p:cNvSpPr>
            <a:spLocks noGrp="1"/>
          </p:cNvSpPr>
          <p:nvPr>
            <p:ph idx="1"/>
          </p:nvPr>
        </p:nvSpPr>
        <p:spPr>
          <a:xfrm>
            <a:off x="468000" y="1268760"/>
            <a:ext cx="8280712" cy="3760448"/>
          </a:xfrm>
        </p:spPr>
        <p:txBody>
          <a:bodyPr wrap="square" tIns="18000" bIns="18000">
            <a:spAutoFit/>
          </a:bodyPr>
          <a:lstStyle/>
          <a:p>
            <a:pPr marL="720000" indent="-720000">
              <a:buSzPct val="100000"/>
              <a:buNone/>
            </a:pPr>
            <a:r>
              <a:rPr lang="en-US" altLang="en-US" sz="2400" b="1" dirty="0">
                <a:solidFill>
                  <a:srgbClr val="007FA3"/>
                </a:solidFill>
                <a:ea typeface="ＭＳ Ｐゴシック" pitchFamily="34" charset="-128"/>
              </a:rPr>
              <a:t>2.1	</a:t>
            </a:r>
            <a:r>
              <a:rPr lang="en-US" altLang="en-US" sz="2400" b="1" dirty="0">
                <a:ea typeface="ＭＳ Ｐゴシック" pitchFamily="34" charset="-128"/>
              </a:rPr>
              <a:t>Explain </a:t>
            </a:r>
            <a:r>
              <a:rPr lang="en-US" altLang="en-US" sz="2400" dirty="0">
                <a:ea typeface="ＭＳ Ｐゴシック" pitchFamily="34" charset="-128"/>
              </a:rPr>
              <a:t>what the external environment is and why it’s important.</a:t>
            </a:r>
          </a:p>
          <a:p>
            <a:pPr marL="720000" indent="-720000">
              <a:buSzPct val="100000"/>
              <a:buNone/>
            </a:pPr>
            <a:r>
              <a:rPr lang="en-US" altLang="en-US" sz="2400" b="1" dirty="0">
                <a:solidFill>
                  <a:srgbClr val="007FA3"/>
                </a:solidFill>
                <a:ea typeface="ＭＳ Ｐゴシック" pitchFamily="34" charset="-128"/>
              </a:rPr>
              <a:t>2.2	</a:t>
            </a:r>
            <a:r>
              <a:rPr lang="en-US" altLang="en-US" sz="2400" b="1" dirty="0">
                <a:ea typeface="ＭＳ Ｐゴシック" pitchFamily="34" charset="-128"/>
              </a:rPr>
              <a:t>Discuss </a:t>
            </a:r>
            <a:r>
              <a:rPr lang="en-US" altLang="en-US" sz="2400" dirty="0">
                <a:ea typeface="ＭＳ Ｐゴシック" pitchFamily="34" charset="-128"/>
              </a:rPr>
              <a:t>how the external environment affects managers.</a:t>
            </a:r>
          </a:p>
          <a:p>
            <a:pPr marL="720000" indent="-720000">
              <a:buSzPct val="100000"/>
              <a:buNone/>
            </a:pPr>
            <a:r>
              <a:rPr lang="en-US" altLang="en-US" sz="2400" b="1" dirty="0">
                <a:solidFill>
                  <a:srgbClr val="007FA3"/>
                </a:solidFill>
                <a:ea typeface="ＭＳ Ｐゴシック" pitchFamily="34" charset="-128"/>
              </a:rPr>
              <a:t>2.3	</a:t>
            </a:r>
            <a:r>
              <a:rPr lang="en-US" altLang="en-US" sz="2400" b="1" dirty="0">
                <a:ea typeface="ＭＳ Ｐゴシック" pitchFamily="34" charset="-128"/>
              </a:rPr>
              <a:t>Define </a:t>
            </a:r>
            <a:r>
              <a:rPr lang="en-US" altLang="en-US" sz="2400" i="1" dirty="0">
                <a:ea typeface="ＭＳ Ｐゴシック" pitchFamily="34" charset="-128"/>
              </a:rPr>
              <a:t>organizational culture</a:t>
            </a:r>
            <a:r>
              <a:rPr lang="en-US" altLang="en-US" sz="2400" dirty="0">
                <a:ea typeface="ＭＳ Ｐゴシック" pitchFamily="34" charset="-128"/>
              </a:rPr>
              <a:t> and explain why it’s important.</a:t>
            </a:r>
          </a:p>
          <a:p>
            <a:pPr marL="720000" indent="-720000">
              <a:buSzPct val="100000"/>
              <a:buNone/>
            </a:pPr>
            <a:r>
              <a:rPr lang="en-US" altLang="en-US" sz="2400" b="1" dirty="0">
                <a:solidFill>
                  <a:srgbClr val="007FA3"/>
                </a:solidFill>
                <a:ea typeface="ＭＳ Ｐゴシック" pitchFamily="34" charset="-128"/>
              </a:rPr>
              <a:t>2.4	</a:t>
            </a:r>
            <a:r>
              <a:rPr lang="en-US" altLang="en-US" sz="2400" b="1" dirty="0">
                <a:ea typeface="ＭＳ Ｐゴシック" pitchFamily="34" charset="-128"/>
              </a:rPr>
              <a:t>Describe </a:t>
            </a:r>
            <a:r>
              <a:rPr lang="en-US" altLang="en-US" sz="2400" dirty="0">
                <a:ea typeface="ＭＳ Ｐゴシック" pitchFamily="34" charset="-128"/>
              </a:rPr>
              <a:t>how organizational culture affects managers.</a:t>
            </a:r>
          </a:p>
          <a:p>
            <a:pPr marL="720000" indent="-720000">
              <a:buSzPct val="100000"/>
              <a:buNone/>
            </a:pPr>
            <a:r>
              <a:rPr lang="en-US" altLang="en-US" sz="2400" b="1" dirty="0">
                <a:solidFill>
                  <a:srgbClr val="007FA3"/>
                </a:solidFill>
                <a:ea typeface="ＭＳ Ｐゴシック" pitchFamily="34" charset="-128"/>
              </a:rPr>
              <a:t>2.5	</a:t>
            </a:r>
            <a:r>
              <a:rPr lang="en-US" altLang="en-US" sz="2400" b="1" dirty="0">
                <a:ea typeface="ＭＳ Ｐゴシック" pitchFamily="34" charset="-128"/>
              </a:rPr>
              <a:t>Describe </a:t>
            </a:r>
            <a:r>
              <a:rPr lang="en-US" altLang="en-US" sz="2400" dirty="0">
                <a:ea typeface="ＭＳ Ｐゴシック" pitchFamily="34" charset="-128"/>
              </a:rPr>
              <a:t>current issues in organizational culture.</a:t>
            </a:r>
            <a:endParaRPr lang="en-US" sz="2400" dirty="0"/>
          </a:p>
        </p:txBody>
      </p:sp>
    </p:spTree>
    <p:extLst>
      <p:ext uri="{BB962C8B-B14F-4D97-AF65-F5344CB8AC3E}">
        <p14:creationId xmlns:p14="http://schemas.microsoft.com/office/powerpoint/2010/main" val="1505918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dirty="0">
                <a:latin typeface="+mj-lt"/>
              </a:rPr>
              <a:t>Learning Objective 2.1 </a:t>
            </a:r>
            <a:endParaRPr lang="en-US" sz="3600" dirty="0">
              <a:latin typeface="+mj-lt"/>
            </a:endParaRPr>
          </a:p>
        </p:txBody>
      </p:sp>
      <p:sp>
        <p:nvSpPr>
          <p:cNvPr id="5" name="Content Placeholder 4"/>
          <p:cNvSpPr>
            <a:spLocks noGrp="1"/>
          </p:cNvSpPr>
          <p:nvPr>
            <p:ph idx="1"/>
          </p:nvPr>
        </p:nvSpPr>
        <p:spPr>
          <a:xfrm>
            <a:off x="467999" y="1268760"/>
            <a:ext cx="8280713" cy="775015"/>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Explain what the external environment is and why it’s important.</a:t>
            </a:r>
          </a:p>
        </p:txBody>
      </p:sp>
    </p:spTree>
    <p:extLst>
      <p:ext uri="{BB962C8B-B14F-4D97-AF65-F5344CB8AC3E}">
        <p14:creationId xmlns:p14="http://schemas.microsoft.com/office/powerpoint/2010/main" val="3618019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1144347"/>
          </a:xfrm>
        </p:spPr>
        <p:txBody>
          <a:bodyPr vert="horz" wrap="square" lIns="0" tIns="18000" rIns="0" bIns="18000" rtlCol="0" anchor="b">
            <a:spAutoFit/>
          </a:bodyPr>
          <a:lstStyle/>
          <a:p>
            <a:r>
              <a:rPr lang="en-US" altLang="en-US" sz="3600">
                <a:latin typeface="+mj-lt"/>
              </a:rPr>
              <a:t>What Is the External Environment and Why Is It Important?</a:t>
            </a:r>
            <a:endParaRPr lang="en-US" sz="3600">
              <a:latin typeface="+mj-lt"/>
            </a:endParaRPr>
          </a:p>
        </p:txBody>
      </p:sp>
      <p:sp>
        <p:nvSpPr>
          <p:cNvPr id="5" name="Content Placeholder 4"/>
          <p:cNvSpPr>
            <a:spLocks noGrp="1"/>
          </p:cNvSpPr>
          <p:nvPr>
            <p:ph idx="1"/>
          </p:nvPr>
        </p:nvSpPr>
        <p:spPr>
          <a:xfrm>
            <a:off x="468000" y="1700808"/>
            <a:ext cx="8280712" cy="1336708"/>
          </a:xfrm>
        </p:spPr>
        <p:txBody>
          <a:bodyPr wrap="square" tIns="18000" bIns="18000">
            <a:spAutoFit/>
          </a:bodyPr>
          <a:lstStyle/>
          <a:p>
            <a:pPr marL="0" indent="0">
              <a:buNone/>
            </a:pPr>
            <a:r>
              <a:rPr lang="en-US" altLang="en-US" sz="2400" b="1">
                <a:latin typeface="Arial" panose="020B0604020202020204" pitchFamily="34" charset="0"/>
                <a:ea typeface="ＭＳ Ｐゴシック" pitchFamily="34" charset="-128"/>
                <a:cs typeface="Arial" panose="020B0604020202020204" pitchFamily="34" charset="0"/>
              </a:rPr>
              <a:t>External environment:</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factors, forces, situations, and events outside the organization that affect its performance.</a:t>
            </a:r>
          </a:p>
        </p:txBody>
      </p:sp>
    </p:spTree>
    <p:extLst>
      <p:ext uri="{BB962C8B-B14F-4D97-AF65-F5344CB8AC3E}">
        <p14:creationId xmlns:p14="http://schemas.microsoft.com/office/powerpoint/2010/main" val="3557418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37333"/>
            <a:ext cx="8280400" cy="1144347"/>
          </a:xfrm>
        </p:spPr>
        <p:txBody>
          <a:bodyPr vert="horz" wrap="square" lIns="0" tIns="18000" rIns="0" bIns="18000" rtlCol="0" anchor="b">
            <a:spAutoFit/>
          </a:bodyPr>
          <a:lstStyle/>
          <a:p>
            <a:r>
              <a:rPr lang="en-US" altLang="en-US" sz="3600" dirty="0">
                <a:latin typeface="Arial" panose="020B0604020202020204" pitchFamily="34" charset="0"/>
                <a:cs typeface="Arial" panose="020B0604020202020204" pitchFamily="34" charset="0"/>
              </a:rPr>
              <a:t>Components of the External Environment</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628775"/>
            <a:ext cx="8280401"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2.1</a:t>
            </a:r>
            <a:r>
              <a:rPr lang="en-US" dirty="0">
                <a:latin typeface="Arial" panose="020B0604020202020204" pitchFamily="34" charset="0"/>
                <a:cs typeface="Arial" panose="020B0604020202020204" pitchFamily="34" charset="0"/>
              </a:rPr>
              <a:t> Components of the External Environment</a:t>
            </a:r>
          </a:p>
        </p:txBody>
      </p:sp>
      <p:pic>
        <p:nvPicPr>
          <p:cNvPr id="31" name="Picture Placeholder 30" descr="An illustration shows the following six components of the external environment of an organization: political or legal, demographics, economic, sociocultural, technological, and global.">
            <a:extLst>
              <a:ext uri="{FF2B5EF4-FFF2-40B4-BE49-F238E27FC236}">
                <a16:creationId xmlns:a16="http://schemas.microsoft.com/office/drawing/2014/main" id="{29054CB6-3A50-4176-ADFA-6DFFF4AB02A4}"/>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805000" y="2241032"/>
            <a:ext cx="7583424" cy="1908048"/>
          </a:xfrm>
          <a:prstGeom prst="rect">
            <a:avLst/>
          </a:prstGeom>
        </p:spPr>
      </p:pic>
      <p:sp>
        <p:nvSpPr>
          <p:cNvPr id="9" name="Content Placeholder 8">
            <a:extLst>
              <a:ext uri="{FF2B5EF4-FFF2-40B4-BE49-F238E27FC236}">
                <a16:creationId xmlns:a16="http://schemas.microsoft.com/office/drawing/2014/main" id="{AA1EAC40-E15D-45A8-B92E-2D7B05C09BBB}"/>
              </a:ext>
            </a:extLst>
          </p:cNvPr>
          <p:cNvSpPr>
            <a:spLocks noGrp="1"/>
          </p:cNvSpPr>
          <p:nvPr>
            <p:ph sz="quarter" idx="14"/>
          </p:nvPr>
        </p:nvSpPr>
        <p:spPr>
          <a:xfrm>
            <a:off x="468313" y="4797152"/>
            <a:ext cx="8280400" cy="405683"/>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Robbins, Stephen P., Coulter, Mary, </a:t>
            </a:r>
            <a:r>
              <a:rPr lang="en-US" sz="1200" i="1">
                <a:latin typeface="Arial" panose="020B0604020202020204" pitchFamily="34" charset="0"/>
                <a:cs typeface="Arial" panose="020B0604020202020204" pitchFamily="34" charset="0"/>
              </a:rPr>
              <a:t>Management</a:t>
            </a:r>
            <a:r>
              <a:rPr lang="en-US" sz="1200">
                <a:latin typeface="Arial" panose="020B0604020202020204" pitchFamily="34" charset="0"/>
                <a:cs typeface="Arial" panose="020B0604020202020204" pitchFamily="34" charset="0"/>
              </a:rPr>
              <a:t>, 13th E</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d., © 2016, p. 73. Reprinted and electronically reproduced by permission of Pearson Education, Inc., New York, </a:t>
            </a:r>
            <a:r>
              <a:rPr lang="en-US" sz="1200" spc="-200">
                <a:latin typeface="Arial" panose="020B0604020202020204" pitchFamily="34" charset="0"/>
                <a:cs typeface="Arial" panose="020B0604020202020204" pitchFamily="34" charset="0"/>
              </a:rPr>
              <a:t>N </a:t>
            </a:r>
            <a:r>
              <a:rPr lang="en-US" sz="120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338447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a:latin typeface="+mj-lt"/>
              </a:rPr>
              <a:t>What Is the Economy Like Today?</a:t>
            </a:r>
            <a:endParaRPr lang="en-US" sz="3600">
              <a:latin typeface="+mj-lt"/>
            </a:endParaRPr>
          </a:p>
        </p:txBody>
      </p:sp>
      <p:sp>
        <p:nvSpPr>
          <p:cNvPr id="5" name="Content Placeholder 4"/>
          <p:cNvSpPr>
            <a:spLocks noGrp="1"/>
          </p:cNvSpPr>
          <p:nvPr>
            <p:ph idx="1"/>
          </p:nvPr>
        </p:nvSpPr>
        <p:spPr>
          <a:xfrm>
            <a:off x="468000" y="1268760"/>
            <a:ext cx="8280712" cy="4655121"/>
          </a:xfrm>
        </p:spPr>
        <p:txBody>
          <a:bodyPr wrap="square" tIns="18000" bIns="18000">
            <a:spAutoFit/>
          </a:bodyPr>
          <a:lstStyle/>
          <a:p>
            <a:r>
              <a:rPr lang="en-US" altLang="en-US" sz="2400">
                <a:latin typeface="Arial" panose="020B0604020202020204" pitchFamily="34" charset="0"/>
                <a:cs typeface="Arial" panose="020B0604020202020204" pitchFamily="34" charset="0"/>
              </a:rPr>
              <a:t>Global productivity has moderated globally although it continues to lag in the United States.</a:t>
            </a:r>
          </a:p>
          <a:p>
            <a:r>
              <a:rPr lang="en-US" altLang="en-US" sz="2400">
                <a:latin typeface="Arial" panose="020B0604020202020204" pitchFamily="34" charset="0"/>
                <a:cs typeface="Arial" panose="020B0604020202020204" pitchFamily="34" charset="0"/>
              </a:rPr>
              <a:t>Global trade is improving with the strongest growth in Europe and Asia.</a:t>
            </a:r>
          </a:p>
          <a:p>
            <a:r>
              <a:rPr lang="en-US" altLang="en-US" sz="2400">
                <a:latin typeface="Arial" panose="020B0604020202020204" pitchFamily="34" charset="0"/>
                <a:cs typeface="Arial" panose="020B0604020202020204" pitchFamily="34" charset="0"/>
              </a:rPr>
              <a:t>U.S. employment is up.</a:t>
            </a:r>
          </a:p>
          <a:p>
            <a:r>
              <a:rPr lang="en-US" altLang="en-US" sz="2400">
                <a:latin typeface="Arial" panose="020B0604020202020204" pitchFamily="34" charset="0"/>
                <a:cs typeface="Arial" panose="020B0604020202020204" pitchFamily="34" charset="0"/>
              </a:rPr>
              <a:t>Many U.S. workers despite having a steady job do not have a reliable income.</a:t>
            </a:r>
          </a:p>
          <a:p>
            <a:r>
              <a:rPr lang="en-US" altLang="en-US" sz="2400">
                <a:latin typeface="Arial" panose="020B0604020202020204" pitchFamily="34" charset="0"/>
                <a:cs typeface="Arial" panose="020B0604020202020204" pitchFamily="34" charset="0"/>
              </a:rPr>
              <a:t>Health-care law mandates are encouraging companies in low-wage industries to use part-time workers. </a:t>
            </a:r>
          </a:p>
          <a:p>
            <a:r>
              <a:rPr lang="en-US" altLang="en-US" sz="2400">
                <a:latin typeface="Arial" panose="020B0604020202020204" pitchFamily="34" charset="0"/>
                <a:cs typeface="Arial" panose="020B0604020202020204" pitchFamily="34" charset="0"/>
              </a:rPr>
              <a:t>Is the American Dream still possible?</a:t>
            </a:r>
          </a:p>
        </p:txBody>
      </p:sp>
    </p:spTree>
    <p:extLst>
      <p:ext uri="{BB962C8B-B14F-4D97-AF65-F5344CB8AC3E}">
        <p14:creationId xmlns:p14="http://schemas.microsoft.com/office/powerpoint/2010/main" val="3823014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315844"/>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Economic Inequality</a:t>
            </a:r>
            <a:endParaRPr lang="en-US" sz="3600" dirty="0">
              <a:latin typeface="+mj-lt"/>
            </a:endParaRPr>
          </a:p>
        </p:txBody>
      </p:sp>
      <p:sp>
        <p:nvSpPr>
          <p:cNvPr id="3" name="Content Placeholder 2"/>
          <p:cNvSpPr>
            <a:spLocks noGrp="1"/>
          </p:cNvSpPr>
          <p:nvPr>
            <p:ph idx="1"/>
          </p:nvPr>
        </p:nvSpPr>
        <p:spPr>
          <a:xfrm>
            <a:off x="468000" y="1300204"/>
            <a:ext cx="8280712" cy="1336708"/>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Harris Interactive Poll:</a:t>
            </a:r>
          </a:p>
          <a:p>
            <a:r>
              <a:rPr lang="en-US" altLang="en-US" sz="2400" dirty="0">
                <a:latin typeface="Arial" panose="020B0604020202020204" pitchFamily="34" charset="0"/>
                <a:ea typeface="ＭＳ Ｐゴシック" pitchFamily="34" charset="-128"/>
                <a:cs typeface="Arial" panose="020B0604020202020204" pitchFamily="34" charset="0"/>
              </a:rPr>
              <a:t>Only 10 percent of adults think economic inequality is “not a problem at all.”</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7224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The Sharing Economy</a:t>
            </a:r>
            <a:endParaRPr lang="en-US" sz="3600" dirty="0">
              <a:latin typeface="+mj-lt"/>
            </a:endParaRPr>
          </a:p>
        </p:txBody>
      </p:sp>
      <p:sp>
        <p:nvSpPr>
          <p:cNvPr id="3" name="Content Placeholder 2"/>
          <p:cNvSpPr>
            <a:spLocks noGrp="1"/>
          </p:cNvSpPr>
          <p:nvPr>
            <p:ph idx="1"/>
          </p:nvPr>
        </p:nvSpPr>
        <p:spPr>
          <a:xfrm>
            <a:off x="468000" y="1268760"/>
            <a:ext cx="8291513" cy="1144347"/>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Asset owners share with other individuals through peer-to-peer service, for a set fee, their underutilized physical assets or their knowledge, expertise, skills, or time.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643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a:latin typeface="+mj-lt"/>
              </a:rPr>
              <a:t>Demographics </a:t>
            </a:r>
            <a:endParaRPr lang="en-US" sz="3600">
              <a:latin typeface="+mj-lt"/>
            </a:endParaRPr>
          </a:p>
        </p:txBody>
      </p:sp>
      <p:sp>
        <p:nvSpPr>
          <p:cNvPr id="5" name="Content Placeholder 4"/>
          <p:cNvSpPr>
            <a:spLocks noGrp="1"/>
          </p:cNvSpPr>
          <p:nvPr>
            <p:ph idx="1"/>
          </p:nvPr>
        </p:nvSpPr>
        <p:spPr>
          <a:xfrm>
            <a:off x="467999" y="1268760"/>
            <a:ext cx="8280713" cy="3214145"/>
          </a:xfrm>
        </p:spPr>
        <p:txBody>
          <a:bodyPr wrap="square" tIns="18000" bIns="18000">
            <a:spAutoFit/>
          </a:bodyPr>
          <a:lstStyle/>
          <a:p>
            <a:pPr>
              <a:buNone/>
              <a:defRPr/>
            </a:pPr>
            <a:r>
              <a:rPr lang="en-US" altLang="en-US" sz="2400" b="1">
                <a:latin typeface="Arial" panose="020B0604020202020204" pitchFamily="34" charset="0"/>
                <a:ea typeface="ＭＳ Ｐゴシック" pitchFamily="34" charset="-128"/>
                <a:cs typeface="Arial" panose="020B0604020202020204" pitchFamily="34" charset="0"/>
              </a:rPr>
              <a:t>Demography is destiny.</a:t>
            </a:r>
            <a:endParaRPr lang="en-US" altLang="en-US" sz="2400">
              <a:latin typeface="Arial" panose="020B0604020202020204" pitchFamily="34" charset="0"/>
              <a:ea typeface="ＭＳ Ｐゴシック" pitchFamily="34" charset="-128"/>
              <a:cs typeface="Arial" panose="020B0604020202020204" pitchFamily="34" charset="0"/>
            </a:endParaRPr>
          </a:p>
          <a:p>
            <a:pPr>
              <a:buNone/>
              <a:defRPr/>
            </a:pPr>
            <a:r>
              <a:rPr lang="en-US" altLang="en-US" sz="2400" b="1">
                <a:latin typeface="Arial" panose="020B0604020202020204" pitchFamily="34" charset="0"/>
                <a:ea typeface="ＭＳ Ｐゴシック" pitchFamily="34" charset="-128"/>
                <a:cs typeface="Arial" panose="020B0604020202020204" pitchFamily="34" charset="0"/>
              </a:rPr>
              <a:t>Age Cohorts</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Baby Boomers</a:t>
            </a:r>
          </a:p>
          <a:p>
            <a:r>
              <a:rPr lang="en-US" altLang="en-US" sz="2400">
                <a:latin typeface="Arial" panose="020B0604020202020204" pitchFamily="34" charset="0"/>
                <a:cs typeface="Arial" panose="020B0604020202020204" pitchFamily="34" charset="0"/>
              </a:rPr>
              <a:t>Gen X</a:t>
            </a:r>
          </a:p>
          <a:p>
            <a:r>
              <a:rPr lang="en-US" altLang="en-US" sz="2400">
                <a:latin typeface="Arial" panose="020B0604020202020204" pitchFamily="34" charset="0"/>
                <a:cs typeface="Arial" panose="020B0604020202020204" pitchFamily="34" charset="0"/>
              </a:rPr>
              <a:t>Gen Y</a:t>
            </a:r>
          </a:p>
          <a:p>
            <a:r>
              <a:rPr lang="en-US" altLang="en-US" sz="2400">
                <a:latin typeface="Arial" panose="020B0604020202020204" pitchFamily="34" charset="0"/>
                <a:cs typeface="Arial" panose="020B0604020202020204" pitchFamily="34" charset="0"/>
              </a:rPr>
              <a:t>Gen Z</a:t>
            </a:r>
          </a:p>
        </p:txBody>
      </p:sp>
    </p:spTree>
    <p:extLst>
      <p:ext uri="{BB962C8B-B14F-4D97-AF65-F5344CB8AC3E}">
        <p14:creationId xmlns:p14="http://schemas.microsoft.com/office/powerpoint/2010/main" val="1455131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rPr>
              <a:t>Learning Objective 2.2</a:t>
            </a:r>
            <a:endParaRPr lang="en-US" dirty="0">
              <a:latin typeface="+mj-lt"/>
            </a:endParaRPr>
          </a:p>
        </p:txBody>
      </p:sp>
      <p:sp>
        <p:nvSpPr>
          <p:cNvPr id="3" name="Content Placeholder 2"/>
          <p:cNvSpPr>
            <a:spLocks noGrp="1"/>
          </p:cNvSpPr>
          <p:nvPr>
            <p:ph idx="1"/>
          </p:nvPr>
        </p:nvSpPr>
        <p:spPr>
          <a:xfrm>
            <a:off x="468000" y="1268760"/>
            <a:ext cx="8280713" cy="369332"/>
          </a:xfrm>
        </p:spPr>
        <p:txBody>
          <a:bodyPr tIns="18000" bIns="18000">
            <a:normAutofit lnSpcReduction="10000"/>
          </a:bodyPr>
          <a:lstStyle/>
          <a:p>
            <a:pPr marL="0" indent="0">
              <a:buNone/>
            </a:pPr>
            <a:r>
              <a:rPr lang="en-US" altLang="en-US" sz="2400" dirty="0">
                <a:latin typeface="Arial" panose="020B0604020202020204" pitchFamily="34" charset="0"/>
                <a:cs typeface="Arial" panose="020B0604020202020204" pitchFamily="34" charset="0"/>
              </a:rPr>
              <a:t>Discuss how the external environment affects managers.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6208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1144347"/>
          </a:xfrm>
        </p:spPr>
        <p:txBody>
          <a:bodyPr vert="horz" wrap="square" lIns="0" tIns="18000" rIns="0" bIns="18000" rtlCol="0" anchor="b">
            <a:spAutoFit/>
          </a:bodyPr>
          <a:lstStyle/>
          <a:p>
            <a:r>
              <a:rPr lang="en-US" altLang="en-US" sz="3600">
                <a:latin typeface="+mj-lt"/>
              </a:rPr>
              <a:t>How Does External Environment Affect Managers?</a:t>
            </a:r>
            <a:endParaRPr lang="en-US" sz="3600">
              <a:latin typeface="+mj-lt"/>
            </a:endParaRPr>
          </a:p>
        </p:txBody>
      </p:sp>
      <p:sp>
        <p:nvSpPr>
          <p:cNvPr id="5" name="Content Placeholder 4"/>
          <p:cNvSpPr>
            <a:spLocks noGrp="1"/>
          </p:cNvSpPr>
          <p:nvPr>
            <p:ph idx="1"/>
          </p:nvPr>
        </p:nvSpPr>
        <p:spPr>
          <a:xfrm>
            <a:off x="468000" y="1709084"/>
            <a:ext cx="8280712" cy="1529068"/>
          </a:xfrm>
        </p:spPr>
        <p:txBody>
          <a:bodyPr wrap="square" tIns="18000" bIns="18000">
            <a:spAutoFit/>
          </a:bodyPr>
          <a:lstStyle/>
          <a:p>
            <a:r>
              <a:rPr lang="en-US" altLang="en-US" sz="2400">
                <a:latin typeface="Arial" panose="020B0604020202020204" pitchFamily="34" charset="0"/>
                <a:cs typeface="Arial" panose="020B0604020202020204" pitchFamily="34" charset="0"/>
              </a:rPr>
              <a:t>Jobs and employment</a:t>
            </a:r>
          </a:p>
          <a:p>
            <a:r>
              <a:rPr lang="en-US" altLang="en-US" sz="2400">
                <a:latin typeface="Arial" panose="020B0604020202020204" pitchFamily="34" charset="0"/>
                <a:cs typeface="Arial" panose="020B0604020202020204" pitchFamily="34" charset="0"/>
              </a:rPr>
              <a:t>Assessing environmental uncertainty</a:t>
            </a:r>
          </a:p>
          <a:p>
            <a:r>
              <a:rPr lang="en-US" altLang="en-US" sz="2400">
                <a:latin typeface="Arial" panose="020B0604020202020204" pitchFamily="34" charset="0"/>
                <a:cs typeface="Arial" panose="020B0604020202020204" pitchFamily="34" charset="0"/>
              </a:rPr>
              <a:t>Managing stakeholder relationships</a:t>
            </a:r>
          </a:p>
        </p:txBody>
      </p:sp>
    </p:spTree>
    <p:extLst>
      <p:ext uri="{BB962C8B-B14F-4D97-AF65-F5344CB8AC3E}">
        <p14:creationId xmlns:p14="http://schemas.microsoft.com/office/powerpoint/2010/main" val="2011891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401" cy="590349"/>
          </a:xfrm>
        </p:spPr>
        <p:txBody>
          <a:bodyPr vert="horz" wrap="square" lIns="0" tIns="18000" rIns="0" bIns="18000" rtlCol="0" anchor="b">
            <a:spAutoFit/>
          </a:bodyPr>
          <a:lstStyle/>
          <a:p>
            <a:r>
              <a:rPr lang="en-US" altLang="en-US" sz="3600" dirty="0">
                <a:latin typeface="+mj-lt"/>
                <a:ea typeface="ＭＳ Ｐゴシック" pitchFamily="34" charset="-128"/>
                <a:cs typeface="Arial" pitchFamily="34" charset="0"/>
              </a:rPr>
              <a:t>Assessing Environmental Uncertainty</a:t>
            </a:r>
            <a:endParaRPr lang="en-US" sz="2800" dirty="0">
              <a:latin typeface="+mj-lt"/>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68760"/>
            <a:ext cx="8280401"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2.2 </a:t>
            </a:r>
            <a:r>
              <a:rPr lang="en-US" dirty="0">
                <a:latin typeface="Arial" panose="020B0604020202020204" pitchFamily="34" charset="0"/>
                <a:cs typeface="Arial" panose="020B0604020202020204" pitchFamily="34" charset="0"/>
              </a:rPr>
              <a:t>Environmental Uncertainty Matrix</a:t>
            </a:r>
          </a:p>
        </p:txBody>
      </p:sp>
      <p:pic>
        <p:nvPicPr>
          <p:cNvPr id="10" name="Picture Placeholder 9" descr="An illustration of a matrix shows environmental uncertainty by degree of change and degree of complexity.&#10;Long description is available in notes, press F6.">
            <a:extLst>
              <a:ext uri="{FF2B5EF4-FFF2-40B4-BE49-F238E27FC236}">
                <a16:creationId xmlns:a16="http://schemas.microsoft.com/office/drawing/2014/main" id="{DED62CDD-68E1-4676-86CF-A2A92FDF1BE0}"/>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656408" y="1844824"/>
            <a:ext cx="7876032" cy="4322064"/>
          </a:xfrm>
          <a:prstGeom prst="rect">
            <a:avLst/>
          </a:prstGeom>
        </p:spPr>
      </p:pic>
    </p:spTree>
    <p:extLst>
      <p:ext uri="{BB962C8B-B14F-4D97-AF65-F5344CB8AC3E}">
        <p14:creationId xmlns:p14="http://schemas.microsoft.com/office/powerpoint/2010/main" val="3147704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Managing Stakeholder Relationships</a:t>
            </a:r>
            <a:endParaRPr lang="en-US" sz="3600" dirty="0">
              <a:latin typeface="+mj-lt"/>
            </a:endParaRPr>
          </a:p>
        </p:txBody>
      </p:sp>
      <p:sp>
        <p:nvSpPr>
          <p:cNvPr id="3" name="Content Placeholder 2"/>
          <p:cNvSpPr>
            <a:spLocks noGrp="1"/>
          </p:cNvSpPr>
          <p:nvPr>
            <p:ph idx="1"/>
          </p:nvPr>
        </p:nvSpPr>
        <p:spPr>
          <a:xfrm>
            <a:off x="468000" y="1268760"/>
            <a:ext cx="8280712" cy="1336708"/>
          </a:xfrm>
        </p:spPr>
        <p:txBody>
          <a:bodyPr wrap="square" tIns="18000" bIns="18000">
            <a:spAutoFit/>
          </a:bodyPr>
          <a:lstStyle/>
          <a:p>
            <a:pPr marL="0" indent="0">
              <a:buNone/>
            </a:pPr>
            <a:r>
              <a:rPr lang="en-US" altLang="en-US" sz="2400" b="1" dirty="0">
                <a:latin typeface="Arial" panose="020B0604020202020204" pitchFamily="34" charset="0"/>
                <a:ea typeface="ＭＳ Ｐゴシック" pitchFamily="34" charset="-128"/>
                <a:cs typeface="Arial" panose="020B0604020202020204" pitchFamily="34" charset="0"/>
              </a:rPr>
              <a:t>Stakeholders: </a:t>
            </a:r>
          </a:p>
          <a:p>
            <a:pPr marL="271463" indent="-271463"/>
            <a:r>
              <a:rPr lang="en-US" altLang="en-US" sz="2400" dirty="0">
                <a:latin typeface="Arial" panose="020B0604020202020204" pitchFamily="34" charset="0"/>
                <a:ea typeface="ＭＳ Ｐゴシック" pitchFamily="34" charset="-128"/>
                <a:cs typeface="Arial" panose="020B0604020202020204" pitchFamily="34" charset="0"/>
              </a:rPr>
              <a:t>any constituencies in an organization’s environment that are affected by that organization’s decisions and actions.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9093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60648"/>
            <a:ext cx="8280401" cy="590349"/>
          </a:xfrm>
        </p:spPr>
        <p:txBody>
          <a:bodyPr vert="horz" wrap="square" lIns="0" tIns="18000" rIns="0" bIns="18000" rtlCol="0" anchor="b">
            <a:spAutoFit/>
          </a:bodyPr>
          <a:lstStyle/>
          <a:p>
            <a:r>
              <a:rPr lang="en-US" altLang="en-US" sz="3600" dirty="0">
                <a:latin typeface="+mj-lt"/>
                <a:ea typeface="ＭＳ Ｐゴシック" pitchFamily="34" charset="-128"/>
                <a:cs typeface="Arial" pitchFamily="34" charset="0"/>
              </a:rPr>
              <a:t>Common Organizational Stakeholders</a:t>
            </a:r>
            <a:endParaRPr lang="en-US" sz="2800" dirty="0">
              <a:latin typeface="+mj-lt"/>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562251"/>
            <a:ext cx="8280401"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2.3</a:t>
            </a:r>
            <a:r>
              <a:rPr lang="en-US" dirty="0">
                <a:latin typeface="Arial" panose="020B0604020202020204" pitchFamily="34" charset="0"/>
                <a:cs typeface="Arial" panose="020B0604020202020204" pitchFamily="34" charset="0"/>
              </a:rPr>
              <a:t> Organizational Stakeholders</a:t>
            </a:r>
          </a:p>
        </p:txBody>
      </p:sp>
      <p:pic>
        <p:nvPicPr>
          <p:cNvPr id="6" name="Picture Placeholder 5" descr="An illustration shows the following stakeholders in an organization: Employees, customers, social and political action groups, competitors, trade and history associations, governments, media, suppliers, communities, shareholders, and unions.">
            <a:extLst>
              <a:ext uri="{FF2B5EF4-FFF2-40B4-BE49-F238E27FC236}">
                <a16:creationId xmlns:a16="http://schemas.microsoft.com/office/drawing/2014/main" id="{D4E21DA2-3976-4FF7-B098-EB95D56039AF}"/>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1383792" y="2200616"/>
            <a:ext cx="6376416" cy="4108704"/>
          </a:xfrm>
          <a:prstGeom prst="rect">
            <a:avLst/>
          </a:prstGeom>
        </p:spPr>
      </p:pic>
    </p:spTree>
    <p:extLst>
      <p:ext uri="{BB962C8B-B14F-4D97-AF65-F5344CB8AC3E}">
        <p14:creationId xmlns:p14="http://schemas.microsoft.com/office/powerpoint/2010/main" val="1409289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Malgun Gothic" pitchFamily="34" charset="-127"/>
                <a:cs typeface="Arial" pitchFamily="34" charset="0"/>
              </a:rPr>
              <a:t>Good Stakeholder Relationships:</a:t>
            </a:r>
            <a:endParaRPr lang="en-US" dirty="0">
              <a:latin typeface="+mj-lt"/>
            </a:endParaRPr>
          </a:p>
        </p:txBody>
      </p:sp>
      <p:sp>
        <p:nvSpPr>
          <p:cNvPr id="3" name="Content Placeholder 2"/>
          <p:cNvSpPr>
            <a:spLocks noGrp="1"/>
          </p:cNvSpPr>
          <p:nvPr>
            <p:ph idx="1"/>
          </p:nvPr>
        </p:nvSpPr>
        <p:spPr>
          <a:xfrm>
            <a:off x="468000" y="1268760"/>
            <a:ext cx="8280712" cy="1529068"/>
          </a:xfrm>
        </p:spPr>
        <p:txBody>
          <a:bodyPr wrap="square" tIns="18000" bIns="18000">
            <a:spAutoFit/>
          </a:bodyPr>
          <a:lstStyle/>
          <a:p>
            <a:r>
              <a:rPr lang="en-US" altLang="en-US" sz="2400" dirty="0">
                <a:latin typeface="Arial" panose="020B0604020202020204" pitchFamily="34" charset="0"/>
                <a:ea typeface="ＭＳ Ｐゴシック" pitchFamily="34" charset="-128"/>
                <a:cs typeface="Arial" panose="020B0604020202020204" pitchFamily="34" charset="0"/>
              </a:rPr>
              <a:t>Can lead to desirable organizational outcomes</a:t>
            </a:r>
          </a:p>
          <a:p>
            <a:r>
              <a:rPr lang="en-US" altLang="en-US" sz="2400" dirty="0">
                <a:latin typeface="Arial" panose="020B0604020202020204" pitchFamily="34" charset="0"/>
                <a:ea typeface="ＭＳ Ｐゴシック" pitchFamily="34" charset="-128"/>
                <a:cs typeface="Arial" panose="020B0604020202020204" pitchFamily="34" charset="0"/>
              </a:rPr>
              <a:t>Can affect organizational performance</a:t>
            </a:r>
          </a:p>
          <a:p>
            <a:r>
              <a:rPr lang="en-US" altLang="en-US" sz="2400" dirty="0">
                <a:latin typeface="Arial" panose="020B0604020202020204" pitchFamily="34" charset="0"/>
                <a:ea typeface="ＭＳ Ｐゴシック" pitchFamily="34" charset="-128"/>
                <a:cs typeface="Arial" panose="020B0604020202020204" pitchFamily="34" charset="0"/>
              </a:rPr>
              <a:t>Demonstrate doing the “right” thing</a:t>
            </a:r>
            <a:endParaRPr lang="en-US" altLang="en-US" sz="2400" dirty="0">
              <a:solidFill>
                <a:srgbClr val="648596"/>
              </a:solidFill>
              <a:latin typeface="Arial" panose="020B060402020202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37941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4" cy="590349"/>
          </a:xfrm>
        </p:spPr>
        <p:txBody>
          <a:bodyPr wrap="square" tIns="18000" bIns="18000">
            <a:spAutoFit/>
          </a:bodyPr>
          <a:lstStyle/>
          <a:p>
            <a:r>
              <a:rPr lang="en-US" altLang="en-US" sz="3600" dirty="0">
                <a:latin typeface="Arial" panose="020B0604020202020204" pitchFamily="34" charset="0"/>
                <a:cs typeface="Arial" panose="020B0604020202020204" pitchFamily="34" charset="0"/>
              </a:rPr>
              <a:t>Learning Objective 2.3</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67999" y="1268760"/>
            <a:ext cx="8280713" cy="405683"/>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Define </a:t>
            </a:r>
            <a:r>
              <a:rPr lang="en-US" altLang="en-US" sz="2400" i="1" dirty="0">
                <a:latin typeface="Arial" panose="020B0604020202020204" pitchFamily="34" charset="0"/>
                <a:cs typeface="Arial" panose="020B0604020202020204" pitchFamily="34" charset="0"/>
              </a:rPr>
              <a:t>organizational culture</a:t>
            </a:r>
            <a:r>
              <a:rPr lang="en-US" altLang="en-US" sz="2400" dirty="0">
                <a:latin typeface="Arial" panose="020B0604020202020204" pitchFamily="34" charset="0"/>
                <a:cs typeface="Arial" panose="020B0604020202020204" pitchFamily="34" charset="0"/>
              </a:rPr>
              <a:t> and explain why it’s important.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8580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60648"/>
            <a:ext cx="8280401" cy="590349"/>
          </a:xfrm>
        </p:spPr>
        <p:txBody>
          <a:bodyPr vert="horz" wrap="square" lIns="0" tIns="18000" rIns="0" bIns="18000" rtlCol="0" anchor="b">
            <a:spAutoFit/>
          </a:bodyPr>
          <a:lstStyle/>
          <a:p>
            <a:r>
              <a:rPr lang="en-US" altLang="en-US" sz="3600" dirty="0">
                <a:latin typeface="+mj-lt"/>
                <a:ea typeface="Malgun Gothic" pitchFamily="34" charset="-127"/>
                <a:cs typeface="Arial" pitchFamily="34" charset="0"/>
              </a:rPr>
              <a:t>What Is Organizational Culture?</a:t>
            </a:r>
            <a:endParaRPr lang="en-US" sz="2800" dirty="0">
              <a:latin typeface="+mj-lt"/>
              <a:cs typeface="Arial" panose="020B0604020202020204" pitchFamily="34" charset="0"/>
            </a:endParaRPr>
          </a:p>
        </p:txBody>
      </p:sp>
      <p:pic>
        <p:nvPicPr>
          <p:cNvPr id="10" name="Picture Placeholder 9" descr="A photo shows an ice-cream sandwich and a jelly-bean container, both shaped like the Android logo.">
            <a:extLst>
              <a:ext uri="{FF2B5EF4-FFF2-40B4-BE49-F238E27FC236}">
                <a16:creationId xmlns:a16="http://schemas.microsoft.com/office/drawing/2014/main" id="{E3596DCC-1EBE-4D75-9163-30A0A1F94B34}"/>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792808" y="1305648"/>
            <a:ext cx="7595616" cy="4931664"/>
          </a:xfrm>
          <a:prstGeom prst="rect">
            <a:avLst/>
          </a:prstGeom>
        </p:spPr>
      </p:pic>
    </p:spTree>
    <p:extLst>
      <p:ext uri="{BB962C8B-B14F-4D97-AF65-F5344CB8AC3E}">
        <p14:creationId xmlns:p14="http://schemas.microsoft.com/office/powerpoint/2010/main" val="3619272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Organizational Culture</a:t>
            </a:r>
            <a:endParaRPr lang="en-US" sz="3600" dirty="0">
              <a:latin typeface="+mj-lt"/>
            </a:endParaRPr>
          </a:p>
        </p:txBody>
      </p:sp>
      <p:sp>
        <p:nvSpPr>
          <p:cNvPr id="3" name="Content Placeholder 2"/>
          <p:cNvSpPr>
            <a:spLocks noGrp="1"/>
          </p:cNvSpPr>
          <p:nvPr>
            <p:ph idx="1"/>
          </p:nvPr>
        </p:nvSpPr>
        <p:spPr>
          <a:xfrm>
            <a:off x="457199" y="1268760"/>
            <a:ext cx="8291513" cy="775015"/>
          </a:xfrm>
        </p:spPr>
        <p:txBody>
          <a:bodyPr wrap="square" tIns="18000" bIns="18000">
            <a:spAutoFit/>
          </a:bodyPr>
          <a:lstStyle/>
          <a:p>
            <a:pPr marL="0" indent="0">
              <a:buNone/>
            </a:pPr>
            <a:r>
              <a:rPr lang="en-US" altLang="en-US" sz="2400" dirty="0">
                <a:ea typeface="ＭＳ Ｐゴシック" pitchFamily="34" charset="-128"/>
              </a:rPr>
              <a:t>Shared values, principles, traditions, and ways of doing things that influence the way organization’s members act.</a:t>
            </a:r>
            <a:endParaRPr lang="en-US" sz="2400" dirty="0"/>
          </a:p>
        </p:txBody>
      </p:sp>
    </p:spTree>
    <p:extLst>
      <p:ext uri="{BB962C8B-B14F-4D97-AF65-F5344CB8AC3E}">
        <p14:creationId xmlns:p14="http://schemas.microsoft.com/office/powerpoint/2010/main" val="3121521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a:latin typeface="+mj-lt"/>
                <a:cs typeface="Arial" panose="020B0604020202020204" pitchFamily="34" charset="0"/>
              </a:rPr>
              <a:t>Culture Is:</a:t>
            </a:r>
            <a:endParaRPr lang="en-US" sz="3600">
              <a:latin typeface="+mj-lt"/>
              <a:cs typeface="Arial" panose="020B0604020202020204" pitchFamily="34" charset="0"/>
            </a:endParaRPr>
          </a:p>
        </p:txBody>
      </p:sp>
      <p:sp>
        <p:nvSpPr>
          <p:cNvPr id="5" name="Content Placeholder 4"/>
          <p:cNvSpPr>
            <a:spLocks noGrp="1"/>
          </p:cNvSpPr>
          <p:nvPr>
            <p:ph idx="1"/>
          </p:nvPr>
        </p:nvSpPr>
        <p:spPr>
          <a:xfrm>
            <a:off x="468000" y="1268760"/>
            <a:ext cx="8280712" cy="1529068"/>
          </a:xfrm>
        </p:spPr>
        <p:txBody>
          <a:bodyPr wrap="square" tIns="18000" bIns="18000">
            <a:spAutoFit/>
          </a:bodyPr>
          <a:lstStyle/>
          <a:p>
            <a:r>
              <a:rPr lang="en-US" altLang="en-US" sz="2400">
                <a:latin typeface="Arial" panose="020B0604020202020204" pitchFamily="34" charset="0"/>
                <a:cs typeface="Arial" panose="020B0604020202020204" pitchFamily="34" charset="0"/>
              </a:rPr>
              <a:t>Perceived</a:t>
            </a:r>
          </a:p>
          <a:p>
            <a:r>
              <a:rPr lang="en-US" altLang="en-US" sz="2400">
                <a:latin typeface="Arial" panose="020B0604020202020204" pitchFamily="34" charset="0"/>
                <a:cs typeface="Arial" panose="020B0604020202020204" pitchFamily="34" charset="0"/>
              </a:rPr>
              <a:t>Descriptive</a:t>
            </a:r>
          </a:p>
          <a:p>
            <a:r>
              <a:rPr lang="en-US" altLang="en-US" sz="2400">
                <a:latin typeface="Arial" panose="020B0604020202020204" pitchFamily="34" charset="0"/>
                <a:cs typeface="Arial" panose="020B0604020202020204" pitchFamily="34" charset="0"/>
              </a:rPr>
              <a:t>Shared</a:t>
            </a:r>
          </a:p>
        </p:txBody>
      </p:sp>
    </p:spTree>
    <p:extLst>
      <p:ext uri="{BB962C8B-B14F-4D97-AF65-F5344CB8AC3E}">
        <p14:creationId xmlns:p14="http://schemas.microsoft.com/office/powerpoint/2010/main" val="4248132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401" cy="590349"/>
          </a:xfrm>
        </p:spPr>
        <p:txBody>
          <a:bodyPr vert="horz" wrap="square" lIns="0" tIns="18000" rIns="0" bIns="18000" rtlCol="0" anchor="b">
            <a:spAutoFit/>
          </a:bodyPr>
          <a:lstStyle/>
          <a:p>
            <a:r>
              <a:rPr lang="en-US" altLang="en-US" sz="3600">
                <a:latin typeface="+mj-lt"/>
                <a:ea typeface="ＭＳ Ｐゴシック" pitchFamily="34" charset="-128"/>
                <a:cs typeface="Arial" pitchFamily="34" charset="0"/>
              </a:rPr>
              <a:t>Dimensions of Culture</a:t>
            </a:r>
            <a:endParaRPr lang="en-US" sz="3600">
              <a:latin typeface="+mj-lt"/>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68760"/>
            <a:ext cx="8280401"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2.4</a:t>
            </a:r>
            <a:endParaRPr lang="en-US" dirty="0">
              <a:latin typeface="Arial" panose="020B0604020202020204" pitchFamily="34" charset="0"/>
              <a:cs typeface="Arial" panose="020B0604020202020204" pitchFamily="34" charset="0"/>
            </a:endParaRPr>
          </a:p>
        </p:txBody>
      </p:sp>
      <p:pic>
        <p:nvPicPr>
          <p:cNvPr id="7" name="Picture Placeholder 6" descr="An illustration shows the dimensions of an organizational culture.&#10;Long description is available in notes, press F6.">
            <a:extLst>
              <a:ext uri="{FF2B5EF4-FFF2-40B4-BE49-F238E27FC236}">
                <a16:creationId xmlns:a16="http://schemas.microsoft.com/office/drawing/2014/main" id="{1FADD839-0CB5-4FBF-8F05-8809ED5B2AE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1697736" y="1772816"/>
            <a:ext cx="5748528" cy="4279392"/>
          </a:xfrm>
          <a:prstGeom prst="rect">
            <a:avLst/>
          </a:prstGeom>
        </p:spPr>
      </p:pic>
    </p:spTree>
    <p:extLst>
      <p:ext uri="{BB962C8B-B14F-4D97-AF65-F5344CB8AC3E}">
        <p14:creationId xmlns:p14="http://schemas.microsoft.com/office/powerpoint/2010/main" val="2216395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Learning Organizational Culture</a:t>
            </a:r>
            <a:endParaRPr lang="en-US">
              <a:latin typeface="+mj-lt"/>
            </a:endParaRPr>
          </a:p>
        </p:txBody>
      </p:sp>
      <p:graphicFrame>
        <p:nvGraphicFramePr>
          <p:cNvPr id="4" name="Table 1"/>
          <p:cNvGraphicFramePr>
            <a:graphicFrameLocks/>
          </p:cNvGraphicFramePr>
          <p:nvPr>
            <p:extLst>
              <p:ext uri="{D42A27DB-BD31-4B8C-83A1-F6EECF244321}">
                <p14:modId xmlns:p14="http://schemas.microsoft.com/office/powerpoint/2010/main" val="812810269"/>
              </p:ext>
            </p:extLst>
          </p:nvPr>
        </p:nvGraphicFramePr>
        <p:xfrm>
          <a:off x="476011" y="1268760"/>
          <a:ext cx="8272701" cy="4086343"/>
        </p:xfrm>
        <a:graphic>
          <a:graphicData uri="http://schemas.openxmlformats.org/drawingml/2006/table">
            <a:tbl>
              <a:tblPr firstRow="1">
                <a:tableStyleId>{0E3FDE45-AF77-4B5C-9715-49D594BDF05E}</a:tableStyleId>
              </a:tblPr>
              <a:tblGrid>
                <a:gridCol w="4136350">
                  <a:extLst>
                    <a:ext uri="{9D8B030D-6E8A-4147-A177-3AD203B41FA5}">
                      <a16:colId xmlns:a16="http://schemas.microsoft.com/office/drawing/2014/main" val="20000"/>
                    </a:ext>
                  </a:extLst>
                </a:gridCol>
                <a:gridCol w="4136351">
                  <a:extLst>
                    <a:ext uri="{9D8B030D-6E8A-4147-A177-3AD203B41FA5}">
                      <a16:colId xmlns:a16="http://schemas.microsoft.com/office/drawing/2014/main" val="20001"/>
                    </a:ext>
                  </a:extLst>
                </a:gridCol>
              </a:tblGrid>
              <a:tr h="550663">
                <a:tc>
                  <a:txBody>
                    <a:bodyPr/>
                    <a:lstStyle/>
                    <a:p>
                      <a:pPr algn="l"/>
                      <a:r>
                        <a:rPr lang="en-US" sz="1600" b="1" dirty="0">
                          <a:solidFill>
                            <a:schemeClr val="bg1"/>
                          </a:solidFill>
                          <a:latin typeface="Arial" panose="020B0604020202020204" pitchFamily="34" charset="0"/>
                          <a:cs typeface="Arial" panose="020B0604020202020204" pitchFamily="34" charset="0"/>
                        </a:rPr>
                        <a:t>Where Does Culture Come From?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a:r>
                        <a:rPr lang="en-US" sz="1600" b="1" dirty="0">
                          <a:solidFill>
                            <a:schemeClr val="bg1"/>
                          </a:solidFill>
                          <a:latin typeface="Arial" panose="020B0604020202020204" pitchFamily="34" charset="0"/>
                          <a:cs typeface="Arial" panose="020B0604020202020204" pitchFamily="34" charset="0"/>
                        </a:rPr>
                        <a:t>How Do Employees Learn the Culture?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460561">
                <a:tc>
                  <a:txBody>
                    <a:bodyPr/>
                    <a:lstStyle/>
                    <a:p>
                      <a:r>
                        <a:rPr lang="en-US" sz="1600" dirty="0">
                          <a:latin typeface="Arial" panose="020B0604020202020204" pitchFamily="34" charset="0"/>
                          <a:cs typeface="Arial" panose="020B0604020202020204" pitchFamily="34" charset="0"/>
                        </a:rPr>
                        <a:t>Usually reflects the vision or </a:t>
                      </a:r>
                      <a:r>
                        <a:rPr lang="en-US" sz="1600" b="1" dirty="0">
                          <a:latin typeface="Arial" panose="020B0604020202020204" pitchFamily="34" charset="0"/>
                          <a:cs typeface="Arial" panose="020B0604020202020204" pitchFamily="34" charset="0"/>
                        </a:rPr>
                        <a:t>mission </a:t>
                      </a:r>
                      <a:r>
                        <a:rPr lang="en-US" sz="1600" dirty="0">
                          <a:latin typeface="Arial" panose="020B0604020202020204" pitchFamily="34" charset="0"/>
                          <a:cs typeface="Arial" panose="020B0604020202020204" pitchFamily="34" charset="0"/>
                        </a:rPr>
                        <a:t>of founders.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kern="1200" baseline="0" dirty="0">
                          <a:latin typeface="Arial" panose="020B0604020202020204" pitchFamily="34" charset="0"/>
                          <a:cs typeface="Arial" panose="020B0604020202020204" pitchFamily="34" charset="0"/>
                        </a:rPr>
                        <a:t>Organizational stories: narrative tales of significant events or people.</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308142358"/>
                  </a:ext>
                </a:extLst>
              </a:tr>
              <a:tr h="331527">
                <a:tc>
                  <a:txBody>
                    <a:bodyPr/>
                    <a:lstStyle/>
                    <a:p>
                      <a:r>
                        <a:rPr lang="en-US" sz="1600" kern="1200" baseline="0" dirty="0">
                          <a:latin typeface="Arial" panose="020B0604020202020204" pitchFamily="34" charset="0"/>
                          <a:cs typeface="Arial" panose="020B0604020202020204" pitchFamily="34" charset="0"/>
                        </a:rPr>
                        <a:t>Founders project an image of </a:t>
                      </a:r>
                      <a:r>
                        <a:rPr lang="en-US" sz="1600" i="1" kern="1200" baseline="0" dirty="0">
                          <a:latin typeface="Arial" panose="020B0604020202020204" pitchFamily="34" charset="0"/>
                          <a:cs typeface="Arial" panose="020B0604020202020204" pitchFamily="34" charset="0"/>
                        </a:rPr>
                        <a:t>what the organization should be and what its values are.</a:t>
                      </a:r>
                      <a:endParaRPr lang="en-US" sz="1600" i="1"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1" kern="1200" baseline="0" dirty="0">
                          <a:latin typeface="Arial" panose="020B0604020202020204" pitchFamily="34" charset="0"/>
                          <a:cs typeface="Arial" panose="020B0604020202020204" pitchFamily="34" charset="0"/>
                        </a:rPr>
                        <a:t>Corporate rituals: </a:t>
                      </a:r>
                      <a:r>
                        <a:rPr lang="en-US" sz="1600" kern="1200" baseline="0" dirty="0">
                          <a:latin typeface="Arial" panose="020B0604020202020204" pitchFamily="34" charset="0"/>
                          <a:cs typeface="Arial" panose="020B0604020202020204" pitchFamily="34" charset="0"/>
                        </a:rPr>
                        <a:t>repetitive sequences of activities that express and reinforce important organizational</a:t>
                      </a:r>
                    </a:p>
                    <a:p>
                      <a:r>
                        <a:rPr lang="en-US" sz="1600" kern="1200" baseline="0" dirty="0">
                          <a:latin typeface="Arial" panose="020B0604020202020204" pitchFamily="34" charset="0"/>
                          <a:cs typeface="Arial" panose="020B0604020202020204" pitchFamily="34" charset="0"/>
                        </a:rPr>
                        <a:t>values and goals.</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63855909"/>
                  </a:ext>
                </a:extLst>
              </a:tr>
              <a:tr h="331527">
                <a:tc>
                  <a:txBody>
                    <a:bodyPr/>
                    <a:lstStyle/>
                    <a:p>
                      <a:r>
                        <a:rPr lang="en-US" sz="1600" kern="1200" baseline="0" dirty="0">
                          <a:latin typeface="Arial" panose="020B0604020202020204" pitchFamily="34" charset="0"/>
                          <a:cs typeface="Arial" panose="020B0604020202020204" pitchFamily="34" charset="0"/>
                        </a:rPr>
                        <a:t>Founders can “impose” their vision on employees because of new organization’s small size.</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1" kern="1200" baseline="0" dirty="0">
                          <a:latin typeface="Arial" panose="020B0604020202020204" pitchFamily="34" charset="0"/>
                          <a:cs typeface="Arial" panose="020B0604020202020204" pitchFamily="34" charset="0"/>
                        </a:rPr>
                        <a:t>Material symbols or artifacts: </a:t>
                      </a:r>
                      <a:r>
                        <a:rPr lang="en-US" sz="1600" kern="1200" baseline="0" dirty="0">
                          <a:latin typeface="Arial" panose="020B0604020202020204" pitchFamily="34" charset="0"/>
                          <a:cs typeface="Arial" panose="020B0604020202020204" pitchFamily="34" charset="0"/>
                        </a:rPr>
                        <a:t>layout of facilities, how employees dress, size of offices, material perks provided to executives, furnishings, and so forth.</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31527">
                <a:tc>
                  <a:txBody>
                    <a:bodyPr/>
                    <a:lstStyle/>
                    <a:p>
                      <a:r>
                        <a:rPr lang="en-US" sz="1600" kern="1200" baseline="0" dirty="0">
                          <a:latin typeface="Arial" panose="020B0604020202020204" pitchFamily="34" charset="0"/>
                          <a:cs typeface="Arial" panose="020B0604020202020204" pitchFamily="34" charset="0"/>
                        </a:rPr>
                        <a:t>Organizational members </a:t>
                      </a:r>
                      <a:r>
                        <a:rPr lang="en-US" sz="1600" i="1" kern="1200" baseline="0" dirty="0">
                          <a:latin typeface="Arial" panose="020B0604020202020204" pitchFamily="34" charset="0"/>
                          <a:cs typeface="Arial" panose="020B0604020202020204" pitchFamily="34" charset="0"/>
                        </a:rPr>
                        <a:t>create a shared history</a:t>
                      </a:r>
                      <a:r>
                        <a:rPr lang="en-US" sz="1600" kern="1200" baseline="0" dirty="0">
                          <a:latin typeface="Arial" panose="020B0604020202020204" pitchFamily="34" charset="0"/>
                          <a:cs typeface="Arial" panose="020B0604020202020204" pitchFamily="34" charset="0"/>
                        </a:rPr>
                        <a:t> that binds them into a community and reminds them of “who we are.”</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1" kern="1200" baseline="0" dirty="0">
                          <a:latin typeface="Arial" panose="020B0604020202020204" pitchFamily="34" charset="0"/>
                          <a:cs typeface="Arial" panose="020B0604020202020204" pitchFamily="34" charset="0"/>
                        </a:rPr>
                        <a:t>Language: </a:t>
                      </a:r>
                      <a:r>
                        <a:rPr lang="en-US" sz="1600" kern="1200" baseline="0" dirty="0">
                          <a:latin typeface="Arial" panose="020B0604020202020204" pitchFamily="34" charset="0"/>
                          <a:cs typeface="Arial" panose="020B0604020202020204" pitchFamily="34" charset="0"/>
                        </a:rPr>
                        <a:t>special acronyms; unique terms to describe equipment, key personnel, customers, suppliers, processes, products.</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86592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rPr>
              <a:t>Learning Objective 2.4</a:t>
            </a:r>
            <a:endParaRPr lang="en-US" dirty="0">
              <a:latin typeface="+mj-lt"/>
            </a:endParaRPr>
          </a:p>
        </p:txBody>
      </p:sp>
      <p:sp>
        <p:nvSpPr>
          <p:cNvPr id="3" name="Content Placeholder 2"/>
          <p:cNvSpPr>
            <a:spLocks noGrp="1"/>
          </p:cNvSpPr>
          <p:nvPr>
            <p:ph idx="1"/>
          </p:nvPr>
        </p:nvSpPr>
        <p:spPr>
          <a:xfrm>
            <a:off x="468000" y="1268760"/>
            <a:ext cx="8280712" cy="405683"/>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Describe how organizational culture affects managers.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9348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itchFamily="34" charset="-128"/>
                <a:cs typeface="Arial" pitchFamily="34" charset="0"/>
              </a:rPr>
              <a:t>How Does Organizational Culture Affect Managers?</a:t>
            </a:r>
            <a:endParaRPr lang="en-US" dirty="0">
              <a:latin typeface="+mj-lt"/>
            </a:endParaRPr>
          </a:p>
        </p:txBody>
      </p:sp>
      <p:sp>
        <p:nvSpPr>
          <p:cNvPr id="3" name="Content Placeholder 2"/>
          <p:cNvSpPr>
            <a:spLocks noGrp="1"/>
          </p:cNvSpPr>
          <p:nvPr>
            <p:ph idx="1"/>
          </p:nvPr>
        </p:nvSpPr>
        <p:spPr>
          <a:xfrm>
            <a:off x="467999" y="1669536"/>
            <a:ext cx="8280713" cy="967376"/>
          </a:xfrm>
        </p:spPr>
        <p:txBody>
          <a:bodyPr wrap="square" tIns="18000" bIns="18000">
            <a:spAutoFit/>
          </a:bodyPr>
          <a:lstStyle/>
          <a:p>
            <a:pPr>
              <a:defRPr/>
            </a:pPr>
            <a:r>
              <a:rPr lang="en-US" altLang="en-US" sz="2400" dirty="0">
                <a:latin typeface="Arial" panose="020B0604020202020204" pitchFamily="34" charset="0"/>
                <a:ea typeface="ＭＳ Ｐゴシック" pitchFamily="34" charset="-128"/>
                <a:cs typeface="Arial" panose="020B0604020202020204" pitchFamily="34" charset="0"/>
              </a:rPr>
              <a:t>Effect on what employees do and how they behave</a:t>
            </a:r>
          </a:p>
          <a:p>
            <a:pPr>
              <a:defRPr/>
            </a:pPr>
            <a:r>
              <a:rPr lang="en-US" altLang="en-US" sz="2400" dirty="0">
                <a:latin typeface="Arial" panose="020B0604020202020204" pitchFamily="34" charset="0"/>
                <a:ea typeface="ＭＳ Ｐゴシック" pitchFamily="34" charset="-128"/>
                <a:cs typeface="Arial" panose="020B0604020202020204" pitchFamily="34" charset="0"/>
              </a:rPr>
              <a:t>Effect on what managers do</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1349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itchFamily="34" charset="-128"/>
                <a:cs typeface="Arial" pitchFamily="34" charset="0"/>
              </a:rPr>
              <a:t>How Does Culture Affect What Employees Do?</a:t>
            </a:r>
            <a:endParaRPr lang="en-US" sz="3600" dirty="0">
              <a:latin typeface="+mj-lt"/>
            </a:endParaRPr>
          </a:p>
        </p:txBody>
      </p:sp>
      <p:sp>
        <p:nvSpPr>
          <p:cNvPr id="3" name="Content Placeholder 2"/>
          <p:cNvSpPr>
            <a:spLocks noGrp="1"/>
          </p:cNvSpPr>
          <p:nvPr>
            <p:ph idx="1"/>
          </p:nvPr>
        </p:nvSpPr>
        <p:spPr>
          <a:xfrm>
            <a:off x="468000" y="1732252"/>
            <a:ext cx="8280712" cy="1336708"/>
          </a:xfrm>
        </p:spPr>
        <p:txBody>
          <a:bodyPr wrap="square" tIns="18000" bIns="18000">
            <a:spAutoFit/>
          </a:bodyPr>
          <a:lstStyle/>
          <a:p>
            <a:pPr marL="0" indent="0">
              <a:buNone/>
            </a:pPr>
            <a:r>
              <a:rPr lang="en-US" altLang="en-US" sz="2400" b="1" dirty="0">
                <a:latin typeface="Arial" panose="020B0604020202020204" pitchFamily="34" charset="0"/>
                <a:ea typeface="ＭＳ Ｐゴシック" pitchFamily="34" charset="-128"/>
                <a:cs typeface="Arial" panose="020B0604020202020204" pitchFamily="34" charset="0"/>
              </a:rPr>
              <a:t>Strong cultures: </a:t>
            </a:r>
          </a:p>
          <a:p>
            <a:r>
              <a:rPr lang="en-US" altLang="en-US" sz="2400" dirty="0">
                <a:latin typeface="Arial" panose="020B0604020202020204" pitchFamily="34" charset="0"/>
                <a:ea typeface="ＭＳ Ｐゴシック" pitchFamily="34" charset="-128"/>
                <a:cs typeface="Arial" panose="020B0604020202020204" pitchFamily="34" charset="0"/>
              </a:rPr>
              <a:t>cultures in which the key values are deeply held and widely shared.</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3096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Strong Cultures Can:</a:t>
            </a:r>
            <a:endParaRPr lang="en-US" sz="3600" dirty="0">
              <a:latin typeface="+mj-lt"/>
            </a:endParaRPr>
          </a:p>
        </p:txBody>
      </p:sp>
      <p:sp>
        <p:nvSpPr>
          <p:cNvPr id="3" name="Content Placeholder 2"/>
          <p:cNvSpPr>
            <a:spLocks noGrp="1"/>
          </p:cNvSpPr>
          <p:nvPr>
            <p:ph idx="1"/>
          </p:nvPr>
        </p:nvSpPr>
        <p:spPr>
          <a:xfrm>
            <a:off x="468000" y="1268760"/>
            <a:ext cx="8280712" cy="967376"/>
          </a:xfrm>
        </p:spPr>
        <p:txBody>
          <a:bodyPr wrap="square" tIns="18000" bIns="18000">
            <a:spAutoFit/>
          </a:bodyPr>
          <a:lstStyle/>
          <a:p>
            <a:pPr>
              <a:defRPr/>
            </a:pPr>
            <a:r>
              <a:rPr lang="en-US" altLang="en-US" sz="2400" dirty="0">
                <a:latin typeface="Arial" panose="020B0604020202020204" pitchFamily="34" charset="0"/>
                <a:ea typeface="ＭＳ Ｐゴシック" pitchFamily="34" charset="-128"/>
                <a:cs typeface="Arial" panose="020B0604020202020204" pitchFamily="34" charset="0"/>
              </a:rPr>
              <a:t>Substitute for formal rules and regulations</a:t>
            </a:r>
          </a:p>
          <a:p>
            <a:pPr>
              <a:defRPr/>
            </a:pPr>
            <a:r>
              <a:rPr lang="en-US" altLang="en-US" sz="2400" dirty="0">
                <a:latin typeface="Arial" panose="020B0604020202020204" pitchFamily="34" charset="0"/>
                <a:ea typeface="ＭＳ Ｐゴシック" pitchFamily="34" charset="-128"/>
                <a:cs typeface="Arial" panose="020B0604020202020204" pitchFamily="34" charset="0"/>
              </a:rPr>
              <a:t>Create predictability, orderliness, and consistency</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2649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itchFamily="34" charset="-128"/>
                <a:cs typeface="Arial" panose="020B0604020202020204" pitchFamily="34" charset="0"/>
              </a:rPr>
              <a:t>How Does Culture Affect What Managers Do?</a:t>
            </a:r>
            <a:endParaRPr lang="en-US" dirty="0">
              <a:latin typeface="+mj-lt"/>
              <a:cs typeface="Arial" panose="020B0604020202020204" pitchFamily="34" charset="0"/>
            </a:endParaRPr>
          </a:p>
        </p:txBody>
      </p:sp>
      <p:sp>
        <p:nvSpPr>
          <p:cNvPr id="3" name="Content Placeholder 2"/>
          <p:cNvSpPr>
            <a:spLocks noGrp="1"/>
          </p:cNvSpPr>
          <p:nvPr>
            <p:ph idx="1"/>
          </p:nvPr>
        </p:nvSpPr>
        <p:spPr>
          <a:xfrm>
            <a:off x="468000" y="1539859"/>
            <a:ext cx="8280712" cy="1336708"/>
          </a:xfrm>
        </p:spPr>
        <p:txBody>
          <a:bodyPr wrap="square" tIns="18000" bIns="18000">
            <a:spAutoFit/>
          </a:bodyPr>
          <a:lstStyle/>
          <a:p>
            <a:pPr marL="0" indent="0">
              <a:buNone/>
              <a:defRPr/>
            </a:pPr>
            <a:r>
              <a:rPr lang="en-US" sz="2400" b="1" dirty="0">
                <a:latin typeface="Arial" panose="020B0604020202020204" pitchFamily="34" charset="0"/>
                <a:cs typeface="Arial" panose="020B0604020202020204" pitchFamily="34" charset="0"/>
              </a:rPr>
              <a:t>Say What?</a:t>
            </a:r>
          </a:p>
          <a:p>
            <a:pPr>
              <a:defRPr/>
            </a:pPr>
            <a:r>
              <a:rPr lang="en-US" sz="2400" dirty="0">
                <a:latin typeface="Arial" panose="020B0604020202020204" pitchFamily="34" charset="0"/>
                <a:cs typeface="Arial" panose="020B0604020202020204" pitchFamily="34" charset="0"/>
              </a:rPr>
              <a:t>Ten percent of executives say they </a:t>
            </a:r>
            <a:r>
              <a:rPr lang="en-US" sz="2400" b="1" dirty="0">
                <a:latin typeface="Arial" panose="020B0604020202020204" pitchFamily="34" charset="0"/>
                <a:cs typeface="Arial" panose="020B0604020202020204" pitchFamily="34" charset="0"/>
              </a:rPr>
              <a:t>have not</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identified or communicated an organizational culture.</a:t>
            </a:r>
          </a:p>
        </p:txBody>
      </p:sp>
    </p:spTree>
    <p:extLst>
      <p:ext uri="{BB962C8B-B14F-4D97-AF65-F5344CB8AC3E}">
        <p14:creationId xmlns:p14="http://schemas.microsoft.com/office/powerpoint/2010/main" val="831973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itchFamily="34" charset="-128"/>
                <a:cs typeface="Arial" panose="020B0604020202020204" pitchFamily="34" charset="0"/>
              </a:rPr>
              <a:t>Company Values Affect Managers’ Behavior</a:t>
            </a:r>
            <a:endParaRPr lang="en-US" sz="3600" dirty="0">
              <a:latin typeface="+mj-lt"/>
              <a:cs typeface="Arial" panose="020B0604020202020204" pitchFamily="34" charset="0"/>
            </a:endParaRPr>
          </a:p>
        </p:txBody>
      </p:sp>
      <p:sp>
        <p:nvSpPr>
          <p:cNvPr id="3" name="Content Placeholder 2"/>
          <p:cNvSpPr>
            <a:spLocks noGrp="1"/>
          </p:cNvSpPr>
          <p:nvPr>
            <p:ph idx="1"/>
          </p:nvPr>
        </p:nvSpPr>
        <p:spPr>
          <a:xfrm>
            <a:off x="468000" y="1539859"/>
            <a:ext cx="8280712" cy="405683"/>
          </a:xfrm>
        </p:spPr>
        <p:txBody>
          <a:bodyPr wrap="square" tIns="18000" bIns="18000">
            <a:spAutoFit/>
          </a:bodyPr>
          <a:lstStyle/>
          <a:p>
            <a:pPr>
              <a:buNone/>
            </a:pPr>
            <a:r>
              <a:rPr lang="en-US" altLang="en-US" sz="2400" dirty="0">
                <a:latin typeface="Arial" panose="020B0604020202020204" pitchFamily="34" charset="0"/>
                <a:ea typeface="ＭＳ Ｐゴシック" pitchFamily="34" charset="-128"/>
                <a:cs typeface="Arial" panose="020B0604020202020204" pitchFamily="34" charset="0"/>
              </a:rPr>
              <a:t>“Ready-aim-fire” versus “Ready-fire-aim”</a:t>
            </a:r>
          </a:p>
        </p:txBody>
      </p:sp>
    </p:spTree>
    <p:extLst>
      <p:ext uri="{BB962C8B-B14F-4D97-AF65-F5344CB8AC3E}">
        <p14:creationId xmlns:p14="http://schemas.microsoft.com/office/powerpoint/2010/main" val="3663146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1144347"/>
          </a:xfrm>
        </p:spPr>
        <p:txBody>
          <a:bodyPr wrap="square" tIns="18000" bIns="18000">
            <a:spAutoFit/>
          </a:bodyPr>
          <a:lstStyle/>
          <a:p>
            <a:r>
              <a:rPr lang="en-US" altLang="en-US" sz="3600">
                <a:latin typeface="+mj-lt"/>
                <a:ea typeface="Malgun Gothic" pitchFamily="34" charset="-127"/>
                <a:cs typeface="Arial" pitchFamily="34" charset="0"/>
              </a:rPr>
              <a:t>Managerial Decisions Influenced by Culture</a:t>
            </a:r>
            <a:endParaRPr lang="en-US" sz="3600">
              <a:latin typeface="+mj-lt"/>
            </a:endParaRPr>
          </a:p>
        </p:txBody>
      </p:sp>
      <p:sp>
        <p:nvSpPr>
          <p:cNvPr id="9" name="Content Placeholder 8">
            <a:extLst>
              <a:ext uri="{FF2B5EF4-FFF2-40B4-BE49-F238E27FC236}">
                <a16:creationId xmlns:a16="http://schemas.microsoft.com/office/drawing/2014/main" id="{7468C2A1-FC01-4270-8C67-3158DAC71FB8}"/>
              </a:ext>
            </a:extLst>
          </p:cNvPr>
          <p:cNvSpPr>
            <a:spLocks noGrp="1"/>
          </p:cNvSpPr>
          <p:nvPr>
            <p:ph sz="quarter" idx="13"/>
          </p:nvPr>
        </p:nvSpPr>
        <p:spPr>
          <a:xfrm>
            <a:off x="467999" y="1562251"/>
            <a:ext cx="8280713"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2.5</a:t>
            </a:r>
            <a:r>
              <a:rPr lang="en-US" dirty="0">
                <a:latin typeface="Arial" panose="020B0604020202020204" pitchFamily="34" charset="0"/>
                <a:cs typeface="Arial" panose="020B0604020202020204" pitchFamily="34" charset="0"/>
              </a:rPr>
              <a:t> Managerial Decisions Affected by Culture</a:t>
            </a:r>
          </a:p>
        </p:txBody>
      </p:sp>
      <p:pic>
        <p:nvPicPr>
          <p:cNvPr id="31" name="Picture Placeholder 30" descr="An illustration shows how the four managerial activities are affected by culture.&#10;Long description is available in notes, press F6.">
            <a:extLst>
              <a:ext uri="{FF2B5EF4-FFF2-40B4-BE49-F238E27FC236}">
                <a16:creationId xmlns:a16="http://schemas.microsoft.com/office/drawing/2014/main" id="{B1618DCB-A3EA-488F-8AE9-F0DA10022159}"/>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122040" y="1988840"/>
            <a:ext cx="4970240" cy="3612513"/>
          </a:xfrm>
          <a:prstGeom prst="rect">
            <a:avLst/>
          </a:prstGeom>
        </p:spPr>
      </p:pic>
      <p:sp>
        <p:nvSpPr>
          <p:cNvPr id="10" name="Content Placeholder 9">
            <a:extLst>
              <a:ext uri="{FF2B5EF4-FFF2-40B4-BE49-F238E27FC236}">
                <a16:creationId xmlns:a16="http://schemas.microsoft.com/office/drawing/2014/main" id="{044F2F3A-18FE-4D7F-AE9D-D3ED25464CD9}"/>
              </a:ext>
            </a:extLst>
          </p:cNvPr>
          <p:cNvSpPr>
            <a:spLocks noGrp="1"/>
          </p:cNvSpPr>
          <p:nvPr>
            <p:ph sz="quarter" idx="14"/>
          </p:nvPr>
        </p:nvSpPr>
        <p:spPr>
          <a:xfrm>
            <a:off x="468313" y="5831629"/>
            <a:ext cx="8280399" cy="405683"/>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Robbins, Stephen P., Coulter, Mary, </a:t>
            </a:r>
            <a:r>
              <a:rPr lang="en-US" sz="1200" i="1">
                <a:latin typeface="Arial" panose="020B0604020202020204" pitchFamily="34" charset="0"/>
                <a:cs typeface="Arial" panose="020B0604020202020204" pitchFamily="34" charset="0"/>
              </a:rPr>
              <a:t>Management</a:t>
            </a:r>
            <a:r>
              <a:rPr lang="en-US" sz="1200">
                <a:latin typeface="Arial" panose="020B0604020202020204" pitchFamily="34" charset="0"/>
                <a:cs typeface="Arial" panose="020B0604020202020204" pitchFamily="34" charset="0"/>
              </a:rPr>
              <a:t>, 13th E</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d., © 2016, p. 86. Reprinted and electronically reproduced by permission of Pearson Education, Inc., New York, </a:t>
            </a:r>
            <a:r>
              <a:rPr lang="en-US" sz="1200" spc="-200">
                <a:latin typeface="Arial" panose="020B0604020202020204" pitchFamily="34" charset="0"/>
                <a:cs typeface="Arial" panose="020B0604020202020204" pitchFamily="34" charset="0"/>
              </a:rPr>
              <a:t>N </a:t>
            </a:r>
            <a:r>
              <a:rPr lang="en-US" sz="120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859964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11889"/>
          </a:xfrm>
        </p:spPr>
        <p:txBody>
          <a:bodyPr tIns="18000" bIns="18000"/>
          <a:lstStyle/>
          <a:p>
            <a:r>
              <a:rPr lang="en-US" altLang="en-US" sz="3600" dirty="0">
                <a:latin typeface="+mj-lt"/>
              </a:rPr>
              <a:t>Learning Objective 2.5</a:t>
            </a:r>
            <a:endParaRPr lang="en-US" dirty="0">
              <a:latin typeface="+mj-lt"/>
            </a:endParaRPr>
          </a:p>
        </p:txBody>
      </p:sp>
      <p:sp>
        <p:nvSpPr>
          <p:cNvPr id="3" name="Content Placeholder 2"/>
          <p:cNvSpPr>
            <a:spLocks noGrp="1"/>
          </p:cNvSpPr>
          <p:nvPr>
            <p:ph idx="1"/>
          </p:nvPr>
        </p:nvSpPr>
        <p:spPr>
          <a:xfrm>
            <a:off x="468000" y="1268760"/>
            <a:ext cx="8280712" cy="405683"/>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Describe current issues in organizational culture.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4254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rPr>
              <a:t>What Are Current Issues in Organizational Culture?</a:t>
            </a:r>
            <a:endParaRPr lang="en-US" dirty="0">
              <a:latin typeface="+mj-lt"/>
            </a:endParaRPr>
          </a:p>
        </p:txBody>
      </p:sp>
      <p:sp>
        <p:nvSpPr>
          <p:cNvPr id="3" name="Content Placeholder 2"/>
          <p:cNvSpPr>
            <a:spLocks noGrp="1"/>
          </p:cNvSpPr>
          <p:nvPr>
            <p:ph idx="1"/>
          </p:nvPr>
        </p:nvSpPr>
        <p:spPr>
          <a:xfrm>
            <a:off x="468000" y="1539858"/>
            <a:ext cx="8280712" cy="775015"/>
          </a:xfrm>
        </p:spPr>
        <p:txBody>
          <a:bodyPr wrap="square" tIns="18000" bIns="18000">
            <a:spAutoFit/>
          </a:bodyPr>
          <a:lstStyle/>
          <a:p>
            <a:r>
              <a:rPr lang="en-US" altLang="en-US" sz="2400" dirty="0">
                <a:latin typeface="Arial" panose="020B0604020202020204" pitchFamily="34" charset="0"/>
                <a:cs typeface="Arial" panose="020B0604020202020204" pitchFamily="34" charset="0"/>
              </a:rPr>
              <a:t>Organizational culture can drive employee productivity, engagement, and retention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5213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rPr>
              <a:t>Creating a Customer-Responsive Culture </a:t>
            </a:r>
            <a:endParaRPr lang="en-US" sz="3600" dirty="0">
              <a:latin typeface="+mj-lt"/>
            </a:endParaRPr>
          </a:p>
        </p:txBody>
      </p:sp>
      <p:sp>
        <p:nvSpPr>
          <p:cNvPr id="9" name="Content Placeholder 8"/>
          <p:cNvSpPr>
            <a:spLocks noGrp="1"/>
          </p:cNvSpPr>
          <p:nvPr>
            <p:ph idx="1"/>
          </p:nvPr>
        </p:nvSpPr>
        <p:spPr>
          <a:xfrm>
            <a:off x="467999" y="1562251"/>
            <a:ext cx="8280713"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2.6</a:t>
            </a:r>
            <a:r>
              <a:rPr lang="en-US" dirty="0">
                <a:latin typeface="Arial" panose="020B0604020202020204" pitchFamily="34" charset="0"/>
                <a:cs typeface="Arial" panose="020B0604020202020204" pitchFamily="34" charset="0"/>
              </a:rPr>
              <a:t> Creating a Customer-Responsive Culture</a:t>
            </a:r>
          </a:p>
        </p:txBody>
      </p:sp>
      <p:graphicFrame>
        <p:nvGraphicFramePr>
          <p:cNvPr id="8" name="Table 1"/>
          <p:cNvGraphicFramePr>
            <a:graphicFrameLocks/>
          </p:cNvGraphicFramePr>
          <p:nvPr>
            <p:extLst>
              <p:ext uri="{D42A27DB-BD31-4B8C-83A1-F6EECF244321}">
                <p14:modId xmlns:p14="http://schemas.microsoft.com/office/powerpoint/2010/main" val="1384286963"/>
              </p:ext>
            </p:extLst>
          </p:nvPr>
        </p:nvGraphicFramePr>
        <p:xfrm>
          <a:off x="700502" y="2098393"/>
          <a:ext cx="7903946" cy="3994903"/>
        </p:xfrm>
        <a:graphic>
          <a:graphicData uri="http://schemas.openxmlformats.org/drawingml/2006/table">
            <a:tbl>
              <a:tblPr firstRow="1">
                <a:tableStyleId>{0E3FDE45-AF77-4B5C-9715-49D594BDF05E}</a:tableStyleId>
              </a:tblPr>
              <a:tblGrid>
                <a:gridCol w="3151418">
                  <a:extLst>
                    <a:ext uri="{9D8B030D-6E8A-4147-A177-3AD203B41FA5}">
                      <a16:colId xmlns:a16="http://schemas.microsoft.com/office/drawing/2014/main" val="20000"/>
                    </a:ext>
                  </a:extLst>
                </a:gridCol>
                <a:gridCol w="4752528">
                  <a:extLst>
                    <a:ext uri="{9D8B030D-6E8A-4147-A177-3AD203B41FA5}">
                      <a16:colId xmlns:a16="http://schemas.microsoft.com/office/drawing/2014/main" val="20001"/>
                    </a:ext>
                  </a:extLst>
                </a:gridCol>
              </a:tblGrid>
              <a:tr h="550663">
                <a:tc>
                  <a:txBody>
                    <a:bodyPr/>
                    <a:lstStyle/>
                    <a:p>
                      <a:pPr marL="0" algn="l" defTabSz="914400" rtl="0" eaLnBrk="1" fontAlgn="b" latinLnBrk="0" hangingPunct="1"/>
                      <a:r>
                        <a:rPr lang="en-US" sz="1400" b="1" i="0" u="none" strike="noStrike" kern="1200" noProof="0">
                          <a:solidFill>
                            <a:schemeClr val="bg1"/>
                          </a:solidFill>
                          <a:effectLst/>
                          <a:latin typeface="Arial" panose="020B0604020202020204" pitchFamily="34" charset="0"/>
                          <a:ea typeface="+mn-ea"/>
                          <a:cs typeface="Arial" panose="020B0604020202020204" pitchFamily="34" charset="0"/>
                        </a:rPr>
                        <a:t>Characteristics of Customer-</a:t>
                      </a:r>
                    </a:p>
                    <a:p>
                      <a:pPr marL="0" algn="l" defTabSz="914400" rtl="0" eaLnBrk="1" fontAlgn="b" latinLnBrk="0" hangingPunct="1"/>
                      <a:r>
                        <a:rPr lang="en-US" sz="1400" b="1" i="0" u="none" strike="noStrike" kern="1200" noProof="0">
                          <a:solidFill>
                            <a:schemeClr val="bg1"/>
                          </a:solidFill>
                          <a:effectLst/>
                          <a:latin typeface="Arial" panose="020B0604020202020204" pitchFamily="34" charset="0"/>
                          <a:ea typeface="+mn-ea"/>
                          <a:cs typeface="Arial" panose="020B0604020202020204" pitchFamily="34" charset="0"/>
                        </a:rPr>
                        <a:t>Responsive Culture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l" defTabSz="914400" rtl="0" eaLnBrk="1" fontAlgn="b" latinLnBrk="0" hangingPunct="1"/>
                      <a:r>
                        <a:rPr lang="en-US" sz="1400" b="1" i="0" u="none" strike="noStrike" kern="1200" noProof="0">
                          <a:solidFill>
                            <a:schemeClr val="bg1"/>
                          </a:solidFill>
                          <a:effectLst/>
                          <a:latin typeface="Arial" panose="020B0604020202020204" pitchFamily="34" charset="0"/>
                          <a:ea typeface="+mn-ea"/>
                          <a:cs typeface="Arial" panose="020B0604020202020204" pitchFamily="34" charset="0"/>
                        </a:rPr>
                        <a:t>Suggestions for managers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331527">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Type of employee</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Hire people with personalities and attitudes consistent with customer service: friendly, attentive, enthusiastic, patient, good listening skills</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31527">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Type of job environment</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Design jobs so employees have as much control as possible to satisfy customer, without rigid rules and procedures</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31527">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Empowerment</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Give service-contact employees the discretion to make day-to-day decision on job-related activites</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31527">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Role clarity</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Reduce uncertainty about what service-contact employees can and cannot do by continual training on product knowledge, listening, and other behavioral skills</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31527">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Consistent desire to satisfy and delight customer</a:t>
                      </a:r>
                      <a:endParaRPr lang="en-US" sz="14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rPr>
                        <a:t>Clarify organization’s commitment to doing whatever it takes, even if it’s outside an employee’s normal job requirements</a:t>
                      </a:r>
                      <a:endParaRPr lang="en-US" sz="1400" noProof="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0581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cs typeface="Arial" panose="020B0604020202020204" pitchFamily="34" charset="0"/>
              </a:rPr>
              <a:t>Creating an Innovative Culture</a:t>
            </a:r>
            <a:endParaRPr lang="en-US" dirty="0">
              <a:latin typeface="+mj-lt"/>
              <a:cs typeface="Arial" panose="020B0604020202020204" pitchFamily="34" charset="0"/>
            </a:endParaRPr>
          </a:p>
        </p:txBody>
      </p:sp>
      <p:sp>
        <p:nvSpPr>
          <p:cNvPr id="3" name="Content Placeholder 2"/>
          <p:cNvSpPr>
            <a:spLocks noGrp="1"/>
          </p:cNvSpPr>
          <p:nvPr>
            <p:ph idx="1"/>
          </p:nvPr>
        </p:nvSpPr>
        <p:spPr>
          <a:xfrm>
            <a:off x="467999" y="1268760"/>
            <a:ext cx="8280713" cy="4301177"/>
          </a:xfrm>
        </p:spPr>
        <p:txBody>
          <a:bodyPr wrap="square" tIns="18000" bIns="18000">
            <a:spAutoFit/>
          </a:bodyPr>
          <a:lstStyle/>
          <a:p>
            <a:pPr marL="271463" indent="-271463"/>
            <a:r>
              <a:rPr lang="en-US" altLang="en-US" sz="2400" dirty="0">
                <a:latin typeface="Arial" panose="020B0604020202020204" pitchFamily="34" charset="0"/>
                <a:cs typeface="Arial" panose="020B0604020202020204" pitchFamily="34" charset="0"/>
              </a:rPr>
              <a:t>Challenge and involvement</a:t>
            </a:r>
          </a:p>
          <a:p>
            <a:pPr marL="271463" indent="-271463"/>
            <a:r>
              <a:rPr lang="en-US" sz="2400" dirty="0">
                <a:latin typeface="Arial" panose="020B0604020202020204" pitchFamily="34" charset="0"/>
                <a:cs typeface="Arial" panose="020B0604020202020204" pitchFamily="34" charset="0"/>
              </a:rPr>
              <a:t>Freedom</a:t>
            </a:r>
          </a:p>
          <a:p>
            <a:pPr marL="271463" indent="-271463"/>
            <a:r>
              <a:rPr lang="en-US" sz="2400" dirty="0">
                <a:latin typeface="Arial" panose="020B0604020202020204" pitchFamily="34" charset="0"/>
                <a:cs typeface="Arial" panose="020B0604020202020204" pitchFamily="34" charset="0"/>
              </a:rPr>
              <a:t>Trust and openness</a:t>
            </a:r>
          </a:p>
          <a:p>
            <a:pPr marL="271463" indent="-271463"/>
            <a:r>
              <a:rPr lang="en-US" sz="2400" dirty="0">
                <a:latin typeface="Arial" panose="020B0604020202020204" pitchFamily="34" charset="0"/>
                <a:cs typeface="Arial" panose="020B0604020202020204" pitchFamily="34" charset="0"/>
              </a:rPr>
              <a:t>Idea time</a:t>
            </a:r>
          </a:p>
          <a:p>
            <a:pPr marL="271463" indent="-271463"/>
            <a:r>
              <a:rPr lang="en-US" sz="2400" dirty="0">
                <a:latin typeface="Arial" panose="020B0604020202020204" pitchFamily="34" charset="0"/>
                <a:cs typeface="Arial" panose="020B0604020202020204" pitchFamily="34" charset="0"/>
              </a:rPr>
              <a:t>Playfulness/humor</a:t>
            </a:r>
          </a:p>
          <a:p>
            <a:pPr marL="271463" indent="-271463"/>
            <a:r>
              <a:rPr lang="en-US" sz="2400" dirty="0">
                <a:latin typeface="Arial" panose="020B0604020202020204" pitchFamily="34" charset="0"/>
                <a:cs typeface="Arial" panose="020B0604020202020204" pitchFamily="34" charset="0"/>
              </a:rPr>
              <a:t>Conflict resolution</a:t>
            </a:r>
          </a:p>
          <a:p>
            <a:pPr marL="271463" indent="-271463"/>
            <a:r>
              <a:rPr lang="en-US" sz="2400" dirty="0">
                <a:latin typeface="Arial" panose="020B0604020202020204" pitchFamily="34" charset="0"/>
                <a:cs typeface="Arial" panose="020B0604020202020204" pitchFamily="34" charset="0"/>
              </a:rPr>
              <a:t>Debates</a:t>
            </a:r>
          </a:p>
          <a:p>
            <a:pPr marL="271463" indent="-271463"/>
            <a:r>
              <a:rPr lang="en-US" sz="2400" dirty="0">
                <a:latin typeface="Arial" panose="020B0604020202020204" pitchFamily="34" charset="0"/>
                <a:cs typeface="Arial" panose="020B0604020202020204" pitchFamily="34" charset="0"/>
              </a:rPr>
              <a:t>Risk taking </a:t>
            </a:r>
          </a:p>
        </p:txBody>
      </p:sp>
    </p:spTree>
    <p:extLst>
      <p:ext uri="{BB962C8B-B14F-4D97-AF65-F5344CB8AC3E}">
        <p14:creationId xmlns:p14="http://schemas.microsoft.com/office/powerpoint/2010/main" val="791690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rPr>
              <a:t>Creating a Sustainability Culture</a:t>
            </a:r>
            <a:endParaRPr lang="en-US" dirty="0">
              <a:latin typeface="+mj-lt"/>
            </a:endParaRPr>
          </a:p>
        </p:txBody>
      </p:sp>
      <p:sp>
        <p:nvSpPr>
          <p:cNvPr id="3" name="Content Placeholder 2"/>
          <p:cNvSpPr>
            <a:spLocks noGrp="1"/>
          </p:cNvSpPr>
          <p:nvPr>
            <p:ph idx="1"/>
          </p:nvPr>
        </p:nvSpPr>
        <p:spPr>
          <a:xfrm>
            <a:off x="467999" y="1268760"/>
            <a:ext cx="8280713" cy="2829424"/>
          </a:xfrm>
        </p:spPr>
        <p:txBody>
          <a:bodyPr wrap="square" tIns="18000" bIns="18000">
            <a:spAutoFit/>
          </a:bodyPr>
          <a:lstStyle/>
          <a:p>
            <a:pPr marL="271463" indent="-271463"/>
            <a:r>
              <a:rPr lang="en-US" altLang="en-US" sz="2400" dirty="0">
                <a:latin typeface="Arial" panose="020B0604020202020204" pitchFamily="34" charset="0"/>
                <a:cs typeface="Arial" panose="020B0604020202020204" pitchFamily="34" charset="0"/>
              </a:rPr>
              <a:t>Get everyone involved in defining what sustainability means to the organization</a:t>
            </a:r>
          </a:p>
          <a:p>
            <a:pPr marL="271463" indent="-271463"/>
            <a:r>
              <a:rPr lang="en-US" sz="2400" dirty="0">
                <a:latin typeface="Arial" panose="020B0604020202020204" pitchFamily="34" charset="0"/>
                <a:cs typeface="Arial" panose="020B0604020202020204" pitchFamily="34" charset="0"/>
              </a:rPr>
              <a:t>Get employees involved in finding ways to be more sustainable.</a:t>
            </a:r>
          </a:p>
          <a:p>
            <a:pPr marL="271463" indent="-271463"/>
            <a:r>
              <a:rPr lang="en-US" sz="2400" dirty="0">
                <a:latin typeface="Arial" panose="020B0604020202020204" pitchFamily="34" charset="0"/>
                <a:cs typeface="Arial" panose="020B0604020202020204" pitchFamily="34" charset="0"/>
              </a:rPr>
              <a:t>Create rituals to reinforce the importance of sustainability.</a:t>
            </a:r>
          </a:p>
          <a:p>
            <a:pPr marL="271463" indent="-271463"/>
            <a:r>
              <a:rPr lang="en-US" sz="2400" dirty="0">
                <a:latin typeface="Arial" panose="020B0604020202020204" pitchFamily="34" charset="0"/>
                <a:cs typeface="Arial" panose="020B0604020202020204" pitchFamily="34" charset="0"/>
              </a:rPr>
              <a:t>Use rewards.</a:t>
            </a:r>
          </a:p>
        </p:txBody>
      </p:sp>
    </p:spTree>
    <p:extLst>
      <p:ext uri="{BB962C8B-B14F-4D97-AF65-F5344CB8AC3E}">
        <p14:creationId xmlns:p14="http://schemas.microsoft.com/office/powerpoint/2010/main" val="1773844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rPr>
              <a:t>Creating an Ethical Culture</a:t>
            </a:r>
            <a:endParaRPr lang="en-US" dirty="0">
              <a:latin typeface="+mj-lt"/>
            </a:endParaRPr>
          </a:p>
        </p:txBody>
      </p:sp>
      <p:sp>
        <p:nvSpPr>
          <p:cNvPr id="3" name="Content Placeholder 2"/>
          <p:cNvSpPr>
            <a:spLocks noGrp="1"/>
          </p:cNvSpPr>
          <p:nvPr>
            <p:ph idx="1"/>
          </p:nvPr>
        </p:nvSpPr>
        <p:spPr>
          <a:xfrm>
            <a:off x="468000" y="1268760"/>
            <a:ext cx="8280712" cy="2075371"/>
          </a:xfrm>
        </p:spPr>
        <p:txBody>
          <a:bodyPr wrap="square" tIns="18000" bIns="18000">
            <a:spAutoFit/>
          </a:bodyPr>
          <a:lstStyle/>
          <a:p>
            <a:pPr marL="0" indent="0">
              <a:buNone/>
            </a:pPr>
            <a:r>
              <a:rPr lang="en-US" altLang="en-US" sz="2400" b="1" dirty="0">
                <a:latin typeface="Arial" panose="020B0604020202020204" pitchFamily="34" charset="0"/>
                <a:cs typeface="Arial" panose="020B0604020202020204" pitchFamily="34" charset="0"/>
              </a:rPr>
              <a:t>Ethical culture: </a:t>
            </a:r>
          </a:p>
          <a:p>
            <a:pPr marL="271463" indent="-271463"/>
            <a:r>
              <a:rPr lang="en-US" sz="2400" dirty="0">
                <a:latin typeface="Arial" panose="020B0604020202020204" pitchFamily="34" charset="0"/>
                <a:cs typeface="Arial" panose="020B0604020202020204" pitchFamily="34" charset="0"/>
              </a:rPr>
              <a:t>one in which the shared concept of right and wrong behavior in the workplace reflects the core values of the organization and influences the ethical decision making of employees.</a:t>
            </a:r>
          </a:p>
        </p:txBody>
      </p:sp>
    </p:spTree>
    <p:extLst>
      <p:ext uri="{BB962C8B-B14F-4D97-AF65-F5344CB8AC3E}">
        <p14:creationId xmlns:p14="http://schemas.microsoft.com/office/powerpoint/2010/main" val="356034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rPr>
              <a:t>Creating a Learning Culture</a:t>
            </a:r>
            <a:endParaRPr lang="en-US" dirty="0">
              <a:latin typeface="+mj-lt"/>
            </a:endParaRPr>
          </a:p>
        </p:txBody>
      </p:sp>
      <p:sp>
        <p:nvSpPr>
          <p:cNvPr id="3" name="Content Placeholder 2"/>
          <p:cNvSpPr>
            <a:spLocks noGrp="1"/>
          </p:cNvSpPr>
          <p:nvPr>
            <p:ph idx="1"/>
          </p:nvPr>
        </p:nvSpPr>
        <p:spPr>
          <a:xfrm>
            <a:off x="467999" y="1268760"/>
            <a:ext cx="8280713" cy="1221291"/>
          </a:xfrm>
        </p:spPr>
        <p:txBody>
          <a:bodyPr wrap="square" tIns="18000" bIns="18000">
            <a:spAutoFit/>
          </a:bodyPr>
          <a:lstStyle/>
          <a:p>
            <a:pPr marL="271463" indent="-271463"/>
            <a:r>
              <a:rPr lang="en-US" sz="2400" dirty="0">
                <a:latin typeface="Arial" panose="020B0604020202020204" pitchFamily="34" charset="0"/>
                <a:cs typeface="Arial" panose="020B0604020202020204" pitchFamily="34" charset="0"/>
              </a:rPr>
              <a:t>Creating a learning culture starts with buy-in at the top.</a:t>
            </a:r>
          </a:p>
          <a:p>
            <a:pPr lvl="1"/>
            <a:r>
              <a:rPr lang="en-US" sz="2400" dirty="0">
                <a:latin typeface="Arial" panose="020B0604020202020204" pitchFamily="34" charset="0"/>
                <a:cs typeface="Arial" panose="020B0604020202020204" pitchFamily="34" charset="0"/>
              </a:rPr>
              <a:t>Organizational leaders must understand what it takes for a learning culture to work and be committed to it. </a:t>
            </a:r>
          </a:p>
        </p:txBody>
      </p:sp>
    </p:spTree>
    <p:extLst>
      <p:ext uri="{BB962C8B-B14F-4D97-AF65-F5344CB8AC3E}">
        <p14:creationId xmlns:p14="http://schemas.microsoft.com/office/powerpoint/2010/main" val="923435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68000" y="284400"/>
            <a:ext cx="8280712" cy="590931"/>
          </a:xfrm>
        </p:spPr>
        <p:txBody>
          <a:bodyPr wrap="square" lIns="0" tIns="18288" rIns="0" bIns="18288" rtlCol="0" anchor="ctr">
            <a:spAutoFit/>
          </a:bodyPr>
          <a:lstStyle/>
          <a:p>
            <a:pPr eaLnBrk="1" fontAlgn="auto" hangingPunct="1">
              <a:spcAft>
                <a:spcPts val="0"/>
              </a:spcAft>
              <a:defRPr/>
            </a:pPr>
            <a:r>
              <a:rPr lang="en-US" sz="3600" dirty="0">
                <a:latin typeface="+mj-lt"/>
              </a:rPr>
              <a:t>Copyright</a:t>
            </a:r>
            <a:endParaRPr lang="en-US" sz="3600" b="0" dirty="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82923" y="2788200"/>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123728" y="1828800"/>
            <a:ext cx="6552976" cy="3260978"/>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dirty="0">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F66E29-10EF-4E85-810F-9F0E6E4EC172}">
  <ds:schemaRefs>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customXml/itemProps2.xml><?xml version="1.0" encoding="utf-8"?>
<ds:datastoreItem xmlns:ds="http://schemas.openxmlformats.org/officeDocument/2006/customXml" ds:itemID="{8079D3C7-B549-43ED-AE0F-3669AA96DE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C74C0BA-347C-4010-A0B8-009D5210AC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3306</TotalTime>
  <Words>1220</Words>
  <Application>Microsoft Office PowerPoint</Application>
  <PresentationFormat>On-screen Show (4:3)</PresentationFormat>
  <Paragraphs>173</Paragraphs>
  <Slides>36</Slides>
  <Notes>35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36</vt:i4>
      </vt:variant>
    </vt:vector>
  </HeadingPairs>
  <TitlesOfParts>
    <vt:vector size="43" baseType="lpstr">
      <vt:lpstr>Arial</vt:lpstr>
      <vt:lpstr>Noto Sans Symbols</vt:lpstr>
      <vt:lpstr>Times New Roman</vt:lpstr>
      <vt:lpstr>Verdana</vt:lpstr>
      <vt:lpstr>Wingdings</vt:lpstr>
      <vt:lpstr>1_508 Lecture</vt:lpstr>
      <vt:lpstr>508 Lecture</vt:lpstr>
      <vt:lpstr>Fundamentals of Management</vt:lpstr>
      <vt:lpstr>Learning Objectives</vt:lpstr>
      <vt:lpstr>Learning Objective 2.1 </vt:lpstr>
      <vt:lpstr>What Is the External Environment and Why Is It Important?</vt:lpstr>
      <vt:lpstr>Components of the External Environment</vt:lpstr>
      <vt:lpstr>What Is the Economy Like Today?</vt:lpstr>
      <vt:lpstr>Economic Inequality</vt:lpstr>
      <vt:lpstr>The Sharing Economy</vt:lpstr>
      <vt:lpstr>Demographics </vt:lpstr>
      <vt:lpstr>Learning Objective 2.2</vt:lpstr>
      <vt:lpstr>How Does External Environment Affect Managers?</vt:lpstr>
      <vt:lpstr>Assessing Environmental Uncertainty</vt:lpstr>
      <vt:lpstr>Managing Stakeholder Relationships</vt:lpstr>
      <vt:lpstr>Common Organizational Stakeholders</vt:lpstr>
      <vt:lpstr>Good Stakeholder Relationships:</vt:lpstr>
      <vt:lpstr>Learning Objective 2.3</vt:lpstr>
      <vt:lpstr>What Is Organizational Culture?</vt:lpstr>
      <vt:lpstr>Organizational Culture</vt:lpstr>
      <vt:lpstr>Culture Is:</vt:lpstr>
      <vt:lpstr>Dimensions of Culture</vt:lpstr>
      <vt:lpstr>Learning Organizational Culture</vt:lpstr>
      <vt:lpstr>Learning Objective 2.4</vt:lpstr>
      <vt:lpstr>How Does Organizational Culture Affect Managers?</vt:lpstr>
      <vt:lpstr>How Does Culture Affect What Employees Do?</vt:lpstr>
      <vt:lpstr>Strong Cultures Can:</vt:lpstr>
      <vt:lpstr>How Does Culture Affect What Managers Do?</vt:lpstr>
      <vt:lpstr>Company Values Affect Managers’ Behavior</vt:lpstr>
      <vt:lpstr>Managerial Decisions Influenced by Culture</vt:lpstr>
      <vt:lpstr>Learning Objective 2.5</vt:lpstr>
      <vt:lpstr>What Are Current Issues in Organizational Culture?</vt:lpstr>
      <vt:lpstr>Creating a Customer-Responsive Culture </vt:lpstr>
      <vt:lpstr>Creating an Innovative Culture</vt:lpstr>
      <vt:lpstr>Creating a Sustainability Culture</vt:lpstr>
      <vt:lpstr>Creating an Ethical Culture</vt:lpstr>
      <vt:lpstr>Creating a Learning Culture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2</dc:title>
  <dc:subject>Fundamentals of Management</dc:subject>
  <dc:creator>Robbins, Coulter and DeCenzo</dc:creator>
  <cp:keywords/>
  <dc:description>Additional information may be found in the Notes Pane of each slide by pressing F6.</dc:description>
  <cp:lastModifiedBy>John Frazier</cp:lastModifiedBy>
  <cp:revision>1164</cp:revision>
  <dcterms:created xsi:type="dcterms:W3CDTF">2014-07-14T20:04:21Z</dcterms:created>
  <dcterms:modified xsi:type="dcterms:W3CDTF">2023-08-08T13:41:36Z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