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6" r:id="rId5"/>
  </p:sldMasterIdLst>
  <p:notesMasterIdLst>
    <p:notesMasterId r:id="rId32"/>
  </p:notesMasterIdLst>
  <p:handoutMasterIdLst>
    <p:handoutMasterId r:id="rId33"/>
  </p:handoutMasterIdLst>
  <p:sldIdLst>
    <p:sldId id="310" r:id="rId6"/>
    <p:sldId id="426" r:id="rId7"/>
    <p:sldId id="427" r:id="rId8"/>
    <p:sldId id="450" r:id="rId9"/>
    <p:sldId id="463" r:id="rId10"/>
    <p:sldId id="688" r:id="rId11"/>
    <p:sldId id="451" r:id="rId12"/>
    <p:sldId id="432" r:id="rId13"/>
    <p:sldId id="433" r:id="rId14"/>
    <p:sldId id="434" r:id="rId15"/>
    <p:sldId id="436" r:id="rId16"/>
    <p:sldId id="452" r:id="rId17"/>
    <p:sldId id="437" r:id="rId18"/>
    <p:sldId id="690" r:id="rId19"/>
    <p:sldId id="691" r:id="rId20"/>
    <p:sldId id="462" r:id="rId21"/>
    <p:sldId id="441" r:id="rId22"/>
    <p:sldId id="442" r:id="rId23"/>
    <p:sldId id="455" r:id="rId24"/>
    <p:sldId id="456" r:id="rId25"/>
    <p:sldId id="457" r:id="rId26"/>
    <p:sldId id="458" r:id="rId27"/>
    <p:sldId id="459" r:id="rId28"/>
    <p:sldId id="692" r:id="rId29"/>
    <p:sldId id="467" r:id="rId30"/>
    <p:sldId id="68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laser" initials="l" lastIdx="1" clrIdx="1"/>
  <p:cmAuthor id="3" name="Darathie Renganathan, Integra-PDY, IN" initials="DRII" lastIdx="3" clrIdx="2"/>
  <p:cmAuthor id="4" name="veronica bashian" initials="vb" lastIdx="5"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4" autoAdjust="0"/>
    <p:restoredTop sz="90175" autoAdjust="0"/>
  </p:normalViewPr>
  <p:slideViewPr>
    <p:cSldViewPr>
      <p:cViewPr varScale="1">
        <p:scale>
          <a:sx n="77" d="100"/>
          <a:sy n="77" d="100"/>
        </p:scale>
        <p:origin x="1550" y="67"/>
      </p:cViewPr>
      <p:guideLst/>
    </p:cSldViewPr>
  </p:slideViewPr>
  <p:outlineViewPr>
    <p:cViewPr>
      <p:scale>
        <a:sx n="33" d="100"/>
        <a:sy n="33" d="100"/>
      </p:scale>
      <p:origin x="0" y="-1026"/>
    </p:cViewPr>
  </p:outlineViewPr>
  <p:notesTextViewPr>
    <p:cViewPr>
      <p:scale>
        <a:sx n="1" d="1"/>
        <a:sy n="1" d="1"/>
      </p:scale>
      <p:origin x="0" y="0"/>
    </p:cViewPr>
  </p:notesTextViewPr>
  <p:sorterViewPr>
    <p:cViewPr>
      <p:scale>
        <a:sx n="100" d="100"/>
        <a:sy n="100" d="100"/>
      </p:scale>
      <p:origin x="0" y="-4854"/>
    </p:cViewPr>
  </p:sorterViewPr>
  <p:notesViewPr>
    <p:cSldViewPr>
      <p:cViewPr varScale="1">
        <p:scale>
          <a:sx n="84" d="100"/>
          <a:sy n="84" d="100"/>
        </p:scale>
        <p:origin x="382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935204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ltLang="en-US"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346290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2906888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60000"/>
              </a:lnSpc>
              <a:buFont typeface="Calibri" pitchFamily="34" charset="0"/>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4080203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2854758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1378655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nSpc>
                <a:spcPct val="9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buFont typeface="+mj-lt" charset="0"/>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2026123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mj-lt" charset="0"/>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26</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9" name="TextBox 8"/>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178399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429119"/>
            <a:ext cx="918000" cy="279915"/>
          </a:xfrm>
          <a:prstGeom prst="rect">
            <a:avLst/>
          </a:prstGeom>
        </p:spPr>
      </p:pic>
    </p:spTree>
    <p:extLst>
      <p:ext uri="{BB962C8B-B14F-4D97-AF65-F5344CB8AC3E}">
        <p14:creationId xmlns:p14="http://schemas.microsoft.com/office/powerpoint/2010/main" val="223603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055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8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828800"/>
          </a:xfrm>
        </p:spPr>
        <p:txBody>
          <a:bodyPr/>
          <a:lstStyle>
            <a:lvl1pPr marL="0" indent="0">
              <a:buClr>
                <a:srgbClr val="007FA3"/>
              </a:buClr>
              <a:buSzPct val="100000"/>
              <a:buNone/>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Content Placeholder 3"/>
          <p:cNvSpPr>
            <a:spLocks noGrp="1"/>
          </p:cNvSpPr>
          <p:nvPr>
            <p:ph sz="quarter" idx="13"/>
          </p:nvPr>
        </p:nvSpPr>
        <p:spPr>
          <a:xfrm>
            <a:off x="468313" y="4292600"/>
            <a:ext cx="8064500" cy="1728788"/>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55175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5582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962682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8246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38932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313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95107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grpSp>
        <p:nvGrpSpPr>
          <p:cNvPr id="2" name="Group 4"/>
          <p:cNvGrpSpPr>
            <a:grpSpLocks noChangeAspect="1"/>
          </p:cNvGrpSpPr>
          <p:nvPr userDrawn="1"/>
        </p:nvGrpSpPr>
        <p:grpSpPr bwMode="auto">
          <a:xfrm>
            <a:off x="57755" y="6407126"/>
            <a:ext cx="1611690" cy="417560"/>
            <a:chOff x="21" y="4059"/>
            <a:chExt cx="1046" cy="271"/>
          </a:xfrm>
        </p:grpSpPr>
        <p:sp>
          <p:nvSpPr>
            <p:cNvPr id="3" name="AutoShape 3"/>
            <p:cNvSpPr>
              <a:spLocks noChangeAspect="1" noChangeArrowheads="1" noTextEdit="1"/>
            </p:cNvSpPr>
            <p:nvPr userDrawn="1"/>
          </p:nvSpPr>
          <p:spPr bwMode="auto">
            <a:xfrm>
              <a:off x="21" y="4059"/>
              <a:ext cx="1046"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sp>
          <p:nvSpPr>
            <p:cNvPr id="6" name="Freeform 5"/>
            <p:cNvSpPr>
              <a:spLocks noEditPoints="1"/>
            </p:cNvSpPr>
            <p:nvPr userDrawn="1"/>
          </p:nvSpPr>
          <p:spPr bwMode="auto">
            <a:xfrm>
              <a:off x="125" y="4168"/>
              <a:ext cx="838" cy="51"/>
            </a:xfrm>
            <a:custGeom>
              <a:avLst/>
              <a:gdLst>
                <a:gd name="T0" fmla="*/ 1055 w 21137"/>
                <a:gd name="T1" fmla="*/ 1285 h 1300"/>
                <a:gd name="T2" fmla="*/ 0 w 21137"/>
                <a:gd name="T3" fmla="*/ 1285 h 1300"/>
                <a:gd name="T4" fmla="*/ 417 w 21137"/>
                <a:gd name="T5" fmla="*/ 748 h 1300"/>
                <a:gd name="T6" fmla="*/ 1860 w 21137"/>
                <a:gd name="T7" fmla="*/ 1119 h 1300"/>
                <a:gd name="T8" fmla="*/ 1678 w 21137"/>
                <a:gd name="T9" fmla="*/ 16 h 1300"/>
                <a:gd name="T10" fmla="*/ 4021 w 21137"/>
                <a:gd name="T11" fmla="*/ 1290 h 1300"/>
                <a:gd name="T12" fmla="*/ 2636 w 21137"/>
                <a:gd name="T13" fmla="*/ 16 h 1300"/>
                <a:gd name="T14" fmla="*/ 3693 w 21137"/>
                <a:gd name="T15" fmla="*/ 16 h 1300"/>
                <a:gd name="T16" fmla="*/ 5470 w 21137"/>
                <a:gd name="T17" fmla="*/ 9 h 1300"/>
                <a:gd name="T18" fmla="*/ 5143 w 21137"/>
                <a:gd name="T19" fmla="*/ 909 h 1300"/>
                <a:gd name="T20" fmla="*/ 5610 w 21137"/>
                <a:gd name="T21" fmla="*/ 748 h 1300"/>
                <a:gd name="T22" fmla="*/ 7109 w 21137"/>
                <a:gd name="T23" fmla="*/ 16 h 1300"/>
                <a:gd name="T24" fmla="*/ 6675 w 21137"/>
                <a:gd name="T25" fmla="*/ 1285 h 1300"/>
                <a:gd name="T26" fmla="*/ 6765 w 21137"/>
                <a:gd name="T27" fmla="*/ 453 h 1300"/>
                <a:gd name="T28" fmla="*/ 7796 w 21137"/>
                <a:gd name="T29" fmla="*/ 514 h 1300"/>
                <a:gd name="T30" fmla="*/ 8407 w 21137"/>
                <a:gd name="T31" fmla="*/ 89 h 1300"/>
                <a:gd name="T32" fmla="*/ 7908 w 21137"/>
                <a:gd name="T33" fmla="*/ 309 h 1300"/>
                <a:gd name="T34" fmla="*/ 8457 w 21137"/>
                <a:gd name="T35" fmla="*/ 956 h 1300"/>
                <a:gd name="T36" fmla="*/ 7746 w 21137"/>
                <a:gd name="T37" fmla="*/ 953 h 1300"/>
                <a:gd name="T38" fmla="*/ 8119 w 21137"/>
                <a:gd name="T39" fmla="*/ 754 h 1300"/>
                <a:gd name="T40" fmla="*/ 10671 w 21137"/>
                <a:gd name="T41" fmla="*/ 1119 h 1300"/>
                <a:gd name="T42" fmla="*/ 11202 w 21137"/>
                <a:gd name="T43" fmla="*/ 16 h 1300"/>
                <a:gd name="T44" fmla="*/ 11383 w 21137"/>
                <a:gd name="T45" fmla="*/ 565 h 1300"/>
                <a:gd name="T46" fmla="*/ 11383 w 21137"/>
                <a:gd name="T47" fmla="*/ 1122 h 1300"/>
                <a:gd name="T48" fmla="*/ 11202 w 21137"/>
                <a:gd name="T49" fmla="*/ 16 h 1300"/>
                <a:gd name="T50" fmla="*/ 13458 w 21137"/>
                <a:gd name="T51" fmla="*/ 1285 h 1300"/>
                <a:gd name="T52" fmla="*/ 12402 w 21137"/>
                <a:gd name="T53" fmla="*/ 1285 h 1300"/>
                <a:gd name="T54" fmla="*/ 12819 w 21137"/>
                <a:gd name="T55" fmla="*/ 748 h 1300"/>
                <a:gd name="T56" fmla="*/ 14478 w 21137"/>
                <a:gd name="T57" fmla="*/ 16 h 1300"/>
                <a:gd name="T58" fmla="*/ 14682 w 21137"/>
                <a:gd name="T59" fmla="*/ 682 h 1300"/>
                <a:gd name="T60" fmla="*/ 15138 w 21137"/>
                <a:gd name="T61" fmla="*/ 1285 h 1300"/>
                <a:gd name="T62" fmla="*/ 14820 w 21137"/>
                <a:gd name="T63" fmla="*/ 1136 h 1300"/>
                <a:gd name="T64" fmla="*/ 14516 w 21137"/>
                <a:gd name="T65" fmla="*/ 754 h 1300"/>
                <a:gd name="T66" fmla="*/ 14160 w 21137"/>
                <a:gd name="T67" fmla="*/ 1285 h 1300"/>
                <a:gd name="T68" fmla="*/ 14411 w 21137"/>
                <a:gd name="T69" fmla="*/ 572 h 1300"/>
                <a:gd name="T70" fmla="*/ 14677 w 21137"/>
                <a:gd name="T71" fmla="*/ 260 h 1300"/>
                <a:gd name="T72" fmla="*/ 16830 w 21137"/>
                <a:gd name="T73" fmla="*/ 16 h 1300"/>
                <a:gd name="T74" fmla="*/ 15827 w 21137"/>
                <a:gd name="T75" fmla="*/ 1285 h 1300"/>
                <a:gd name="T76" fmla="*/ 16658 w 21137"/>
                <a:gd name="T77" fmla="*/ 1002 h 1300"/>
                <a:gd name="T78" fmla="*/ 17658 w 21137"/>
                <a:gd name="T79" fmla="*/ 1285 h 1300"/>
                <a:gd name="T80" fmla="*/ 19493 w 21137"/>
                <a:gd name="T81" fmla="*/ 16 h 1300"/>
                <a:gd name="T82" fmla="*/ 18488 w 21137"/>
                <a:gd name="T83" fmla="*/ 1285 h 1300"/>
                <a:gd name="T84" fmla="*/ 19320 w 21137"/>
                <a:gd name="T85" fmla="*/ 1002 h 1300"/>
                <a:gd name="T86" fmla="*/ 21137 w 21137"/>
                <a:gd name="T87" fmla="*/ 1198 h 1300"/>
                <a:gd name="T88" fmla="*/ 20176 w 21137"/>
                <a:gd name="T89" fmla="*/ 189 h 1300"/>
                <a:gd name="T90" fmla="*/ 21112 w 21137"/>
                <a:gd name="T91" fmla="*/ 293 h 1300"/>
                <a:gd name="T92" fmla="*/ 20311 w 21137"/>
                <a:gd name="T93" fmla="*/ 1004 h 1300"/>
                <a:gd name="T94" fmla="*/ 20956 w 21137"/>
                <a:gd name="T95" fmla="*/ 821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137" h="1300">
                  <a:moveTo>
                    <a:pt x="545" y="9"/>
                  </a:moveTo>
                  <a:cubicBezTo>
                    <a:pt x="672" y="9"/>
                    <a:pt x="672" y="9"/>
                    <a:pt x="672" y="9"/>
                  </a:cubicBezTo>
                  <a:cubicBezTo>
                    <a:pt x="1241" y="1285"/>
                    <a:pt x="1241" y="1285"/>
                    <a:pt x="1241" y="1285"/>
                  </a:cubicBezTo>
                  <a:cubicBezTo>
                    <a:pt x="1055" y="1285"/>
                    <a:pt x="1055" y="1285"/>
                    <a:pt x="1055" y="1285"/>
                  </a:cubicBezTo>
                  <a:cubicBezTo>
                    <a:pt x="886" y="909"/>
                    <a:pt x="886" y="909"/>
                    <a:pt x="886" y="909"/>
                  </a:cubicBezTo>
                  <a:cubicBezTo>
                    <a:pt x="345" y="909"/>
                    <a:pt x="345" y="909"/>
                    <a:pt x="345" y="909"/>
                  </a:cubicBezTo>
                  <a:cubicBezTo>
                    <a:pt x="186" y="1285"/>
                    <a:pt x="186" y="1285"/>
                    <a:pt x="186" y="1285"/>
                  </a:cubicBezTo>
                  <a:cubicBezTo>
                    <a:pt x="0" y="1285"/>
                    <a:pt x="0" y="1285"/>
                    <a:pt x="0" y="1285"/>
                  </a:cubicBezTo>
                  <a:lnTo>
                    <a:pt x="545" y="9"/>
                  </a:lnTo>
                  <a:close/>
                  <a:moveTo>
                    <a:pt x="812" y="748"/>
                  </a:moveTo>
                  <a:cubicBezTo>
                    <a:pt x="607" y="287"/>
                    <a:pt x="607" y="287"/>
                    <a:pt x="607" y="287"/>
                  </a:cubicBezTo>
                  <a:cubicBezTo>
                    <a:pt x="417" y="748"/>
                    <a:pt x="417" y="748"/>
                    <a:pt x="417" y="748"/>
                  </a:cubicBezTo>
                  <a:lnTo>
                    <a:pt x="812" y="748"/>
                  </a:lnTo>
                  <a:close/>
                  <a:moveTo>
                    <a:pt x="1678" y="16"/>
                  </a:moveTo>
                  <a:cubicBezTo>
                    <a:pt x="1860" y="16"/>
                    <a:pt x="1860" y="16"/>
                    <a:pt x="1860" y="16"/>
                  </a:cubicBezTo>
                  <a:cubicBezTo>
                    <a:pt x="1860" y="1119"/>
                    <a:pt x="1860" y="1119"/>
                    <a:pt x="1860" y="1119"/>
                  </a:cubicBezTo>
                  <a:cubicBezTo>
                    <a:pt x="2431" y="1119"/>
                    <a:pt x="2431" y="1119"/>
                    <a:pt x="2431" y="1119"/>
                  </a:cubicBezTo>
                  <a:cubicBezTo>
                    <a:pt x="2431" y="1285"/>
                    <a:pt x="2431" y="1285"/>
                    <a:pt x="2431" y="1285"/>
                  </a:cubicBezTo>
                  <a:cubicBezTo>
                    <a:pt x="1678" y="1285"/>
                    <a:pt x="1678" y="1285"/>
                    <a:pt x="1678" y="1285"/>
                  </a:cubicBezTo>
                  <a:lnTo>
                    <a:pt x="1678" y="16"/>
                  </a:lnTo>
                  <a:close/>
                  <a:moveTo>
                    <a:pt x="4392" y="16"/>
                  </a:moveTo>
                  <a:cubicBezTo>
                    <a:pt x="4573" y="16"/>
                    <a:pt x="4573" y="16"/>
                    <a:pt x="4573" y="16"/>
                  </a:cubicBezTo>
                  <a:cubicBezTo>
                    <a:pt x="4061" y="1290"/>
                    <a:pt x="4061" y="1290"/>
                    <a:pt x="4061" y="1290"/>
                  </a:cubicBezTo>
                  <a:cubicBezTo>
                    <a:pt x="4021" y="1290"/>
                    <a:pt x="4021" y="1290"/>
                    <a:pt x="4021" y="1290"/>
                  </a:cubicBezTo>
                  <a:cubicBezTo>
                    <a:pt x="3606" y="258"/>
                    <a:pt x="3606" y="258"/>
                    <a:pt x="3606" y="258"/>
                  </a:cubicBezTo>
                  <a:cubicBezTo>
                    <a:pt x="3187" y="1290"/>
                    <a:pt x="3187" y="1290"/>
                    <a:pt x="3187" y="1290"/>
                  </a:cubicBezTo>
                  <a:cubicBezTo>
                    <a:pt x="3147" y="1290"/>
                    <a:pt x="3147" y="1290"/>
                    <a:pt x="3147" y="1290"/>
                  </a:cubicBezTo>
                  <a:cubicBezTo>
                    <a:pt x="2636" y="16"/>
                    <a:pt x="2636" y="16"/>
                    <a:pt x="2636" y="16"/>
                  </a:cubicBezTo>
                  <a:cubicBezTo>
                    <a:pt x="2819" y="16"/>
                    <a:pt x="2819" y="16"/>
                    <a:pt x="2819" y="16"/>
                  </a:cubicBezTo>
                  <a:cubicBezTo>
                    <a:pt x="3168" y="891"/>
                    <a:pt x="3168" y="891"/>
                    <a:pt x="3168" y="891"/>
                  </a:cubicBezTo>
                  <a:cubicBezTo>
                    <a:pt x="3521" y="16"/>
                    <a:pt x="3521" y="16"/>
                    <a:pt x="3521" y="16"/>
                  </a:cubicBezTo>
                  <a:cubicBezTo>
                    <a:pt x="3693" y="16"/>
                    <a:pt x="3693" y="16"/>
                    <a:pt x="3693" y="16"/>
                  </a:cubicBezTo>
                  <a:cubicBezTo>
                    <a:pt x="4047" y="891"/>
                    <a:pt x="4047" y="891"/>
                    <a:pt x="4047" y="891"/>
                  </a:cubicBezTo>
                  <a:lnTo>
                    <a:pt x="4392" y="16"/>
                  </a:lnTo>
                  <a:close/>
                  <a:moveTo>
                    <a:pt x="5343" y="9"/>
                  </a:moveTo>
                  <a:cubicBezTo>
                    <a:pt x="5470" y="9"/>
                    <a:pt x="5470" y="9"/>
                    <a:pt x="5470" y="9"/>
                  </a:cubicBezTo>
                  <a:cubicBezTo>
                    <a:pt x="6039" y="1285"/>
                    <a:pt x="6039" y="1285"/>
                    <a:pt x="6039" y="1285"/>
                  </a:cubicBezTo>
                  <a:cubicBezTo>
                    <a:pt x="5853" y="1285"/>
                    <a:pt x="5853" y="1285"/>
                    <a:pt x="5853" y="1285"/>
                  </a:cubicBezTo>
                  <a:cubicBezTo>
                    <a:pt x="5685" y="909"/>
                    <a:pt x="5685" y="909"/>
                    <a:pt x="5685" y="909"/>
                  </a:cubicBezTo>
                  <a:cubicBezTo>
                    <a:pt x="5143" y="909"/>
                    <a:pt x="5143" y="909"/>
                    <a:pt x="5143" y="909"/>
                  </a:cubicBezTo>
                  <a:cubicBezTo>
                    <a:pt x="4984" y="1285"/>
                    <a:pt x="4984" y="1285"/>
                    <a:pt x="4984" y="1285"/>
                  </a:cubicBezTo>
                  <a:cubicBezTo>
                    <a:pt x="4798" y="1285"/>
                    <a:pt x="4798" y="1285"/>
                    <a:pt x="4798" y="1285"/>
                  </a:cubicBezTo>
                  <a:lnTo>
                    <a:pt x="5343" y="9"/>
                  </a:lnTo>
                  <a:close/>
                  <a:moveTo>
                    <a:pt x="5610" y="748"/>
                  </a:moveTo>
                  <a:cubicBezTo>
                    <a:pt x="5405" y="287"/>
                    <a:pt x="5405" y="287"/>
                    <a:pt x="5405" y="287"/>
                  </a:cubicBezTo>
                  <a:cubicBezTo>
                    <a:pt x="5215" y="748"/>
                    <a:pt x="5215" y="748"/>
                    <a:pt x="5215" y="748"/>
                  </a:cubicBezTo>
                  <a:lnTo>
                    <a:pt x="5610" y="748"/>
                  </a:lnTo>
                  <a:close/>
                  <a:moveTo>
                    <a:pt x="7109" y="16"/>
                  </a:moveTo>
                  <a:cubicBezTo>
                    <a:pt x="7330" y="16"/>
                    <a:pt x="7330" y="16"/>
                    <a:pt x="7330" y="16"/>
                  </a:cubicBezTo>
                  <a:cubicBezTo>
                    <a:pt x="6861" y="614"/>
                    <a:pt x="6861" y="614"/>
                    <a:pt x="6861" y="614"/>
                  </a:cubicBezTo>
                  <a:cubicBezTo>
                    <a:pt x="6861" y="1285"/>
                    <a:pt x="6861" y="1285"/>
                    <a:pt x="6861" y="1285"/>
                  </a:cubicBezTo>
                  <a:cubicBezTo>
                    <a:pt x="6675" y="1285"/>
                    <a:pt x="6675" y="1285"/>
                    <a:pt x="6675" y="1285"/>
                  </a:cubicBezTo>
                  <a:cubicBezTo>
                    <a:pt x="6675" y="614"/>
                    <a:pt x="6675" y="614"/>
                    <a:pt x="6675" y="614"/>
                  </a:cubicBezTo>
                  <a:cubicBezTo>
                    <a:pt x="6206" y="16"/>
                    <a:pt x="6206" y="16"/>
                    <a:pt x="6206" y="16"/>
                  </a:cubicBezTo>
                  <a:cubicBezTo>
                    <a:pt x="6426" y="16"/>
                    <a:pt x="6426" y="16"/>
                    <a:pt x="6426" y="16"/>
                  </a:cubicBezTo>
                  <a:cubicBezTo>
                    <a:pt x="6765" y="453"/>
                    <a:pt x="6765" y="453"/>
                    <a:pt x="6765" y="453"/>
                  </a:cubicBezTo>
                  <a:lnTo>
                    <a:pt x="7109" y="16"/>
                  </a:lnTo>
                  <a:close/>
                  <a:moveTo>
                    <a:pt x="8119" y="754"/>
                  </a:moveTo>
                  <a:cubicBezTo>
                    <a:pt x="7981" y="670"/>
                    <a:pt x="7981" y="670"/>
                    <a:pt x="7981" y="670"/>
                  </a:cubicBezTo>
                  <a:cubicBezTo>
                    <a:pt x="7894" y="617"/>
                    <a:pt x="7833" y="565"/>
                    <a:pt x="7796" y="514"/>
                  </a:cubicBezTo>
                  <a:cubicBezTo>
                    <a:pt x="7759" y="463"/>
                    <a:pt x="7741" y="404"/>
                    <a:pt x="7741" y="337"/>
                  </a:cubicBezTo>
                  <a:cubicBezTo>
                    <a:pt x="7741" y="236"/>
                    <a:pt x="7776" y="157"/>
                    <a:pt x="7845" y="93"/>
                  </a:cubicBezTo>
                  <a:cubicBezTo>
                    <a:pt x="7914" y="31"/>
                    <a:pt x="8005" y="0"/>
                    <a:pt x="8115" y="0"/>
                  </a:cubicBezTo>
                  <a:cubicBezTo>
                    <a:pt x="8221" y="0"/>
                    <a:pt x="8318" y="30"/>
                    <a:pt x="8407" y="89"/>
                  </a:cubicBezTo>
                  <a:cubicBezTo>
                    <a:pt x="8407" y="295"/>
                    <a:pt x="8407" y="295"/>
                    <a:pt x="8407" y="295"/>
                  </a:cubicBezTo>
                  <a:cubicBezTo>
                    <a:pt x="8315" y="208"/>
                    <a:pt x="8217" y="164"/>
                    <a:pt x="8112" y="164"/>
                  </a:cubicBezTo>
                  <a:cubicBezTo>
                    <a:pt x="8052" y="164"/>
                    <a:pt x="8004" y="177"/>
                    <a:pt x="7965" y="204"/>
                  </a:cubicBezTo>
                  <a:cubicBezTo>
                    <a:pt x="7927" y="232"/>
                    <a:pt x="7908" y="267"/>
                    <a:pt x="7908" y="309"/>
                  </a:cubicBezTo>
                  <a:cubicBezTo>
                    <a:pt x="7908" y="348"/>
                    <a:pt x="7922" y="384"/>
                    <a:pt x="7950" y="416"/>
                  </a:cubicBezTo>
                  <a:cubicBezTo>
                    <a:pt x="7979" y="450"/>
                    <a:pt x="8023" y="485"/>
                    <a:pt x="8086" y="521"/>
                  </a:cubicBezTo>
                  <a:cubicBezTo>
                    <a:pt x="8224" y="603"/>
                    <a:pt x="8224" y="603"/>
                    <a:pt x="8224" y="603"/>
                  </a:cubicBezTo>
                  <a:cubicBezTo>
                    <a:pt x="8379" y="696"/>
                    <a:pt x="8457" y="813"/>
                    <a:pt x="8457" y="956"/>
                  </a:cubicBezTo>
                  <a:cubicBezTo>
                    <a:pt x="8457" y="1057"/>
                    <a:pt x="8423" y="1141"/>
                    <a:pt x="8355" y="1204"/>
                  </a:cubicBezTo>
                  <a:cubicBezTo>
                    <a:pt x="8287" y="1268"/>
                    <a:pt x="8198" y="1300"/>
                    <a:pt x="8089" y="1300"/>
                  </a:cubicBezTo>
                  <a:cubicBezTo>
                    <a:pt x="7964" y="1300"/>
                    <a:pt x="7849" y="1261"/>
                    <a:pt x="7746" y="1185"/>
                  </a:cubicBezTo>
                  <a:cubicBezTo>
                    <a:pt x="7746" y="953"/>
                    <a:pt x="7746" y="953"/>
                    <a:pt x="7746" y="953"/>
                  </a:cubicBezTo>
                  <a:cubicBezTo>
                    <a:pt x="7845" y="1077"/>
                    <a:pt x="7958" y="1140"/>
                    <a:pt x="8087" y="1140"/>
                  </a:cubicBezTo>
                  <a:cubicBezTo>
                    <a:pt x="8144" y="1140"/>
                    <a:pt x="8192" y="1124"/>
                    <a:pt x="8229" y="1092"/>
                  </a:cubicBezTo>
                  <a:cubicBezTo>
                    <a:pt x="8267" y="1061"/>
                    <a:pt x="8286" y="1021"/>
                    <a:pt x="8286" y="973"/>
                  </a:cubicBezTo>
                  <a:cubicBezTo>
                    <a:pt x="8286" y="896"/>
                    <a:pt x="8230" y="823"/>
                    <a:pt x="8119" y="754"/>
                  </a:cubicBezTo>
                  <a:moveTo>
                    <a:pt x="9917" y="16"/>
                  </a:moveTo>
                  <a:cubicBezTo>
                    <a:pt x="10099" y="16"/>
                    <a:pt x="10099" y="16"/>
                    <a:pt x="10099" y="16"/>
                  </a:cubicBezTo>
                  <a:cubicBezTo>
                    <a:pt x="10099" y="1119"/>
                    <a:pt x="10099" y="1119"/>
                    <a:pt x="10099" y="1119"/>
                  </a:cubicBezTo>
                  <a:cubicBezTo>
                    <a:pt x="10671" y="1119"/>
                    <a:pt x="10671" y="1119"/>
                    <a:pt x="10671" y="1119"/>
                  </a:cubicBezTo>
                  <a:cubicBezTo>
                    <a:pt x="10671" y="1285"/>
                    <a:pt x="10671" y="1285"/>
                    <a:pt x="10671" y="1285"/>
                  </a:cubicBezTo>
                  <a:cubicBezTo>
                    <a:pt x="9917" y="1285"/>
                    <a:pt x="9917" y="1285"/>
                    <a:pt x="9917" y="1285"/>
                  </a:cubicBezTo>
                  <a:lnTo>
                    <a:pt x="9917" y="16"/>
                  </a:lnTo>
                  <a:close/>
                  <a:moveTo>
                    <a:pt x="11202" y="16"/>
                  </a:moveTo>
                  <a:cubicBezTo>
                    <a:pt x="11921" y="16"/>
                    <a:pt x="11921" y="16"/>
                    <a:pt x="11921" y="16"/>
                  </a:cubicBezTo>
                  <a:cubicBezTo>
                    <a:pt x="11921" y="177"/>
                    <a:pt x="11921" y="177"/>
                    <a:pt x="11921" y="177"/>
                  </a:cubicBezTo>
                  <a:cubicBezTo>
                    <a:pt x="11383" y="177"/>
                    <a:pt x="11383" y="177"/>
                    <a:pt x="11383" y="177"/>
                  </a:cubicBezTo>
                  <a:cubicBezTo>
                    <a:pt x="11383" y="565"/>
                    <a:pt x="11383" y="565"/>
                    <a:pt x="11383" y="565"/>
                  </a:cubicBezTo>
                  <a:cubicBezTo>
                    <a:pt x="11903" y="565"/>
                    <a:pt x="11903" y="565"/>
                    <a:pt x="11903" y="565"/>
                  </a:cubicBezTo>
                  <a:cubicBezTo>
                    <a:pt x="11903" y="727"/>
                    <a:pt x="11903" y="727"/>
                    <a:pt x="11903" y="727"/>
                  </a:cubicBezTo>
                  <a:cubicBezTo>
                    <a:pt x="11383" y="727"/>
                    <a:pt x="11383" y="727"/>
                    <a:pt x="11383" y="727"/>
                  </a:cubicBezTo>
                  <a:cubicBezTo>
                    <a:pt x="11383" y="1122"/>
                    <a:pt x="11383" y="1122"/>
                    <a:pt x="11383" y="1122"/>
                  </a:cubicBezTo>
                  <a:cubicBezTo>
                    <a:pt x="11939" y="1122"/>
                    <a:pt x="11939" y="1122"/>
                    <a:pt x="11939" y="1122"/>
                  </a:cubicBezTo>
                  <a:cubicBezTo>
                    <a:pt x="11939" y="1283"/>
                    <a:pt x="11939" y="1283"/>
                    <a:pt x="11939" y="1283"/>
                  </a:cubicBezTo>
                  <a:cubicBezTo>
                    <a:pt x="11202" y="1283"/>
                    <a:pt x="11202" y="1283"/>
                    <a:pt x="11202" y="1283"/>
                  </a:cubicBezTo>
                  <a:lnTo>
                    <a:pt x="11202" y="16"/>
                  </a:lnTo>
                  <a:close/>
                  <a:moveTo>
                    <a:pt x="12946" y="9"/>
                  </a:moveTo>
                  <a:cubicBezTo>
                    <a:pt x="13075" y="9"/>
                    <a:pt x="13075" y="9"/>
                    <a:pt x="13075" y="9"/>
                  </a:cubicBezTo>
                  <a:cubicBezTo>
                    <a:pt x="13643" y="1285"/>
                    <a:pt x="13643" y="1285"/>
                    <a:pt x="13643" y="1285"/>
                  </a:cubicBezTo>
                  <a:cubicBezTo>
                    <a:pt x="13458" y="1285"/>
                    <a:pt x="13458" y="1285"/>
                    <a:pt x="13458" y="1285"/>
                  </a:cubicBezTo>
                  <a:cubicBezTo>
                    <a:pt x="13288" y="909"/>
                    <a:pt x="13288" y="909"/>
                    <a:pt x="13288" y="909"/>
                  </a:cubicBezTo>
                  <a:cubicBezTo>
                    <a:pt x="12746" y="909"/>
                    <a:pt x="12746" y="909"/>
                    <a:pt x="12746" y="909"/>
                  </a:cubicBezTo>
                  <a:cubicBezTo>
                    <a:pt x="12588" y="1285"/>
                    <a:pt x="12588" y="1285"/>
                    <a:pt x="12588" y="1285"/>
                  </a:cubicBezTo>
                  <a:cubicBezTo>
                    <a:pt x="12402" y="1285"/>
                    <a:pt x="12402" y="1285"/>
                    <a:pt x="12402" y="1285"/>
                  </a:cubicBezTo>
                  <a:lnTo>
                    <a:pt x="12946" y="9"/>
                  </a:lnTo>
                  <a:close/>
                  <a:moveTo>
                    <a:pt x="13214" y="748"/>
                  </a:moveTo>
                  <a:cubicBezTo>
                    <a:pt x="13009" y="287"/>
                    <a:pt x="13009" y="287"/>
                    <a:pt x="13009" y="287"/>
                  </a:cubicBezTo>
                  <a:cubicBezTo>
                    <a:pt x="12819" y="748"/>
                    <a:pt x="12819" y="748"/>
                    <a:pt x="12819" y="748"/>
                  </a:cubicBezTo>
                  <a:lnTo>
                    <a:pt x="13214" y="748"/>
                  </a:lnTo>
                  <a:close/>
                  <a:moveTo>
                    <a:pt x="14160" y="1285"/>
                  </a:moveTo>
                  <a:cubicBezTo>
                    <a:pt x="14160" y="16"/>
                    <a:pt x="14160" y="16"/>
                    <a:pt x="14160" y="16"/>
                  </a:cubicBezTo>
                  <a:cubicBezTo>
                    <a:pt x="14478" y="16"/>
                    <a:pt x="14478" y="16"/>
                    <a:pt x="14478" y="16"/>
                  </a:cubicBezTo>
                  <a:cubicBezTo>
                    <a:pt x="14606" y="16"/>
                    <a:pt x="14708" y="48"/>
                    <a:pt x="14784" y="112"/>
                  </a:cubicBezTo>
                  <a:cubicBezTo>
                    <a:pt x="14859" y="175"/>
                    <a:pt x="14896" y="261"/>
                    <a:pt x="14896" y="369"/>
                  </a:cubicBezTo>
                  <a:cubicBezTo>
                    <a:pt x="14896" y="444"/>
                    <a:pt x="14878" y="507"/>
                    <a:pt x="14841" y="560"/>
                  </a:cubicBezTo>
                  <a:cubicBezTo>
                    <a:pt x="14804" y="616"/>
                    <a:pt x="14751" y="655"/>
                    <a:pt x="14682" y="682"/>
                  </a:cubicBezTo>
                  <a:cubicBezTo>
                    <a:pt x="14723" y="708"/>
                    <a:pt x="14762" y="745"/>
                    <a:pt x="14801" y="791"/>
                  </a:cubicBezTo>
                  <a:cubicBezTo>
                    <a:pt x="14840" y="837"/>
                    <a:pt x="14895" y="917"/>
                    <a:pt x="14964" y="1031"/>
                  </a:cubicBezTo>
                  <a:cubicBezTo>
                    <a:pt x="15008" y="1103"/>
                    <a:pt x="15045" y="1158"/>
                    <a:pt x="15071" y="1195"/>
                  </a:cubicBezTo>
                  <a:cubicBezTo>
                    <a:pt x="15138" y="1285"/>
                    <a:pt x="15138" y="1285"/>
                    <a:pt x="15138" y="1285"/>
                  </a:cubicBezTo>
                  <a:cubicBezTo>
                    <a:pt x="14922" y="1285"/>
                    <a:pt x="14922" y="1285"/>
                    <a:pt x="14922" y="1285"/>
                  </a:cubicBezTo>
                  <a:cubicBezTo>
                    <a:pt x="14867" y="1201"/>
                    <a:pt x="14867" y="1201"/>
                    <a:pt x="14867" y="1201"/>
                  </a:cubicBezTo>
                  <a:cubicBezTo>
                    <a:pt x="14865" y="1199"/>
                    <a:pt x="14861" y="1193"/>
                    <a:pt x="14856" y="1186"/>
                  </a:cubicBezTo>
                  <a:cubicBezTo>
                    <a:pt x="14820" y="1136"/>
                    <a:pt x="14820" y="1136"/>
                    <a:pt x="14820" y="1136"/>
                  </a:cubicBezTo>
                  <a:cubicBezTo>
                    <a:pt x="14764" y="1043"/>
                    <a:pt x="14764" y="1043"/>
                    <a:pt x="14764" y="1043"/>
                  </a:cubicBezTo>
                  <a:cubicBezTo>
                    <a:pt x="14704" y="944"/>
                    <a:pt x="14704" y="944"/>
                    <a:pt x="14704" y="944"/>
                  </a:cubicBezTo>
                  <a:cubicBezTo>
                    <a:pt x="14666" y="893"/>
                    <a:pt x="14631" y="851"/>
                    <a:pt x="14600" y="820"/>
                  </a:cubicBezTo>
                  <a:cubicBezTo>
                    <a:pt x="14569" y="788"/>
                    <a:pt x="14541" y="767"/>
                    <a:pt x="14516" y="754"/>
                  </a:cubicBezTo>
                  <a:cubicBezTo>
                    <a:pt x="14490" y="740"/>
                    <a:pt x="14449" y="733"/>
                    <a:pt x="14389" y="733"/>
                  </a:cubicBezTo>
                  <a:cubicBezTo>
                    <a:pt x="14342" y="733"/>
                    <a:pt x="14342" y="733"/>
                    <a:pt x="14342" y="733"/>
                  </a:cubicBezTo>
                  <a:cubicBezTo>
                    <a:pt x="14342" y="1285"/>
                    <a:pt x="14342" y="1285"/>
                    <a:pt x="14342" y="1285"/>
                  </a:cubicBezTo>
                  <a:lnTo>
                    <a:pt x="14160" y="1285"/>
                  </a:lnTo>
                  <a:close/>
                  <a:moveTo>
                    <a:pt x="14396" y="170"/>
                  </a:moveTo>
                  <a:cubicBezTo>
                    <a:pt x="14342" y="170"/>
                    <a:pt x="14342" y="170"/>
                    <a:pt x="14342" y="170"/>
                  </a:cubicBezTo>
                  <a:cubicBezTo>
                    <a:pt x="14342" y="572"/>
                    <a:pt x="14342" y="572"/>
                    <a:pt x="14342" y="572"/>
                  </a:cubicBezTo>
                  <a:cubicBezTo>
                    <a:pt x="14411" y="572"/>
                    <a:pt x="14411" y="572"/>
                    <a:pt x="14411" y="572"/>
                  </a:cubicBezTo>
                  <a:cubicBezTo>
                    <a:pt x="14503" y="572"/>
                    <a:pt x="14566" y="564"/>
                    <a:pt x="14600" y="548"/>
                  </a:cubicBezTo>
                  <a:cubicBezTo>
                    <a:pt x="14634" y="531"/>
                    <a:pt x="14661" y="508"/>
                    <a:pt x="14680" y="476"/>
                  </a:cubicBezTo>
                  <a:cubicBezTo>
                    <a:pt x="14699" y="445"/>
                    <a:pt x="14709" y="408"/>
                    <a:pt x="14709" y="368"/>
                  </a:cubicBezTo>
                  <a:cubicBezTo>
                    <a:pt x="14709" y="327"/>
                    <a:pt x="14698" y="292"/>
                    <a:pt x="14677" y="260"/>
                  </a:cubicBezTo>
                  <a:cubicBezTo>
                    <a:pt x="14655" y="227"/>
                    <a:pt x="14626" y="204"/>
                    <a:pt x="14587" y="191"/>
                  </a:cubicBezTo>
                  <a:cubicBezTo>
                    <a:pt x="14548" y="177"/>
                    <a:pt x="14485" y="170"/>
                    <a:pt x="14396" y="170"/>
                  </a:cubicBezTo>
                  <a:moveTo>
                    <a:pt x="16658" y="16"/>
                  </a:moveTo>
                  <a:cubicBezTo>
                    <a:pt x="16830" y="16"/>
                    <a:pt x="16830" y="16"/>
                    <a:pt x="16830" y="16"/>
                  </a:cubicBezTo>
                  <a:cubicBezTo>
                    <a:pt x="16830" y="1285"/>
                    <a:pt x="16830" y="1285"/>
                    <a:pt x="16830" y="1285"/>
                  </a:cubicBezTo>
                  <a:cubicBezTo>
                    <a:pt x="16675" y="1285"/>
                    <a:pt x="16675" y="1285"/>
                    <a:pt x="16675" y="1285"/>
                  </a:cubicBezTo>
                  <a:cubicBezTo>
                    <a:pt x="15827" y="308"/>
                    <a:pt x="15827" y="308"/>
                    <a:pt x="15827" y="308"/>
                  </a:cubicBezTo>
                  <a:cubicBezTo>
                    <a:pt x="15827" y="1285"/>
                    <a:pt x="15827" y="1285"/>
                    <a:pt x="15827" y="1285"/>
                  </a:cubicBezTo>
                  <a:cubicBezTo>
                    <a:pt x="15656" y="1285"/>
                    <a:pt x="15656" y="1285"/>
                    <a:pt x="15656" y="1285"/>
                  </a:cubicBezTo>
                  <a:cubicBezTo>
                    <a:pt x="15656" y="16"/>
                    <a:pt x="15656" y="16"/>
                    <a:pt x="15656" y="16"/>
                  </a:cubicBezTo>
                  <a:cubicBezTo>
                    <a:pt x="15803" y="16"/>
                    <a:pt x="15803" y="16"/>
                    <a:pt x="15803" y="16"/>
                  </a:cubicBezTo>
                  <a:cubicBezTo>
                    <a:pt x="16658" y="1002"/>
                    <a:pt x="16658" y="1002"/>
                    <a:pt x="16658" y="1002"/>
                  </a:cubicBezTo>
                  <a:lnTo>
                    <a:pt x="16658" y="16"/>
                  </a:lnTo>
                  <a:close/>
                  <a:moveTo>
                    <a:pt x="17477" y="16"/>
                  </a:moveTo>
                  <a:cubicBezTo>
                    <a:pt x="17658" y="16"/>
                    <a:pt x="17658" y="16"/>
                    <a:pt x="17658" y="16"/>
                  </a:cubicBezTo>
                  <a:cubicBezTo>
                    <a:pt x="17658" y="1285"/>
                    <a:pt x="17658" y="1285"/>
                    <a:pt x="17658" y="1285"/>
                  </a:cubicBezTo>
                  <a:cubicBezTo>
                    <a:pt x="17477" y="1285"/>
                    <a:pt x="17477" y="1285"/>
                    <a:pt x="17477" y="1285"/>
                  </a:cubicBezTo>
                  <a:lnTo>
                    <a:pt x="17477" y="16"/>
                  </a:lnTo>
                  <a:close/>
                  <a:moveTo>
                    <a:pt x="19320" y="16"/>
                  </a:moveTo>
                  <a:cubicBezTo>
                    <a:pt x="19493" y="16"/>
                    <a:pt x="19493" y="16"/>
                    <a:pt x="19493" y="16"/>
                  </a:cubicBezTo>
                  <a:cubicBezTo>
                    <a:pt x="19493" y="1285"/>
                    <a:pt x="19493" y="1285"/>
                    <a:pt x="19493" y="1285"/>
                  </a:cubicBezTo>
                  <a:cubicBezTo>
                    <a:pt x="19337" y="1285"/>
                    <a:pt x="19337" y="1285"/>
                    <a:pt x="19337" y="1285"/>
                  </a:cubicBezTo>
                  <a:cubicBezTo>
                    <a:pt x="18488" y="308"/>
                    <a:pt x="18488" y="308"/>
                    <a:pt x="18488" y="308"/>
                  </a:cubicBezTo>
                  <a:cubicBezTo>
                    <a:pt x="18488" y="1285"/>
                    <a:pt x="18488" y="1285"/>
                    <a:pt x="18488" y="1285"/>
                  </a:cubicBezTo>
                  <a:cubicBezTo>
                    <a:pt x="18317" y="1285"/>
                    <a:pt x="18317" y="1285"/>
                    <a:pt x="18317" y="1285"/>
                  </a:cubicBezTo>
                  <a:cubicBezTo>
                    <a:pt x="18317" y="16"/>
                    <a:pt x="18317" y="16"/>
                    <a:pt x="18317" y="16"/>
                  </a:cubicBezTo>
                  <a:cubicBezTo>
                    <a:pt x="18464" y="16"/>
                    <a:pt x="18464" y="16"/>
                    <a:pt x="18464" y="16"/>
                  </a:cubicBezTo>
                  <a:cubicBezTo>
                    <a:pt x="19320" y="1002"/>
                    <a:pt x="19320" y="1002"/>
                    <a:pt x="19320" y="1002"/>
                  </a:cubicBezTo>
                  <a:lnTo>
                    <a:pt x="19320" y="16"/>
                  </a:lnTo>
                  <a:close/>
                  <a:moveTo>
                    <a:pt x="20712" y="659"/>
                  </a:moveTo>
                  <a:cubicBezTo>
                    <a:pt x="21137" y="659"/>
                    <a:pt x="21137" y="659"/>
                    <a:pt x="21137" y="659"/>
                  </a:cubicBezTo>
                  <a:cubicBezTo>
                    <a:pt x="21137" y="1198"/>
                    <a:pt x="21137" y="1198"/>
                    <a:pt x="21137" y="1198"/>
                  </a:cubicBezTo>
                  <a:cubicBezTo>
                    <a:pt x="20981" y="1266"/>
                    <a:pt x="20826" y="1300"/>
                    <a:pt x="20673" y="1300"/>
                  </a:cubicBezTo>
                  <a:cubicBezTo>
                    <a:pt x="20463" y="1300"/>
                    <a:pt x="20294" y="1239"/>
                    <a:pt x="20169" y="1115"/>
                  </a:cubicBezTo>
                  <a:cubicBezTo>
                    <a:pt x="20043" y="994"/>
                    <a:pt x="19980" y="842"/>
                    <a:pt x="19980" y="662"/>
                  </a:cubicBezTo>
                  <a:cubicBezTo>
                    <a:pt x="19980" y="473"/>
                    <a:pt x="20045" y="314"/>
                    <a:pt x="20176" y="189"/>
                  </a:cubicBezTo>
                  <a:cubicBezTo>
                    <a:pt x="20306" y="63"/>
                    <a:pt x="20469" y="0"/>
                    <a:pt x="20666" y="0"/>
                  </a:cubicBezTo>
                  <a:cubicBezTo>
                    <a:pt x="20736" y="0"/>
                    <a:pt x="20804" y="8"/>
                    <a:pt x="20869" y="22"/>
                  </a:cubicBezTo>
                  <a:cubicBezTo>
                    <a:pt x="20933" y="39"/>
                    <a:pt x="21014" y="66"/>
                    <a:pt x="21112" y="109"/>
                  </a:cubicBezTo>
                  <a:cubicBezTo>
                    <a:pt x="21112" y="293"/>
                    <a:pt x="21112" y="293"/>
                    <a:pt x="21112" y="293"/>
                  </a:cubicBezTo>
                  <a:cubicBezTo>
                    <a:pt x="20961" y="205"/>
                    <a:pt x="20811" y="161"/>
                    <a:pt x="20661" y="161"/>
                  </a:cubicBezTo>
                  <a:cubicBezTo>
                    <a:pt x="20523" y="161"/>
                    <a:pt x="20407" y="209"/>
                    <a:pt x="20311" y="303"/>
                  </a:cubicBezTo>
                  <a:cubicBezTo>
                    <a:pt x="20215" y="397"/>
                    <a:pt x="20169" y="514"/>
                    <a:pt x="20169" y="651"/>
                  </a:cubicBezTo>
                  <a:cubicBezTo>
                    <a:pt x="20169" y="795"/>
                    <a:pt x="20215" y="913"/>
                    <a:pt x="20311" y="1004"/>
                  </a:cubicBezTo>
                  <a:cubicBezTo>
                    <a:pt x="20407" y="1096"/>
                    <a:pt x="20528" y="1142"/>
                    <a:pt x="20678" y="1142"/>
                  </a:cubicBezTo>
                  <a:cubicBezTo>
                    <a:pt x="20750" y="1142"/>
                    <a:pt x="20838" y="1125"/>
                    <a:pt x="20939" y="1092"/>
                  </a:cubicBezTo>
                  <a:cubicBezTo>
                    <a:pt x="20956" y="1087"/>
                    <a:pt x="20956" y="1087"/>
                    <a:pt x="20956" y="1087"/>
                  </a:cubicBezTo>
                  <a:cubicBezTo>
                    <a:pt x="20956" y="821"/>
                    <a:pt x="20956" y="821"/>
                    <a:pt x="20956" y="821"/>
                  </a:cubicBezTo>
                  <a:cubicBezTo>
                    <a:pt x="20712" y="821"/>
                    <a:pt x="20712" y="821"/>
                    <a:pt x="20712" y="821"/>
                  </a:cubicBezTo>
                  <a:lnTo>
                    <a:pt x="20712" y="6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gr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755" y="6211761"/>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39734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4"/>
          </p:nvPr>
        </p:nvSpPr>
        <p:spPr>
          <a:xfrm>
            <a:off x="468313" y="5013175"/>
            <a:ext cx="8280400" cy="1295549"/>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endParaRPr lang="en-IN" dirty="0"/>
          </a:p>
        </p:txBody>
      </p:sp>
    </p:spTree>
    <p:extLst>
      <p:ext uri="{BB962C8B-B14F-4D97-AF65-F5344CB8AC3E}">
        <p14:creationId xmlns:p14="http://schemas.microsoft.com/office/powerpoint/2010/main" val="3526922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0" indent="0">
              <a:buClr>
                <a:srgbClr val="007FA3"/>
              </a:buClr>
              <a:buSzPct val="100000"/>
              <a:buNone/>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
        <p:nvSpPr>
          <p:cNvPr id="9" name="Content Placeholder 8"/>
          <p:cNvSpPr>
            <a:spLocks noGrp="1"/>
          </p:cNvSpPr>
          <p:nvPr>
            <p:ph sz="quarter" idx="14"/>
          </p:nvPr>
        </p:nvSpPr>
        <p:spPr>
          <a:xfrm>
            <a:off x="468313" y="5013175"/>
            <a:ext cx="8280400" cy="1295549"/>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1538622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A86D8D65-0761-4EEF-9A51-BE3E5DD33334}"/>
              </a:ext>
            </a:extLst>
          </p:cNvPr>
          <p:cNvSpPr>
            <a:spLocks noGrp="1"/>
          </p:cNvSpPr>
          <p:nvPr>
            <p:ph sz="quarter" idx="13"/>
          </p:nvPr>
        </p:nvSpPr>
        <p:spPr>
          <a:xfrm>
            <a:off x="457200" y="1628775"/>
            <a:ext cx="1377950"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ADDB751-03D9-4D09-8F65-E090FE16F27B}"/>
              </a:ext>
            </a:extLst>
          </p:cNvPr>
          <p:cNvSpPr>
            <a:spLocks noGrp="1"/>
          </p:cNvSpPr>
          <p:nvPr>
            <p:ph sz="quarter" idx="14"/>
          </p:nvPr>
        </p:nvSpPr>
        <p:spPr>
          <a:xfrm>
            <a:off x="1979613" y="1700213"/>
            <a:ext cx="9366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59862159-C00A-42F8-96E6-40D81FE03BA3}"/>
              </a:ext>
            </a:extLst>
          </p:cNvPr>
          <p:cNvSpPr>
            <a:spLocks noGrp="1"/>
          </p:cNvSpPr>
          <p:nvPr>
            <p:ph sz="quarter" idx="15"/>
          </p:nvPr>
        </p:nvSpPr>
        <p:spPr>
          <a:xfrm>
            <a:off x="3203575" y="1844675"/>
            <a:ext cx="936625"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1DBE703D-B82C-4A93-8EDA-6BC2DFA55520}"/>
              </a:ext>
            </a:extLst>
          </p:cNvPr>
          <p:cNvSpPr>
            <a:spLocks noGrp="1"/>
          </p:cNvSpPr>
          <p:nvPr>
            <p:ph sz="quarter" idx="16"/>
          </p:nvPr>
        </p:nvSpPr>
        <p:spPr>
          <a:xfrm>
            <a:off x="4356100" y="1844675"/>
            <a:ext cx="1295400"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8F542A31-08B2-48B9-B7D7-36E42AB9B4AC}"/>
              </a:ext>
            </a:extLst>
          </p:cNvPr>
          <p:cNvSpPr>
            <a:spLocks noGrp="1"/>
          </p:cNvSpPr>
          <p:nvPr>
            <p:ph sz="quarter" idx="17"/>
          </p:nvPr>
        </p:nvSpPr>
        <p:spPr>
          <a:xfrm>
            <a:off x="5795963" y="1916113"/>
            <a:ext cx="1223962" cy="144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BB1F85E7-1F14-422D-9FB2-7D3CE62AC469}"/>
              </a:ext>
            </a:extLst>
          </p:cNvPr>
          <p:cNvSpPr>
            <a:spLocks noGrp="1"/>
          </p:cNvSpPr>
          <p:nvPr>
            <p:ph sz="quarter" idx="18"/>
          </p:nvPr>
        </p:nvSpPr>
        <p:spPr>
          <a:xfrm>
            <a:off x="539750" y="2636838"/>
            <a:ext cx="10080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A4FD5757-7391-4BED-B248-ED8013CFD6EC}"/>
              </a:ext>
            </a:extLst>
          </p:cNvPr>
          <p:cNvSpPr>
            <a:spLocks noGrp="1"/>
          </p:cNvSpPr>
          <p:nvPr>
            <p:ph sz="quarter" idx="19"/>
          </p:nvPr>
        </p:nvSpPr>
        <p:spPr>
          <a:xfrm>
            <a:off x="1835150" y="2708275"/>
            <a:ext cx="18002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21FCFA6E-9512-4D49-B23F-BE25DA91CCE5}"/>
              </a:ext>
            </a:extLst>
          </p:cNvPr>
          <p:cNvSpPr>
            <a:spLocks noGrp="1"/>
          </p:cNvSpPr>
          <p:nvPr>
            <p:ph sz="quarter" idx="20"/>
          </p:nvPr>
        </p:nvSpPr>
        <p:spPr>
          <a:xfrm>
            <a:off x="3851275" y="2708275"/>
            <a:ext cx="7207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FBFF441-24D0-4000-ABD5-279FDBCBA848}"/>
              </a:ext>
            </a:extLst>
          </p:cNvPr>
          <p:cNvSpPr>
            <a:spLocks noGrp="1"/>
          </p:cNvSpPr>
          <p:nvPr>
            <p:ph sz="quarter" idx="21"/>
          </p:nvPr>
        </p:nvSpPr>
        <p:spPr>
          <a:xfrm>
            <a:off x="4859338" y="2852738"/>
            <a:ext cx="936625"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D17254F4-E158-428C-AF99-BB5E3AF645C4}"/>
              </a:ext>
            </a:extLst>
          </p:cNvPr>
          <p:cNvSpPr>
            <a:spLocks noGrp="1"/>
          </p:cNvSpPr>
          <p:nvPr>
            <p:ph sz="quarter" idx="22"/>
          </p:nvPr>
        </p:nvSpPr>
        <p:spPr>
          <a:xfrm>
            <a:off x="6011863" y="2997200"/>
            <a:ext cx="1223962" cy="257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0947FA81-4A5F-4211-B32D-72FB9143E3B6}"/>
              </a:ext>
            </a:extLst>
          </p:cNvPr>
          <p:cNvSpPr>
            <a:spLocks noGrp="1"/>
          </p:cNvSpPr>
          <p:nvPr>
            <p:ph sz="quarter" idx="23"/>
          </p:nvPr>
        </p:nvSpPr>
        <p:spPr>
          <a:xfrm>
            <a:off x="457200" y="3429000"/>
            <a:ext cx="1235075" cy="576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B151B7FF-CCEF-48EF-A939-81B6724F74A7}"/>
              </a:ext>
            </a:extLst>
          </p:cNvPr>
          <p:cNvSpPr>
            <a:spLocks noGrp="1"/>
          </p:cNvSpPr>
          <p:nvPr>
            <p:ph sz="quarter" idx="24"/>
          </p:nvPr>
        </p:nvSpPr>
        <p:spPr>
          <a:xfrm>
            <a:off x="1835150" y="3573463"/>
            <a:ext cx="1008063" cy="287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5BAE6649-E23E-4091-8262-89B3F8FEAD24}"/>
              </a:ext>
            </a:extLst>
          </p:cNvPr>
          <p:cNvSpPr>
            <a:spLocks noGrp="1"/>
          </p:cNvSpPr>
          <p:nvPr>
            <p:ph sz="quarter" idx="25"/>
          </p:nvPr>
        </p:nvSpPr>
        <p:spPr>
          <a:xfrm>
            <a:off x="3059113" y="3573463"/>
            <a:ext cx="1008062"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F1756D1-89F4-4A22-AEE4-EDF664434B44}"/>
              </a:ext>
            </a:extLst>
          </p:cNvPr>
          <p:cNvSpPr>
            <a:spLocks noGrp="1"/>
          </p:cNvSpPr>
          <p:nvPr>
            <p:ph sz="quarter" idx="26"/>
          </p:nvPr>
        </p:nvSpPr>
        <p:spPr>
          <a:xfrm>
            <a:off x="4356100" y="3716338"/>
            <a:ext cx="1077913"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B35734F6-A281-454B-ABAD-36D6FE6729C9}"/>
              </a:ext>
            </a:extLst>
          </p:cNvPr>
          <p:cNvSpPr>
            <a:spLocks noGrp="1"/>
          </p:cNvSpPr>
          <p:nvPr>
            <p:ph sz="quarter" idx="27"/>
          </p:nvPr>
        </p:nvSpPr>
        <p:spPr>
          <a:xfrm>
            <a:off x="5795963" y="3860800"/>
            <a:ext cx="1223962" cy="41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CAC0ACA8-F91A-4698-9F23-2644812432E0}"/>
              </a:ext>
            </a:extLst>
          </p:cNvPr>
          <p:cNvSpPr>
            <a:spLocks noGrp="1"/>
          </p:cNvSpPr>
          <p:nvPr>
            <p:ph sz="quarter" idx="28"/>
          </p:nvPr>
        </p:nvSpPr>
        <p:spPr>
          <a:xfrm>
            <a:off x="539750" y="4271963"/>
            <a:ext cx="1377950" cy="62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B6169D4C-61F2-4379-89B2-DCF5AEF3ABE7}"/>
              </a:ext>
            </a:extLst>
          </p:cNvPr>
          <p:cNvSpPr>
            <a:spLocks noGrp="1"/>
          </p:cNvSpPr>
          <p:nvPr>
            <p:ph sz="quarter" idx="29"/>
          </p:nvPr>
        </p:nvSpPr>
        <p:spPr>
          <a:xfrm>
            <a:off x="2268538" y="4437063"/>
            <a:ext cx="1295400" cy="67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Picture Placeholder 41">
            <a:extLst>
              <a:ext uri="{FF2B5EF4-FFF2-40B4-BE49-F238E27FC236}">
                <a16:creationId xmlns:a16="http://schemas.microsoft.com/office/drawing/2014/main" id="{7D307D5D-6564-4A14-9605-D945EAEB26C4}"/>
              </a:ext>
            </a:extLst>
          </p:cNvPr>
          <p:cNvSpPr>
            <a:spLocks noGrp="1"/>
          </p:cNvSpPr>
          <p:nvPr>
            <p:ph type="pic" sz="quarter" idx="30"/>
          </p:nvPr>
        </p:nvSpPr>
        <p:spPr>
          <a:xfrm>
            <a:off x="3924300" y="4652963"/>
            <a:ext cx="1368425" cy="460375"/>
          </a:xfrm>
        </p:spPr>
        <p:txBody>
          <a:bodyPr/>
          <a:lstStyle/>
          <a:p>
            <a:endParaRPr lang="en-US"/>
          </a:p>
        </p:txBody>
      </p:sp>
      <p:sp>
        <p:nvSpPr>
          <p:cNvPr id="44" name="Picture Placeholder 43">
            <a:extLst>
              <a:ext uri="{FF2B5EF4-FFF2-40B4-BE49-F238E27FC236}">
                <a16:creationId xmlns:a16="http://schemas.microsoft.com/office/drawing/2014/main" id="{A5355258-4F4E-4030-9FFA-2D603A8F7C0C}"/>
              </a:ext>
            </a:extLst>
          </p:cNvPr>
          <p:cNvSpPr>
            <a:spLocks noGrp="1"/>
          </p:cNvSpPr>
          <p:nvPr>
            <p:ph type="pic" sz="quarter" idx="31"/>
          </p:nvPr>
        </p:nvSpPr>
        <p:spPr>
          <a:xfrm>
            <a:off x="5580063" y="4797425"/>
            <a:ext cx="1079500" cy="411163"/>
          </a:xfrm>
        </p:spPr>
        <p:txBody>
          <a:bodyPr/>
          <a:lstStyle/>
          <a:p>
            <a:endParaRPr lang="en-US"/>
          </a:p>
        </p:txBody>
      </p:sp>
      <p:sp>
        <p:nvSpPr>
          <p:cNvPr id="46" name="Picture Placeholder 45">
            <a:extLst>
              <a:ext uri="{FF2B5EF4-FFF2-40B4-BE49-F238E27FC236}">
                <a16:creationId xmlns:a16="http://schemas.microsoft.com/office/drawing/2014/main" id="{B0363641-3460-4012-A273-F08B5C0482B5}"/>
              </a:ext>
            </a:extLst>
          </p:cNvPr>
          <p:cNvSpPr>
            <a:spLocks noGrp="1"/>
          </p:cNvSpPr>
          <p:nvPr>
            <p:ph type="pic" sz="quarter" idx="32"/>
          </p:nvPr>
        </p:nvSpPr>
        <p:spPr>
          <a:xfrm>
            <a:off x="4356100" y="5516563"/>
            <a:ext cx="1077913" cy="287337"/>
          </a:xfrm>
        </p:spPr>
        <p:txBody>
          <a:bodyPr/>
          <a:lstStyle/>
          <a:p>
            <a:endParaRPr lang="en-US"/>
          </a:p>
        </p:txBody>
      </p:sp>
      <p:sp>
        <p:nvSpPr>
          <p:cNvPr id="48" name="Picture Placeholder 47">
            <a:extLst>
              <a:ext uri="{FF2B5EF4-FFF2-40B4-BE49-F238E27FC236}">
                <a16:creationId xmlns:a16="http://schemas.microsoft.com/office/drawing/2014/main" id="{90B152CE-3AF3-4BD6-8956-A4576FFC2849}"/>
              </a:ext>
            </a:extLst>
          </p:cNvPr>
          <p:cNvSpPr>
            <a:spLocks noGrp="1"/>
          </p:cNvSpPr>
          <p:nvPr>
            <p:ph type="pic" sz="quarter" idx="33"/>
          </p:nvPr>
        </p:nvSpPr>
        <p:spPr>
          <a:xfrm>
            <a:off x="5795963" y="5589588"/>
            <a:ext cx="720725" cy="411162"/>
          </a:xfrm>
        </p:spPr>
        <p:txBody>
          <a:bodyPr/>
          <a:lstStyle/>
          <a:p>
            <a:endParaRPr lang="en-US"/>
          </a:p>
        </p:txBody>
      </p:sp>
    </p:spTree>
    <p:extLst>
      <p:ext uri="{BB962C8B-B14F-4D97-AF65-F5344CB8AC3E}">
        <p14:creationId xmlns:p14="http://schemas.microsoft.com/office/powerpoint/2010/main" val="34037170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26046295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21799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5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4264661487"/>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728762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8" name="Picture Placeholder 29" descr="Pearson Logo">
            <a:extLst>
              <a:ext uri="{FF2B5EF4-FFF2-40B4-BE49-F238E27FC236}">
                <a16:creationId xmlns:a16="http://schemas.microsoft.com/office/drawing/2014/main" id="{56B961CA-E223-4064-83F8-8D72CE2ECC61}"/>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323528" y="6520768"/>
            <a:ext cx="1152144" cy="292608"/>
          </a:xfrm>
          <a:prstGeom prst="rect">
            <a:avLst/>
          </a:prstGeom>
        </p:spPr>
      </p:pic>
      <p:sp>
        <p:nvSpPr>
          <p:cNvPr id="10" name="Text Placeholder 6">
            <a:extLst>
              <a:ext uri="{FF2B5EF4-FFF2-40B4-BE49-F238E27FC236}">
                <a16:creationId xmlns:a16="http://schemas.microsoft.com/office/drawing/2014/main" id="{F9878C97-71DF-4A83-8047-4E42DB7731B4}"/>
              </a:ext>
            </a:extLst>
          </p:cNvPr>
          <p:cNvSpPr txBox="1">
            <a:spLocks/>
          </p:cNvSpPr>
          <p:nvPr userDrawn="1"/>
        </p:nvSpPr>
        <p:spPr>
          <a:xfrm>
            <a:off x="2584800" y="6520350"/>
            <a:ext cx="6094800" cy="221018"/>
          </a:xfrm>
          <a:prstGeom prst="rect">
            <a:avLst/>
          </a:prstGeom>
        </p:spPr>
        <p:txBody>
          <a:bodyPr lIns="0" tIns="18000" rIns="0" bIns="18000" anchor="t" anchorCtr="0">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spcBef>
                <a:spcPts val="0"/>
              </a:spcBef>
              <a:buClrTx/>
              <a:buFont typeface="Arial" panose="020B0604020202020204" pitchFamily="34" charset="0"/>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8485671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5" r:id="rId5"/>
    <p:sldLayoutId id="2147483666" r:id="rId6"/>
    <p:sldLayoutId id="2147483667" r:id="rId7"/>
    <p:sldLayoutId id="2147483668" r:id="rId8"/>
    <p:sldLayoutId id="2147483669" r:id="rId9"/>
    <p:sldLayoutId id="2147483670" r:id="rId10"/>
    <p:sldLayoutId id="2147483671" r:id="rId11"/>
    <p:sldLayoutId id="2147483657" r:id="rId12"/>
    <p:sldLayoutId id="2147483656" r:id="rId13"/>
    <p:sldLayoutId id="2147483650" r:id="rId14"/>
    <p:sldLayoutId id="2147483659" r:id="rId15"/>
    <p:sldLayoutId id="2147483672" r:id="rId16"/>
    <p:sldLayoutId id="2147483673" r:id="rId17"/>
    <p:sldLayoutId id="2147483674" r:id="rId18"/>
    <p:sldLayoutId id="2147483658" r:id="rId19"/>
    <p:sldLayoutId id="2147483660" r:id="rId20"/>
    <p:sldLayoutId id="2147483654" r:id="rId21"/>
    <p:sldLayoutId id="2147483655" r:id="rId22"/>
    <p:sldLayoutId id="2147483681" r:id="rId23"/>
    <p:sldLayoutId id="2147483682" r:id="rId24"/>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781665878"/>
      </p:ext>
    </p:extLst>
  </p:cSld>
  <p:clrMap bg1="lt1" tx1="dk1" bg2="dk2" tx2="lt2" accent1="accent1" accent2="accent2" accent3="accent3" accent4="accent4" accent5="accent5" accent6="accent6" hlink="hlink" folHlink="folHlink"/>
  <p:sldLayoutIdLst>
    <p:sldLayoutId id="2147483677" r:id="rId1"/>
    <p:sldLayoutId id="2147483680" r:id="rId2"/>
    <p:sldLayoutId id="214748367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3.xml"/><Relationship Id="rId5" Type="http://schemas.openxmlformats.org/officeDocument/2006/relationships/image" Target="../media/image7.jp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4250" cy="590349"/>
          </a:xfrm>
        </p:spPr>
        <p:txBody>
          <a:bodyPr wrap="square" lIns="0" tIns="18000" rIns="0" bIns="18000">
            <a:spAutoFit/>
          </a:bodyPr>
          <a:lstStyle/>
          <a:p>
            <a:r>
              <a:rPr lang="en-US" sz="3600" dirty="0">
                <a:latin typeface="+mj-lt"/>
              </a:rPr>
              <a:t>Fundamentals of Management</a:t>
            </a:r>
            <a:endParaRPr lang="en-US" sz="2800" dirty="0"/>
          </a:p>
        </p:txBody>
      </p:sp>
      <p:sp>
        <p:nvSpPr>
          <p:cNvPr id="3" name="Text Placeholder 2"/>
          <p:cNvSpPr>
            <a:spLocks noGrp="1"/>
          </p:cNvSpPr>
          <p:nvPr>
            <p:ph type="body" sz="quarter" idx="13"/>
          </p:nvPr>
        </p:nvSpPr>
        <p:spPr>
          <a:xfrm>
            <a:off x="468000" y="1008979"/>
            <a:ext cx="8274250" cy="344128"/>
          </a:xfrm>
        </p:spPr>
        <p:txBody>
          <a:bodyPr wrap="square" lIns="0" tIns="18000" rIns="0" bIns="18000" anchor="ctr">
            <a:spAutoFit/>
          </a:bodyPr>
          <a:lstStyle/>
          <a:p>
            <a:r>
              <a:rPr lang="en-US">
                <a:latin typeface="Arial" panose="020B0604020202020204" pitchFamily="34" charset="0"/>
                <a:cs typeface="Arial" panose="020B0604020202020204" pitchFamily="34" charset="0"/>
              </a:rPr>
              <a:t>Eleventh Edition</a:t>
            </a:r>
          </a:p>
        </p:txBody>
      </p:sp>
      <p:pic>
        <p:nvPicPr>
          <p:cNvPr id="9" name="Picture Placeholder 8" descr="Front Cover: Fundamentals of Management Eleventh Edition by Robbins, Coulter and DeCenzo.">
            <a:extLst>
              <a:ext uri="{FF2B5EF4-FFF2-40B4-BE49-F238E27FC236}">
                <a16:creationId xmlns:a16="http://schemas.microsoft.com/office/drawing/2014/main" id="{AC243915-3F84-4C0C-BAAC-E22CD4EC1B80}"/>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3083" r="3083"/>
          <a:stretch>
            <a:fillRect/>
          </a:stretch>
        </p:blipFill>
        <p:spPr>
          <a:xfrm>
            <a:off x="467544" y="1685925"/>
            <a:ext cx="3260725" cy="4440238"/>
          </a:xfrm>
        </p:spPr>
      </p:pic>
      <p:sp>
        <p:nvSpPr>
          <p:cNvPr id="4" name="Text Placeholder 3"/>
          <p:cNvSpPr>
            <a:spLocks noGrp="1"/>
          </p:cNvSpPr>
          <p:nvPr>
            <p:ph type="body" sz="quarter" idx="14"/>
          </p:nvPr>
        </p:nvSpPr>
        <p:spPr>
          <a:xfrm>
            <a:off x="4576812" y="2888099"/>
            <a:ext cx="4171901" cy="498016"/>
          </a:xfrm>
        </p:spPr>
        <p:txBody>
          <a:bodyPr wrap="square" lIns="0" tIns="18000" rIns="0" bIns="18000">
            <a:spAutoFit/>
          </a:bodyPr>
          <a:lstStyle/>
          <a:p>
            <a:r>
              <a:rPr lang="en-US">
                <a:latin typeface="Arial" panose="020B0604020202020204" pitchFamily="34" charset="0"/>
                <a:cs typeface="Arial" panose="020B0604020202020204" pitchFamily="34" charset="0"/>
              </a:rPr>
              <a:t>Chapter 3</a:t>
            </a:r>
            <a:endParaRPr lang="en-US" dirty="0">
              <a:latin typeface="Arial" panose="020B0604020202020204" pitchFamily="34" charset="0"/>
              <a:cs typeface="Arial" panose="020B0604020202020204" pitchFamily="34" charset="0"/>
            </a:endParaRPr>
          </a:p>
        </p:txBody>
      </p:sp>
      <p:sp>
        <p:nvSpPr>
          <p:cNvPr id="5" name="Text Placeholder 4"/>
          <p:cNvSpPr>
            <a:spLocks noGrp="1"/>
          </p:cNvSpPr>
          <p:nvPr>
            <p:ph type="body" sz="quarter" idx="15"/>
          </p:nvPr>
        </p:nvSpPr>
        <p:spPr>
          <a:xfrm>
            <a:off x="4580142" y="3528119"/>
            <a:ext cx="4168571" cy="374906"/>
          </a:xfrm>
        </p:spPr>
        <p:txBody>
          <a:bodyPr wrap="square" lIns="0" tIns="18000" rIns="0" bIns="18000">
            <a:spAutoFit/>
          </a:bodyPr>
          <a:lstStyle/>
          <a:p>
            <a:r>
              <a:rPr lang="en-US" altLang="en-US" dirty="0">
                <a:latin typeface="Arial" panose="020B0604020202020204" pitchFamily="34" charset="0"/>
                <a:ea typeface="Malgun Gothic" pitchFamily="34" charset="-127"/>
                <a:cs typeface="Arial" panose="020B0604020202020204" pitchFamily="34" charset="0"/>
              </a:rPr>
              <a:t>Important Managerial Issues</a:t>
            </a:r>
            <a:endParaRPr lang="en-US" dirty="0">
              <a:latin typeface="Arial" panose="020B0604020202020204" pitchFamily="34" charset="0"/>
              <a:cs typeface="Arial" panose="020B0604020202020204" pitchFamily="34" charset="0"/>
            </a:endParaRPr>
          </a:p>
        </p:txBody>
      </p:sp>
      <p:pic>
        <p:nvPicPr>
          <p:cNvPr id="30" name="Picture Placeholder 29" descr="Pearson Logo">
            <a:extLst>
              <a:ext uri="{FF2B5EF4-FFF2-40B4-BE49-F238E27FC236}">
                <a16:creationId xmlns:a16="http://schemas.microsoft.com/office/drawing/2014/main" id="{55E920AB-A07A-4031-92B0-F06A28CEC914}"/>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323528" y="6520768"/>
            <a:ext cx="1152144" cy="292608"/>
          </a:xfrm>
          <a:prstGeom prst="rect">
            <a:avLst/>
          </a:prstGeom>
        </p:spPr>
      </p:pic>
      <p:sp>
        <p:nvSpPr>
          <p:cNvPr id="11" name="Text Placeholder 6"/>
          <p:cNvSpPr>
            <a:spLocks noGrp="1"/>
          </p:cNvSpPr>
          <p:nvPr>
            <p:ph type="body" sz="quarter" idx="16"/>
          </p:nvPr>
        </p:nvSpPr>
        <p:spPr>
          <a:xfrm>
            <a:off x="2592000" y="6520350"/>
            <a:ext cx="6094800" cy="221018"/>
          </a:xfrm>
        </p:spPr>
        <p:txBody>
          <a:bodyPr lIns="0" tIns="18000" rIns="0" bIns="18000" anchor="t" anchorCtr="0">
            <a:spAutoFit/>
          </a:bodyPr>
          <a:lstStyle/>
          <a:p>
            <a:pPr marL="0" indent="0" algn="r">
              <a:buClrTx/>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25868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67999" y="284400"/>
            <a:ext cx="8280713" cy="590349"/>
          </a:xfrm>
        </p:spPr>
        <p:txBody>
          <a:bodyPr vert="horz" wrap="square" lIns="0" tIns="18000" rIns="0" bIns="18000" rtlCol="0" anchor="b">
            <a:spAutoFit/>
          </a:bodyPr>
          <a:lstStyle/>
          <a:p>
            <a:r>
              <a:rPr lang="en-US" altLang="en-US" sz="3600" dirty="0">
                <a:latin typeface="+mj-lt"/>
              </a:rPr>
              <a:t>Learning Objectives</a:t>
            </a:r>
            <a:endParaRPr lang="en-US" sz="3600" dirty="0">
              <a:latin typeface="+mj-lt"/>
            </a:endParaRPr>
          </a:p>
        </p:txBody>
      </p:sp>
      <p:sp>
        <p:nvSpPr>
          <p:cNvPr id="8" name="Content Placeholder 7"/>
          <p:cNvSpPr>
            <a:spLocks noGrp="1"/>
          </p:cNvSpPr>
          <p:nvPr>
            <p:ph idx="1"/>
          </p:nvPr>
        </p:nvSpPr>
        <p:spPr>
          <a:xfrm>
            <a:off x="467999" y="1268760"/>
            <a:ext cx="8280713" cy="3198756"/>
          </a:xfrm>
        </p:spPr>
        <p:txBody>
          <a:bodyPr wrap="square" tIns="18000" bIns="18000">
            <a:spAutoFit/>
          </a:bodyPr>
          <a:lstStyle/>
          <a:p>
            <a:pPr marL="720000" indent="-720000">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3.1	</a:t>
            </a:r>
            <a:r>
              <a:rPr lang="en-US" altLang="en-US" sz="2400" b="1" dirty="0">
                <a:latin typeface="Arial" panose="020B0604020202020204" pitchFamily="34" charset="0"/>
                <a:ea typeface="ＭＳ Ｐゴシック" pitchFamily="34" charset="-128"/>
                <a:cs typeface="Arial" panose="020B0604020202020204" pitchFamily="34" charset="0"/>
              </a:rPr>
              <a:t>Explain </a:t>
            </a:r>
            <a:r>
              <a:rPr lang="en-US" altLang="en-US" sz="2400" dirty="0">
                <a:latin typeface="Arial" panose="020B0604020202020204" pitchFamily="34" charset="0"/>
                <a:ea typeface="ＭＳ Ｐゴシック" pitchFamily="34" charset="-128"/>
                <a:cs typeface="Arial" panose="020B0604020202020204" pitchFamily="34" charset="0"/>
              </a:rPr>
              <a:t>globalization and its impact on organizations.</a:t>
            </a:r>
          </a:p>
          <a:p>
            <a:pPr marL="720000" indent="-720000">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3.2	</a:t>
            </a:r>
            <a:r>
              <a:rPr lang="en-US" altLang="en-US" sz="2400" b="1" dirty="0">
                <a:latin typeface="Arial" panose="020B0604020202020204" pitchFamily="34" charset="0"/>
                <a:ea typeface="ＭＳ Ｐゴシック" pitchFamily="34" charset="-128"/>
                <a:cs typeface="Arial" panose="020B0604020202020204" pitchFamily="34" charset="0"/>
              </a:rPr>
              <a:t>Describe </a:t>
            </a:r>
            <a:r>
              <a:rPr lang="en-US" altLang="en-US" sz="2400" dirty="0">
                <a:latin typeface="Arial" panose="020B0604020202020204" pitchFamily="34" charset="0"/>
                <a:ea typeface="ＭＳ Ｐゴシック" pitchFamily="34" charset="-128"/>
                <a:cs typeface="Arial" panose="020B0604020202020204" pitchFamily="34" charset="0"/>
              </a:rPr>
              <a:t>what managers need to know about managing in global organization</a:t>
            </a:r>
            <a:r>
              <a:rPr lang="en-US" altLang="en-US" sz="2400" strike="sngStrike" dirty="0">
                <a:latin typeface="Arial" panose="020B0604020202020204" pitchFamily="34" charset="0"/>
                <a:ea typeface="ＭＳ Ｐゴシック" pitchFamily="34" charset="-128"/>
                <a:cs typeface="Arial" panose="020B0604020202020204" pitchFamily="34" charset="0"/>
              </a:rPr>
              <a:t>s</a:t>
            </a:r>
            <a:r>
              <a:rPr lang="en-US" altLang="en-US" sz="2400" dirty="0">
                <a:latin typeface="Arial" panose="020B0604020202020204" pitchFamily="34" charset="0"/>
                <a:ea typeface="ＭＳ Ｐゴシック" pitchFamily="34" charset="-128"/>
                <a:cs typeface="Arial" panose="020B0604020202020204" pitchFamily="34" charset="0"/>
              </a:rPr>
              <a:t>.</a:t>
            </a:r>
          </a:p>
          <a:p>
            <a:pPr marL="720000" indent="-720000">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3.3	</a:t>
            </a:r>
            <a:r>
              <a:rPr lang="en-US" altLang="en-US" sz="2400" b="1" dirty="0">
                <a:latin typeface="Arial" panose="020B0604020202020204" pitchFamily="34" charset="0"/>
                <a:ea typeface="ＭＳ Ｐゴシック" pitchFamily="34" charset="-128"/>
                <a:cs typeface="Arial" panose="020B0604020202020204" pitchFamily="34" charset="0"/>
              </a:rPr>
              <a:t>Discuss </a:t>
            </a:r>
            <a:r>
              <a:rPr lang="en-US" altLang="en-US" sz="2400" dirty="0">
                <a:latin typeface="Arial" panose="020B0604020202020204" pitchFamily="34" charset="0"/>
                <a:ea typeface="ＭＳ Ｐゴシック" pitchFamily="34" charset="-128"/>
                <a:cs typeface="Arial" panose="020B0604020202020204" pitchFamily="34" charset="0"/>
              </a:rPr>
              <a:t>how society’s expectations are influencing managers and organizations.</a:t>
            </a:r>
          </a:p>
          <a:p>
            <a:pPr marL="720000" indent="-720000">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3.3	</a:t>
            </a:r>
            <a:r>
              <a:rPr lang="en-US" altLang="en-US" sz="2400" b="1" dirty="0">
                <a:latin typeface="Arial" panose="020B0604020202020204" pitchFamily="34" charset="0"/>
                <a:ea typeface="ＭＳ Ｐゴシック" pitchFamily="34" charset="-128"/>
                <a:cs typeface="Arial" panose="020B0604020202020204" pitchFamily="34" charset="0"/>
              </a:rPr>
              <a:t>Discuss </a:t>
            </a:r>
            <a:r>
              <a:rPr lang="en-US" altLang="en-US" sz="2400" dirty="0">
                <a:latin typeface="Arial" panose="020B0604020202020204" pitchFamily="34" charset="0"/>
                <a:ea typeface="ＭＳ Ｐゴシック" pitchFamily="34" charset="-128"/>
                <a:cs typeface="Arial" panose="020B0604020202020204" pitchFamily="34" charset="0"/>
              </a:rPr>
              <a:t>the factors that lead to ethical and unethical behavior in organizations.</a:t>
            </a:r>
          </a:p>
        </p:txBody>
      </p:sp>
    </p:spTree>
    <p:extLst>
      <p:ext uri="{BB962C8B-B14F-4D97-AF65-F5344CB8AC3E}">
        <p14:creationId xmlns:p14="http://schemas.microsoft.com/office/powerpoint/2010/main" val="1951022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Learning Objective </a:t>
            </a:r>
            <a:r>
              <a:rPr lang="en-US" altLang="en-US" sz="3600" dirty="0">
                <a:solidFill>
                  <a:schemeClr val="bg2"/>
                </a:solidFill>
                <a:latin typeface="+mj-lt"/>
                <a:cs typeface="Arial" pitchFamily="34" charset="0"/>
              </a:rPr>
              <a:t>3.1</a:t>
            </a:r>
            <a:endParaRPr lang="en-US" dirty="0">
              <a:solidFill>
                <a:schemeClr val="bg2"/>
              </a:solidFill>
              <a:latin typeface="+mj-lt"/>
            </a:endParaRPr>
          </a:p>
        </p:txBody>
      </p:sp>
      <p:sp>
        <p:nvSpPr>
          <p:cNvPr id="5" name="Content Placeholder 4"/>
          <p:cNvSpPr>
            <a:spLocks noGrp="1"/>
          </p:cNvSpPr>
          <p:nvPr>
            <p:ph idx="1"/>
          </p:nvPr>
        </p:nvSpPr>
        <p:spPr>
          <a:xfrm>
            <a:off x="468000" y="1268760"/>
            <a:ext cx="8280712" cy="405683"/>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Explain globalization and its impact on organizations.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3314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Globalization and Its Impact</a:t>
            </a:r>
            <a:endParaRPr lang="en-US">
              <a:latin typeface="+mj-lt"/>
            </a:endParaRPr>
          </a:p>
        </p:txBody>
      </p:sp>
      <p:sp>
        <p:nvSpPr>
          <p:cNvPr id="3" name="Content Placeholder 2"/>
          <p:cNvSpPr>
            <a:spLocks noGrp="1"/>
          </p:cNvSpPr>
          <p:nvPr>
            <p:ph idx="1"/>
          </p:nvPr>
        </p:nvSpPr>
        <p:spPr>
          <a:xfrm>
            <a:off x="468000" y="1268760"/>
            <a:ext cx="8280712" cy="1336708"/>
          </a:xfrm>
        </p:spPr>
        <p:txBody>
          <a:bodyPr wrap="square" tIns="18000" bIns="18000">
            <a:spAutoFit/>
          </a:bodyPr>
          <a:lstStyle/>
          <a:p>
            <a:pPr marL="0" indent="0">
              <a:buNone/>
              <a:defRPr/>
            </a:pPr>
            <a:r>
              <a:rPr lang="en-US" altLang="en-US" sz="2400" b="1" dirty="0">
                <a:latin typeface="Arial" panose="020B0604020202020204" pitchFamily="34" charset="0"/>
                <a:ea typeface="ＭＳ Ｐゴシック" pitchFamily="34" charset="-128"/>
                <a:cs typeface="Arial" panose="020B0604020202020204" pitchFamily="34" charset="0"/>
              </a:rPr>
              <a:t>Global village:</a:t>
            </a:r>
          </a:p>
          <a:p>
            <a:pPr>
              <a:defRPr/>
            </a:pPr>
            <a:r>
              <a:rPr lang="en-US" altLang="en-US" sz="2400" dirty="0">
                <a:latin typeface="Arial" panose="020B0604020202020204" pitchFamily="34" charset="0"/>
                <a:ea typeface="ＭＳ Ｐゴシック" pitchFamily="34" charset="-128"/>
                <a:cs typeface="Arial" panose="020B0604020202020204" pitchFamily="34" charset="0"/>
              </a:rPr>
              <a:t>a boundaryless world where goods and services are produced and marketed worldwide.</a:t>
            </a:r>
          </a:p>
        </p:txBody>
      </p:sp>
    </p:spTree>
    <p:extLst>
      <p:ext uri="{BB962C8B-B14F-4D97-AF65-F5344CB8AC3E}">
        <p14:creationId xmlns:p14="http://schemas.microsoft.com/office/powerpoint/2010/main" val="1366415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What Does It Mean to Be "Global"?</a:t>
            </a:r>
            <a:endParaRPr lang="en-US">
              <a:latin typeface="+mj-lt"/>
            </a:endParaRPr>
          </a:p>
        </p:txBody>
      </p:sp>
      <p:sp>
        <p:nvSpPr>
          <p:cNvPr id="3" name="Content Placeholder 2"/>
          <p:cNvSpPr>
            <a:spLocks noGrp="1"/>
          </p:cNvSpPr>
          <p:nvPr>
            <p:ph idx="1"/>
          </p:nvPr>
        </p:nvSpPr>
        <p:spPr>
          <a:xfrm>
            <a:off x="468000" y="1268760"/>
            <a:ext cx="8280712" cy="2637064"/>
          </a:xfrm>
        </p:spPr>
        <p:txBody>
          <a:bodyPr wrap="square"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Exchanging goods and services with consumers in other countries.</a:t>
            </a:r>
          </a:p>
          <a:p>
            <a:pPr>
              <a:defRPr/>
            </a:pPr>
            <a:r>
              <a:rPr lang="en-US" altLang="en-US" sz="2400">
                <a:latin typeface="Arial" panose="020B0604020202020204" pitchFamily="34" charset="0"/>
                <a:ea typeface="ＭＳ Ｐゴシック" pitchFamily="34" charset="-128"/>
                <a:cs typeface="Arial" panose="020B0604020202020204" pitchFamily="34" charset="0"/>
              </a:rPr>
              <a:t>Using managerial and employee talent from other countries.</a:t>
            </a:r>
          </a:p>
          <a:p>
            <a:pPr>
              <a:defRPr/>
            </a:pPr>
            <a:r>
              <a:rPr lang="en-US" altLang="en-US" sz="2400">
                <a:latin typeface="Arial" panose="020B0604020202020204" pitchFamily="34" charset="0"/>
                <a:ea typeface="ＭＳ Ｐゴシック" pitchFamily="34" charset="-128"/>
                <a:cs typeface="Arial" panose="020B0604020202020204" pitchFamily="34" charset="0"/>
              </a:rPr>
              <a:t>Using financial sources and resources outside home country.</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6595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590349"/>
          </a:xfrm>
        </p:spPr>
        <p:txBody>
          <a:bodyPr vert="horz" wrap="square" lIns="0" tIns="18000" rIns="0" bIns="18000" rtlCol="0" anchor="b">
            <a:spAutoFit/>
          </a:bodyPr>
          <a:lstStyle/>
          <a:p>
            <a:r>
              <a:rPr lang="en-US" altLang="en-US" sz="3600">
                <a:latin typeface="+mj-lt"/>
                <a:ea typeface="ＭＳ Ｐゴシック" pitchFamily="34" charset="-128"/>
                <a:cs typeface="Arial" pitchFamily="34" charset="0"/>
              </a:rPr>
              <a:t>How Do Organizations Go Global?</a:t>
            </a:r>
            <a:endParaRPr lang="en-US" sz="280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2" y="1268760"/>
            <a:ext cx="8280401" cy="282573"/>
          </a:xfrm>
        </p:spPr>
        <p:txBody>
          <a:bodyPr wrap="square" tIns="18000" bIns="18000">
            <a:spAutoFit/>
          </a:bodyPr>
          <a:lstStyle/>
          <a:p>
            <a:pPr marL="0" indent="0">
              <a:buNone/>
            </a:pPr>
            <a:r>
              <a:rPr lang="en-US" sz="1600" b="1" dirty="0">
                <a:latin typeface="Arial" panose="020B0604020202020204" pitchFamily="34" charset="0"/>
                <a:cs typeface="Arial" panose="020B0604020202020204" pitchFamily="34" charset="0"/>
              </a:rPr>
              <a:t>Exhibit 3.1</a:t>
            </a:r>
            <a:r>
              <a:rPr lang="en-US" sz="1600" dirty="0">
                <a:latin typeface="Arial" panose="020B0604020202020204" pitchFamily="34" charset="0"/>
                <a:cs typeface="Arial" panose="020B0604020202020204" pitchFamily="34" charset="0"/>
              </a:rPr>
              <a:t> How Organizations Go Global</a:t>
            </a:r>
            <a:endParaRPr lang="en-US" dirty="0">
              <a:latin typeface="Arial" panose="020B0604020202020204" pitchFamily="34" charset="0"/>
              <a:cs typeface="Arial" panose="020B0604020202020204" pitchFamily="34" charset="0"/>
            </a:endParaRPr>
          </a:p>
        </p:txBody>
      </p:sp>
      <p:pic>
        <p:nvPicPr>
          <p:cNvPr id="6" name="Picture Placeholder 5" descr="An illustration shows the ways by which an organization goes global, from minimal to significant, as follows: Global sourcing, exporting and importing, licensing, franchising, strategic alliance like joint venture, and foreign subsidiary.">
            <a:extLst>
              <a:ext uri="{FF2B5EF4-FFF2-40B4-BE49-F238E27FC236}">
                <a16:creationId xmlns:a16="http://schemas.microsoft.com/office/drawing/2014/main" id="{5221BC1C-04CB-46DD-A8E4-B5BE5742CAF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829384" y="1730096"/>
            <a:ext cx="7559040" cy="3499104"/>
          </a:xfrm>
          <a:prstGeom prst="rect">
            <a:avLst/>
          </a:prstGeom>
        </p:spPr>
      </p:pic>
      <p:sp>
        <p:nvSpPr>
          <p:cNvPr id="9" name="Content Placeholder 8">
            <a:extLst>
              <a:ext uri="{FF2B5EF4-FFF2-40B4-BE49-F238E27FC236}">
                <a16:creationId xmlns:a16="http://schemas.microsoft.com/office/drawing/2014/main" id="{AA1EAC40-E15D-45A8-B92E-2D7B05C09BBB}"/>
              </a:ext>
            </a:extLst>
          </p:cNvPr>
          <p:cNvSpPr>
            <a:spLocks noGrp="1"/>
          </p:cNvSpPr>
          <p:nvPr>
            <p:ph sz="quarter" idx="14"/>
          </p:nvPr>
        </p:nvSpPr>
        <p:spPr>
          <a:xfrm>
            <a:off x="468313" y="5471589"/>
            <a:ext cx="8280400" cy="405683"/>
          </a:xfrm>
        </p:spPr>
        <p:txBody>
          <a:bodyPr wrap="square" tIns="18000" bIns="18000">
            <a:spAutoFit/>
          </a:bodyPr>
          <a:lstStyle/>
          <a:p>
            <a:pPr marL="0" indent="0">
              <a:buNone/>
            </a:pPr>
            <a:r>
              <a:rPr lang="en-US" sz="1200" i="1" dirty="0">
                <a:latin typeface="Arial" panose="020B0604020202020204" pitchFamily="34" charset="0"/>
                <a:cs typeface="Arial" panose="020B0604020202020204" pitchFamily="34" charset="0"/>
              </a:rPr>
              <a:t>Source</a:t>
            </a:r>
            <a:r>
              <a:rPr lang="en-US" sz="1200" b="1" i="1" dirty="0">
                <a:latin typeface="Arial" panose="020B0604020202020204" pitchFamily="34" charset="0"/>
                <a:cs typeface="Arial" panose="020B0604020202020204" pitchFamily="34" charset="0"/>
              </a:rPr>
              <a:t>:</a:t>
            </a:r>
            <a:r>
              <a:rPr lang="en-US" sz="1200" b="1"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Robbins, Stephen P., Coulter, Mary, </a:t>
            </a:r>
            <a:r>
              <a:rPr lang="en-US" sz="1200" i="1" dirty="0">
                <a:latin typeface="Arial" panose="020B0604020202020204" pitchFamily="34" charset="0"/>
                <a:cs typeface="Arial" panose="020B0604020202020204" pitchFamily="34" charset="0"/>
              </a:rPr>
              <a:t>Management</a:t>
            </a:r>
            <a:r>
              <a:rPr lang="en-US" sz="1200" dirty="0">
                <a:latin typeface="Arial" panose="020B0604020202020204" pitchFamily="34" charset="0"/>
                <a:cs typeface="Arial" panose="020B0604020202020204" pitchFamily="34" charset="0"/>
              </a:rPr>
              <a:t>, 13th E</a:t>
            </a:r>
            <a:r>
              <a:rPr lang="en-US" sz="1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d., © 2016, p. 106. Reprinted and electronically reproduced by permission of Pearson Education, Inc., New York, </a:t>
            </a:r>
            <a:r>
              <a:rPr lang="en-US" sz="1200" spc="-200" dirty="0">
                <a:latin typeface="Arial" panose="020B0604020202020204" pitchFamily="34" charset="0"/>
                <a:cs typeface="Arial" panose="020B0604020202020204" pitchFamily="34" charset="0"/>
              </a:rPr>
              <a:t>N </a:t>
            </a:r>
            <a:r>
              <a:rPr lang="en-US" sz="1200"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3384477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84400"/>
            <a:ext cx="8291513" cy="590349"/>
          </a:xfrm>
        </p:spPr>
        <p:txBody>
          <a:bodyPr wrap="square" tIns="18000" bIns="18000">
            <a:spAutoFit/>
          </a:bodyPr>
          <a:lstStyle/>
          <a:p>
            <a:r>
              <a:rPr lang="en-US" altLang="en-US" sz="3600">
                <a:latin typeface="+mj-lt"/>
                <a:ea typeface="ＭＳ Ｐゴシック" pitchFamily="34" charset="-128"/>
                <a:cs typeface="Arial" pitchFamily="34" charset="0"/>
              </a:rPr>
              <a:t>Types of Global Organizations</a:t>
            </a:r>
            <a:endParaRPr lang="en-US">
              <a:latin typeface="+mj-lt"/>
            </a:endParaRPr>
          </a:p>
        </p:txBody>
      </p:sp>
      <p:sp>
        <p:nvSpPr>
          <p:cNvPr id="11" name="Content Placeholder 10">
            <a:extLst>
              <a:ext uri="{FF2B5EF4-FFF2-40B4-BE49-F238E27FC236}">
                <a16:creationId xmlns:a16="http://schemas.microsoft.com/office/drawing/2014/main" id="{5CE66F91-A8E9-4BF1-9D23-91915A72DFCE}"/>
              </a:ext>
            </a:extLst>
          </p:cNvPr>
          <p:cNvSpPr>
            <a:spLocks noGrp="1"/>
          </p:cNvSpPr>
          <p:nvPr>
            <p:ph sz="quarter" idx="13"/>
          </p:nvPr>
        </p:nvSpPr>
        <p:spPr>
          <a:xfrm>
            <a:off x="468000" y="1268760"/>
            <a:ext cx="8291513" cy="2090760"/>
          </a:xfrm>
        </p:spPr>
        <p:txBody>
          <a:bodyPr wrap="square" tIns="18000" bIns="18000">
            <a:spAutoFit/>
          </a:bodyPr>
          <a:lstStyle/>
          <a:p>
            <a:pPr marL="0" indent="0">
              <a:buNone/>
              <a:defRPr/>
            </a:pPr>
            <a:r>
              <a:rPr lang="en-US" altLang="en-US" sz="2400" b="1" spc="-300">
                <a:latin typeface="Arial" panose="020B0604020202020204" pitchFamily="34" charset="0"/>
                <a:ea typeface="ＭＳ Ｐゴシック" pitchFamily="34" charset="-128"/>
                <a:cs typeface="Arial" panose="020B0604020202020204" pitchFamily="34" charset="0"/>
              </a:rPr>
              <a:t>M N </a:t>
            </a:r>
            <a:r>
              <a:rPr lang="en-US" altLang="en-US" sz="2400" b="1">
                <a:latin typeface="Arial" panose="020B0604020202020204" pitchFamily="34" charset="0"/>
                <a:ea typeface="ＭＳ Ｐゴシック" pitchFamily="34" charset="-128"/>
                <a:cs typeface="Arial" panose="020B0604020202020204" pitchFamily="34" charset="0"/>
              </a:rPr>
              <a:t>C (multinational corporation)</a:t>
            </a:r>
            <a:endParaRPr lang="en-US" altLang="en-US" sz="2400">
              <a:latin typeface="Arial" panose="020B0604020202020204" pitchFamily="34" charset="0"/>
              <a:ea typeface="ＭＳ Ｐゴシック" pitchFamily="34" charset="-128"/>
              <a:cs typeface="Arial" panose="020B0604020202020204" pitchFamily="34" charset="0"/>
            </a:endParaRPr>
          </a:p>
          <a:p>
            <a:pPr>
              <a:defRPr/>
            </a:pPr>
            <a:r>
              <a:rPr lang="en-US" altLang="en-US" sz="2400">
                <a:latin typeface="Arial" panose="020B0604020202020204" pitchFamily="34" charset="0"/>
                <a:ea typeface="ＭＳ Ｐゴシック" pitchFamily="34" charset="-128"/>
                <a:cs typeface="Arial" panose="020B0604020202020204" pitchFamily="34" charset="0"/>
              </a:rPr>
              <a:t>Multidomestic corporation</a:t>
            </a:r>
          </a:p>
          <a:p>
            <a:pPr>
              <a:defRPr/>
            </a:pPr>
            <a:r>
              <a:rPr lang="en-US" altLang="en-US" sz="2400">
                <a:latin typeface="Arial" panose="020B0604020202020204" pitchFamily="34" charset="0"/>
                <a:ea typeface="ＭＳ Ｐゴシック" pitchFamily="34" charset="-128"/>
                <a:cs typeface="Arial" panose="020B0604020202020204" pitchFamily="34" charset="0"/>
              </a:rPr>
              <a:t>Transnational organization</a:t>
            </a:r>
          </a:p>
          <a:p>
            <a:pPr>
              <a:defRPr/>
            </a:pPr>
            <a:r>
              <a:rPr lang="en-US" altLang="en-US" sz="2400">
                <a:latin typeface="Arial" panose="020B0604020202020204" pitchFamily="34" charset="0"/>
                <a:ea typeface="ＭＳ Ｐゴシック" pitchFamily="34" charset="-128"/>
                <a:cs typeface="Arial" panose="020B0604020202020204" pitchFamily="34" charset="0"/>
              </a:rPr>
              <a:t>Global corporation</a:t>
            </a:r>
            <a:endParaRPr lang="en-US" sz="2400">
              <a:latin typeface="Arial" panose="020B0604020202020204" pitchFamily="34" charset="0"/>
              <a:cs typeface="Arial" panose="020B0604020202020204" pitchFamily="34" charset="0"/>
            </a:endParaRPr>
          </a:p>
        </p:txBody>
      </p:sp>
      <p:pic>
        <p:nvPicPr>
          <p:cNvPr id="33" name="Picture Placeholder 32" descr="A tractor.">
            <a:extLst>
              <a:ext uri="{FF2B5EF4-FFF2-40B4-BE49-F238E27FC236}">
                <a16:creationId xmlns:a16="http://schemas.microsoft.com/office/drawing/2014/main" id="{2FCCB534-9112-4A72-B95B-C2834428D20B}"/>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75128" y="3717768"/>
            <a:ext cx="2584704" cy="1871472"/>
          </a:xfrm>
          <a:prstGeom prst="rect">
            <a:avLst/>
          </a:prstGeom>
        </p:spPr>
      </p:pic>
      <p:pic>
        <p:nvPicPr>
          <p:cNvPr id="35" name="Picture Placeholder 34" descr="A car.">
            <a:extLst>
              <a:ext uri="{FF2B5EF4-FFF2-40B4-BE49-F238E27FC236}">
                <a16:creationId xmlns:a16="http://schemas.microsoft.com/office/drawing/2014/main" id="{DC4D3FFD-857F-4727-A2F6-D73B57B95553}"/>
              </a:ext>
            </a:extLst>
          </p:cNvPr>
          <p:cNvPicPr>
            <a:picLocks noGrp="1" noChangeAspect="1"/>
          </p:cNvPicPr>
          <p:nvPr>
            <p:ph type="pic" sz="quarter" idx="32"/>
          </p:nvPr>
        </p:nvPicPr>
        <p:blipFill>
          <a:blip r:embed="rId4">
            <a:extLst>
              <a:ext uri="{28A0092B-C50C-407E-A947-70E740481C1C}">
                <a14:useLocalDpi xmlns:a14="http://schemas.microsoft.com/office/drawing/2010/main" val="0"/>
              </a:ext>
            </a:extLst>
          </a:blip>
          <a:stretch>
            <a:fillRect/>
          </a:stretch>
        </p:blipFill>
        <p:spPr>
          <a:xfrm>
            <a:off x="3275856" y="3861048"/>
            <a:ext cx="2584704" cy="1725168"/>
          </a:xfrm>
          <a:prstGeom prst="rect">
            <a:avLst/>
          </a:prstGeom>
        </p:spPr>
      </p:pic>
      <p:pic>
        <p:nvPicPr>
          <p:cNvPr id="37" name="Picture Placeholder 36" descr="A Sony PlayStation.">
            <a:extLst>
              <a:ext uri="{FF2B5EF4-FFF2-40B4-BE49-F238E27FC236}">
                <a16:creationId xmlns:a16="http://schemas.microsoft.com/office/drawing/2014/main" id="{DEC414B1-DCDF-4A5B-BA90-6562CE5B8141}"/>
              </a:ext>
            </a:extLst>
          </p:cNvPr>
          <p:cNvPicPr>
            <a:picLocks noGrp="1" noChangeAspect="1"/>
          </p:cNvPicPr>
          <p:nvPr>
            <p:ph type="pic" sz="quarter" idx="31"/>
          </p:nvPr>
        </p:nvPicPr>
        <p:blipFill>
          <a:blip r:embed="rId5">
            <a:extLst>
              <a:ext uri="{28A0092B-C50C-407E-A947-70E740481C1C}">
                <a14:useLocalDpi xmlns:a14="http://schemas.microsoft.com/office/drawing/2010/main" val="0"/>
              </a:ext>
            </a:extLst>
          </a:blip>
          <a:stretch>
            <a:fillRect/>
          </a:stretch>
        </p:blipFill>
        <p:spPr>
          <a:xfrm>
            <a:off x="6012160" y="3789040"/>
            <a:ext cx="2700528" cy="1767840"/>
          </a:xfrm>
          <a:prstGeom prst="rect">
            <a:avLst/>
          </a:prstGeom>
        </p:spPr>
      </p:pic>
    </p:spTree>
    <p:extLst>
      <p:ext uri="{BB962C8B-B14F-4D97-AF65-F5344CB8AC3E}">
        <p14:creationId xmlns:p14="http://schemas.microsoft.com/office/powerpoint/2010/main" val="3282468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Learning Objective </a:t>
            </a:r>
            <a:r>
              <a:rPr lang="en-US" altLang="en-US" sz="3600">
                <a:solidFill>
                  <a:schemeClr val="bg2"/>
                </a:solidFill>
                <a:latin typeface="+mj-lt"/>
                <a:cs typeface="Arial" pitchFamily="34" charset="0"/>
              </a:rPr>
              <a:t>3.2</a:t>
            </a:r>
            <a:endParaRPr lang="en-US">
              <a:solidFill>
                <a:schemeClr val="bg2"/>
              </a:solidFill>
              <a:latin typeface="+mj-lt"/>
            </a:endParaRPr>
          </a:p>
        </p:txBody>
      </p:sp>
      <p:sp>
        <p:nvSpPr>
          <p:cNvPr id="5" name="Content Placeholder 4"/>
          <p:cNvSpPr>
            <a:spLocks noGrp="1"/>
          </p:cNvSpPr>
          <p:nvPr>
            <p:ph idx="1"/>
          </p:nvPr>
        </p:nvSpPr>
        <p:spPr>
          <a:xfrm>
            <a:off x="467999" y="1268760"/>
            <a:ext cx="8280713" cy="738664"/>
          </a:xfrm>
        </p:spPr>
        <p:txBody>
          <a:bodyPr tIns="18000" bIns="18000">
            <a:normAutofit lnSpcReduction="10000"/>
          </a:bodyPr>
          <a:lstStyle/>
          <a:p>
            <a:pPr marL="0" indent="0">
              <a:buNone/>
            </a:pPr>
            <a:r>
              <a:rPr lang="en-US" altLang="en-US" sz="2400">
                <a:latin typeface="Arial" panose="020B0604020202020204" pitchFamily="34" charset="0"/>
                <a:cs typeface="Arial" panose="020B0604020202020204" pitchFamily="34" charset="0"/>
              </a:rPr>
              <a:t>Describe what managers need to know about managing in a global organization.</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2041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60648"/>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Managing in a Global Organization</a:t>
            </a:r>
            <a:endParaRPr lang="en-US" dirty="0">
              <a:latin typeface="+mj-lt"/>
            </a:endParaRPr>
          </a:p>
        </p:txBody>
      </p:sp>
      <p:sp>
        <p:nvSpPr>
          <p:cNvPr id="3" name="Content Placeholder 2"/>
          <p:cNvSpPr>
            <a:spLocks noGrp="1"/>
          </p:cNvSpPr>
          <p:nvPr>
            <p:ph idx="1"/>
          </p:nvPr>
        </p:nvSpPr>
        <p:spPr>
          <a:xfrm>
            <a:off x="467999" y="1245008"/>
            <a:ext cx="8280713" cy="775015"/>
          </a:xfrm>
        </p:spPr>
        <p:txBody>
          <a:bodyPr wrap="square" tIns="18000" bIns="18000">
            <a:spAutoFit/>
          </a:bodyPr>
          <a:lstStyle/>
          <a:p>
            <a:pPr marL="0" indent="0">
              <a:buNone/>
            </a:pPr>
            <a:r>
              <a:rPr lang="en-US" altLang="en-US" sz="2400" b="1" dirty="0">
                <a:latin typeface="Arial" panose="020B0604020202020204" pitchFamily="34" charset="0"/>
                <a:ea typeface="ＭＳ Ｐゴシック" pitchFamily="34" charset="-128"/>
                <a:cs typeface="Arial" panose="020B0604020202020204" pitchFamily="34" charset="0"/>
              </a:rPr>
              <a:t>A person with a parochial attitude cannot succeed in today’s world.</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0565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Globe Findings</a:t>
            </a:r>
            <a:endParaRPr lang="en-US" dirty="0">
              <a:latin typeface="+mj-lt"/>
            </a:endParaRPr>
          </a:p>
        </p:txBody>
      </p:sp>
      <p:sp>
        <p:nvSpPr>
          <p:cNvPr id="3" name="Content Placeholder 2"/>
          <p:cNvSpPr>
            <a:spLocks noGrp="1"/>
          </p:cNvSpPr>
          <p:nvPr>
            <p:ph idx="1"/>
          </p:nvPr>
        </p:nvSpPr>
        <p:spPr>
          <a:xfrm>
            <a:off x="468000" y="1268760"/>
            <a:ext cx="8280712" cy="775015"/>
          </a:xfrm>
        </p:spPr>
        <p:txBody>
          <a:bodyPr wrap="square" tIns="18000" bIns="18000">
            <a:spAutoFit/>
          </a:bodyPr>
          <a:lstStyle/>
          <a:p>
            <a:pPr marL="0" indent="0">
              <a:buNone/>
            </a:pPr>
            <a:r>
              <a:rPr lang="en-US" altLang="en-US" sz="2400" b="1" dirty="0">
                <a:latin typeface="Arial" panose="020B0604020202020204" pitchFamily="34" charset="0"/>
                <a:ea typeface="ＭＳ Ｐゴシック" pitchFamily="34" charset="-128"/>
                <a:cs typeface="Arial" panose="020B0604020202020204" pitchFamily="34" charset="0"/>
              </a:rPr>
              <a:t>Global Leadership and Organizational Behavior Effectiveness (GLOBE)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487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itchFamily="34" charset="-128"/>
                <a:cs typeface="Arial" pitchFamily="34" charset="0"/>
              </a:rPr>
              <a:t>Globe: Dimensions of Cultural Difference</a:t>
            </a:r>
            <a:endParaRPr lang="en-US" dirty="0">
              <a:latin typeface="+mj-lt"/>
            </a:endParaRPr>
          </a:p>
        </p:txBody>
      </p:sp>
      <p:sp>
        <p:nvSpPr>
          <p:cNvPr id="3" name="Content Placeholder 2"/>
          <p:cNvSpPr>
            <a:spLocks noGrp="1"/>
          </p:cNvSpPr>
          <p:nvPr>
            <p:ph idx="1"/>
          </p:nvPr>
        </p:nvSpPr>
        <p:spPr>
          <a:xfrm>
            <a:off x="468000" y="1848326"/>
            <a:ext cx="3826768" cy="2652452"/>
          </a:xfrm>
        </p:spPr>
        <p:txBody>
          <a:bodyPr wrap="square"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Assertiveness</a:t>
            </a:r>
          </a:p>
          <a:p>
            <a:pPr>
              <a:defRPr/>
            </a:pPr>
            <a:r>
              <a:rPr lang="en-US" altLang="en-US" sz="2400">
                <a:latin typeface="Arial" panose="020B0604020202020204" pitchFamily="34" charset="0"/>
                <a:ea typeface="ＭＳ Ｐゴシック" pitchFamily="34" charset="-128"/>
                <a:cs typeface="Arial" panose="020B0604020202020204" pitchFamily="34" charset="0"/>
              </a:rPr>
              <a:t>Future orientation</a:t>
            </a:r>
          </a:p>
          <a:p>
            <a:pPr>
              <a:defRPr/>
            </a:pPr>
            <a:r>
              <a:rPr lang="en-US" altLang="en-US" sz="2400">
                <a:latin typeface="Arial" panose="020B0604020202020204" pitchFamily="34" charset="0"/>
                <a:ea typeface="ＭＳ Ｐゴシック" pitchFamily="34" charset="-128"/>
                <a:cs typeface="Arial" panose="020B0604020202020204" pitchFamily="34" charset="0"/>
              </a:rPr>
              <a:t>Gender differentiation</a:t>
            </a:r>
          </a:p>
          <a:p>
            <a:pPr>
              <a:defRPr/>
            </a:pPr>
            <a:r>
              <a:rPr lang="en-US" altLang="en-US" sz="2400">
                <a:latin typeface="Arial" panose="020B0604020202020204" pitchFamily="34" charset="0"/>
                <a:ea typeface="ＭＳ Ｐゴシック" pitchFamily="34" charset="-128"/>
                <a:cs typeface="Arial" panose="020B0604020202020204" pitchFamily="34" charset="0"/>
              </a:rPr>
              <a:t>Uncertainty avoidance</a:t>
            </a:r>
          </a:p>
          <a:p>
            <a:pPr>
              <a:defRPr/>
            </a:pPr>
            <a:r>
              <a:rPr lang="en-US" altLang="en-US" sz="2400">
                <a:latin typeface="Arial" panose="020B0604020202020204" pitchFamily="34" charset="0"/>
                <a:ea typeface="ＭＳ Ｐゴシック" pitchFamily="34" charset="-128"/>
                <a:cs typeface="Arial" panose="020B0604020202020204" pitchFamily="34" charset="0"/>
              </a:rPr>
              <a:t>Power distance	</a:t>
            </a:r>
            <a:endParaRPr lang="en-US" sz="2400">
              <a:latin typeface="Arial" panose="020B0604020202020204" pitchFamily="34" charset="0"/>
              <a:cs typeface="Arial" panose="020B0604020202020204" pitchFamily="34" charset="0"/>
            </a:endParaRPr>
          </a:p>
        </p:txBody>
      </p:sp>
      <p:sp>
        <p:nvSpPr>
          <p:cNvPr id="4" name="Content Placeholder 3"/>
          <p:cNvSpPr>
            <a:spLocks noGrp="1"/>
          </p:cNvSpPr>
          <p:nvPr>
            <p:ph idx="13"/>
          </p:nvPr>
        </p:nvSpPr>
        <p:spPr>
          <a:xfrm>
            <a:off x="4572000" y="1844068"/>
            <a:ext cx="4176712" cy="2163763"/>
          </a:xfrm>
        </p:spPr>
        <p:txBody>
          <a:bodyPr tIns="18000" bIns="18000"/>
          <a:lstStyle/>
          <a:p>
            <a:r>
              <a:rPr lang="en-US" sz="2400">
                <a:latin typeface="Arial" panose="020B0604020202020204" pitchFamily="34" charset="0"/>
                <a:cs typeface="Arial" panose="020B0604020202020204" pitchFamily="34" charset="0"/>
              </a:rPr>
              <a:t>Individualism/Collectivism</a:t>
            </a:r>
          </a:p>
          <a:p>
            <a:r>
              <a:rPr lang="en-US" sz="2400">
                <a:latin typeface="Arial" panose="020B0604020202020204" pitchFamily="34" charset="0"/>
                <a:cs typeface="Arial" panose="020B0604020202020204" pitchFamily="34" charset="0"/>
              </a:rPr>
              <a:t>In-group collectivism</a:t>
            </a:r>
          </a:p>
          <a:p>
            <a:r>
              <a:rPr lang="en-US" sz="2400">
                <a:latin typeface="Arial" panose="020B0604020202020204" pitchFamily="34" charset="0"/>
                <a:cs typeface="Arial" panose="020B0604020202020204" pitchFamily="34" charset="0"/>
              </a:rPr>
              <a:t>Performance orientation</a:t>
            </a:r>
          </a:p>
          <a:p>
            <a:r>
              <a:rPr lang="en-US" sz="2400">
                <a:latin typeface="Arial" panose="020B0604020202020204" pitchFamily="34" charset="0"/>
                <a:cs typeface="Arial" panose="020B0604020202020204" pitchFamily="34" charset="0"/>
              </a:rPr>
              <a:t>Humane orientation</a:t>
            </a:r>
          </a:p>
        </p:txBody>
      </p:sp>
    </p:spTree>
    <p:extLst>
      <p:ext uri="{BB962C8B-B14F-4D97-AF65-F5344CB8AC3E}">
        <p14:creationId xmlns:p14="http://schemas.microsoft.com/office/powerpoint/2010/main" val="3983566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Learning Objective </a:t>
            </a:r>
            <a:r>
              <a:rPr lang="en-US" altLang="en-US" sz="3600">
                <a:latin typeface="+mj-lt"/>
                <a:cs typeface="Arial" pitchFamily="34" charset="0"/>
              </a:rPr>
              <a:t>3.3</a:t>
            </a:r>
            <a:endParaRPr lang="en-US">
              <a:latin typeface="+mj-lt"/>
            </a:endParaRPr>
          </a:p>
        </p:txBody>
      </p:sp>
      <p:sp>
        <p:nvSpPr>
          <p:cNvPr id="3" name="Content Placeholder 2"/>
          <p:cNvSpPr>
            <a:spLocks noGrp="1"/>
          </p:cNvSpPr>
          <p:nvPr>
            <p:ph idx="1"/>
          </p:nvPr>
        </p:nvSpPr>
        <p:spPr>
          <a:xfrm>
            <a:off x="467999" y="1268760"/>
            <a:ext cx="8280713" cy="775015"/>
          </a:xfrm>
        </p:spPr>
        <p:txBody>
          <a:bodyPr wrap="square" tIns="18000" bIns="18000">
            <a:spAutoFit/>
          </a:bodyPr>
          <a:lstStyle/>
          <a:p>
            <a:pPr marL="0" indent="0">
              <a:buNone/>
            </a:pPr>
            <a:r>
              <a:rPr lang="en-US" altLang="en-US" sz="2400">
                <a:latin typeface="Arial" panose="020B0604020202020204" pitchFamily="34" charset="0"/>
                <a:cs typeface="Arial" panose="020B0604020202020204" pitchFamily="34" charset="0"/>
              </a:rPr>
              <a:t>Discuss how society’s expectations are influencing managers and organizations.</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396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Society’s Expectations</a:t>
            </a:r>
            <a:endParaRPr lang="en-US" dirty="0">
              <a:latin typeface="+mj-lt"/>
            </a:endParaRPr>
          </a:p>
        </p:txBody>
      </p:sp>
      <p:sp>
        <p:nvSpPr>
          <p:cNvPr id="4" name="Content Placeholder 3">
            <a:extLst>
              <a:ext uri="{FF2B5EF4-FFF2-40B4-BE49-F238E27FC236}">
                <a16:creationId xmlns:a16="http://schemas.microsoft.com/office/drawing/2014/main" id="{017D5446-6CE9-42BF-966D-41EAD0B2BF67}"/>
              </a:ext>
            </a:extLst>
          </p:cNvPr>
          <p:cNvSpPr>
            <a:spLocks noGrp="1"/>
          </p:cNvSpPr>
          <p:nvPr>
            <p:ph idx="1"/>
          </p:nvPr>
        </p:nvSpPr>
        <p:spPr>
          <a:xfrm>
            <a:off x="468000" y="1268760"/>
            <a:ext cx="8280712" cy="405683"/>
          </a:xfrm>
        </p:spPr>
        <p:txBody>
          <a:bodyPr wrap="square" tIns="18000" bIns="18000">
            <a:spAutoFit/>
          </a:bodyPr>
          <a:lstStyle/>
          <a:p>
            <a:pPr marL="0" indent="0">
              <a:buNone/>
            </a:pPr>
            <a:r>
              <a:rPr lang="en-US" sz="2400" dirty="0">
                <a:latin typeface="Arial" panose="020B0604020202020204" pitchFamily="34" charset="0"/>
                <a:cs typeface="Arial" panose="020B0604020202020204" pitchFamily="34" charset="0"/>
              </a:rPr>
              <a:t>It’s an incredibly simple, but totally world-changing, idea. </a:t>
            </a:r>
          </a:p>
        </p:txBody>
      </p:sp>
    </p:spTree>
    <p:extLst>
      <p:ext uri="{BB962C8B-B14F-4D97-AF65-F5344CB8AC3E}">
        <p14:creationId xmlns:p14="http://schemas.microsoft.com/office/powerpoint/2010/main" val="2533483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Social Responsibility</a:t>
            </a:r>
            <a:endParaRPr lang="en-US">
              <a:latin typeface="+mj-lt"/>
            </a:endParaRPr>
          </a:p>
        </p:txBody>
      </p:sp>
      <p:sp>
        <p:nvSpPr>
          <p:cNvPr id="11" name="Content Placeholder 10">
            <a:extLst>
              <a:ext uri="{FF2B5EF4-FFF2-40B4-BE49-F238E27FC236}">
                <a16:creationId xmlns:a16="http://schemas.microsoft.com/office/drawing/2014/main" id="{5CE66F91-A8E9-4BF1-9D23-91915A72DFCE}"/>
              </a:ext>
            </a:extLst>
          </p:cNvPr>
          <p:cNvSpPr>
            <a:spLocks noGrp="1"/>
          </p:cNvSpPr>
          <p:nvPr>
            <p:ph sz="quarter" idx="13"/>
          </p:nvPr>
        </p:nvSpPr>
        <p:spPr>
          <a:xfrm>
            <a:off x="468000" y="1268760"/>
            <a:ext cx="8291513" cy="1529068"/>
          </a:xfrm>
        </p:spPr>
        <p:txBody>
          <a:bodyPr wrap="square"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Corporate social responsibility (</a:t>
            </a:r>
            <a:r>
              <a:rPr lang="en-US" altLang="en-US" sz="2400" spc="-300">
                <a:latin typeface="Arial" panose="020B0604020202020204" pitchFamily="34" charset="0"/>
                <a:ea typeface="ＭＳ Ｐゴシック" pitchFamily="34" charset="-128"/>
                <a:cs typeface="Arial" panose="020B0604020202020204" pitchFamily="34" charset="0"/>
              </a:rPr>
              <a:t>C S </a:t>
            </a:r>
            <a:r>
              <a:rPr lang="en-US" altLang="en-US" sz="2400">
                <a:latin typeface="Arial" panose="020B0604020202020204" pitchFamily="34" charset="0"/>
                <a:ea typeface="ＭＳ Ｐゴシック" pitchFamily="34" charset="-128"/>
                <a:cs typeface="Arial" panose="020B0604020202020204" pitchFamily="34" charset="0"/>
              </a:rPr>
              <a:t>R)</a:t>
            </a:r>
          </a:p>
          <a:p>
            <a:pPr>
              <a:defRPr/>
            </a:pPr>
            <a:r>
              <a:rPr lang="en-US" altLang="en-US" sz="2400">
                <a:latin typeface="Arial" panose="020B0604020202020204" pitchFamily="34" charset="0"/>
                <a:ea typeface="ＭＳ Ｐゴシック" pitchFamily="34" charset="-128"/>
                <a:cs typeface="Arial" panose="020B0604020202020204" pitchFamily="34" charset="0"/>
              </a:rPr>
              <a:t>Social obligations</a:t>
            </a:r>
          </a:p>
          <a:p>
            <a:pPr>
              <a:defRPr/>
            </a:pPr>
            <a:r>
              <a:rPr lang="en-US" altLang="en-US" sz="2400">
                <a:latin typeface="Arial" panose="020B0604020202020204" pitchFamily="34" charset="0"/>
                <a:ea typeface="ＭＳ Ｐゴシック" pitchFamily="34" charset="-128"/>
                <a:cs typeface="Arial" panose="020B0604020202020204" pitchFamily="34" charset="0"/>
              </a:rPr>
              <a:t>Social responsiveness</a:t>
            </a:r>
            <a:endParaRPr lang="en-US" sz="2400">
              <a:latin typeface="Arial" panose="020B0604020202020204" pitchFamily="34" charset="0"/>
              <a:cs typeface="Arial" panose="020B0604020202020204" pitchFamily="34" charset="0"/>
            </a:endParaRPr>
          </a:p>
        </p:txBody>
      </p:sp>
      <p:pic>
        <p:nvPicPr>
          <p:cNvPr id="10" name="Picture Placeholder 9" descr="Two men assisting three children to purchase a book from a vending machine.">
            <a:extLst>
              <a:ext uri="{FF2B5EF4-FFF2-40B4-BE49-F238E27FC236}">
                <a16:creationId xmlns:a16="http://schemas.microsoft.com/office/drawing/2014/main" id="{2484B4B1-22E1-410C-940E-93D20CA1EB0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267744" y="3080728"/>
            <a:ext cx="4632960" cy="3084576"/>
          </a:xfrm>
          <a:prstGeom prst="rect">
            <a:avLst/>
          </a:prstGeom>
        </p:spPr>
      </p:pic>
    </p:spTree>
    <p:extLst>
      <p:ext uri="{BB962C8B-B14F-4D97-AF65-F5344CB8AC3E}">
        <p14:creationId xmlns:p14="http://schemas.microsoft.com/office/powerpoint/2010/main" val="724957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400" cy="1144347"/>
          </a:xfrm>
        </p:spPr>
        <p:txBody>
          <a:bodyPr vert="horz" wrap="square" lIns="0" tIns="18000" rIns="0" bIns="18000" rtlCol="0" anchor="b">
            <a:spAutoFit/>
          </a:bodyPr>
          <a:lstStyle/>
          <a:p>
            <a:r>
              <a:rPr lang="en-US" altLang="en-US" sz="3600">
                <a:latin typeface="+mj-lt"/>
                <a:ea typeface="ＭＳ Ｐゴシック" pitchFamily="34" charset="-128"/>
                <a:cs typeface="Arial" pitchFamily="34" charset="0"/>
              </a:rPr>
              <a:t>Arguments For and Against Social Responsibility</a:t>
            </a:r>
            <a:endParaRPr lang="en-US" sz="280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0D52EF61-B001-4D7B-8D21-DAA162655284}"/>
              </a:ext>
            </a:extLst>
          </p:cNvPr>
          <p:cNvSpPr>
            <a:spLocks noGrp="1"/>
          </p:cNvSpPr>
          <p:nvPr>
            <p:ph sz="quarter" idx="13"/>
          </p:nvPr>
        </p:nvSpPr>
        <p:spPr>
          <a:xfrm>
            <a:off x="468313" y="1634259"/>
            <a:ext cx="8280087" cy="282573"/>
          </a:xfrm>
        </p:spPr>
        <p:txBody>
          <a:bodyPr wrap="square" tIns="18000" bIns="18000">
            <a:spAutoFit/>
          </a:bodyPr>
          <a:lstStyle/>
          <a:p>
            <a:pPr marL="0" indent="0">
              <a:buNone/>
            </a:pPr>
            <a:r>
              <a:rPr lang="en-US" sz="1600" b="1" dirty="0">
                <a:latin typeface="Arial" panose="020B0604020202020204" pitchFamily="34" charset="0"/>
                <a:cs typeface="Arial" panose="020B0604020202020204" pitchFamily="34" charset="0"/>
              </a:rPr>
              <a:t>Exhibit 3.2</a:t>
            </a:r>
            <a:r>
              <a:rPr lang="en-US" sz="1600" dirty="0">
                <a:latin typeface="Arial" panose="020B0604020202020204" pitchFamily="34" charset="0"/>
                <a:cs typeface="Arial" panose="020B0604020202020204" pitchFamily="34" charset="0"/>
              </a:rPr>
              <a:t> Arguments For and Against Social Responsibility</a:t>
            </a:r>
            <a:endParaRPr lang="en-US" dirty="0">
              <a:latin typeface="Arial" panose="020B0604020202020204" pitchFamily="34" charset="0"/>
              <a:cs typeface="Arial" panose="020B0604020202020204" pitchFamily="34" charset="0"/>
            </a:endParaRPr>
          </a:p>
        </p:txBody>
      </p:sp>
      <p:pic>
        <p:nvPicPr>
          <p:cNvPr id="7" name="Picture Placeholder 6" descr="An illustration shows the arguments for and against social responsibility.&#10;Long description is available in notes, press F6.">
            <a:extLst>
              <a:ext uri="{FF2B5EF4-FFF2-40B4-BE49-F238E27FC236}">
                <a16:creationId xmlns:a16="http://schemas.microsoft.com/office/drawing/2014/main" id="{90AECF39-853C-4194-B516-A6FC4A99C274}"/>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877546" y="2077651"/>
            <a:ext cx="3297740" cy="4375685"/>
          </a:xfrm>
          <a:prstGeom prst="rect">
            <a:avLst/>
          </a:prstGeom>
        </p:spPr>
      </p:pic>
      <p:sp>
        <p:nvSpPr>
          <p:cNvPr id="9" name="Content Placeholder 8">
            <a:extLst>
              <a:ext uri="{FF2B5EF4-FFF2-40B4-BE49-F238E27FC236}">
                <a16:creationId xmlns:a16="http://schemas.microsoft.com/office/drawing/2014/main" id="{AA1EAC40-E15D-45A8-B92E-2D7B05C09BBB}"/>
              </a:ext>
            </a:extLst>
          </p:cNvPr>
          <p:cNvSpPr>
            <a:spLocks noGrp="1"/>
          </p:cNvSpPr>
          <p:nvPr>
            <p:ph sz="quarter" idx="14"/>
          </p:nvPr>
        </p:nvSpPr>
        <p:spPr>
          <a:xfrm>
            <a:off x="4644008" y="2284653"/>
            <a:ext cx="4104705" cy="775015"/>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Robbins, Stephen P., Coulter, Mary, </a:t>
            </a:r>
            <a:r>
              <a:rPr lang="en-US" sz="1200" i="1">
                <a:latin typeface="Arial" panose="020B0604020202020204" pitchFamily="34" charset="0"/>
                <a:cs typeface="Arial" panose="020B0604020202020204" pitchFamily="34" charset="0"/>
              </a:rPr>
              <a:t>Management</a:t>
            </a:r>
            <a:r>
              <a:rPr lang="en-US" sz="1200">
                <a:latin typeface="Arial" panose="020B0604020202020204" pitchFamily="34" charset="0"/>
                <a:cs typeface="Arial" panose="020B0604020202020204" pitchFamily="34" charset="0"/>
              </a:rPr>
              <a:t>, 13th E</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d., © 2016, p. 154. Reprinted and electronically reproduced by permission of Pearson Education, Inc., New York, </a:t>
            </a:r>
            <a:r>
              <a:rPr lang="en-US" sz="1200" spc="-200">
                <a:latin typeface="Arial" panose="020B0604020202020204" pitchFamily="34" charset="0"/>
                <a:cs typeface="Arial" panose="020B0604020202020204" pitchFamily="34" charset="0"/>
              </a:rPr>
              <a:t>N </a:t>
            </a:r>
            <a:r>
              <a:rPr lang="en-US" sz="120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068703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wrap="square" tIns="18000" bIns="18000">
            <a:spAutoFit/>
          </a:bodyPr>
          <a:lstStyle/>
          <a:p>
            <a:r>
              <a:rPr lang="en-US" altLang="en-US" sz="3600" dirty="0">
                <a:latin typeface="+mj-lt"/>
                <a:ea typeface="ＭＳ Ｐゴシック" pitchFamily="34" charset="-128"/>
                <a:cs typeface="Arial" pitchFamily="34" charset="0"/>
              </a:rPr>
              <a:t>Does Social Involvement Affect Economic Performance?</a:t>
            </a:r>
            <a:endParaRPr lang="en-US" dirty="0">
              <a:latin typeface="+mj-lt"/>
            </a:endParaRPr>
          </a:p>
        </p:txBody>
      </p:sp>
      <p:sp>
        <p:nvSpPr>
          <p:cNvPr id="3" name="Content Placeholder 2"/>
          <p:cNvSpPr>
            <a:spLocks noGrp="1"/>
          </p:cNvSpPr>
          <p:nvPr>
            <p:ph idx="1"/>
          </p:nvPr>
        </p:nvSpPr>
        <p:spPr>
          <a:xfrm>
            <a:off x="468000" y="1846800"/>
            <a:ext cx="8280712" cy="1529068"/>
          </a:xfrm>
        </p:spPr>
        <p:txBody>
          <a:bodyPr wrap="square"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Positive?</a:t>
            </a:r>
          </a:p>
          <a:p>
            <a:pPr>
              <a:defRPr/>
            </a:pPr>
            <a:r>
              <a:rPr lang="en-US" altLang="en-US" sz="2400">
                <a:latin typeface="Arial" panose="020B0604020202020204" pitchFamily="34" charset="0"/>
                <a:ea typeface="ＭＳ Ｐゴシック" pitchFamily="34" charset="-128"/>
                <a:cs typeface="Arial" panose="020B0604020202020204" pitchFamily="34" charset="0"/>
              </a:rPr>
              <a:t>Negative?</a:t>
            </a:r>
          </a:p>
          <a:p>
            <a:pPr>
              <a:defRPr/>
            </a:pPr>
            <a:r>
              <a:rPr lang="en-US" altLang="en-US" sz="2400">
                <a:latin typeface="Arial" panose="020B0604020202020204" pitchFamily="34" charset="0"/>
                <a:ea typeface="ＭＳ Ｐゴシック" pitchFamily="34" charset="-128"/>
                <a:cs typeface="Arial" panose="020B0604020202020204" pitchFamily="34" charset="0"/>
              </a:rPr>
              <a:t>Neutral?</a:t>
            </a:r>
          </a:p>
        </p:txBody>
      </p:sp>
    </p:spTree>
    <p:extLst>
      <p:ext uri="{BB962C8B-B14F-4D97-AF65-F5344CB8AC3E}">
        <p14:creationId xmlns:p14="http://schemas.microsoft.com/office/powerpoint/2010/main" val="1678384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What Is Sustainability?</a:t>
            </a:r>
            <a:endParaRPr lang="en-US" dirty="0">
              <a:latin typeface="+mj-lt"/>
            </a:endParaRPr>
          </a:p>
        </p:txBody>
      </p:sp>
      <p:sp>
        <p:nvSpPr>
          <p:cNvPr id="3" name="Content Placeholder 2"/>
          <p:cNvSpPr>
            <a:spLocks noGrp="1"/>
          </p:cNvSpPr>
          <p:nvPr>
            <p:ph idx="1"/>
          </p:nvPr>
        </p:nvSpPr>
        <p:spPr>
          <a:xfrm>
            <a:off x="468000" y="1268760"/>
            <a:ext cx="8280712" cy="2090760"/>
          </a:xfrm>
        </p:spPr>
        <p:txBody>
          <a:bodyPr wrap="square" tIns="18000" bIns="18000">
            <a:spAutoFit/>
          </a:bodyPr>
          <a:lstStyle/>
          <a:p>
            <a:pPr marL="0" indent="0">
              <a:buNone/>
            </a:pPr>
            <a:r>
              <a:rPr lang="en-US" sz="2400" b="1" dirty="0">
                <a:latin typeface="Arial" panose="020B0604020202020204" pitchFamily="34" charset="0"/>
                <a:cs typeface="Arial" panose="020B0604020202020204" pitchFamily="34" charset="0"/>
              </a:rPr>
              <a:t>Being green at the world’s largest retailer</a:t>
            </a:r>
          </a:p>
          <a:p>
            <a:r>
              <a:rPr lang="en-US" sz="2400" dirty="0">
                <a:latin typeface="Arial" panose="020B0604020202020204" pitchFamily="34" charset="0"/>
                <a:cs typeface="Arial" panose="020B0604020202020204" pitchFamily="34" charset="0"/>
              </a:rPr>
              <a:t>$485.9 billion in revenues</a:t>
            </a:r>
          </a:p>
          <a:p>
            <a:r>
              <a:rPr lang="en-US" sz="2400" dirty="0">
                <a:latin typeface="Arial" panose="020B0604020202020204" pitchFamily="34" charset="0"/>
                <a:cs typeface="Arial" panose="020B0604020202020204" pitchFamily="34" charset="0"/>
              </a:rPr>
              <a:t>2.3 million employees</a:t>
            </a:r>
          </a:p>
          <a:p>
            <a:r>
              <a:rPr lang="en-US" sz="2400" dirty="0">
                <a:latin typeface="Arial" panose="020B0604020202020204" pitchFamily="34" charset="0"/>
                <a:cs typeface="Arial" panose="020B0604020202020204" pitchFamily="34" charset="0"/>
              </a:rPr>
              <a:t>11,700 + stores</a:t>
            </a:r>
          </a:p>
        </p:txBody>
      </p:sp>
      <p:sp>
        <p:nvSpPr>
          <p:cNvPr id="4" name="Content Placeholder 3"/>
          <p:cNvSpPr>
            <a:spLocks noGrp="1"/>
          </p:cNvSpPr>
          <p:nvPr>
            <p:ph idx="13"/>
          </p:nvPr>
        </p:nvSpPr>
        <p:spPr>
          <a:xfrm>
            <a:off x="468000" y="3429000"/>
            <a:ext cx="8280713" cy="2444703"/>
          </a:xfrm>
        </p:spPr>
        <p:txBody>
          <a:bodyPr wrap="square" tIns="18000" bIns="18000">
            <a:spAutoFit/>
          </a:bodyPr>
          <a:lstStyle/>
          <a:p>
            <a:pPr marL="0" indent="0">
              <a:buNone/>
            </a:pPr>
            <a:r>
              <a:rPr lang="en-US" sz="2400" b="1" dirty="0">
                <a:latin typeface="Arial" panose="020B0604020202020204" pitchFamily="34" charset="0"/>
                <a:cs typeface="Arial" panose="020B0604020202020204" pitchFamily="34" charset="0"/>
              </a:rPr>
              <a:t>Sustainability goal: </a:t>
            </a:r>
            <a:r>
              <a:rPr lang="en-US" sz="2400" dirty="0">
                <a:latin typeface="Arial" panose="020B0604020202020204" pitchFamily="34" charset="0"/>
                <a:cs typeface="Arial" panose="020B0604020202020204" pitchFamily="34" charset="0"/>
              </a:rPr>
              <a:t>Enhance the sustainability of operations and value chains.</a:t>
            </a:r>
          </a:p>
          <a:p>
            <a:pPr marL="0" indent="0">
              <a:buNone/>
            </a:pPr>
            <a:r>
              <a:rPr lang="en-US" sz="2400" b="1" dirty="0">
                <a:latin typeface="Arial" panose="020B0604020202020204" pitchFamily="34" charset="0"/>
                <a:cs typeface="Arial" panose="020B0604020202020204" pitchFamily="34" charset="0"/>
              </a:rPr>
              <a:t>Sustainability achievements: </a:t>
            </a:r>
            <a:r>
              <a:rPr lang="en-US" sz="2400" dirty="0">
                <a:latin typeface="Arial" panose="020B0604020202020204" pitchFamily="34" charset="0"/>
                <a:cs typeface="Arial" panose="020B0604020202020204" pitchFamily="34" charset="0"/>
              </a:rPr>
              <a:t>26 percent of locations globally use renewable energy. 77 percent of global waste diverted from landfills. $200 billion worth of goods sold evaluated for sustainability performance.</a:t>
            </a:r>
          </a:p>
        </p:txBody>
      </p:sp>
    </p:spTree>
    <p:extLst>
      <p:ext uri="{BB962C8B-B14F-4D97-AF65-F5344CB8AC3E}">
        <p14:creationId xmlns:p14="http://schemas.microsoft.com/office/powerpoint/2010/main" val="2774840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Sustainability</a:t>
            </a:r>
            <a:endParaRPr lang="en-US" dirty="0">
              <a:latin typeface="+mj-lt"/>
            </a:endParaRPr>
          </a:p>
        </p:txBody>
      </p:sp>
      <p:sp>
        <p:nvSpPr>
          <p:cNvPr id="3" name="Content Placeholder 2"/>
          <p:cNvSpPr>
            <a:spLocks noGrp="1"/>
          </p:cNvSpPr>
          <p:nvPr>
            <p:ph idx="1"/>
          </p:nvPr>
        </p:nvSpPr>
        <p:spPr>
          <a:xfrm>
            <a:off x="468000" y="1281621"/>
            <a:ext cx="8280712" cy="2075371"/>
          </a:xfrm>
        </p:spPr>
        <p:txBody>
          <a:bodyPr wrap="square" tIns="18000" bIns="18000">
            <a:spAutoFit/>
          </a:bodyPr>
          <a:lstStyle/>
          <a:p>
            <a:pPr marL="0" indent="0">
              <a:buNone/>
            </a:pPr>
            <a:r>
              <a:rPr lang="en-US" altLang="en-US" sz="2400" b="1" dirty="0">
                <a:latin typeface="Arial" panose="020B0604020202020204" pitchFamily="34" charset="0"/>
                <a:ea typeface="ＭＳ Ｐゴシック" pitchFamily="34" charset="-128"/>
                <a:cs typeface="Arial" panose="020B0604020202020204" pitchFamily="34" charset="0"/>
              </a:rPr>
              <a:t>Sustainability:</a:t>
            </a:r>
          </a:p>
          <a:p>
            <a:r>
              <a:rPr lang="en-US" altLang="en-US" sz="2400" dirty="0">
                <a:latin typeface="Arial" panose="020B0604020202020204" pitchFamily="34" charset="0"/>
                <a:ea typeface="ＭＳ Ｐゴシック" pitchFamily="34" charset="-128"/>
                <a:cs typeface="Arial" panose="020B0604020202020204" pitchFamily="34" charset="0"/>
              </a:rPr>
              <a:t>a company’s ability to achieve its business goals and increase long-term shareholder value by integrating economic, environmental, and social opportunities into its business strategies.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3359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Learning Objective 3.4</a:t>
            </a:r>
            <a:endParaRPr lang="en-US">
              <a:latin typeface="+mj-lt"/>
            </a:endParaRPr>
          </a:p>
        </p:txBody>
      </p:sp>
      <p:sp>
        <p:nvSpPr>
          <p:cNvPr id="3" name="Content Placeholder 2"/>
          <p:cNvSpPr>
            <a:spLocks noGrp="1"/>
          </p:cNvSpPr>
          <p:nvPr>
            <p:ph idx="1"/>
          </p:nvPr>
        </p:nvSpPr>
        <p:spPr>
          <a:xfrm>
            <a:off x="467999" y="1268760"/>
            <a:ext cx="8280713" cy="775015"/>
          </a:xfrm>
        </p:spPr>
        <p:txBody>
          <a:bodyPr wrap="square" tIns="18000" bIns="18000">
            <a:spAutoFit/>
          </a:bodyPr>
          <a:lstStyle/>
          <a:p>
            <a:pPr marL="0" indent="0">
              <a:buNone/>
              <a:defRPr/>
            </a:pPr>
            <a:r>
              <a:rPr lang="en-US" altLang="en-US" sz="2400">
                <a:latin typeface="Arial" panose="020B0604020202020204" pitchFamily="34" charset="0"/>
                <a:ea typeface="ＭＳ Ｐゴシック" pitchFamily="34" charset="-128"/>
                <a:cs typeface="Arial" panose="020B0604020202020204" pitchFamily="34" charset="0"/>
              </a:rPr>
              <a:t>Discuss the factors that lead to ethical and unethical behavior in organizations. </a:t>
            </a:r>
          </a:p>
        </p:txBody>
      </p:sp>
    </p:spTree>
    <p:extLst>
      <p:ext uri="{BB962C8B-B14F-4D97-AF65-F5344CB8AC3E}">
        <p14:creationId xmlns:p14="http://schemas.microsoft.com/office/powerpoint/2010/main" val="1542711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736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Ethical Behavior</a:t>
            </a:r>
            <a:endParaRPr lang="en-US">
              <a:latin typeface="+mj-lt"/>
            </a:endParaRPr>
          </a:p>
        </p:txBody>
      </p:sp>
      <p:sp>
        <p:nvSpPr>
          <p:cNvPr id="3" name="Content Placeholder 2"/>
          <p:cNvSpPr>
            <a:spLocks noGrp="1"/>
          </p:cNvSpPr>
          <p:nvPr>
            <p:ph idx="1"/>
          </p:nvPr>
        </p:nvSpPr>
        <p:spPr>
          <a:xfrm>
            <a:off x="468000" y="1268760"/>
            <a:ext cx="8280712" cy="1336708"/>
          </a:xfrm>
        </p:spPr>
        <p:txBody>
          <a:bodyPr wrap="square" tIns="18000" bIns="18000">
            <a:spAutoFit/>
          </a:bodyPr>
          <a:lstStyle/>
          <a:p>
            <a:pPr marL="0" indent="0">
              <a:buNone/>
              <a:defRPr/>
            </a:pPr>
            <a:r>
              <a:rPr lang="en-US" altLang="en-US" sz="2400" b="1">
                <a:latin typeface="Arial" panose="020B0604020202020204" pitchFamily="34" charset="0"/>
                <a:ea typeface="ＭＳ Ｐゴシック" pitchFamily="34" charset="-128"/>
                <a:cs typeface="Arial" panose="020B0604020202020204" pitchFamily="34" charset="0"/>
              </a:rPr>
              <a:t>Ethics:</a:t>
            </a:r>
            <a:endParaRPr lang="en-US" altLang="en-US" sz="2400">
              <a:latin typeface="Arial" panose="020B0604020202020204" pitchFamily="34" charset="0"/>
              <a:ea typeface="ＭＳ Ｐゴシック" pitchFamily="34" charset="-128"/>
              <a:cs typeface="Arial" panose="020B0604020202020204" pitchFamily="34" charset="0"/>
            </a:endParaRPr>
          </a:p>
          <a:p>
            <a:pPr>
              <a:defRPr/>
            </a:pPr>
            <a:r>
              <a:rPr lang="en-US" altLang="en-US" sz="2400">
                <a:latin typeface="Arial" panose="020B0604020202020204" pitchFamily="34" charset="0"/>
                <a:ea typeface="ＭＳ Ｐゴシック" pitchFamily="34" charset="-128"/>
                <a:cs typeface="Arial" panose="020B0604020202020204" pitchFamily="34" charset="0"/>
              </a:rPr>
              <a:t>a set of rules or principles that defines right and wrong conduct</a:t>
            </a:r>
          </a:p>
        </p:txBody>
      </p:sp>
    </p:spTree>
    <p:extLst>
      <p:ext uri="{BB962C8B-B14F-4D97-AF65-F5344CB8AC3E}">
        <p14:creationId xmlns:p14="http://schemas.microsoft.com/office/powerpoint/2010/main" val="794390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Different Views of Ethics</a:t>
            </a:r>
            <a:endParaRPr lang="en-US">
              <a:latin typeface="+mj-lt"/>
            </a:endParaRPr>
          </a:p>
        </p:txBody>
      </p:sp>
      <p:sp>
        <p:nvSpPr>
          <p:cNvPr id="3" name="Content Placeholder 2"/>
          <p:cNvSpPr>
            <a:spLocks noGrp="1"/>
          </p:cNvSpPr>
          <p:nvPr>
            <p:ph idx="1"/>
          </p:nvPr>
        </p:nvSpPr>
        <p:spPr>
          <a:xfrm>
            <a:off x="468000" y="1268760"/>
            <a:ext cx="8280712" cy="1529068"/>
          </a:xfrm>
        </p:spPr>
        <p:txBody>
          <a:bodyPr wrap="square"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Utilitarian view of ethics</a:t>
            </a:r>
          </a:p>
          <a:p>
            <a:pPr>
              <a:defRPr/>
            </a:pPr>
            <a:r>
              <a:rPr lang="en-US" altLang="en-US" sz="2400">
                <a:latin typeface="Arial" panose="020B0604020202020204" pitchFamily="34" charset="0"/>
                <a:ea typeface="ＭＳ Ｐゴシック" pitchFamily="34" charset="-128"/>
                <a:cs typeface="Arial" panose="020B0604020202020204" pitchFamily="34" charset="0"/>
              </a:rPr>
              <a:t>Rights view of ethics</a:t>
            </a:r>
          </a:p>
          <a:p>
            <a:pPr>
              <a:defRPr/>
            </a:pPr>
            <a:r>
              <a:rPr lang="en-US" altLang="en-US" sz="2400">
                <a:latin typeface="Arial" panose="020B0604020202020204" pitchFamily="34" charset="0"/>
                <a:ea typeface="ＭＳ Ｐゴシック" pitchFamily="34" charset="-128"/>
                <a:cs typeface="Arial" panose="020B0604020202020204" pitchFamily="34" charset="0"/>
              </a:rPr>
              <a:t>Theory of justice view of ethics</a:t>
            </a:r>
          </a:p>
        </p:txBody>
      </p:sp>
    </p:spTree>
    <p:extLst>
      <p:ext uri="{BB962C8B-B14F-4D97-AF65-F5344CB8AC3E}">
        <p14:creationId xmlns:p14="http://schemas.microsoft.com/office/powerpoint/2010/main" val="1571430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73600"/>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What Determines Ethical Behavior?</a:t>
            </a:r>
            <a:endParaRPr lang="en-US">
              <a:latin typeface="+mj-lt"/>
            </a:endParaRPr>
          </a:p>
        </p:txBody>
      </p:sp>
      <p:sp>
        <p:nvSpPr>
          <p:cNvPr id="3" name="Content Placeholder 2"/>
          <p:cNvSpPr>
            <a:spLocks noGrp="1"/>
          </p:cNvSpPr>
          <p:nvPr>
            <p:ph idx="1"/>
          </p:nvPr>
        </p:nvSpPr>
        <p:spPr>
          <a:xfrm>
            <a:off x="468000" y="1268760"/>
            <a:ext cx="8280712" cy="3214145"/>
          </a:xfrm>
        </p:spPr>
        <p:txBody>
          <a:bodyPr wrap="square"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Morality</a:t>
            </a:r>
          </a:p>
          <a:p>
            <a:pPr>
              <a:defRPr/>
            </a:pPr>
            <a:r>
              <a:rPr lang="en-US" altLang="en-US" sz="2400">
                <a:latin typeface="Arial" panose="020B0604020202020204" pitchFamily="34" charset="0"/>
                <a:ea typeface="ＭＳ Ｐゴシック" pitchFamily="34" charset="-128"/>
                <a:cs typeface="Arial" panose="020B0604020202020204" pitchFamily="34" charset="0"/>
              </a:rPr>
              <a:t>Values</a:t>
            </a:r>
          </a:p>
          <a:p>
            <a:pPr>
              <a:defRPr/>
            </a:pPr>
            <a:r>
              <a:rPr lang="en-US" altLang="en-US" sz="2400">
                <a:latin typeface="Arial" panose="020B0604020202020204" pitchFamily="34" charset="0"/>
                <a:ea typeface="ＭＳ Ｐゴシック" pitchFamily="34" charset="-128"/>
                <a:cs typeface="Arial" panose="020B0604020202020204" pitchFamily="34" charset="0"/>
              </a:rPr>
              <a:t>Personality</a:t>
            </a:r>
          </a:p>
          <a:p>
            <a:pPr>
              <a:defRPr/>
            </a:pPr>
            <a:r>
              <a:rPr lang="en-US" altLang="en-US" sz="2400">
                <a:latin typeface="Arial" panose="020B0604020202020204" pitchFamily="34" charset="0"/>
                <a:ea typeface="ＭＳ Ｐゴシック" pitchFamily="34" charset="-128"/>
                <a:cs typeface="Arial" panose="020B0604020202020204" pitchFamily="34" charset="0"/>
              </a:rPr>
              <a:t>Experience</a:t>
            </a:r>
          </a:p>
          <a:p>
            <a:pPr>
              <a:defRPr/>
            </a:pPr>
            <a:r>
              <a:rPr lang="en-US" altLang="en-US" sz="2400">
                <a:latin typeface="Arial" panose="020B0604020202020204" pitchFamily="34" charset="0"/>
                <a:ea typeface="ＭＳ Ｐゴシック" pitchFamily="34" charset="-128"/>
                <a:cs typeface="Arial" panose="020B0604020202020204" pitchFamily="34" charset="0"/>
              </a:rPr>
              <a:t>Organization’s culture</a:t>
            </a:r>
          </a:p>
          <a:p>
            <a:pPr>
              <a:defRPr/>
            </a:pPr>
            <a:r>
              <a:rPr lang="en-US" altLang="en-US" sz="2400">
                <a:latin typeface="Arial" panose="020B0604020202020204" pitchFamily="34" charset="0"/>
                <a:ea typeface="ＭＳ Ｐゴシック" pitchFamily="34" charset="-128"/>
                <a:cs typeface="Arial" panose="020B0604020202020204" pitchFamily="34" charset="0"/>
              </a:rPr>
              <a:t>Issue being faced </a:t>
            </a:r>
          </a:p>
        </p:txBody>
      </p:sp>
    </p:spTree>
    <p:extLst>
      <p:ext uri="{BB962C8B-B14F-4D97-AF65-F5344CB8AC3E}">
        <p14:creationId xmlns:p14="http://schemas.microsoft.com/office/powerpoint/2010/main" val="4068853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Encouraging Ethical Behavior</a:t>
            </a:r>
            <a:endParaRPr lang="en-US" dirty="0">
              <a:latin typeface="+mj-lt"/>
            </a:endParaRPr>
          </a:p>
        </p:txBody>
      </p:sp>
      <p:sp>
        <p:nvSpPr>
          <p:cNvPr id="3" name="Content Placeholder 2"/>
          <p:cNvSpPr>
            <a:spLocks noGrp="1"/>
          </p:cNvSpPr>
          <p:nvPr>
            <p:ph idx="1"/>
          </p:nvPr>
        </p:nvSpPr>
        <p:spPr>
          <a:xfrm>
            <a:off x="468000" y="1268760"/>
            <a:ext cx="8280712" cy="1529068"/>
          </a:xfrm>
        </p:spPr>
        <p:txBody>
          <a:bodyPr wrap="square" tIns="18000" bIns="18000">
            <a:spAutoFit/>
          </a:bodyPr>
          <a:lstStyle/>
          <a:p>
            <a:pPr>
              <a:defRPr/>
            </a:pPr>
            <a:r>
              <a:rPr lang="en-US" altLang="en-US" sz="2400">
                <a:latin typeface="Arial" panose="020B0604020202020204" pitchFamily="34" charset="0"/>
                <a:ea typeface="ＭＳ Ｐゴシック" pitchFamily="34" charset="-128"/>
                <a:cs typeface="Arial" panose="020B0604020202020204" pitchFamily="34" charset="0"/>
              </a:rPr>
              <a:t>Code of ethics</a:t>
            </a:r>
          </a:p>
          <a:p>
            <a:pPr>
              <a:defRPr/>
            </a:pPr>
            <a:r>
              <a:rPr lang="en-US" altLang="en-US" sz="2400">
                <a:latin typeface="Arial" panose="020B0604020202020204" pitchFamily="34" charset="0"/>
                <a:ea typeface="ＭＳ Ｐゴシック" pitchFamily="34" charset="-128"/>
                <a:cs typeface="Arial" panose="020B0604020202020204" pitchFamily="34" charset="0"/>
              </a:rPr>
              <a:t>Ethical leadership</a:t>
            </a:r>
          </a:p>
          <a:p>
            <a:pPr>
              <a:defRPr/>
            </a:pPr>
            <a:r>
              <a:rPr lang="en-US" altLang="en-US" sz="2400">
                <a:latin typeface="Arial" panose="020B0604020202020204" pitchFamily="34" charset="0"/>
                <a:ea typeface="ＭＳ Ｐゴシック" pitchFamily="34" charset="-128"/>
                <a:cs typeface="Arial" panose="020B0604020202020204" pitchFamily="34" charset="0"/>
              </a:rPr>
              <a:t>Ethics training</a:t>
            </a:r>
          </a:p>
        </p:txBody>
      </p:sp>
    </p:spTree>
    <p:extLst>
      <p:ext uri="{BB962C8B-B14F-4D97-AF65-F5344CB8AC3E}">
        <p14:creationId xmlns:p14="http://schemas.microsoft.com/office/powerpoint/2010/main" val="3269185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dirty="0">
                <a:latin typeface="+mj-lt"/>
                <a:ea typeface="ＭＳ Ｐゴシック" pitchFamily="34" charset="-128"/>
                <a:cs typeface="Arial" pitchFamily="34" charset="0"/>
              </a:rPr>
              <a:t>Exhibit 3.3</a:t>
            </a:r>
            <a:endParaRPr lang="en-US" dirty="0">
              <a:latin typeface="+mj-lt"/>
            </a:endParaRPr>
          </a:p>
        </p:txBody>
      </p:sp>
      <p:sp>
        <p:nvSpPr>
          <p:cNvPr id="60" name="Content Placeholder 59">
            <a:extLst>
              <a:ext uri="{FF2B5EF4-FFF2-40B4-BE49-F238E27FC236}">
                <a16:creationId xmlns:a16="http://schemas.microsoft.com/office/drawing/2014/main" id="{625FDCF0-6B24-4482-AFC3-0AE96888D727}"/>
              </a:ext>
            </a:extLst>
          </p:cNvPr>
          <p:cNvSpPr>
            <a:spLocks noGrp="1"/>
          </p:cNvSpPr>
          <p:nvPr>
            <p:ph sz="quarter" idx="13"/>
          </p:nvPr>
        </p:nvSpPr>
        <p:spPr>
          <a:xfrm>
            <a:off x="467999" y="1268760"/>
            <a:ext cx="8280713" cy="282573"/>
          </a:xfrm>
        </p:spPr>
        <p:txBody>
          <a:bodyPr wrap="square" tIns="18000" bIns="18000">
            <a:spAutoFit/>
          </a:bodyPr>
          <a:lstStyle/>
          <a:p>
            <a:pPr marL="0" indent="0">
              <a:buNone/>
            </a:pPr>
            <a:r>
              <a:rPr lang="en-US" altLang="en-US" sz="1600" dirty="0">
                <a:latin typeface="Arial" panose="020B0604020202020204" pitchFamily="34" charset="0"/>
                <a:ea typeface="ＭＳ Ｐゴシック" pitchFamily="34" charset="-128"/>
                <a:cs typeface="Arial" panose="020B0604020202020204" pitchFamily="34" charset="0"/>
              </a:rPr>
              <a:t>Being an Ethical Leader</a:t>
            </a:r>
            <a:endParaRPr lang="en-US" dirty="0">
              <a:latin typeface="Arial" panose="020B0604020202020204" pitchFamily="34" charset="0"/>
              <a:cs typeface="Arial" panose="020B0604020202020204" pitchFamily="34" charset="0"/>
            </a:endParaRPr>
          </a:p>
        </p:txBody>
      </p:sp>
      <p:sp>
        <p:nvSpPr>
          <p:cNvPr id="61" name="Content Placeholder 60">
            <a:extLst>
              <a:ext uri="{FF2B5EF4-FFF2-40B4-BE49-F238E27FC236}">
                <a16:creationId xmlns:a16="http://schemas.microsoft.com/office/drawing/2014/main" id="{BB403861-181A-4743-82D2-714673BCA42B}"/>
              </a:ext>
            </a:extLst>
          </p:cNvPr>
          <p:cNvSpPr>
            <a:spLocks noGrp="1"/>
          </p:cNvSpPr>
          <p:nvPr>
            <p:ph sz="quarter" idx="14"/>
          </p:nvPr>
        </p:nvSpPr>
        <p:spPr>
          <a:xfrm>
            <a:off x="468314" y="1857536"/>
            <a:ext cx="8280398" cy="4191335"/>
          </a:xfrm>
        </p:spPr>
        <p:txBody>
          <a:bodyPr wrap="square" tIns="18000" bIns="18000">
            <a:spAutoFit/>
          </a:bodyPr>
          <a:lstStyle/>
          <a:p>
            <a:pPr>
              <a:spcBef>
                <a:spcPts val="600"/>
              </a:spcBef>
              <a:defRPr/>
            </a:pPr>
            <a:r>
              <a:rPr lang="en-US" altLang="en-US" sz="2400" dirty="0">
                <a:latin typeface="Arial" panose="020B0604020202020204" pitchFamily="34" charset="0"/>
                <a:ea typeface="ＭＳ Ｐゴシック" pitchFamily="34" charset="-128"/>
                <a:cs typeface="Arial" panose="020B0604020202020204" pitchFamily="34" charset="0"/>
              </a:rPr>
              <a:t>Be a good role model by being ethical and honest.</a:t>
            </a:r>
          </a:p>
          <a:p>
            <a:pPr>
              <a:spcBef>
                <a:spcPts val="600"/>
              </a:spcBef>
              <a:defRPr/>
            </a:pPr>
            <a:r>
              <a:rPr lang="en-US" altLang="en-US" sz="2400" dirty="0">
                <a:latin typeface="Arial" panose="020B0604020202020204" pitchFamily="34" charset="0"/>
                <a:ea typeface="ＭＳ Ｐゴシック" pitchFamily="34" charset="-128"/>
                <a:cs typeface="Arial" panose="020B0604020202020204" pitchFamily="34" charset="0"/>
              </a:rPr>
              <a:t>Tell the truth always.</a:t>
            </a:r>
          </a:p>
          <a:p>
            <a:pPr>
              <a:spcBef>
                <a:spcPts val="600"/>
              </a:spcBef>
              <a:defRPr/>
            </a:pPr>
            <a:r>
              <a:rPr lang="en-US" altLang="en-US" sz="2400" dirty="0">
                <a:latin typeface="Arial" panose="020B0604020202020204" pitchFamily="34" charset="0"/>
                <a:ea typeface="ＭＳ Ｐゴシック" pitchFamily="34" charset="-128"/>
                <a:cs typeface="Arial" panose="020B0604020202020204" pitchFamily="34" charset="0"/>
              </a:rPr>
              <a:t>Don’t hide or manipulate information.</a:t>
            </a:r>
          </a:p>
          <a:p>
            <a:pPr>
              <a:spcBef>
                <a:spcPts val="600"/>
              </a:spcBef>
              <a:defRPr/>
            </a:pPr>
            <a:r>
              <a:rPr lang="en-US" altLang="en-US" sz="2400" dirty="0">
                <a:latin typeface="Arial" panose="020B0604020202020204" pitchFamily="34" charset="0"/>
                <a:ea typeface="ＭＳ Ｐゴシック" pitchFamily="34" charset="-128"/>
                <a:cs typeface="Arial" panose="020B0604020202020204" pitchFamily="34" charset="0"/>
              </a:rPr>
              <a:t>Be willing to admit your failures.</a:t>
            </a:r>
          </a:p>
          <a:p>
            <a:pPr>
              <a:spcBef>
                <a:spcPts val="600"/>
              </a:spcBef>
              <a:defRPr/>
            </a:pPr>
            <a:r>
              <a:rPr lang="en-US" altLang="en-US" sz="2400" dirty="0">
                <a:latin typeface="Arial" panose="020B0604020202020204" pitchFamily="34" charset="0"/>
                <a:ea typeface="ＭＳ Ｐゴシック" pitchFamily="34" charset="-128"/>
                <a:cs typeface="Arial" panose="020B0604020202020204" pitchFamily="34" charset="0"/>
              </a:rPr>
              <a:t>Share your personal values by regularly communicating them to employees.</a:t>
            </a:r>
          </a:p>
          <a:p>
            <a:pPr>
              <a:spcBef>
                <a:spcPts val="600"/>
              </a:spcBef>
              <a:defRPr/>
            </a:pPr>
            <a:r>
              <a:rPr lang="en-US" altLang="en-US" sz="2400" dirty="0">
                <a:latin typeface="Arial" panose="020B0604020202020204" pitchFamily="34" charset="0"/>
                <a:ea typeface="ＭＳ Ｐゴシック" pitchFamily="34" charset="-128"/>
                <a:cs typeface="Arial" panose="020B0604020202020204" pitchFamily="34" charset="0"/>
              </a:rPr>
              <a:t>Stress the organization’s or team’s important shared values.</a:t>
            </a:r>
          </a:p>
          <a:p>
            <a:pPr>
              <a:spcBef>
                <a:spcPts val="600"/>
              </a:spcBef>
              <a:defRPr/>
            </a:pPr>
            <a:r>
              <a:rPr lang="en-US" altLang="en-US" sz="2400" dirty="0">
                <a:latin typeface="Arial" panose="020B0604020202020204" pitchFamily="34" charset="0"/>
                <a:ea typeface="ＭＳ Ｐゴシック" pitchFamily="34" charset="-128"/>
                <a:cs typeface="Arial" panose="020B0604020202020204" pitchFamily="34" charset="0"/>
              </a:rPr>
              <a:t>Use the reward system to hold everyone accountable to the values.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3318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48049"/>
            <a:ext cx="8280713" cy="590349"/>
          </a:xfrm>
        </p:spPr>
        <p:txBody>
          <a:bodyPr wrap="square" tIns="18000" bIns="18000">
            <a:spAutoFit/>
          </a:bodyPr>
          <a:lstStyle/>
          <a:p>
            <a:r>
              <a:rPr lang="en-US" altLang="en-US" sz="3600">
                <a:latin typeface="+mj-lt"/>
                <a:ea typeface="ＭＳ Ｐゴシック" pitchFamily="34" charset="-128"/>
                <a:cs typeface="Arial" pitchFamily="34" charset="0"/>
              </a:rPr>
              <a:t>Ethics Training</a:t>
            </a:r>
            <a:endParaRPr lang="en-US">
              <a:latin typeface="+mj-lt"/>
            </a:endParaRPr>
          </a:p>
        </p:txBody>
      </p:sp>
      <p:sp>
        <p:nvSpPr>
          <p:cNvPr id="3" name="Content Placeholder 2"/>
          <p:cNvSpPr>
            <a:spLocks noGrp="1"/>
          </p:cNvSpPr>
          <p:nvPr>
            <p:ph idx="1"/>
          </p:nvPr>
        </p:nvSpPr>
        <p:spPr>
          <a:xfrm>
            <a:off x="467999" y="1268760"/>
            <a:ext cx="8280713" cy="2267732"/>
          </a:xfrm>
        </p:spPr>
        <p:txBody>
          <a:bodyPr wrap="square" tIns="18000" bIns="18000">
            <a:spAutoFit/>
          </a:bodyPr>
          <a:lstStyle/>
          <a:p>
            <a:pPr marL="0" indent="0">
              <a:buNone/>
              <a:defRPr/>
            </a:pPr>
            <a:r>
              <a:rPr lang="en-US" altLang="en-US" sz="2400" b="1">
                <a:latin typeface="Arial" panose="020B0604020202020204" pitchFamily="34" charset="0"/>
                <a:ea typeface="ＭＳ Ｐゴシック" pitchFamily="34" charset="-128"/>
                <a:cs typeface="Arial" panose="020B0604020202020204" pitchFamily="34" charset="0"/>
              </a:rPr>
              <a:t>Can ethics be taught?</a:t>
            </a:r>
          </a:p>
          <a:p>
            <a:pPr>
              <a:defRPr/>
            </a:pPr>
            <a:r>
              <a:rPr lang="en-US" altLang="en-US" sz="2400" b="1">
                <a:latin typeface="Arial" panose="020B0604020202020204" pitchFamily="34" charset="0"/>
                <a:ea typeface="ＭＳ Ｐゴシック" pitchFamily="34" charset="-128"/>
                <a:cs typeface="Arial" panose="020B0604020202020204" pitchFamily="34" charset="0"/>
              </a:rPr>
              <a:t>Critics</a:t>
            </a:r>
            <a:r>
              <a:rPr lang="en-US" altLang="en-US" sz="2400">
                <a:latin typeface="Arial" panose="020B0604020202020204" pitchFamily="34" charset="0"/>
                <a:ea typeface="ＭＳ Ｐゴシック" pitchFamily="34" charset="-128"/>
                <a:cs typeface="Arial" panose="020B0604020202020204" pitchFamily="34" charset="0"/>
              </a:rPr>
              <a:t>: value systems learned in youth.</a:t>
            </a:r>
          </a:p>
          <a:p>
            <a:pPr>
              <a:defRPr/>
            </a:pPr>
            <a:r>
              <a:rPr lang="en-US" altLang="en-US" sz="2400" b="1">
                <a:latin typeface="Arial" panose="020B0604020202020204" pitchFamily="34" charset="0"/>
                <a:ea typeface="ＭＳ Ｐゴシック" pitchFamily="34" charset="-128"/>
                <a:cs typeface="Arial" panose="020B0604020202020204" pitchFamily="34" charset="0"/>
              </a:rPr>
              <a:t>Proponents</a:t>
            </a:r>
            <a:r>
              <a:rPr lang="en-US" altLang="en-US" sz="2400">
                <a:latin typeface="Arial" panose="020B0604020202020204" pitchFamily="34" charset="0"/>
                <a:ea typeface="ＭＳ Ｐゴシック" pitchFamily="34" charset="-128"/>
                <a:cs typeface="Arial" panose="020B0604020202020204" pitchFamily="34" charset="0"/>
              </a:rPr>
              <a:t>: values can be learned and ethical problem solving increases ethical behavior, moral development, awareness.</a:t>
            </a:r>
          </a:p>
        </p:txBody>
      </p:sp>
    </p:spTree>
    <p:extLst>
      <p:ext uri="{BB962C8B-B14F-4D97-AF65-F5344CB8AC3E}">
        <p14:creationId xmlns:p14="http://schemas.microsoft.com/office/powerpoint/2010/main" val="3759621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67999" y="284400"/>
            <a:ext cx="8280713" cy="590349"/>
          </a:xfrm>
        </p:spPr>
        <p:txBody>
          <a:bodyPr wrap="square" lIns="0" tIns="18000" rIns="0" bIns="18000" rtlCol="0" anchor="ctr">
            <a:spAutoFit/>
          </a:bodyPr>
          <a:lstStyle/>
          <a:p>
            <a:pPr eaLnBrk="1" fontAlgn="auto" hangingPunct="1">
              <a:spcAft>
                <a:spcPts val="0"/>
              </a:spcAft>
              <a:defRPr/>
            </a:pPr>
            <a:r>
              <a:rPr lang="en-US" sz="3600" dirty="0">
                <a:latin typeface="+mj-lt"/>
              </a:rPr>
              <a:t>Copyright</a:t>
            </a:r>
            <a:endParaRPr lang="en-US" sz="3600" b="0" dirty="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739600"/>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218181" y="2012400"/>
            <a:ext cx="6530532" cy="3239167"/>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dirty="0">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35DC53C-8FA7-4F5E-A69E-24338E0746BF}">
  <ds:schemaRefs>
    <ds:schemaRef ds:uri="http://schemas.microsoft.com/sharepoint/v3/contenttype/forms"/>
  </ds:schemaRefs>
</ds:datastoreItem>
</file>

<file path=customXml/itemProps2.xml><?xml version="1.0" encoding="utf-8"?>
<ds:datastoreItem xmlns:ds="http://schemas.openxmlformats.org/officeDocument/2006/customXml" ds:itemID="{25013871-1DEC-4A86-87B2-C1B2B1A671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37B6226-CD07-4957-ABBE-33237A69C597}">
  <ds:schemaRefs>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docProps/app.xml><?xml version="1.0" encoding="utf-8"?>
<Properties xmlns="http://schemas.openxmlformats.org/officeDocument/2006/extended-properties" xmlns:vt="http://schemas.openxmlformats.org/officeDocument/2006/docPropsVTypes">
  <Template/>
  <TotalTime>3300</TotalTime>
  <Words>803</Words>
  <Application>Microsoft Office PowerPoint</Application>
  <PresentationFormat>On-screen Show (4:3)</PresentationFormat>
  <Paragraphs>127</Paragraphs>
  <Slides>26</Slides>
  <Notes>24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26</vt:i4>
      </vt:variant>
    </vt:vector>
  </HeadingPairs>
  <TitlesOfParts>
    <vt:vector size="34" baseType="lpstr">
      <vt:lpstr>Arial</vt:lpstr>
      <vt:lpstr>Calibri</vt:lpstr>
      <vt:lpstr>Noto Sans Symbols</vt:lpstr>
      <vt:lpstr>Times New Roman</vt:lpstr>
      <vt:lpstr>Verdana</vt:lpstr>
      <vt:lpstr>Wingdings</vt:lpstr>
      <vt:lpstr>1_508 Lecture</vt:lpstr>
      <vt:lpstr>508 Lecture</vt:lpstr>
      <vt:lpstr>Fundamentals of Management</vt:lpstr>
      <vt:lpstr>Learning Objectives</vt:lpstr>
      <vt:lpstr>Learning Objective 3.1</vt:lpstr>
      <vt:lpstr>Globalization and Its Impact</vt:lpstr>
      <vt:lpstr>What Does It Mean to Be "Global"?</vt:lpstr>
      <vt:lpstr>How Do Organizations Go Global?</vt:lpstr>
      <vt:lpstr>Types of Global Organizations</vt:lpstr>
      <vt:lpstr>Learning Objective 3.2</vt:lpstr>
      <vt:lpstr>Managing in a Global Organization</vt:lpstr>
      <vt:lpstr>Globe Findings</vt:lpstr>
      <vt:lpstr>Globe: Dimensions of Cultural Difference</vt:lpstr>
      <vt:lpstr>Learning Objective 3.3</vt:lpstr>
      <vt:lpstr>Society’s Expectations</vt:lpstr>
      <vt:lpstr>Social Responsibility</vt:lpstr>
      <vt:lpstr>Arguments For and Against Social Responsibility</vt:lpstr>
      <vt:lpstr>Does Social Involvement Affect Economic Performance?</vt:lpstr>
      <vt:lpstr>What Is Sustainability?</vt:lpstr>
      <vt:lpstr>Sustainability</vt:lpstr>
      <vt:lpstr>Learning Objective 3.4</vt:lpstr>
      <vt:lpstr>Ethical Behavior</vt:lpstr>
      <vt:lpstr>Different Views of Ethics</vt:lpstr>
      <vt:lpstr>What Determines Ethical Behavior?</vt:lpstr>
      <vt:lpstr>Encouraging Ethical Behavior</vt:lpstr>
      <vt:lpstr>Exhibit 3.3</vt:lpstr>
      <vt:lpstr>Ethics Training</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3</dc:title>
  <dc:subject>Fundamentals of Management</dc:subject>
  <dc:creator>Robbins, Coulter and DeCenzo</dc:creator>
  <cp:keywords/>
  <dc:description>Additional information may be found in the Notes Pane of each slide by pressing F6.</dc:description>
  <cp:lastModifiedBy>John Frazier</cp:lastModifiedBy>
  <cp:revision>1093</cp:revision>
  <dcterms:created xsi:type="dcterms:W3CDTF">2014-07-14T20:04:21Z</dcterms:created>
  <dcterms:modified xsi:type="dcterms:W3CDTF">2023-08-08T13:55:59Z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