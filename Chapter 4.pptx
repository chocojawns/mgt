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5" r:id="rId5"/>
  </p:sldMasterIdLst>
  <p:notesMasterIdLst>
    <p:notesMasterId r:id="rId49"/>
  </p:notesMasterIdLst>
  <p:handoutMasterIdLst>
    <p:handoutMasterId r:id="rId50"/>
  </p:handoutMasterIdLst>
  <p:sldIdLst>
    <p:sldId id="697" r:id="rId6"/>
    <p:sldId id="577" r:id="rId7"/>
    <p:sldId id="578" r:id="rId8"/>
    <p:sldId id="688" r:id="rId9"/>
    <p:sldId id="628" r:id="rId10"/>
    <p:sldId id="689" r:id="rId11"/>
    <p:sldId id="582" r:id="rId12"/>
    <p:sldId id="583" r:id="rId13"/>
    <p:sldId id="623" r:id="rId14"/>
    <p:sldId id="584" r:id="rId15"/>
    <p:sldId id="703" r:id="rId16"/>
    <p:sldId id="704" r:id="rId17"/>
    <p:sldId id="586" r:id="rId18"/>
    <p:sldId id="587" r:id="rId19"/>
    <p:sldId id="690" r:id="rId20"/>
    <p:sldId id="589" r:id="rId21"/>
    <p:sldId id="618" r:id="rId22"/>
    <p:sldId id="619" r:id="rId23"/>
    <p:sldId id="620" r:id="rId24"/>
    <p:sldId id="621" r:id="rId25"/>
    <p:sldId id="691" r:id="rId26"/>
    <p:sldId id="692" r:id="rId27"/>
    <p:sldId id="693" r:id="rId28"/>
    <p:sldId id="593" r:id="rId29"/>
    <p:sldId id="594" r:id="rId30"/>
    <p:sldId id="641" r:id="rId31"/>
    <p:sldId id="694" r:id="rId32"/>
    <p:sldId id="597" r:id="rId33"/>
    <p:sldId id="695" r:id="rId34"/>
    <p:sldId id="632" r:id="rId35"/>
    <p:sldId id="600" r:id="rId36"/>
    <p:sldId id="635" r:id="rId37"/>
    <p:sldId id="633" r:id="rId38"/>
    <p:sldId id="634" r:id="rId39"/>
    <p:sldId id="640" r:id="rId40"/>
    <p:sldId id="605" r:id="rId41"/>
    <p:sldId id="607" r:id="rId42"/>
    <p:sldId id="636" r:id="rId43"/>
    <p:sldId id="608" r:id="rId44"/>
    <p:sldId id="637" r:id="rId45"/>
    <p:sldId id="696" r:id="rId46"/>
    <p:sldId id="611" r:id="rId47"/>
    <p:sldId id="687" r:id="rId48"/>
  </p:sldIdLst>
  <p:sldSz cx="9144000" cy="6858000" type="screen4x3"/>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2832" userDrawn="1">
          <p15:clr>
            <a:srgbClr val="A4A3A4"/>
          </p15:clr>
        </p15:guide>
        <p15:guide id="3" orient="horz" pos="816" userDrawn="1">
          <p15:clr>
            <a:srgbClr val="A4A3A4"/>
          </p15:clr>
        </p15:guide>
        <p15:guide id="4" orient="horz" pos="432">
          <p15:clr>
            <a:srgbClr val="A4A3A4"/>
          </p15:clr>
        </p15:guide>
        <p15:guide id="5" orient="horz" pos="4080" userDrawn="1">
          <p15:clr>
            <a:srgbClr val="A4A3A4"/>
          </p15:clr>
        </p15:guide>
        <p15:guide id="7" pos="5520">
          <p15:clr>
            <a:srgbClr val="A4A3A4"/>
          </p15:clr>
        </p15:guide>
        <p15:guide id="8" pos="28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eronica bashian" initials="vb" lastIdx="7" clrIdx="0"/>
  <p:cmAuthor id="2" name="Editorial Integra1" initials="GRI" lastIdx="1" clrIdx="1"/>
  <p:cmAuthor id="3" name="Manoj Kumar Mishra, Integra-PDY, IN" initials="MKMII"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55" autoAdjust="0"/>
    <p:restoredTop sz="82924" autoAdjust="0"/>
  </p:normalViewPr>
  <p:slideViewPr>
    <p:cSldViewPr>
      <p:cViewPr varScale="1">
        <p:scale>
          <a:sx n="71" d="100"/>
          <a:sy n="71" d="100"/>
        </p:scale>
        <p:origin x="1886" y="53"/>
      </p:cViewPr>
      <p:guideLst>
        <p:guide orient="horz" pos="2208"/>
        <p:guide pos="2832"/>
        <p:guide orient="horz" pos="816"/>
        <p:guide orient="horz" pos="432"/>
        <p:guide orient="horz" pos="4080"/>
        <p:guide pos="5520"/>
        <p:guide pos="288"/>
      </p:guideLst>
    </p:cSldViewPr>
  </p:slideViewPr>
  <p:outlineViewPr>
    <p:cViewPr>
      <p:scale>
        <a:sx n="33" d="100"/>
        <a:sy n="33" d="100"/>
      </p:scale>
      <p:origin x="0" y="-6282"/>
    </p:cViewPr>
  </p:outlineViewPr>
  <p:notesTextViewPr>
    <p:cViewPr>
      <p:scale>
        <a:sx n="1" d="1"/>
        <a:sy n="1" d="1"/>
      </p:scale>
      <p:origin x="0" y="0"/>
    </p:cViewPr>
  </p:notesTextViewPr>
  <p:notesViewPr>
    <p:cSldViewPr>
      <p:cViewPr varScale="1">
        <p:scale>
          <a:sx n="55" d="100"/>
          <a:sy n="55" d="100"/>
        </p:scale>
        <p:origin x="-225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8/8/2023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8/8/2023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defRPr/>
            </a:pPr>
            <a:r>
              <a:rPr lang="en-US" noProof="0" dirty="0">
                <a:latin typeface="Arial" panose="020B0604020202020204" pitchFamily="34" charset="0"/>
                <a:cs typeface="Arial" panose="020B0604020202020204" pitchFamily="34" charset="0"/>
              </a:rPr>
              <a:t>1) Math Type Plugin</a:t>
            </a:r>
          </a:p>
          <a:p>
            <a:pPr marL="0" marR="0" indent="0" algn="l" defTabSz="914400" rtl="0" eaLnBrk="1" fontAlgn="auto" latinLnBrk="0" hangingPunct="1">
              <a:lnSpc>
                <a:spcPct val="100000"/>
              </a:lnSpc>
              <a:spcBef>
                <a:spcPts val="0"/>
              </a:spcBef>
              <a:spcAft>
                <a:spcPts val="0"/>
              </a:spcAft>
              <a:buClrTx/>
              <a:buSzTx/>
              <a:buFontTx/>
              <a:buNone/>
              <a:defRPr/>
            </a:pPr>
            <a:r>
              <a:rPr lang="en-US" noProof="0" dirty="0">
                <a:latin typeface="Arial" panose="020B0604020202020204" pitchFamily="34" charset="0"/>
                <a:cs typeface="Arial" panose="020B0604020202020204" pitchFamily="34" charset="0"/>
              </a:rPr>
              <a:t>2) Math Player (free versions available)</a:t>
            </a:r>
          </a:p>
          <a:p>
            <a:pPr marL="0" marR="0" indent="0" algn="l" defTabSz="914400" rtl="0" eaLnBrk="1" fontAlgn="auto" latinLnBrk="0" hangingPunct="1">
              <a:lnSpc>
                <a:spcPct val="100000"/>
              </a:lnSpc>
              <a:spcBef>
                <a:spcPts val="0"/>
              </a:spcBef>
              <a:spcAft>
                <a:spcPts val="0"/>
              </a:spcAft>
              <a:buClrTx/>
              <a:buSzTx/>
              <a:buFontTx/>
              <a:buNone/>
              <a:defRPr/>
            </a:pPr>
            <a:r>
              <a:rPr lang="en-US" noProof="0" dirty="0">
                <a:latin typeface="Arial" panose="020B0604020202020204" pitchFamily="34" charset="0"/>
                <a:cs typeface="Arial" panose="020B0604020202020204" pitchFamily="34" charset="0"/>
              </a:rPr>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53873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2906888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906574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2231416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Bef>
                <a:spcPct val="0"/>
              </a:spcBef>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449104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2293469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479385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22988739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280681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24965879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40164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2067838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680278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478646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4120561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7899474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0661184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2593193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18007263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25931931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25931931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25931931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23860312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9084875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43</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6434394"/>
            <a:ext cx="918000" cy="279915"/>
          </a:xfrm>
          <a:prstGeom prst="rect">
            <a:avLst/>
          </a:prstGeom>
        </p:spPr>
      </p:pic>
      <p:sp>
        <p:nvSpPr>
          <p:cNvPr id="9" name="TextBox 8"/>
          <p:cNvSpPr txBox="1"/>
          <p:nvPr userDrawn="1"/>
        </p:nvSpPr>
        <p:spPr>
          <a:xfrm>
            <a:off x="2743200" y="6400800"/>
            <a:ext cx="61722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2015, 2013 Pearson Education, Inc. All Rights Reserved.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6434394"/>
            <a:ext cx="918000" cy="279915"/>
          </a:xfrm>
          <a:prstGeom prst="rect">
            <a:avLst/>
          </a:prstGeom>
        </p:spPr>
      </p:pic>
      <p:sp>
        <p:nvSpPr>
          <p:cNvPr id="8" name="Text Placeholder 22"/>
          <p:cNvSpPr>
            <a:spLocks noGrp="1"/>
          </p:cNvSpPr>
          <p:nvPr>
            <p:ph type="body" sz="quarter" idx="16" hasCustomPrompt="1"/>
          </p:nvPr>
        </p:nvSpPr>
        <p:spPr>
          <a:xfrm>
            <a:off x="1143000" y="6297234"/>
            <a:ext cx="7921752" cy="274320"/>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600" b="0" dirty="0">
                <a:latin typeface="Verdana" panose="020B0604030504040204" pitchFamily="34" charset="0"/>
                <a:ea typeface="Verdana" panose="020B0604030504040204" pitchFamily="34" charset="0"/>
                <a:cs typeface="Verdana" panose="020B0604030504040204" pitchFamily="34" charset="0"/>
              </a:rPr>
              <a:t>Copyright © 2017, 2015, 2013 Pearson Education, Inc. All Rights Reserved.</a:t>
            </a:r>
          </a:p>
        </p:txBody>
      </p:sp>
    </p:spTree>
    <p:extLst>
      <p:ext uri="{BB962C8B-B14F-4D97-AF65-F5344CB8AC3E}">
        <p14:creationId xmlns:p14="http://schemas.microsoft.com/office/powerpoint/2010/main" val="298106283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6076401"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2015, 2013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215372"/>
            <a:ext cx="8229600" cy="1097280"/>
          </a:xfrm>
        </p:spPr>
        <p:txBody>
          <a:bodyPr/>
          <a:lstStyle/>
          <a:p>
            <a:r>
              <a:rPr lang="en-US" dirty="0"/>
              <a:t>Click to edit Master title style</a:t>
            </a:r>
          </a:p>
        </p:txBody>
      </p:sp>
      <p:sp>
        <p:nvSpPr>
          <p:cNvPr id="7" name="Content Placeholder 2"/>
          <p:cNvSpPr>
            <a:spLocks noGrp="1"/>
          </p:cNvSpPr>
          <p:nvPr>
            <p:ph idx="1"/>
          </p:nvPr>
        </p:nvSpPr>
        <p:spPr>
          <a:xfrm>
            <a:off x="457200" y="1600201"/>
            <a:ext cx="8229600" cy="914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667000"/>
            <a:ext cx="3886200" cy="2438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667000"/>
            <a:ext cx="4267200" cy="2438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737268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0078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4"/>
          </p:nvPr>
        </p:nvSpPr>
        <p:spPr>
          <a:xfrm>
            <a:off x="457200" y="6096000"/>
            <a:ext cx="8305800" cy="304800"/>
          </a:xfrm>
        </p:spPr>
        <p:txBody>
          <a:bodyPr/>
          <a:lstStyle>
            <a:lvl1pPr marL="0" indent="0">
              <a:buNone/>
              <a:defRPr/>
            </a:lvl1pPr>
          </a:lstStyle>
          <a:p>
            <a:pPr lvl="0"/>
            <a:endParaRPr lang="en-IN" dirty="0"/>
          </a:p>
        </p:txBody>
      </p:sp>
    </p:spTree>
    <p:extLst>
      <p:ext uri="{BB962C8B-B14F-4D97-AF65-F5344CB8AC3E}">
        <p14:creationId xmlns:p14="http://schemas.microsoft.com/office/powerpoint/2010/main" val="2279351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6152601"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2015, 2013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8/8/2023</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3939700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Title and Three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8/8/2023</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
        <p:nvSpPr>
          <p:cNvPr id="4" name="Content Placeholder 3">
            <a:extLst>
              <a:ext uri="{FF2B5EF4-FFF2-40B4-BE49-F238E27FC236}">
                <a16:creationId xmlns:a16="http://schemas.microsoft.com/office/drawing/2014/main" id="{C2CCC29D-03BC-456F-9E4F-572CB8709457}"/>
              </a:ext>
            </a:extLst>
          </p:cNvPr>
          <p:cNvSpPr>
            <a:spLocks noGrp="1"/>
          </p:cNvSpPr>
          <p:nvPr>
            <p:ph sz="quarter" idx="17"/>
          </p:nvPr>
        </p:nvSpPr>
        <p:spPr>
          <a:xfrm>
            <a:off x="990600" y="5486400"/>
            <a:ext cx="5345113"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43439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a:extLst>
              <a:ext uri="{FF2B5EF4-FFF2-40B4-BE49-F238E27FC236}">
                <a16:creationId xmlns:a16="http://schemas.microsoft.com/office/drawing/2014/main" id="{A86D8D65-0761-4EEF-9A51-BE3E5DD33334}"/>
              </a:ext>
            </a:extLst>
          </p:cNvPr>
          <p:cNvSpPr>
            <a:spLocks noGrp="1"/>
          </p:cNvSpPr>
          <p:nvPr>
            <p:ph sz="quarter" idx="13"/>
          </p:nvPr>
        </p:nvSpPr>
        <p:spPr>
          <a:xfrm>
            <a:off x="457200" y="1628775"/>
            <a:ext cx="1377950"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3ADDB751-03D9-4D09-8F65-E090FE16F27B}"/>
              </a:ext>
            </a:extLst>
          </p:cNvPr>
          <p:cNvSpPr>
            <a:spLocks noGrp="1"/>
          </p:cNvSpPr>
          <p:nvPr>
            <p:ph sz="quarter" idx="14"/>
          </p:nvPr>
        </p:nvSpPr>
        <p:spPr>
          <a:xfrm>
            <a:off x="1979613" y="1700213"/>
            <a:ext cx="9366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59862159-C00A-42F8-96E6-40D81FE03BA3}"/>
              </a:ext>
            </a:extLst>
          </p:cNvPr>
          <p:cNvSpPr>
            <a:spLocks noGrp="1"/>
          </p:cNvSpPr>
          <p:nvPr>
            <p:ph sz="quarter" idx="15"/>
          </p:nvPr>
        </p:nvSpPr>
        <p:spPr>
          <a:xfrm>
            <a:off x="3203575" y="1844675"/>
            <a:ext cx="936625"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1DBE703D-B82C-4A93-8EDA-6BC2DFA55520}"/>
              </a:ext>
            </a:extLst>
          </p:cNvPr>
          <p:cNvSpPr>
            <a:spLocks noGrp="1"/>
          </p:cNvSpPr>
          <p:nvPr>
            <p:ph sz="quarter" idx="16"/>
          </p:nvPr>
        </p:nvSpPr>
        <p:spPr>
          <a:xfrm>
            <a:off x="4356100" y="1844675"/>
            <a:ext cx="1295400"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8F542A31-08B2-48B9-B7D7-36E42AB9B4AC}"/>
              </a:ext>
            </a:extLst>
          </p:cNvPr>
          <p:cNvSpPr>
            <a:spLocks noGrp="1"/>
          </p:cNvSpPr>
          <p:nvPr>
            <p:ph sz="quarter" idx="17"/>
          </p:nvPr>
        </p:nvSpPr>
        <p:spPr>
          <a:xfrm>
            <a:off x="5795963" y="1916113"/>
            <a:ext cx="1223962" cy="144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BB1F85E7-1F14-422D-9FB2-7D3CE62AC469}"/>
              </a:ext>
            </a:extLst>
          </p:cNvPr>
          <p:cNvSpPr>
            <a:spLocks noGrp="1"/>
          </p:cNvSpPr>
          <p:nvPr>
            <p:ph sz="quarter" idx="18"/>
          </p:nvPr>
        </p:nvSpPr>
        <p:spPr>
          <a:xfrm>
            <a:off x="539750" y="2636838"/>
            <a:ext cx="1008063"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A4FD5757-7391-4BED-B248-ED8013CFD6EC}"/>
              </a:ext>
            </a:extLst>
          </p:cNvPr>
          <p:cNvSpPr>
            <a:spLocks noGrp="1"/>
          </p:cNvSpPr>
          <p:nvPr>
            <p:ph sz="quarter" idx="19"/>
          </p:nvPr>
        </p:nvSpPr>
        <p:spPr>
          <a:xfrm>
            <a:off x="1835150" y="2708275"/>
            <a:ext cx="18002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21FCFA6E-9512-4D49-B23F-BE25DA91CCE5}"/>
              </a:ext>
            </a:extLst>
          </p:cNvPr>
          <p:cNvSpPr>
            <a:spLocks noGrp="1"/>
          </p:cNvSpPr>
          <p:nvPr>
            <p:ph sz="quarter" idx="20"/>
          </p:nvPr>
        </p:nvSpPr>
        <p:spPr>
          <a:xfrm>
            <a:off x="3851275" y="2708275"/>
            <a:ext cx="7207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9FBFF441-24D0-4000-ABD5-279FDBCBA848}"/>
              </a:ext>
            </a:extLst>
          </p:cNvPr>
          <p:cNvSpPr>
            <a:spLocks noGrp="1"/>
          </p:cNvSpPr>
          <p:nvPr>
            <p:ph sz="quarter" idx="21"/>
          </p:nvPr>
        </p:nvSpPr>
        <p:spPr>
          <a:xfrm>
            <a:off x="4859338" y="2852738"/>
            <a:ext cx="936625"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D17254F4-E158-428C-AF99-BB5E3AF645C4}"/>
              </a:ext>
            </a:extLst>
          </p:cNvPr>
          <p:cNvSpPr>
            <a:spLocks noGrp="1"/>
          </p:cNvSpPr>
          <p:nvPr>
            <p:ph sz="quarter" idx="22"/>
          </p:nvPr>
        </p:nvSpPr>
        <p:spPr>
          <a:xfrm>
            <a:off x="6011863" y="2997200"/>
            <a:ext cx="1223962" cy="257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0947FA81-4A5F-4211-B32D-72FB9143E3B6}"/>
              </a:ext>
            </a:extLst>
          </p:cNvPr>
          <p:cNvSpPr>
            <a:spLocks noGrp="1"/>
          </p:cNvSpPr>
          <p:nvPr>
            <p:ph sz="quarter" idx="23"/>
          </p:nvPr>
        </p:nvSpPr>
        <p:spPr>
          <a:xfrm>
            <a:off x="457200" y="3429000"/>
            <a:ext cx="1235075" cy="576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B151B7FF-CCEF-48EF-A939-81B6724F74A7}"/>
              </a:ext>
            </a:extLst>
          </p:cNvPr>
          <p:cNvSpPr>
            <a:spLocks noGrp="1"/>
          </p:cNvSpPr>
          <p:nvPr>
            <p:ph sz="quarter" idx="24"/>
          </p:nvPr>
        </p:nvSpPr>
        <p:spPr>
          <a:xfrm>
            <a:off x="1835150" y="3573463"/>
            <a:ext cx="1008063" cy="287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5BAE6649-E23E-4091-8262-89B3F8FEAD24}"/>
              </a:ext>
            </a:extLst>
          </p:cNvPr>
          <p:cNvSpPr>
            <a:spLocks noGrp="1"/>
          </p:cNvSpPr>
          <p:nvPr>
            <p:ph sz="quarter" idx="25"/>
          </p:nvPr>
        </p:nvSpPr>
        <p:spPr>
          <a:xfrm>
            <a:off x="3059113" y="3573463"/>
            <a:ext cx="1008062"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F1756D1-89F4-4A22-AEE4-EDF664434B44}"/>
              </a:ext>
            </a:extLst>
          </p:cNvPr>
          <p:cNvSpPr>
            <a:spLocks noGrp="1"/>
          </p:cNvSpPr>
          <p:nvPr>
            <p:ph sz="quarter" idx="26"/>
          </p:nvPr>
        </p:nvSpPr>
        <p:spPr>
          <a:xfrm>
            <a:off x="4356100" y="3716338"/>
            <a:ext cx="1077913"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B35734F6-A281-454B-ABAD-36D6FE6729C9}"/>
              </a:ext>
            </a:extLst>
          </p:cNvPr>
          <p:cNvSpPr>
            <a:spLocks noGrp="1"/>
          </p:cNvSpPr>
          <p:nvPr>
            <p:ph sz="quarter" idx="27"/>
          </p:nvPr>
        </p:nvSpPr>
        <p:spPr>
          <a:xfrm>
            <a:off x="5795963" y="3860800"/>
            <a:ext cx="1223962" cy="41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CAC0ACA8-F91A-4698-9F23-2644812432E0}"/>
              </a:ext>
            </a:extLst>
          </p:cNvPr>
          <p:cNvSpPr>
            <a:spLocks noGrp="1"/>
          </p:cNvSpPr>
          <p:nvPr>
            <p:ph sz="quarter" idx="28"/>
          </p:nvPr>
        </p:nvSpPr>
        <p:spPr>
          <a:xfrm>
            <a:off x="539750" y="4271963"/>
            <a:ext cx="1377950" cy="625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B6169D4C-61F2-4379-89B2-DCF5AEF3ABE7}"/>
              </a:ext>
            </a:extLst>
          </p:cNvPr>
          <p:cNvSpPr>
            <a:spLocks noGrp="1"/>
          </p:cNvSpPr>
          <p:nvPr>
            <p:ph sz="quarter" idx="29"/>
          </p:nvPr>
        </p:nvSpPr>
        <p:spPr>
          <a:xfrm>
            <a:off x="2268538" y="4437063"/>
            <a:ext cx="1295400" cy="67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Picture Placeholder 41">
            <a:extLst>
              <a:ext uri="{FF2B5EF4-FFF2-40B4-BE49-F238E27FC236}">
                <a16:creationId xmlns:a16="http://schemas.microsoft.com/office/drawing/2014/main" id="{7D307D5D-6564-4A14-9605-D945EAEB26C4}"/>
              </a:ext>
            </a:extLst>
          </p:cNvPr>
          <p:cNvSpPr>
            <a:spLocks noGrp="1"/>
          </p:cNvSpPr>
          <p:nvPr>
            <p:ph type="pic" sz="quarter" idx="30"/>
          </p:nvPr>
        </p:nvSpPr>
        <p:spPr>
          <a:xfrm>
            <a:off x="3924300" y="4652963"/>
            <a:ext cx="1368425" cy="460375"/>
          </a:xfrm>
        </p:spPr>
        <p:txBody>
          <a:bodyPr/>
          <a:lstStyle/>
          <a:p>
            <a:endParaRPr lang="en-US"/>
          </a:p>
        </p:txBody>
      </p:sp>
      <p:sp>
        <p:nvSpPr>
          <p:cNvPr id="44" name="Picture Placeholder 43">
            <a:extLst>
              <a:ext uri="{FF2B5EF4-FFF2-40B4-BE49-F238E27FC236}">
                <a16:creationId xmlns:a16="http://schemas.microsoft.com/office/drawing/2014/main" id="{A5355258-4F4E-4030-9FFA-2D603A8F7C0C}"/>
              </a:ext>
            </a:extLst>
          </p:cNvPr>
          <p:cNvSpPr>
            <a:spLocks noGrp="1"/>
          </p:cNvSpPr>
          <p:nvPr>
            <p:ph type="pic" sz="quarter" idx="31"/>
          </p:nvPr>
        </p:nvSpPr>
        <p:spPr>
          <a:xfrm>
            <a:off x="5580063" y="4797425"/>
            <a:ext cx="1079500" cy="411163"/>
          </a:xfrm>
        </p:spPr>
        <p:txBody>
          <a:bodyPr/>
          <a:lstStyle/>
          <a:p>
            <a:endParaRPr lang="en-US"/>
          </a:p>
        </p:txBody>
      </p:sp>
      <p:sp>
        <p:nvSpPr>
          <p:cNvPr id="46" name="Picture Placeholder 45">
            <a:extLst>
              <a:ext uri="{FF2B5EF4-FFF2-40B4-BE49-F238E27FC236}">
                <a16:creationId xmlns:a16="http://schemas.microsoft.com/office/drawing/2014/main" id="{B0363641-3460-4012-A273-F08B5C0482B5}"/>
              </a:ext>
            </a:extLst>
          </p:cNvPr>
          <p:cNvSpPr>
            <a:spLocks noGrp="1"/>
          </p:cNvSpPr>
          <p:nvPr>
            <p:ph type="pic" sz="quarter" idx="32"/>
          </p:nvPr>
        </p:nvSpPr>
        <p:spPr>
          <a:xfrm>
            <a:off x="4356100" y="5516563"/>
            <a:ext cx="1077913" cy="287337"/>
          </a:xfrm>
        </p:spPr>
        <p:txBody>
          <a:bodyPr/>
          <a:lstStyle/>
          <a:p>
            <a:endParaRPr lang="en-US"/>
          </a:p>
        </p:txBody>
      </p:sp>
      <p:sp>
        <p:nvSpPr>
          <p:cNvPr id="48" name="Picture Placeholder 47">
            <a:extLst>
              <a:ext uri="{FF2B5EF4-FFF2-40B4-BE49-F238E27FC236}">
                <a16:creationId xmlns:a16="http://schemas.microsoft.com/office/drawing/2014/main" id="{90B152CE-3AF3-4BD6-8956-A4576FFC2849}"/>
              </a:ext>
            </a:extLst>
          </p:cNvPr>
          <p:cNvSpPr>
            <a:spLocks noGrp="1"/>
          </p:cNvSpPr>
          <p:nvPr>
            <p:ph type="pic" sz="quarter" idx="33"/>
          </p:nvPr>
        </p:nvSpPr>
        <p:spPr>
          <a:xfrm>
            <a:off x="5795963" y="5589588"/>
            <a:ext cx="720725" cy="411162"/>
          </a:xfrm>
        </p:spPr>
        <p:txBody>
          <a:bodyPr/>
          <a:lstStyle/>
          <a:p>
            <a:endParaRPr lang="en-US"/>
          </a:p>
        </p:txBody>
      </p:sp>
    </p:spTree>
    <p:extLst>
      <p:ext uri="{BB962C8B-B14F-4D97-AF65-F5344CB8AC3E}">
        <p14:creationId xmlns:p14="http://schemas.microsoft.com/office/powerpoint/2010/main" val="20113577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a:xfrm>
            <a:off x="457200" y="215372"/>
            <a:ext cx="4484688" cy="994304"/>
          </a:xfrm>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14" name="Content Placeholder 13"/>
          <p:cNvSpPr>
            <a:spLocks noGrp="1"/>
          </p:cNvSpPr>
          <p:nvPr>
            <p:ph sz="quarter" idx="16"/>
          </p:nvPr>
        </p:nvSpPr>
        <p:spPr>
          <a:xfrm>
            <a:off x="5192713" y="295275"/>
            <a:ext cx="3684587" cy="83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7"/>
          </p:nvPr>
        </p:nvSpPr>
        <p:spPr>
          <a:xfrm>
            <a:off x="5192713" y="5324475"/>
            <a:ext cx="3592512" cy="565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23663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6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latin typeface="+mj-lt"/>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p:nvPr>
        </p:nvSpPr>
        <p:spPr>
          <a:xfrm>
            <a:off x="5029200" y="1600201"/>
            <a:ext cx="3260725" cy="715961"/>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endParaRPr lang="en-US" dirty="0"/>
          </a:p>
        </p:txBody>
      </p:sp>
      <p:sp>
        <p:nvSpPr>
          <p:cNvPr id="10" name="Text Placeholder 8"/>
          <p:cNvSpPr>
            <a:spLocks noGrp="1"/>
          </p:cNvSpPr>
          <p:nvPr>
            <p:ph type="body" sz="quarter" idx="15"/>
          </p:nvPr>
        </p:nvSpPr>
        <p:spPr>
          <a:xfrm>
            <a:off x="4926651" y="2552700"/>
            <a:ext cx="3456774" cy="593724"/>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endParaRPr lang="en-US" dirty="0"/>
          </a:p>
        </p:txBody>
      </p:sp>
      <p:sp>
        <p:nvSpPr>
          <p:cNvPr id="8" name="Text Placeholder 22"/>
          <p:cNvSpPr>
            <a:spLocks noGrp="1"/>
          </p:cNvSpPr>
          <p:nvPr>
            <p:ph type="body" sz="quarter" idx="16" hasCustomPrompt="1"/>
          </p:nvPr>
        </p:nvSpPr>
        <p:spPr>
          <a:xfrm>
            <a:off x="2834640" y="6400800"/>
            <a:ext cx="6080760" cy="27432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
        <p:nvSpPr>
          <p:cNvPr id="3" name="Picture Placeholder 2">
            <a:extLst>
              <a:ext uri="{FF2B5EF4-FFF2-40B4-BE49-F238E27FC236}">
                <a16:creationId xmlns:a16="http://schemas.microsoft.com/office/drawing/2014/main" id="{23FD2E48-136F-40C9-9ADA-7A7217D010A2}"/>
              </a:ext>
            </a:extLst>
          </p:cNvPr>
          <p:cNvSpPr>
            <a:spLocks noGrp="1"/>
          </p:cNvSpPr>
          <p:nvPr>
            <p:ph type="pic" sz="quarter" idx="17"/>
          </p:nvPr>
        </p:nvSpPr>
        <p:spPr>
          <a:xfrm>
            <a:off x="457200" y="6400800"/>
            <a:ext cx="1162050" cy="274638"/>
          </a:xfrm>
        </p:spPr>
        <p:txBody>
          <a:bodyPr/>
          <a:lstStyle/>
          <a:p>
            <a:endParaRPr lang="en-US"/>
          </a:p>
        </p:txBody>
      </p:sp>
      <p:sp>
        <p:nvSpPr>
          <p:cNvPr id="5" name="Picture Placeholder 4">
            <a:extLst>
              <a:ext uri="{FF2B5EF4-FFF2-40B4-BE49-F238E27FC236}">
                <a16:creationId xmlns:a16="http://schemas.microsoft.com/office/drawing/2014/main" id="{8AB0C605-5BFC-421D-BD7D-97B95EA6190A}"/>
              </a:ext>
            </a:extLst>
          </p:cNvPr>
          <p:cNvSpPr>
            <a:spLocks noGrp="1"/>
          </p:cNvSpPr>
          <p:nvPr>
            <p:ph type="pic" sz="quarter" idx="18"/>
          </p:nvPr>
        </p:nvSpPr>
        <p:spPr>
          <a:xfrm>
            <a:off x="584200" y="1685925"/>
            <a:ext cx="3260725" cy="4440238"/>
          </a:xfrm>
        </p:spPr>
        <p:txBody>
          <a:bodyPr/>
          <a:lstStyle/>
          <a:p>
            <a:endParaRPr lang="en-US"/>
          </a:p>
        </p:txBody>
      </p:sp>
    </p:spTree>
    <p:extLst>
      <p:ext uri="{BB962C8B-B14F-4D97-AF65-F5344CB8AC3E}">
        <p14:creationId xmlns:p14="http://schemas.microsoft.com/office/powerpoint/2010/main" val="959428572"/>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70747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667600" y="6519600"/>
            <a:ext cx="6094800" cy="221018"/>
          </a:xfrm>
          <a:prstGeom prst="rect">
            <a:avLst/>
          </a:prstGeom>
          <a:noFill/>
        </p:spPr>
        <p:txBody>
          <a:bodyPr wrap="square" lIns="0" tIns="18000" rIns="0" bIns="18000"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Placeholder 29" descr="Pearson Logo">
            <a:extLst>
              <a:ext uri="{FF2B5EF4-FFF2-40B4-BE49-F238E27FC236}">
                <a16:creationId xmlns:a16="http://schemas.microsoft.com/office/drawing/2014/main" id="{463D634A-6F65-431F-861F-96C5B9832727}"/>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323528" y="6477000"/>
            <a:ext cx="1152144" cy="292608"/>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63" r:id="rId11"/>
    <p:sldLayoutId id="2147483672" r:id="rId12"/>
    <p:sldLayoutId id="2147483664" r:id="rId13"/>
    <p:sldLayoutId id="2147483654" r:id="rId14"/>
    <p:sldLayoutId id="2147483655" r:id="rId15"/>
    <p:sldLayoutId id="2147483670" r:id="rId16"/>
    <p:sldLayoutId id="2147483673" r:id="rId17"/>
    <p:sldLayoutId id="2147483671" r:id="rId18"/>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853345541"/>
      </p:ext>
    </p:extLst>
  </p:cSld>
  <p:clrMap bg1="lt1" tx1="dk1" bg2="dk2" tx2="lt2" accent1="accent1" accent2="accent2" accent3="accent3" accent4="accent4" accent5="accent5" accent6="accent6" hlink="hlink" folHlink="folHlink"/>
  <p:sldLayoutIdLst>
    <p:sldLayoutId id="2147483666" r:id="rId1"/>
    <p:sldLayoutId id="2147483669" r:id="rId2"/>
    <p:sldLayoutId id="2147483668"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0.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74250" cy="590349"/>
          </a:xfrm>
        </p:spPr>
        <p:txBody>
          <a:bodyPr wrap="square" lIns="0" tIns="18000" rIns="0" bIns="18000">
            <a:spAutoFit/>
          </a:bodyPr>
          <a:lstStyle/>
          <a:p>
            <a:r>
              <a:rPr lang="en-US" sz="3600" dirty="0">
                <a:latin typeface="+mj-lt"/>
              </a:rPr>
              <a:t>Fundamentals of Management</a:t>
            </a:r>
            <a:endParaRPr lang="en-US" sz="2800" dirty="0"/>
          </a:p>
        </p:txBody>
      </p:sp>
      <p:sp>
        <p:nvSpPr>
          <p:cNvPr id="3" name="Text Placeholder 2"/>
          <p:cNvSpPr>
            <a:spLocks noGrp="1"/>
          </p:cNvSpPr>
          <p:nvPr>
            <p:ph type="body" sz="quarter" idx="13"/>
          </p:nvPr>
        </p:nvSpPr>
        <p:spPr>
          <a:xfrm>
            <a:off x="468000" y="1008979"/>
            <a:ext cx="8274250" cy="344128"/>
          </a:xfrm>
        </p:spPr>
        <p:txBody>
          <a:bodyPr wrap="square" lIns="0" tIns="18000" rIns="0" bIns="18000" anchor="ctr">
            <a:spAutoFit/>
          </a:bodyPr>
          <a:lstStyle/>
          <a:p>
            <a:r>
              <a:rPr lang="en-US">
                <a:latin typeface="Arial" panose="020B0604020202020204" pitchFamily="34" charset="0"/>
                <a:cs typeface="Arial" panose="020B0604020202020204" pitchFamily="34" charset="0"/>
              </a:rPr>
              <a:t>Eleventh Edition</a:t>
            </a:r>
          </a:p>
        </p:txBody>
      </p:sp>
      <p:pic>
        <p:nvPicPr>
          <p:cNvPr id="9" name="Picture Placeholder 8" descr="Front Cover: Fundamentals of Management Eleventh Edition by Robbins, Coulter and DeCenzo.">
            <a:extLst>
              <a:ext uri="{FF2B5EF4-FFF2-40B4-BE49-F238E27FC236}">
                <a16:creationId xmlns:a16="http://schemas.microsoft.com/office/drawing/2014/main" id="{AC243915-3F84-4C0C-BAAC-E22CD4EC1B80}"/>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3083" r="3083"/>
          <a:stretch>
            <a:fillRect/>
          </a:stretch>
        </p:blipFill>
        <p:spPr>
          <a:xfrm>
            <a:off x="467544" y="1685925"/>
            <a:ext cx="3260725" cy="4440238"/>
          </a:xfrm>
        </p:spPr>
      </p:pic>
      <p:sp>
        <p:nvSpPr>
          <p:cNvPr id="4" name="Text Placeholder 3"/>
          <p:cNvSpPr>
            <a:spLocks noGrp="1"/>
          </p:cNvSpPr>
          <p:nvPr>
            <p:ph type="body" sz="quarter" idx="14"/>
          </p:nvPr>
        </p:nvSpPr>
        <p:spPr>
          <a:xfrm>
            <a:off x="4576812" y="2888099"/>
            <a:ext cx="4171901" cy="498016"/>
          </a:xfrm>
        </p:spPr>
        <p:txBody>
          <a:bodyPr wrap="square" lIns="0" tIns="18000" rIns="0" bIns="18000">
            <a:spAutoFit/>
          </a:bodyPr>
          <a:lstStyle/>
          <a:p>
            <a:r>
              <a:rPr lang="en-US" dirty="0">
                <a:latin typeface="Arial" panose="020B0604020202020204" pitchFamily="34" charset="0"/>
                <a:cs typeface="Arial" panose="020B0604020202020204" pitchFamily="34" charset="0"/>
              </a:rPr>
              <a:t>Chapter 4</a:t>
            </a:r>
          </a:p>
        </p:txBody>
      </p:sp>
      <p:sp>
        <p:nvSpPr>
          <p:cNvPr id="5" name="Text Placeholder 4"/>
          <p:cNvSpPr>
            <a:spLocks noGrp="1"/>
          </p:cNvSpPr>
          <p:nvPr>
            <p:ph type="body" sz="quarter" idx="15"/>
          </p:nvPr>
        </p:nvSpPr>
        <p:spPr>
          <a:xfrm>
            <a:off x="4580142" y="3663694"/>
            <a:ext cx="4168571" cy="374906"/>
          </a:xfrm>
        </p:spPr>
        <p:txBody>
          <a:bodyPr wrap="square" lIns="0" tIns="18000" rIns="0" bIns="18000">
            <a:spAutoFit/>
          </a:bodyPr>
          <a:lstStyle/>
          <a:p>
            <a:r>
              <a:rPr lang="en-US" dirty="0">
                <a:latin typeface="Arial" panose="020B0604020202020204" pitchFamily="34" charset="0"/>
                <a:ea typeface="Verdana" panose="020B0604030504040204" pitchFamily="34" charset="0"/>
                <a:cs typeface="Arial" panose="020B0604020202020204" pitchFamily="34" charset="0"/>
              </a:rPr>
              <a:t>Making Decisions</a:t>
            </a:r>
            <a:endParaRPr lang="en-US" dirty="0">
              <a:latin typeface="Arial" panose="020B0604020202020204" pitchFamily="34" charset="0"/>
              <a:cs typeface="Arial" panose="020B0604020202020204" pitchFamily="34" charset="0"/>
            </a:endParaRPr>
          </a:p>
        </p:txBody>
      </p:sp>
      <p:pic>
        <p:nvPicPr>
          <p:cNvPr id="30" name="Picture Placeholder 29" descr="Pearson Logo">
            <a:extLst>
              <a:ext uri="{FF2B5EF4-FFF2-40B4-BE49-F238E27FC236}">
                <a16:creationId xmlns:a16="http://schemas.microsoft.com/office/drawing/2014/main" id="{55E920AB-A07A-4031-92B0-F06A28CEC914}"/>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tretch>
            <a:fillRect/>
          </a:stretch>
        </p:blipFill>
        <p:spPr>
          <a:xfrm>
            <a:off x="323528" y="6477000"/>
            <a:ext cx="1152144" cy="292608"/>
          </a:xfrm>
          <a:prstGeom prst="rect">
            <a:avLst/>
          </a:prstGeom>
        </p:spPr>
      </p:pic>
      <p:sp>
        <p:nvSpPr>
          <p:cNvPr id="11" name="Text Placeholder 6"/>
          <p:cNvSpPr>
            <a:spLocks noGrp="1"/>
          </p:cNvSpPr>
          <p:nvPr>
            <p:ph type="body" sz="quarter" idx="16"/>
          </p:nvPr>
        </p:nvSpPr>
        <p:spPr>
          <a:xfrm>
            <a:off x="2668200" y="6519600"/>
            <a:ext cx="6094800" cy="221018"/>
          </a:xfrm>
        </p:spPr>
        <p:txBody>
          <a:bodyPr lIns="0" tIns="18000" rIns="0" bIns="18000" anchor="t" anchorCtr="0">
            <a:spAutoFit/>
          </a:bodyPr>
          <a:lstStyle/>
          <a:p>
            <a:pPr marL="0" indent="0" algn="r">
              <a:buClrTx/>
              <a:buNone/>
              <a:defRPr/>
            </a:pPr>
            <a:r>
              <a:rPr lang="en-US" altLang="en-US" sz="1200"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528272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68000" y="284400"/>
            <a:ext cx="8229600" cy="590349"/>
          </a:xfrm>
        </p:spPr>
        <p:txBody>
          <a:bodyPr tIns="18000" bIns="18000">
            <a:spAutoFit/>
          </a:bodyPr>
          <a:lstStyle/>
          <a:p>
            <a:r>
              <a:rPr lang="en-US" sz="3600" dirty="0">
                <a:latin typeface="+mj-lt"/>
                <a:ea typeface="ＭＳ Ｐゴシック" pitchFamily="34" charset="-128"/>
                <a:cs typeface="Arial" charset="0"/>
              </a:rPr>
              <a:t>Learning Objectives</a:t>
            </a:r>
            <a:endParaRPr lang="en-US" dirty="0">
              <a:latin typeface="+mj-lt"/>
            </a:endParaRPr>
          </a:p>
        </p:txBody>
      </p:sp>
      <p:sp>
        <p:nvSpPr>
          <p:cNvPr id="9" name="Content Placeholder 8"/>
          <p:cNvSpPr>
            <a:spLocks noGrp="1"/>
          </p:cNvSpPr>
          <p:nvPr>
            <p:ph idx="1"/>
          </p:nvPr>
        </p:nvSpPr>
        <p:spPr>
          <a:xfrm>
            <a:off x="457200" y="1295400"/>
            <a:ext cx="8229600" cy="3810000"/>
          </a:xfrm>
        </p:spPr>
        <p:txBody>
          <a:bodyPr tIns="18000" bIns="18000">
            <a:spAutoFit/>
          </a:bodyPr>
          <a:lstStyle/>
          <a:p>
            <a:pPr marL="720000" indent="-720000">
              <a:buSzPct val="100000"/>
              <a:buNone/>
              <a:defRPr/>
            </a:pPr>
            <a:r>
              <a:rPr lang="en-US" altLang="en-US" sz="2400" b="1">
                <a:solidFill>
                  <a:schemeClr val="bg2"/>
                </a:solidFill>
                <a:latin typeface="Arial" panose="020B0604020202020204" pitchFamily="34" charset="0"/>
                <a:ea typeface="ＭＳ Ｐゴシック" pitchFamily="34" charset="-128"/>
                <a:cs typeface="Arial" panose="020B0604020202020204" pitchFamily="34" charset="0"/>
              </a:rPr>
              <a:t>4.1	</a:t>
            </a:r>
            <a:r>
              <a:rPr lang="en-US" altLang="en-US" sz="2400" b="1">
                <a:latin typeface="Arial" panose="020B0604020202020204" pitchFamily="34" charset="0"/>
                <a:ea typeface="ＭＳ Ｐゴシック" pitchFamily="34" charset="-128"/>
                <a:cs typeface="Arial" panose="020B0604020202020204" pitchFamily="34" charset="0"/>
              </a:rPr>
              <a:t>Describe </a:t>
            </a:r>
            <a:r>
              <a:rPr lang="en-US" altLang="en-US" sz="2400">
                <a:latin typeface="Arial" panose="020B0604020202020204" pitchFamily="34" charset="0"/>
                <a:ea typeface="ＭＳ Ｐゴシック" pitchFamily="34" charset="-128"/>
                <a:cs typeface="Arial" panose="020B0604020202020204" pitchFamily="34" charset="0"/>
              </a:rPr>
              <a:t>the decision-making process.</a:t>
            </a:r>
          </a:p>
          <a:p>
            <a:pPr marL="720000" indent="-720000">
              <a:buSzPct val="100000"/>
              <a:buNone/>
              <a:defRPr/>
            </a:pPr>
            <a:r>
              <a:rPr lang="en-US" altLang="en-US" sz="2400" b="1">
                <a:solidFill>
                  <a:schemeClr val="bg2"/>
                </a:solidFill>
                <a:latin typeface="Arial" panose="020B0604020202020204" pitchFamily="34" charset="0"/>
                <a:ea typeface="ＭＳ Ｐゴシック" pitchFamily="34" charset="-128"/>
                <a:cs typeface="Arial" panose="020B0604020202020204" pitchFamily="34" charset="0"/>
              </a:rPr>
              <a:t>4.2	</a:t>
            </a:r>
            <a:r>
              <a:rPr lang="en-US" altLang="en-US" sz="2400" b="1">
                <a:latin typeface="Arial" panose="020B0604020202020204" pitchFamily="34" charset="0"/>
                <a:ea typeface="ＭＳ Ｐゴシック" pitchFamily="34" charset="-128"/>
                <a:cs typeface="Arial" panose="020B0604020202020204" pitchFamily="34" charset="0"/>
              </a:rPr>
              <a:t>Explain </a:t>
            </a:r>
            <a:r>
              <a:rPr lang="en-US" altLang="en-US" sz="2400">
                <a:latin typeface="Arial" panose="020B0604020202020204" pitchFamily="34" charset="0"/>
                <a:ea typeface="ＭＳ Ｐゴシック" pitchFamily="34" charset="-128"/>
                <a:cs typeface="Arial" panose="020B0604020202020204" pitchFamily="34" charset="0"/>
              </a:rPr>
              <a:t>the three approaches managers can use to make decisions.</a:t>
            </a:r>
          </a:p>
          <a:p>
            <a:pPr marL="720000" indent="-720000">
              <a:buSzPct val="100000"/>
              <a:buNone/>
              <a:defRPr/>
            </a:pPr>
            <a:r>
              <a:rPr lang="en-US" altLang="en-US" sz="2400" b="1">
                <a:solidFill>
                  <a:schemeClr val="bg2"/>
                </a:solidFill>
                <a:latin typeface="Arial" panose="020B0604020202020204" pitchFamily="34" charset="0"/>
                <a:ea typeface="ＭＳ Ｐゴシック" pitchFamily="34" charset="-128"/>
                <a:cs typeface="Arial" panose="020B0604020202020204" pitchFamily="34" charset="0"/>
              </a:rPr>
              <a:t>4.3	</a:t>
            </a:r>
            <a:r>
              <a:rPr lang="en-US" altLang="en-US" sz="2400" b="1">
                <a:latin typeface="Arial" panose="020B0604020202020204" pitchFamily="34" charset="0"/>
                <a:ea typeface="ＭＳ Ｐゴシック" pitchFamily="34" charset="-128"/>
                <a:cs typeface="Arial" panose="020B0604020202020204" pitchFamily="34" charset="0"/>
              </a:rPr>
              <a:t>Describe </a:t>
            </a:r>
            <a:r>
              <a:rPr lang="en-US" altLang="en-US" sz="2400">
                <a:latin typeface="Arial" panose="020B0604020202020204" pitchFamily="34" charset="0"/>
                <a:ea typeface="ＭＳ Ｐゴシック" pitchFamily="34" charset="-128"/>
                <a:cs typeface="Arial" panose="020B0604020202020204" pitchFamily="34" charset="0"/>
              </a:rPr>
              <a:t>the types of decisions and decision-making conditions managers face.</a:t>
            </a:r>
          </a:p>
          <a:p>
            <a:pPr marL="720000" indent="-720000">
              <a:buSzPct val="100000"/>
              <a:buNone/>
              <a:defRPr/>
            </a:pPr>
            <a:r>
              <a:rPr lang="en-US" altLang="en-US" sz="2400" b="1">
                <a:solidFill>
                  <a:schemeClr val="bg2"/>
                </a:solidFill>
                <a:latin typeface="Arial" panose="020B0604020202020204" pitchFamily="34" charset="0"/>
                <a:ea typeface="ＭＳ Ｐゴシック" pitchFamily="34" charset="-128"/>
                <a:cs typeface="Arial" panose="020B0604020202020204" pitchFamily="34" charset="0"/>
              </a:rPr>
              <a:t>4.4	</a:t>
            </a:r>
            <a:r>
              <a:rPr lang="en-US" altLang="en-US" sz="2400" b="1">
                <a:latin typeface="Arial" panose="020B0604020202020204" pitchFamily="34" charset="0"/>
                <a:ea typeface="ＭＳ Ｐゴシック" pitchFamily="34" charset="-128"/>
                <a:cs typeface="Arial" panose="020B0604020202020204" pitchFamily="34" charset="0"/>
              </a:rPr>
              <a:t>Discuss </a:t>
            </a:r>
            <a:r>
              <a:rPr lang="en-US" altLang="en-US" sz="2400">
                <a:latin typeface="Arial" panose="020B0604020202020204" pitchFamily="34" charset="0"/>
                <a:ea typeface="ＭＳ Ｐゴシック" pitchFamily="34" charset="-128"/>
                <a:cs typeface="Arial" panose="020B0604020202020204" pitchFamily="34" charset="0"/>
              </a:rPr>
              <a:t>group decision making.</a:t>
            </a:r>
          </a:p>
          <a:p>
            <a:pPr marL="720000" indent="-720000">
              <a:buSzPct val="100000"/>
              <a:buNone/>
              <a:defRPr/>
            </a:pPr>
            <a:r>
              <a:rPr lang="en-US" altLang="en-US" sz="2400" b="1">
                <a:solidFill>
                  <a:schemeClr val="bg2"/>
                </a:solidFill>
                <a:latin typeface="Arial" panose="020B0604020202020204" pitchFamily="34" charset="0"/>
                <a:ea typeface="ＭＳ Ｐゴシック" pitchFamily="34" charset="-128"/>
                <a:cs typeface="Arial" panose="020B0604020202020204" pitchFamily="34" charset="0"/>
              </a:rPr>
              <a:t>4.5	</a:t>
            </a:r>
            <a:r>
              <a:rPr lang="en-US" altLang="en-US" sz="2400" b="1">
                <a:latin typeface="Arial" panose="020B0604020202020204" pitchFamily="34" charset="0"/>
                <a:ea typeface="ＭＳ Ｐゴシック" pitchFamily="34" charset="-128"/>
                <a:cs typeface="Arial" panose="020B0604020202020204" pitchFamily="34" charset="0"/>
              </a:rPr>
              <a:t>Discuss </a:t>
            </a:r>
            <a:r>
              <a:rPr lang="en-US" altLang="en-US" sz="2400">
                <a:latin typeface="Arial" panose="020B0604020202020204" pitchFamily="34" charset="0"/>
                <a:ea typeface="ＭＳ Ｐゴシック" pitchFamily="34" charset="-128"/>
                <a:cs typeface="Arial" panose="020B0604020202020204" pitchFamily="34" charset="0"/>
              </a:rPr>
              <a:t>contemporary issues in managerial decision making.</a:t>
            </a:r>
            <a:endParaRPr lang="en-US" sz="240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68000" y="284400"/>
            <a:ext cx="8229600" cy="590349"/>
          </a:xfrm>
        </p:spPr>
        <p:txBody>
          <a:bodyPr tIns="18000" bIns="18000">
            <a:spAutoFit/>
          </a:bodyPr>
          <a:lstStyle/>
          <a:p>
            <a:r>
              <a:rPr lang="en-US" altLang="en-US" sz="3600" dirty="0">
                <a:latin typeface="+mj-lt"/>
                <a:cs typeface="Arial" pitchFamily="34" charset="0"/>
              </a:rPr>
              <a:t>Learning Objective 4.1</a:t>
            </a:r>
            <a:endParaRPr lang="en-US" dirty="0">
              <a:latin typeface="+mj-lt"/>
            </a:endParaRPr>
          </a:p>
        </p:txBody>
      </p:sp>
      <p:sp>
        <p:nvSpPr>
          <p:cNvPr id="7" name="Content Placeholder 6"/>
          <p:cNvSpPr>
            <a:spLocks noGrp="1"/>
          </p:cNvSpPr>
          <p:nvPr>
            <p:ph idx="1"/>
          </p:nvPr>
        </p:nvSpPr>
        <p:spPr>
          <a:xfrm>
            <a:off x="468000" y="1295400"/>
            <a:ext cx="8229600" cy="405683"/>
          </a:xfrm>
        </p:spPr>
        <p:txBody>
          <a:bodyPr tIns="18000" bIns="18000">
            <a:spAutoFit/>
          </a:bodyPr>
          <a:lstStyle/>
          <a:p>
            <a:r>
              <a:rPr lang="en-US" sz="2400" dirty="0">
                <a:latin typeface="Arial" panose="020B0604020202020204" pitchFamily="34" charset="0"/>
                <a:cs typeface="Arial" panose="020B0604020202020204" pitchFamily="34" charset="0"/>
              </a:rPr>
              <a:t>Describe the decision-making process.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sz="3600" dirty="0">
                <a:latin typeface="+mj-lt"/>
              </a:rPr>
              <a:t>The Decision-Making Process</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268760"/>
            <a:ext cx="8280401" cy="282573"/>
          </a:xfrm>
        </p:spPr>
        <p:txBody>
          <a:bodyPr wrap="square" tIns="18000" bIns="18000">
            <a:spAutoFit/>
          </a:bodyPr>
          <a:lstStyle/>
          <a:p>
            <a:pPr marL="0" indent="0">
              <a:buNone/>
            </a:pPr>
            <a:r>
              <a:rPr lang="en-US" altLang="en-US" sz="1600" b="1" dirty="0">
                <a:latin typeface="Arial" panose="020B0604020202020204" pitchFamily="34" charset="0"/>
                <a:cs typeface="Arial" panose="020B0604020202020204" pitchFamily="34" charset="0"/>
              </a:rPr>
              <a:t>Exhibit 4.1 </a:t>
            </a:r>
            <a:r>
              <a:rPr lang="en-US" sz="1600" dirty="0">
                <a:latin typeface="Arial" panose="020B0604020202020204" pitchFamily="34" charset="0"/>
                <a:cs typeface="Arial" panose="020B0604020202020204" pitchFamily="34" charset="0"/>
              </a:rPr>
              <a:t>The Decision-Making Process</a:t>
            </a:r>
            <a:endParaRPr lang="en-US" dirty="0">
              <a:latin typeface="Arial" panose="020B0604020202020204" pitchFamily="34" charset="0"/>
              <a:cs typeface="Arial" panose="020B0604020202020204" pitchFamily="34" charset="0"/>
            </a:endParaRPr>
          </a:p>
        </p:txBody>
      </p:sp>
      <p:pic>
        <p:nvPicPr>
          <p:cNvPr id="11" name="Picture Placeholder 10" descr="A cyclic diagram shows the steps in the decision-making process.&#10;Long description is available in notes, press F6.">
            <a:extLst>
              <a:ext uri="{FF2B5EF4-FFF2-40B4-BE49-F238E27FC236}">
                <a16:creationId xmlns:a16="http://schemas.microsoft.com/office/drawing/2014/main" id="{0840BA5B-3EAF-4FF7-8F4C-0905AB378CCF}"/>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765048" y="2057400"/>
            <a:ext cx="7693152" cy="1706880"/>
          </a:xfrm>
          <a:prstGeom prst="rect">
            <a:avLst/>
          </a:prstGeom>
        </p:spPr>
      </p:pic>
    </p:spTree>
    <p:extLst>
      <p:ext uri="{BB962C8B-B14F-4D97-AF65-F5344CB8AC3E}">
        <p14:creationId xmlns:p14="http://schemas.microsoft.com/office/powerpoint/2010/main" val="3384477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68000" y="284400"/>
            <a:ext cx="8229600" cy="590349"/>
          </a:xfrm>
        </p:spPr>
        <p:txBody>
          <a:bodyPr tIns="18000" bIns="18000">
            <a:spAutoFit/>
          </a:bodyPr>
          <a:lstStyle/>
          <a:p>
            <a:r>
              <a:rPr lang="en-US" altLang="en-US" sz="3600" dirty="0">
                <a:latin typeface="+mj-lt"/>
                <a:cs typeface="Arial" pitchFamily="34" charset="0"/>
              </a:rPr>
              <a:t>Identifying a Decision Problem</a:t>
            </a:r>
            <a:endParaRPr lang="en-US" dirty="0">
              <a:latin typeface="+mj-lt"/>
            </a:endParaRPr>
          </a:p>
        </p:txBody>
      </p:sp>
      <p:sp>
        <p:nvSpPr>
          <p:cNvPr id="7" name="Content Placeholder 6"/>
          <p:cNvSpPr>
            <a:spLocks noGrp="1"/>
          </p:cNvSpPr>
          <p:nvPr>
            <p:ph idx="1"/>
          </p:nvPr>
        </p:nvSpPr>
        <p:spPr>
          <a:xfrm>
            <a:off x="468000" y="1295400"/>
            <a:ext cx="8229600" cy="1349928"/>
          </a:xfrm>
        </p:spPr>
        <p:txBody>
          <a:bodyPr tIns="18000" bIns="18000">
            <a:spAutoFit/>
          </a:bodyPr>
          <a:lstStyle/>
          <a:p>
            <a:pPr marL="0" indent="0">
              <a:buNone/>
            </a:pPr>
            <a:r>
              <a:rPr lang="en-US" sz="2400" b="1">
                <a:latin typeface="Arial" panose="020B0604020202020204" pitchFamily="34" charset="0"/>
                <a:ea typeface="ＭＳ Ｐゴシック" pitchFamily="34" charset="-128"/>
                <a:cs typeface="Arial" panose="020B0604020202020204" pitchFamily="34" charset="0"/>
              </a:rPr>
              <a:t>Problem:</a:t>
            </a:r>
            <a:endParaRPr lang="en-US" sz="2400">
              <a:latin typeface="Arial" panose="020B0604020202020204" pitchFamily="34" charset="0"/>
              <a:cs typeface="Arial" panose="020B0604020202020204" pitchFamily="34" charset="0"/>
            </a:endParaRPr>
          </a:p>
          <a:p>
            <a:r>
              <a:rPr lang="en-US" sz="2400">
                <a:latin typeface="Arial" panose="020B0604020202020204" pitchFamily="34" charset="0"/>
                <a:cs typeface="Arial" panose="020B0604020202020204" pitchFamily="34" charset="0"/>
              </a:rPr>
              <a:t>a discrepancy between an existing and a desired state of affairs.</a:t>
            </a:r>
          </a:p>
        </p:txBody>
      </p:sp>
    </p:spTree>
    <p:extLst>
      <p:ext uri="{BB962C8B-B14F-4D97-AF65-F5344CB8AC3E}">
        <p14:creationId xmlns:p14="http://schemas.microsoft.com/office/powerpoint/2010/main" val="379515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dirty="0">
                <a:latin typeface="+mj-lt"/>
                <a:cs typeface="Arial" pitchFamily="34" charset="0"/>
              </a:rPr>
              <a:t>Identifying Decision Criteria</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3" y="1268760"/>
            <a:ext cx="3341688" cy="3775837"/>
          </a:xfrm>
        </p:spPr>
        <p:txBody>
          <a:bodyPr wrap="square" tIns="18000" bIns="18000">
            <a:spAutoFit/>
          </a:bodyPr>
          <a:lstStyle/>
          <a:p>
            <a:pPr marL="0" indent="0">
              <a:buNone/>
              <a:defRPr/>
            </a:pPr>
            <a:r>
              <a:rPr lang="en-US" altLang="en-US" sz="2400" b="1">
                <a:latin typeface="Arial" panose="020B0604020202020204" pitchFamily="34" charset="0"/>
                <a:ea typeface="ＭＳ Ｐゴシック" pitchFamily="34" charset="-128"/>
                <a:cs typeface="Arial" panose="020B0604020202020204" pitchFamily="34" charset="0"/>
              </a:rPr>
              <a:t>Relevant Factors:</a:t>
            </a:r>
          </a:p>
          <a:p>
            <a:r>
              <a:rPr lang="en-US" sz="2400">
                <a:latin typeface="Arial" panose="020B0604020202020204" pitchFamily="34" charset="0"/>
                <a:cs typeface="Arial" panose="020B0604020202020204" pitchFamily="34" charset="0"/>
              </a:rPr>
              <a:t>Price</a:t>
            </a:r>
          </a:p>
          <a:p>
            <a:r>
              <a:rPr lang="en-US" sz="2400">
                <a:latin typeface="Arial" panose="020B0604020202020204" pitchFamily="34" charset="0"/>
                <a:cs typeface="Arial" panose="020B0604020202020204" pitchFamily="34" charset="0"/>
              </a:rPr>
              <a:t>Model</a:t>
            </a:r>
          </a:p>
          <a:p>
            <a:r>
              <a:rPr lang="en-US" sz="2400">
                <a:latin typeface="Arial" panose="020B0604020202020204" pitchFamily="34" charset="0"/>
                <a:cs typeface="Arial" panose="020B0604020202020204" pitchFamily="34" charset="0"/>
              </a:rPr>
              <a:t>Size</a:t>
            </a:r>
          </a:p>
          <a:p>
            <a:r>
              <a:rPr lang="en-US" sz="2400">
                <a:latin typeface="Arial" panose="020B0604020202020204" pitchFamily="34" charset="0"/>
                <a:cs typeface="Arial" panose="020B0604020202020204" pitchFamily="34" charset="0"/>
              </a:rPr>
              <a:t>Manufacturer</a:t>
            </a:r>
          </a:p>
          <a:p>
            <a:r>
              <a:rPr lang="en-US" sz="2400">
                <a:latin typeface="Arial" panose="020B0604020202020204" pitchFamily="34" charset="0"/>
                <a:cs typeface="Arial" panose="020B0604020202020204" pitchFamily="34" charset="0"/>
              </a:rPr>
              <a:t>Options</a:t>
            </a:r>
          </a:p>
          <a:p>
            <a:r>
              <a:rPr lang="en-US" sz="2400">
                <a:latin typeface="Arial" panose="020B0604020202020204" pitchFamily="34" charset="0"/>
                <a:cs typeface="Arial" panose="020B0604020202020204" pitchFamily="34" charset="0"/>
              </a:rPr>
              <a:t>Repair record</a:t>
            </a:r>
          </a:p>
        </p:txBody>
      </p:sp>
      <p:pic>
        <p:nvPicPr>
          <p:cNvPr id="6" name="Picture Placeholder 5" descr="A photo shows a woman sitting on the driver’s seat and looking at another woman in a suit, who leans inside the driver’s side window and points toward the dashboard.">
            <a:extLst>
              <a:ext uri="{FF2B5EF4-FFF2-40B4-BE49-F238E27FC236}">
                <a16:creationId xmlns:a16="http://schemas.microsoft.com/office/drawing/2014/main" id="{ADB8CDF8-835A-4563-AA69-6A5533759410}"/>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4038600" y="1600200"/>
            <a:ext cx="4315968" cy="2889504"/>
          </a:xfrm>
          <a:prstGeom prst="rect">
            <a:avLst/>
          </a:prstGeom>
        </p:spPr>
      </p:pic>
    </p:spTree>
    <p:extLst>
      <p:ext uri="{BB962C8B-B14F-4D97-AF65-F5344CB8AC3E}">
        <p14:creationId xmlns:p14="http://schemas.microsoft.com/office/powerpoint/2010/main" val="3805338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3058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Weighting Criteria</a:t>
            </a:r>
            <a:endParaRPr lang="en-US">
              <a:latin typeface="+mj-lt"/>
            </a:endParaRPr>
          </a:p>
        </p:txBody>
      </p:sp>
      <p:sp>
        <p:nvSpPr>
          <p:cNvPr id="3" name="Content Placeholder 2"/>
          <p:cNvSpPr>
            <a:spLocks noGrp="1"/>
          </p:cNvSpPr>
          <p:nvPr>
            <p:ph idx="1"/>
          </p:nvPr>
        </p:nvSpPr>
        <p:spPr>
          <a:xfrm>
            <a:off x="468000" y="1295400"/>
            <a:ext cx="8305800" cy="967376"/>
          </a:xfrm>
        </p:spPr>
        <p:txBody>
          <a:bodyPr tIns="18000" bIns="18000">
            <a:spAutoFit/>
          </a:bodyPr>
          <a:lstStyle/>
          <a:p>
            <a:pPr>
              <a:defRPr/>
            </a:pPr>
            <a:r>
              <a:rPr lang="en-US" altLang="en-US" sz="2400">
                <a:latin typeface="Arial" panose="020B0604020202020204" pitchFamily="34" charset="0"/>
                <a:ea typeface="ＭＳ Ｐゴシック" pitchFamily="34" charset="-128"/>
                <a:cs typeface="Arial" panose="020B0604020202020204" pitchFamily="34" charset="0"/>
              </a:rPr>
              <a:t>Most important criterion assigned a weight of 10</a:t>
            </a:r>
          </a:p>
          <a:p>
            <a:pPr>
              <a:defRPr/>
            </a:pPr>
            <a:r>
              <a:rPr lang="en-US" altLang="en-US" sz="2400">
                <a:latin typeface="Arial" panose="020B0604020202020204" pitchFamily="34" charset="0"/>
                <a:ea typeface="ＭＳ Ｐゴシック" pitchFamily="34" charset="-128"/>
                <a:cs typeface="Arial" panose="020B0604020202020204" pitchFamily="34" charset="0"/>
              </a:rPr>
              <a:t>Other weights assigned against this standard</a:t>
            </a:r>
            <a:endParaRPr lang="en-US" sz="2400">
              <a:latin typeface="Arial" panose="020B0604020202020204" pitchFamily="34" charset="0"/>
              <a:cs typeface="Arial" panose="020B0604020202020204" pitchFamily="34" charset="0"/>
            </a:endParaRPr>
          </a:p>
        </p:txBody>
      </p:sp>
      <p:sp>
        <p:nvSpPr>
          <p:cNvPr id="4" name="Content Placeholder 3"/>
          <p:cNvSpPr>
            <a:spLocks noGrp="1"/>
          </p:cNvSpPr>
          <p:nvPr>
            <p:ph idx="13"/>
          </p:nvPr>
        </p:nvSpPr>
        <p:spPr>
          <a:xfrm>
            <a:off x="468000" y="2438400"/>
            <a:ext cx="8295000" cy="282573"/>
          </a:xfrm>
        </p:spPr>
        <p:txBody>
          <a:bodyPr wrap="square" tIns="18000" bIns="18000">
            <a:spAutoFit/>
          </a:bodyPr>
          <a:lstStyle/>
          <a:p>
            <a:pPr marL="0" indent="0">
              <a:buNone/>
            </a:pPr>
            <a:r>
              <a:rPr lang="en-US" altLang="en-US" b="1" dirty="0">
                <a:latin typeface="Arial" panose="020B0604020202020204" pitchFamily="34" charset="0"/>
                <a:cs typeface="Arial" panose="020B0604020202020204" pitchFamily="34" charset="0"/>
              </a:rPr>
              <a:t>Exhibit 4.2 </a:t>
            </a:r>
            <a:r>
              <a:rPr lang="en-US" dirty="0">
                <a:latin typeface="Arial" panose="020B0604020202020204" pitchFamily="34" charset="0"/>
                <a:cs typeface="Arial" panose="020B0604020202020204" pitchFamily="34" charset="0"/>
              </a:rPr>
              <a:t>Important Criteria and Weights in a Car-Buying Decision</a:t>
            </a:r>
          </a:p>
        </p:txBody>
      </p:sp>
      <p:graphicFrame>
        <p:nvGraphicFramePr>
          <p:cNvPr id="9" name="Table"/>
          <p:cNvGraphicFramePr>
            <a:graphicFrameLocks/>
          </p:cNvGraphicFramePr>
          <p:nvPr>
            <p:extLst>
              <p:ext uri="{D42A27DB-BD31-4B8C-83A1-F6EECF244321}">
                <p14:modId xmlns:p14="http://schemas.microsoft.com/office/powerpoint/2010/main" val="4226013976"/>
              </p:ext>
            </p:extLst>
          </p:nvPr>
        </p:nvGraphicFramePr>
        <p:xfrm>
          <a:off x="1447800" y="3124200"/>
          <a:ext cx="6324600" cy="2761421"/>
        </p:xfrm>
        <a:graphic>
          <a:graphicData uri="http://schemas.openxmlformats.org/drawingml/2006/table">
            <a:tbl>
              <a:tblPr firstRow="1" bandRow="1">
                <a:tableStyleId>{9D7B26C5-4107-4FEC-AEDC-1716B250A1EF}</a:tableStyleId>
              </a:tblPr>
              <a:tblGrid>
                <a:gridCol w="35052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tblGrid>
              <a:tr h="570073">
                <a:tc>
                  <a:txBody>
                    <a:bodyPr/>
                    <a:lstStyle/>
                    <a:p>
                      <a:pPr algn="l"/>
                      <a:r>
                        <a:rPr lang="en-US" sz="1400" b="1" i="0" u="none" strike="noStrike" kern="1200" baseline="0" noProof="0" dirty="0">
                          <a:solidFill>
                            <a:schemeClr val="bg1"/>
                          </a:solidFill>
                          <a:latin typeface="Arial" panose="020B0604020202020204" pitchFamily="34" charset="0"/>
                          <a:ea typeface="+mn-ea"/>
                          <a:cs typeface="Arial" panose="020B0604020202020204" pitchFamily="34" charset="0"/>
                        </a:rPr>
                        <a:t>CRITERION</a:t>
                      </a: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i="0" u="none" strike="noStrike" kern="1200" baseline="0" noProof="0">
                          <a:solidFill>
                            <a:schemeClr val="bg1"/>
                          </a:solidFill>
                          <a:latin typeface="Arial" panose="020B0604020202020204" pitchFamily="34" charset="0"/>
                          <a:ea typeface="+mn-ea"/>
                          <a:cs typeface="Arial" panose="020B0604020202020204" pitchFamily="34" charset="0"/>
                        </a:rPr>
                        <a:t>WEIGHT</a:t>
                      </a:r>
                      <a:endParaRPr lang="en-US" sz="1400" noProof="0">
                        <a:solidFill>
                          <a:schemeClr val="bg1"/>
                        </a:solidFill>
                        <a:latin typeface="Arial" panose="020B0604020202020204" pitchFamily="34" charset="0"/>
                        <a:cs typeface="Arial" panose="020B0604020202020204" pitchFamily="34" charset="0"/>
                      </a:endParaRP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481463362"/>
                  </a:ext>
                </a:extLst>
              </a:tr>
              <a:tr h="397724">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Price</a:t>
                      </a:r>
                      <a:endParaRPr lang="en-US" sz="1400" noProof="0">
                        <a:latin typeface="Arial" panose="020B0604020202020204" pitchFamily="34" charset="0"/>
                        <a:cs typeface="Arial" panose="020B0604020202020204" pitchFamily="34" charset="0"/>
                      </a:endParaRP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a:latin typeface="Arial" panose="020B0604020202020204" pitchFamily="34" charset="0"/>
                          <a:cs typeface="Arial" panose="020B0604020202020204" pitchFamily="34" charset="0"/>
                        </a:rPr>
                        <a:t>10</a:t>
                      </a: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274922">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Interior comfort</a:t>
                      </a:r>
                      <a:endParaRPr lang="en-US" sz="1400" noProof="0">
                        <a:latin typeface="Arial" panose="020B0604020202020204" pitchFamily="34" charset="0"/>
                        <a:cs typeface="Arial" panose="020B0604020202020204" pitchFamily="34" charset="0"/>
                      </a:endParaRP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dirty="0">
                          <a:latin typeface="Arial" panose="020B0604020202020204" pitchFamily="34" charset="0"/>
                          <a:cs typeface="Arial" panose="020B0604020202020204" pitchFamily="34" charset="0"/>
                        </a:rPr>
                        <a:t> 8</a:t>
                      </a: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97724">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Durability</a:t>
                      </a:r>
                      <a:endParaRPr lang="en-US" sz="1400" noProof="0">
                        <a:latin typeface="Arial" panose="020B0604020202020204" pitchFamily="34" charset="0"/>
                        <a:cs typeface="Arial" panose="020B0604020202020204" pitchFamily="34" charset="0"/>
                      </a:endParaRP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dirty="0">
                          <a:latin typeface="Arial" panose="020B0604020202020204" pitchFamily="34" charset="0"/>
                          <a:cs typeface="Arial" panose="020B0604020202020204" pitchFamily="34" charset="0"/>
                        </a:rPr>
                        <a:t> 5</a:t>
                      </a: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97724">
                <a:tc>
                  <a:txBody>
                    <a:bodyPr/>
                    <a:lstStyle/>
                    <a:p>
                      <a:r>
                        <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rPr>
                        <a:t>Repair record</a:t>
                      </a:r>
                      <a:endParaRPr lang="en-US" sz="1400" noProof="0" dirty="0">
                        <a:latin typeface="Arial" panose="020B0604020202020204" pitchFamily="34" charset="0"/>
                        <a:cs typeface="Arial" panose="020B0604020202020204" pitchFamily="34" charset="0"/>
                      </a:endParaRP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dirty="0">
                          <a:latin typeface="Arial" panose="020B0604020202020204" pitchFamily="34" charset="0"/>
                          <a:cs typeface="Arial" panose="020B0604020202020204" pitchFamily="34" charset="0"/>
                        </a:rPr>
                        <a:t> 5</a:t>
                      </a: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97724">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Performance</a:t>
                      </a:r>
                      <a:endParaRPr lang="en-US" sz="1400" noProof="0">
                        <a:latin typeface="Arial" panose="020B0604020202020204" pitchFamily="34" charset="0"/>
                        <a:cs typeface="Arial" panose="020B0604020202020204" pitchFamily="34" charset="0"/>
                      </a:endParaRP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dirty="0">
                          <a:latin typeface="Arial" panose="020B0604020202020204" pitchFamily="34" charset="0"/>
                          <a:cs typeface="Arial" panose="020B0604020202020204" pitchFamily="34" charset="0"/>
                        </a:rPr>
                        <a:t> 3</a:t>
                      </a: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274922">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Handling</a:t>
                      </a:r>
                      <a:endParaRPr lang="en-US" sz="1400" noProof="0">
                        <a:latin typeface="Arial" panose="020B0604020202020204" pitchFamily="34" charset="0"/>
                        <a:cs typeface="Arial" panose="020B0604020202020204" pitchFamily="34" charset="0"/>
                      </a:endParaRP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dirty="0">
                          <a:latin typeface="Arial" panose="020B0604020202020204" pitchFamily="34" charset="0"/>
                          <a:cs typeface="Arial" panose="020B0604020202020204" pitchFamily="34" charset="0"/>
                        </a:rPr>
                        <a:t> 1</a:t>
                      </a:r>
                    </a:p>
                  </a:txBody>
                  <a:tcPr marL="86866" marR="86866" marT="43433" marB="434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dirty="0">
                <a:latin typeface="+mj-lt"/>
                <a:ea typeface="ＭＳ Ｐゴシック" pitchFamily="34" charset="-128"/>
                <a:cs typeface="Arial" charset="0"/>
              </a:rPr>
              <a:t>Developing Alternatives </a:t>
            </a:r>
            <a:r>
              <a:rPr lang="en-US" sz="2800" dirty="0">
                <a:latin typeface="+mj-lt"/>
                <a:ea typeface="ＭＳ Ｐゴシック" pitchFamily="34" charset="-128"/>
                <a:cs typeface="Arial" charset="0"/>
              </a:rPr>
              <a:t>(1 of 2)</a:t>
            </a:r>
            <a:endParaRPr lang="en-US" sz="2800" dirty="0">
              <a:latin typeface="+mj-lt"/>
            </a:endParaRPr>
          </a:p>
        </p:txBody>
      </p:sp>
      <p:sp>
        <p:nvSpPr>
          <p:cNvPr id="3" name="Content Placeholder 2"/>
          <p:cNvSpPr>
            <a:spLocks noGrp="1"/>
          </p:cNvSpPr>
          <p:nvPr>
            <p:ph idx="1"/>
          </p:nvPr>
        </p:nvSpPr>
        <p:spPr>
          <a:xfrm>
            <a:off x="468000" y="1295400"/>
            <a:ext cx="8229600" cy="4343400"/>
          </a:xfrm>
        </p:spPr>
        <p:txBody>
          <a:bodyPr tIns="18000" bIns="18000">
            <a:spAutoFit/>
          </a:bodyPr>
          <a:lstStyle/>
          <a:p>
            <a:pPr marL="0" indent="0" fontAlgn="t">
              <a:buNone/>
            </a:pPr>
            <a:r>
              <a:rPr lang="en-US" sz="2400" b="1">
                <a:latin typeface="Arial" panose="020B0604020202020204" pitchFamily="34" charset="0"/>
                <a:cs typeface="Arial" panose="020B0604020202020204" pitchFamily="34" charset="0"/>
              </a:rPr>
              <a:t>Alternatives</a:t>
            </a:r>
            <a:endParaRPr lang="en-US" sz="2400">
              <a:latin typeface="Arial" panose="020B0604020202020204" pitchFamily="34" charset="0"/>
              <a:cs typeface="Arial" panose="020B0604020202020204" pitchFamily="34" charset="0"/>
            </a:endParaRPr>
          </a:p>
          <a:p>
            <a:pPr fontAlgn="t"/>
            <a:r>
              <a:rPr lang="en-US" sz="2400">
                <a:latin typeface="Arial" panose="020B0604020202020204" pitchFamily="34" charset="0"/>
                <a:cs typeface="Arial" panose="020B0604020202020204" pitchFamily="34" charset="0"/>
              </a:rPr>
              <a:t>Jeep Compass</a:t>
            </a:r>
          </a:p>
          <a:p>
            <a:pPr fontAlgn="t"/>
            <a:r>
              <a:rPr lang="en-US" sz="2400">
                <a:latin typeface="Arial" panose="020B0604020202020204" pitchFamily="34" charset="0"/>
                <a:cs typeface="Arial" panose="020B0604020202020204" pitchFamily="34" charset="0"/>
              </a:rPr>
              <a:t>Ford Focus</a:t>
            </a:r>
          </a:p>
          <a:p>
            <a:pPr fontAlgn="t"/>
            <a:r>
              <a:rPr lang="en-US" sz="2400">
                <a:latin typeface="Arial" panose="020B0604020202020204" pitchFamily="34" charset="0"/>
                <a:cs typeface="Arial" panose="020B0604020202020204" pitchFamily="34" charset="0"/>
              </a:rPr>
              <a:t>Hyundai Elantra</a:t>
            </a:r>
          </a:p>
          <a:p>
            <a:pPr fontAlgn="t"/>
            <a:r>
              <a:rPr lang="en-US" sz="2400">
                <a:latin typeface="Arial" panose="020B0604020202020204" pitchFamily="34" charset="0"/>
                <a:cs typeface="Arial" panose="020B0604020202020204" pitchFamily="34" charset="0"/>
              </a:rPr>
              <a:t>Ford Fiesta </a:t>
            </a:r>
            <a:r>
              <a:rPr lang="en-US" sz="2400" spc="-300">
                <a:latin typeface="Arial" panose="020B0604020202020204" pitchFamily="34" charset="0"/>
                <a:cs typeface="Arial" panose="020B0604020202020204" pitchFamily="34" charset="0"/>
              </a:rPr>
              <a:t>S E </a:t>
            </a:r>
            <a:r>
              <a:rPr lang="en-US" sz="2400">
                <a:latin typeface="Arial" panose="020B0604020202020204" pitchFamily="34" charset="0"/>
                <a:cs typeface="Arial" panose="020B0604020202020204" pitchFamily="34" charset="0"/>
              </a:rPr>
              <a:t>S</a:t>
            </a:r>
          </a:p>
          <a:p>
            <a:pPr fontAlgn="t"/>
            <a:r>
              <a:rPr lang="en-US" sz="2400">
                <a:latin typeface="Arial" panose="020B0604020202020204" pitchFamily="34" charset="0"/>
                <a:cs typeface="Arial" panose="020B0604020202020204" pitchFamily="34" charset="0"/>
              </a:rPr>
              <a:t>Volkswagen Golf</a:t>
            </a:r>
          </a:p>
          <a:p>
            <a:pPr fontAlgn="t"/>
            <a:r>
              <a:rPr lang="en-US" sz="2400">
                <a:latin typeface="Arial" panose="020B0604020202020204" pitchFamily="34" charset="0"/>
                <a:cs typeface="Arial" panose="020B0604020202020204" pitchFamily="34" charset="0"/>
              </a:rPr>
              <a:t>Toyota Prius</a:t>
            </a:r>
          </a:p>
          <a:p>
            <a:pPr fontAlgn="t"/>
            <a:r>
              <a:rPr lang="en-US" sz="2400">
                <a:latin typeface="Arial" panose="020B0604020202020204" pitchFamily="34" charset="0"/>
                <a:cs typeface="Arial" panose="020B0604020202020204" pitchFamily="34" charset="0"/>
              </a:rPr>
              <a:t>Mazda 3 </a:t>
            </a:r>
            <a:r>
              <a:rPr lang="en-US" sz="2400" spc="-300">
                <a:latin typeface="Arial" panose="020B0604020202020204" pitchFamily="34" charset="0"/>
                <a:cs typeface="Arial" panose="020B0604020202020204" pitchFamily="34" charset="0"/>
              </a:rPr>
              <a:t>M </a:t>
            </a:r>
            <a:r>
              <a:rPr lang="en-US" sz="2400">
                <a:latin typeface="Arial" panose="020B0604020202020204" pitchFamily="34" charset="0"/>
                <a:cs typeface="Arial" panose="020B0604020202020204" pitchFamily="34" charset="0"/>
              </a:rPr>
              <a:t>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dirty="0">
                <a:latin typeface="+mj-lt"/>
                <a:ea typeface="ＭＳ Ｐゴシック" pitchFamily="34" charset="-128"/>
                <a:cs typeface="Arial" charset="0"/>
              </a:rPr>
              <a:t>Developing Alternatives </a:t>
            </a:r>
            <a:r>
              <a:rPr lang="en-US" sz="2800" dirty="0">
                <a:latin typeface="+mj-lt"/>
                <a:ea typeface="ＭＳ Ｐゴシック" pitchFamily="34" charset="-128"/>
                <a:cs typeface="Arial" charset="0"/>
              </a:rPr>
              <a:t>(2 of 2)</a:t>
            </a:r>
            <a:endParaRPr lang="en-US" sz="2800" dirty="0">
              <a:latin typeface="+mj-lt"/>
            </a:endParaRPr>
          </a:p>
        </p:txBody>
      </p:sp>
      <p:sp>
        <p:nvSpPr>
          <p:cNvPr id="3" name="Content Placeholder 2"/>
          <p:cNvSpPr>
            <a:spLocks noGrp="1"/>
          </p:cNvSpPr>
          <p:nvPr>
            <p:ph idx="1"/>
          </p:nvPr>
        </p:nvSpPr>
        <p:spPr>
          <a:xfrm>
            <a:off x="468000" y="1295400"/>
            <a:ext cx="8229600" cy="2652452"/>
          </a:xfrm>
        </p:spPr>
        <p:txBody>
          <a:bodyPr tIns="18000" bIns="18000">
            <a:spAutoFit/>
          </a:bodyPr>
          <a:lstStyle/>
          <a:p>
            <a:pPr fontAlgn="t"/>
            <a:r>
              <a:rPr lang="en-US" sz="2400" dirty="0">
                <a:latin typeface="Arial" panose="020B0604020202020204" pitchFamily="34" charset="0"/>
                <a:cs typeface="Arial" panose="020B0604020202020204" pitchFamily="34" charset="0"/>
              </a:rPr>
              <a:t>Kia Soul</a:t>
            </a:r>
          </a:p>
          <a:p>
            <a:pPr fontAlgn="t"/>
            <a:r>
              <a:rPr lang="en-US" sz="2400" spc="-300" dirty="0">
                <a:latin typeface="Arial" panose="020B0604020202020204" pitchFamily="34" charset="0"/>
                <a:cs typeface="Arial" panose="020B0604020202020204" pitchFamily="34" charset="0"/>
              </a:rPr>
              <a:t>B M </a:t>
            </a:r>
            <a:r>
              <a:rPr lang="en-US" sz="2400" dirty="0">
                <a:latin typeface="Arial" panose="020B0604020202020204" pitchFamily="34" charset="0"/>
                <a:cs typeface="Arial" panose="020B0604020202020204" pitchFamily="34" charset="0"/>
              </a:rPr>
              <a:t>W </a:t>
            </a:r>
            <a:r>
              <a:rPr lang="en-US" sz="24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3</a:t>
            </a:r>
          </a:p>
          <a:p>
            <a:pPr fontAlgn="t"/>
            <a:r>
              <a:rPr lang="en-US" sz="2400" dirty="0">
                <a:latin typeface="Arial" panose="020B0604020202020204" pitchFamily="34" charset="0"/>
                <a:cs typeface="Arial" panose="020B0604020202020204" pitchFamily="34" charset="0"/>
              </a:rPr>
              <a:t>Nissan Cube</a:t>
            </a:r>
          </a:p>
          <a:p>
            <a:pPr fontAlgn="t"/>
            <a:r>
              <a:rPr lang="en-US" sz="2400" dirty="0">
                <a:latin typeface="Arial" panose="020B0604020202020204" pitchFamily="34" charset="0"/>
                <a:cs typeface="Arial" panose="020B0604020202020204" pitchFamily="34" charset="0"/>
              </a:rPr>
              <a:t>Toyota Camry</a:t>
            </a:r>
          </a:p>
          <a:p>
            <a:pPr fontAlgn="t"/>
            <a:r>
              <a:rPr lang="en-US" sz="2400" dirty="0">
                <a:latin typeface="Arial" panose="020B0604020202020204" pitchFamily="34" charset="0"/>
                <a:cs typeface="Arial" panose="020B0604020202020204" pitchFamily="34" charset="0"/>
              </a:rPr>
              <a:t>Honda Fit Sport </a:t>
            </a:r>
            <a:r>
              <a:rPr lang="en-US" sz="2400" spc="-300" dirty="0">
                <a:latin typeface="Arial" panose="020B0604020202020204" pitchFamily="34" charset="0"/>
                <a:cs typeface="Arial" panose="020B0604020202020204" pitchFamily="34" charset="0"/>
              </a:rPr>
              <a:t>M </a:t>
            </a:r>
            <a:r>
              <a:rPr lang="en-US" sz="2400" dirty="0">
                <a:latin typeface="Arial" panose="020B0604020202020204" pitchFamily="34" charset="0"/>
                <a:cs typeface="Arial" panose="020B0604020202020204" pitchFamily="34" charset="0"/>
              </a:rPr>
              <a:t>T</a:t>
            </a:r>
          </a:p>
        </p:txBody>
      </p:sp>
    </p:spTree>
    <p:extLst>
      <p:ext uri="{BB962C8B-B14F-4D97-AF65-F5344CB8AC3E}">
        <p14:creationId xmlns:p14="http://schemas.microsoft.com/office/powerpoint/2010/main" val="262727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latin typeface="+mj-lt"/>
                <a:ea typeface="ＭＳ Ｐゴシック" panose="020B0600070205080204" pitchFamily="34" charset="-128"/>
                <a:cs typeface="Arial" panose="020B0604020202020204" pitchFamily="34" charset="0"/>
              </a:rPr>
              <a:t>Analyzing Alternatives</a:t>
            </a:r>
            <a:endParaRPr lang="en-US" sz="3600" dirty="0">
              <a:latin typeface="+mj-lt"/>
            </a:endParaRPr>
          </a:p>
        </p:txBody>
      </p:sp>
      <p:sp>
        <p:nvSpPr>
          <p:cNvPr id="3" name="Content Placeholder 2"/>
          <p:cNvSpPr>
            <a:spLocks noGrp="1"/>
          </p:cNvSpPr>
          <p:nvPr>
            <p:ph idx="1"/>
          </p:nvPr>
        </p:nvSpPr>
        <p:spPr>
          <a:xfrm>
            <a:off x="468000" y="1295400"/>
            <a:ext cx="8229600" cy="282573"/>
          </a:xfrm>
        </p:spPr>
        <p:txBody>
          <a:bodyPr tIns="18000" bIns="18000">
            <a:spAutoFit/>
          </a:bodyPr>
          <a:lstStyle/>
          <a:p>
            <a:pPr marL="0" indent="0">
              <a:buNone/>
            </a:pPr>
            <a:r>
              <a:rPr lang="en-US" altLang="en-US" b="1" dirty="0">
                <a:latin typeface="Arial" panose="020B0604020202020204" pitchFamily="34" charset="0"/>
                <a:cs typeface="Arial" panose="020B0604020202020204" pitchFamily="34" charset="0"/>
              </a:rPr>
              <a:t>Exhibit 4.3 </a:t>
            </a:r>
            <a:r>
              <a:rPr lang="en-US" dirty="0">
                <a:latin typeface="Arial" panose="020B0604020202020204" pitchFamily="34" charset="0"/>
                <a:cs typeface="Arial" panose="020B0604020202020204" pitchFamily="34" charset="0"/>
              </a:rPr>
              <a:t>Assessment of Possible Car Alternatives</a:t>
            </a:r>
          </a:p>
        </p:txBody>
      </p:sp>
      <p:graphicFrame>
        <p:nvGraphicFramePr>
          <p:cNvPr id="5" name="Table"/>
          <p:cNvGraphicFramePr>
            <a:graphicFrameLocks/>
          </p:cNvGraphicFramePr>
          <p:nvPr>
            <p:extLst>
              <p:ext uri="{D42A27DB-BD31-4B8C-83A1-F6EECF244321}">
                <p14:modId xmlns:p14="http://schemas.microsoft.com/office/powerpoint/2010/main" val="1702770774"/>
              </p:ext>
            </p:extLst>
          </p:nvPr>
        </p:nvGraphicFramePr>
        <p:xfrm>
          <a:off x="533400" y="1896384"/>
          <a:ext cx="8153399" cy="4301556"/>
        </p:xfrm>
        <a:graphic>
          <a:graphicData uri="http://schemas.openxmlformats.org/drawingml/2006/table">
            <a:tbl>
              <a:tblPr firstRow="1" bandRow="1">
                <a:tableStyleId>{9D7B26C5-4107-4FEC-AEDC-1716B250A1EF}</a:tableStyleId>
              </a:tblPr>
              <a:tblGrid>
                <a:gridCol w="12954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gridCol w="838199">
                  <a:extLst>
                    <a:ext uri="{9D8B030D-6E8A-4147-A177-3AD203B41FA5}">
                      <a16:colId xmlns:a16="http://schemas.microsoft.com/office/drawing/2014/main" val="20007"/>
                    </a:ext>
                  </a:extLst>
                </a:gridCol>
              </a:tblGrid>
              <a:tr h="511838">
                <a:tc>
                  <a:txBody>
                    <a:bodyPr/>
                    <a:lstStyle/>
                    <a:p>
                      <a:pPr algn="l"/>
                      <a:r>
                        <a:rPr lang="en-US" sz="1000" b="1" kern="1200" baseline="0" dirty="0">
                          <a:solidFill>
                            <a:schemeClr val="bg1"/>
                          </a:solidFill>
                          <a:latin typeface="Arial" panose="020B0604020202020204" pitchFamily="34" charset="0"/>
                          <a:cs typeface="Arial" panose="020B0604020202020204" pitchFamily="34" charset="0"/>
                        </a:rPr>
                        <a:t>ALTERNATIVES</a:t>
                      </a:r>
                      <a:endParaRPr lang="en-US" sz="1000" b="1" dirty="0">
                        <a:solidFill>
                          <a:schemeClr val="bg1"/>
                        </a:solidFill>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000" b="1" dirty="0">
                          <a:solidFill>
                            <a:schemeClr val="bg1"/>
                          </a:solidFill>
                          <a:latin typeface="Arial" panose="020B0604020202020204" pitchFamily="34" charset="0"/>
                          <a:cs typeface="Arial" panose="020B0604020202020204" pitchFamily="34" charset="0"/>
                        </a:rPr>
                        <a:t>INITIAL PRICE</a:t>
                      </a: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000" b="1" dirty="0">
                          <a:solidFill>
                            <a:schemeClr val="bg1"/>
                          </a:solidFill>
                          <a:latin typeface="Arial" panose="020B0604020202020204" pitchFamily="34" charset="0"/>
                          <a:cs typeface="Arial" panose="020B0604020202020204" pitchFamily="34" charset="0"/>
                        </a:rPr>
                        <a:t>INTERIOR COMFORT</a:t>
                      </a: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000" b="1" dirty="0">
                          <a:solidFill>
                            <a:schemeClr val="bg1"/>
                          </a:solidFill>
                          <a:latin typeface="Arial" panose="020B0604020202020204" pitchFamily="34" charset="0"/>
                          <a:cs typeface="Arial" panose="020B0604020202020204" pitchFamily="34" charset="0"/>
                        </a:rPr>
                        <a:t>DURABILITY</a:t>
                      </a: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000" b="1" dirty="0">
                          <a:solidFill>
                            <a:schemeClr val="bg1"/>
                          </a:solidFill>
                          <a:latin typeface="Arial" panose="020B0604020202020204" pitchFamily="34" charset="0"/>
                          <a:cs typeface="Arial" panose="020B0604020202020204" pitchFamily="34" charset="0"/>
                        </a:rPr>
                        <a:t>REPAIR RECORD</a:t>
                      </a: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000" b="1" dirty="0">
                          <a:solidFill>
                            <a:schemeClr val="bg1"/>
                          </a:solidFill>
                          <a:latin typeface="Arial" panose="020B0604020202020204" pitchFamily="34" charset="0"/>
                          <a:cs typeface="Arial" panose="020B0604020202020204" pitchFamily="34" charset="0"/>
                        </a:rPr>
                        <a:t>PERFORMANCE</a:t>
                      </a: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000" b="1" dirty="0">
                          <a:solidFill>
                            <a:schemeClr val="bg1"/>
                          </a:solidFill>
                          <a:latin typeface="Arial" panose="020B0604020202020204" pitchFamily="34" charset="0"/>
                          <a:cs typeface="Arial" panose="020B0604020202020204" pitchFamily="34" charset="0"/>
                        </a:rPr>
                        <a:t>HANDLING</a:t>
                      </a: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000" b="1" dirty="0">
                          <a:solidFill>
                            <a:schemeClr val="bg1"/>
                          </a:solidFill>
                          <a:latin typeface="Arial" panose="020B0604020202020204" pitchFamily="34" charset="0"/>
                          <a:cs typeface="Arial" panose="020B0604020202020204" pitchFamily="34" charset="0"/>
                        </a:rPr>
                        <a:t>TOTAL</a:t>
                      </a: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04089">
                <a:tc>
                  <a:txBody>
                    <a:bodyPr/>
                    <a:lstStyle/>
                    <a:p>
                      <a:r>
                        <a:rPr lang="en-US" sz="1000" kern="1200" baseline="0" dirty="0">
                          <a:latin typeface="Arial" panose="020B0604020202020204" pitchFamily="34" charset="0"/>
                          <a:cs typeface="Arial" panose="020B0604020202020204" pitchFamily="34" charset="0"/>
                        </a:rPr>
                        <a:t>Jeep Compass</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2</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291364">
                <a:tc>
                  <a:txBody>
                    <a:bodyPr/>
                    <a:lstStyle/>
                    <a:p>
                      <a:r>
                        <a:rPr lang="en-US" sz="1000" kern="1200" baseline="0" dirty="0">
                          <a:latin typeface="Arial" panose="020B0604020202020204" pitchFamily="34" charset="0"/>
                          <a:cs typeface="Arial" panose="020B0604020202020204" pitchFamily="34" charset="0"/>
                        </a:rPr>
                        <a:t>Ford Focus</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40</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295057">
                <a:tc>
                  <a:txBody>
                    <a:bodyPr/>
                    <a:lstStyle/>
                    <a:p>
                      <a:r>
                        <a:rPr lang="en-US" sz="1000" kern="1200" baseline="0" dirty="0">
                          <a:latin typeface="Arial" panose="020B0604020202020204" pitchFamily="34" charset="0"/>
                          <a:cs typeface="Arial" panose="020B0604020202020204" pitchFamily="34" charset="0"/>
                        </a:rPr>
                        <a:t>Hyundai Elantra</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16088">
                <a:tc>
                  <a:txBody>
                    <a:bodyPr/>
                    <a:lstStyle/>
                    <a:p>
                      <a:r>
                        <a:rPr lang="en-US" sz="1000" kern="1200" baseline="0" dirty="0">
                          <a:latin typeface="Arial" panose="020B0604020202020204" pitchFamily="34" charset="0"/>
                          <a:cs typeface="Arial" panose="020B0604020202020204" pitchFamily="34" charset="0"/>
                        </a:rPr>
                        <a:t>Ford Fiesta </a:t>
                      </a:r>
                      <a:r>
                        <a:rPr lang="en-US" sz="1000" kern="1200" spc="-200" baseline="0" dirty="0">
                          <a:latin typeface="Arial" panose="020B0604020202020204" pitchFamily="34" charset="0"/>
                          <a:cs typeface="Arial" panose="020B0604020202020204" pitchFamily="34" charset="0"/>
                        </a:rPr>
                        <a:t>S E </a:t>
                      </a:r>
                      <a:r>
                        <a:rPr lang="en-US" sz="1000" kern="1200" baseline="0" dirty="0">
                          <a:latin typeface="Arial" panose="020B0604020202020204" pitchFamily="34" charset="0"/>
                          <a:cs typeface="Arial" panose="020B0604020202020204" pitchFamily="34" charset="0"/>
                        </a:rPr>
                        <a:t>S</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274025">
                <a:tc>
                  <a:txBody>
                    <a:bodyPr/>
                    <a:lstStyle/>
                    <a:p>
                      <a:r>
                        <a:rPr lang="en-US" sz="1000" kern="1200" baseline="0" dirty="0">
                          <a:latin typeface="Arial" panose="020B0604020202020204" pitchFamily="34" charset="0"/>
                          <a:cs typeface="Arial" panose="020B0604020202020204" pitchFamily="34" charset="0"/>
                        </a:rPr>
                        <a:t>Volkswagen Golf</a:t>
                      </a:r>
                    </a:p>
                    <a:p>
                      <a:r>
                        <a:rPr lang="en-US" sz="1000" kern="1200" spc="-200" baseline="0" dirty="0">
                          <a:latin typeface="Arial" panose="020B0604020202020204" pitchFamily="34" charset="0"/>
                          <a:cs typeface="Arial" panose="020B0604020202020204" pitchFamily="34" charset="0"/>
                        </a:rPr>
                        <a:t>G T </a:t>
                      </a:r>
                      <a:r>
                        <a:rPr lang="en-US" sz="1000" kern="1200" baseline="0" dirty="0">
                          <a:latin typeface="Arial" panose="020B0604020202020204" pitchFamily="34" charset="0"/>
                          <a:cs typeface="Arial" panose="020B0604020202020204" pitchFamily="34" charset="0"/>
                        </a:rPr>
                        <a:t>I</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44</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291364">
                <a:tc>
                  <a:txBody>
                    <a:bodyPr/>
                    <a:lstStyle/>
                    <a:p>
                      <a:r>
                        <a:rPr lang="en-US" sz="1000" kern="1200" baseline="0" dirty="0">
                          <a:latin typeface="Arial" panose="020B0604020202020204" pitchFamily="34" charset="0"/>
                          <a:cs typeface="Arial" panose="020B0604020202020204" pitchFamily="34" charset="0"/>
                        </a:rPr>
                        <a:t>Toyota Prius</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31</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291364">
                <a:tc>
                  <a:txBody>
                    <a:bodyPr/>
                    <a:lstStyle/>
                    <a:p>
                      <a:r>
                        <a:rPr lang="en-US" sz="1000" kern="1200" baseline="0" dirty="0">
                          <a:latin typeface="Arial" panose="020B0604020202020204" pitchFamily="34" charset="0"/>
                          <a:cs typeface="Arial" panose="020B0604020202020204" pitchFamily="34" charset="0"/>
                        </a:rPr>
                        <a:t>Mazda 3 </a:t>
                      </a:r>
                      <a:r>
                        <a:rPr lang="en-US" sz="1000" kern="1200" spc="-200" baseline="0" dirty="0">
                          <a:latin typeface="Arial" panose="020B0604020202020204" pitchFamily="34" charset="0"/>
                          <a:cs typeface="Arial" panose="020B0604020202020204" pitchFamily="34" charset="0"/>
                        </a:rPr>
                        <a:t>M </a:t>
                      </a:r>
                      <a:r>
                        <a:rPr lang="en-US" sz="1000" kern="1200" baseline="0" dirty="0">
                          <a:latin typeface="Arial" panose="020B0604020202020204" pitchFamily="34" charset="0"/>
                          <a:cs typeface="Arial" panose="020B0604020202020204" pitchFamily="34" charset="0"/>
                        </a:rPr>
                        <a:t>T</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42</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291364">
                <a:tc>
                  <a:txBody>
                    <a:bodyPr/>
                    <a:lstStyle/>
                    <a:p>
                      <a:r>
                        <a:rPr lang="en-US" sz="1000" kern="1200" baseline="0" dirty="0">
                          <a:latin typeface="Arial" panose="020B0604020202020204" pitchFamily="34" charset="0"/>
                          <a:cs typeface="Arial" panose="020B0604020202020204" pitchFamily="34" charset="0"/>
                        </a:rPr>
                        <a:t>Kia Soul</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291364">
                <a:tc>
                  <a:txBody>
                    <a:bodyPr/>
                    <a:lstStyle/>
                    <a:p>
                      <a:r>
                        <a:rPr lang="en-US" sz="1000" kern="1200" baseline="0" dirty="0">
                          <a:latin typeface="Arial" panose="020B0604020202020204" pitchFamily="34" charset="0"/>
                          <a:cs typeface="Arial" panose="020B0604020202020204" pitchFamily="34" charset="0"/>
                        </a:rPr>
                        <a:t>BMW </a:t>
                      </a:r>
                      <a:r>
                        <a:rPr lang="en-US" sz="1000" kern="1200" baseline="0" dirty="0" err="1">
                          <a:latin typeface="Arial" panose="020B0604020202020204" pitchFamily="34" charset="0"/>
                          <a:cs typeface="Arial" panose="020B0604020202020204" pitchFamily="34" charset="0"/>
                        </a:rPr>
                        <a:t>i</a:t>
                      </a:r>
                      <a:r>
                        <a:rPr lang="en-US" sz="100" kern="1200" baseline="0" dirty="0">
                          <a:latin typeface="Arial" panose="020B0604020202020204" pitchFamily="34" charset="0"/>
                          <a:cs typeface="Arial" panose="020B0604020202020204" pitchFamily="34" charset="0"/>
                        </a:rPr>
                        <a:t> </a:t>
                      </a:r>
                      <a:r>
                        <a:rPr lang="en-US" sz="1000" kern="1200" baseline="0" dirty="0">
                          <a:latin typeface="Arial" panose="020B0604020202020204" pitchFamily="34" charset="0"/>
                          <a:cs typeface="Arial" panose="020B0604020202020204" pitchFamily="34" charset="0"/>
                        </a:rPr>
                        <a:t>3</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291364">
                <a:tc>
                  <a:txBody>
                    <a:bodyPr/>
                    <a:lstStyle/>
                    <a:p>
                      <a:r>
                        <a:rPr lang="en-US" sz="1000" kern="1200" baseline="0" dirty="0">
                          <a:latin typeface="Arial" panose="020B0604020202020204" pitchFamily="34" charset="0"/>
                          <a:cs typeface="Arial" panose="020B0604020202020204" pitchFamily="34" charset="0"/>
                        </a:rPr>
                        <a:t>Nissan Cube</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42</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r h="291364">
                <a:tc>
                  <a:txBody>
                    <a:bodyPr/>
                    <a:lstStyle/>
                    <a:p>
                      <a:r>
                        <a:rPr lang="en-US" sz="1000" kern="1200" baseline="0" dirty="0">
                          <a:latin typeface="Arial" panose="020B0604020202020204" pitchFamily="34" charset="0"/>
                          <a:cs typeface="Arial" panose="020B0604020202020204" pitchFamily="34" charset="0"/>
                        </a:rPr>
                        <a:t>Toyota Camry</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43</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1"/>
                  </a:ext>
                </a:extLst>
              </a:tr>
              <a:tr h="441620">
                <a:tc>
                  <a:txBody>
                    <a:bodyPr/>
                    <a:lstStyle/>
                    <a:p>
                      <a:r>
                        <a:rPr lang="en-US" sz="1000" kern="1200" baseline="0" dirty="0">
                          <a:latin typeface="Arial" panose="020B0604020202020204" pitchFamily="34" charset="0"/>
                          <a:cs typeface="Arial" panose="020B0604020202020204" pitchFamily="34" charset="0"/>
                        </a:rPr>
                        <a:t>Honda Fit Sport </a:t>
                      </a:r>
                      <a:r>
                        <a:rPr lang="en-US" sz="1000" kern="1200" spc="-200" baseline="0" dirty="0">
                          <a:latin typeface="Arial" panose="020B0604020202020204" pitchFamily="34" charset="0"/>
                          <a:cs typeface="Arial" panose="020B0604020202020204" pitchFamily="34" charset="0"/>
                        </a:rPr>
                        <a:t>M </a:t>
                      </a:r>
                      <a:r>
                        <a:rPr lang="en-US" sz="1000" kern="1200" baseline="0" dirty="0">
                          <a:latin typeface="Arial" panose="020B0604020202020204" pitchFamily="34" charset="0"/>
                          <a:cs typeface="Arial" panose="020B0604020202020204" pitchFamily="34" charset="0"/>
                        </a:rPr>
                        <a:t>T</a:t>
                      </a:r>
                      <a:endParaRPr lang="en-US" sz="1000" dirty="0">
                        <a:latin typeface="Arial" panose="020B0604020202020204" pitchFamily="34" charset="0"/>
                        <a:cs typeface="Arial" panose="020B0604020202020204" pitchFamily="34" charset="0"/>
                      </a:endParaRPr>
                    </a:p>
                  </a:txBody>
                  <a:tcPr marL="88517" marR="88517" marT="44258" marB="442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40</a:t>
                      </a:r>
                    </a:p>
                  </a:txBody>
                  <a:tcPr marL="88517" marR="88517" marT="44258" marB="442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A505740-931A-4453-B3E1-2644ED547BC5}"/>
              </a:ext>
            </a:extLst>
          </p:cNvPr>
          <p:cNvSpPr>
            <a:spLocks noGrp="1"/>
          </p:cNvSpPr>
          <p:nvPr>
            <p:ph type="title"/>
          </p:nvPr>
        </p:nvSpPr>
        <p:spPr>
          <a:xfrm>
            <a:off x="466344" y="283464"/>
            <a:ext cx="8229600" cy="590931"/>
          </a:xfrm>
        </p:spPr>
        <p:txBody>
          <a:bodyPr tIns="18288" bIns="18288">
            <a:spAutoFit/>
          </a:bodyPr>
          <a:lstStyle/>
          <a:p>
            <a:r>
              <a:rPr kumimoji="0" lang="en-US" altLang="en-US" sz="3600" b="1" i="0" u="none" strike="noStrike" kern="1200" cap="none" spc="0" normalizeH="0" baseline="0" noProof="0" dirty="0">
                <a:ln>
                  <a:noFill/>
                </a:ln>
                <a:solidFill>
                  <a:srgbClr val="007FA3"/>
                </a:solidFill>
                <a:effectLst/>
                <a:uLnTx/>
                <a:uFillTx/>
                <a:latin typeface="+mj-lt"/>
                <a:ea typeface="ＭＳ Ｐゴシック" panose="020B0600070205080204" pitchFamily="34" charset="-128"/>
                <a:cs typeface="Arial" panose="020B0604020202020204" pitchFamily="34" charset="0"/>
              </a:rPr>
              <a:t>Selecting the Best Alternative </a:t>
            </a:r>
            <a:r>
              <a:rPr kumimoji="0" lang="en-US" altLang="en-US" sz="2800" b="1" i="0" u="none" strike="noStrike" kern="1200" cap="none" spc="0" normalizeH="0" baseline="0" noProof="0" dirty="0">
                <a:ln>
                  <a:noFill/>
                </a:ln>
                <a:solidFill>
                  <a:srgbClr val="007FA3"/>
                </a:solidFill>
                <a:effectLst/>
                <a:uLnTx/>
                <a:uFillTx/>
                <a:latin typeface="+mj-lt"/>
                <a:ea typeface="ＭＳ Ｐゴシック" panose="020B0600070205080204" pitchFamily="34" charset="-128"/>
                <a:cs typeface="Arial" panose="020B0604020202020204" pitchFamily="34" charset="0"/>
              </a:rPr>
              <a:t>(1 of 2)</a:t>
            </a:r>
            <a:endParaRPr lang="en-US" dirty="0">
              <a:latin typeface="+mj-lt"/>
            </a:endParaRPr>
          </a:p>
        </p:txBody>
      </p:sp>
      <p:sp>
        <p:nvSpPr>
          <p:cNvPr id="7" name="Content Placeholder 6">
            <a:extLst>
              <a:ext uri="{FF2B5EF4-FFF2-40B4-BE49-F238E27FC236}">
                <a16:creationId xmlns:a16="http://schemas.microsoft.com/office/drawing/2014/main" id="{ABC691BF-BF60-442D-B53F-E27A6E71DC0B}"/>
              </a:ext>
            </a:extLst>
          </p:cNvPr>
          <p:cNvSpPr>
            <a:spLocks noGrp="1"/>
          </p:cNvSpPr>
          <p:nvPr>
            <p:ph idx="1"/>
          </p:nvPr>
        </p:nvSpPr>
        <p:spPr>
          <a:xfrm>
            <a:off x="457200" y="1295400"/>
            <a:ext cx="5715000" cy="283154"/>
          </a:xfrm>
        </p:spPr>
        <p:txBody>
          <a:bodyPr wrap="square" tIns="18288" bIns="18288">
            <a:spAutoFit/>
          </a:bodyPr>
          <a:lstStyle/>
          <a:p>
            <a:pPr marL="0" indent="0">
              <a:buNone/>
            </a:pPr>
            <a:r>
              <a:rPr lang="en-US" altLang="en-US" b="1" dirty="0">
                <a:latin typeface="Arial" panose="020B0604020202020204" pitchFamily="34" charset="0"/>
                <a:cs typeface="Arial" panose="020B0604020202020204" pitchFamily="34" charset="0"/>
              </a:rPr>
              <a:t>Exhibit 4.4 </a:t>
            </a:r>
            <a:r>
              <a:rPr lang="en-US" dirty="0">
                <a:latin typeface="Arial" panose="020B0604020202020204" pitchFamily="34" charset="0"/>
                <a:cs typeface="Arial" panose="020B0604020202020204" pitchFamily="34" charset="0"/>
              </a:rPr>
              <a:t>Evaluation of Car Alternatives: Assessment Criteria </a:t>
            </a:r>
            <a:endParaRPr lang="en-US" dirty="0"/>
          </a:p>
        </p:txBody>
      </p:sp>
      <p:graphicFrame>
        <p:nvGraphicFramePr>
          <p:cNvPr id="10" name="Object 9" descr="Times.">
            <a:extLst>
              <a:ext uri="{FF2B5EF4-FFF2-40B4-BE49-F238E27FC236}">
                <a16:creationId xmlns:a16="http://schemas.microsoft.com/office/drawing/2014/main" id="{B9CFEC99-BAB2-4C21-80B6-C37EBB209DCD}"/>
              </a:ext>
            </a:extLst>
          </p:cNvPr>
          <p:cNvGraphicFramePr>
            <a:graphicFrameLocks noChangeAspect="1"/>
          </p:cNvGraphicFramePr>
          <p:nvPr/>
        </p:nvGraphicFramePr>
        <p:xfrm>
          <a:off x="6223355" y="1335731"/>
          <a:ext cx="202489" cy="202489"/>
        </p:xfrm>
        <a:graphic>
          <a:graphicData uri="http://schemas.openxmlformats.org/presentationml/2006/ole">
            <mc:AlternateContent xmlns:mc="http://schemas.openxmlformats.org/markup-compatibility/2006">
              <mc:Choice xmlns:v="urn:schemas-microsoft-com:vml" Requires="v">
                <p:oleObj name="Equation" r:id="rId3" imgW="114120" imgH="114120" progId="Equation.DSMT4">
                  <p:embed/>
                </p:oleObj>
              </mc:Choice>
              <mc:Fallback>
                <p:oleObj name="Equation" r:id="rId3" imgW="114120" imgH="114120" progId="Equation.DSMT4">
                  <p:embed/>
                  <p:pic>
                    <p:nvPicPr>
                      <p:cNvPr id="10" name="Object 9" descr="Times.">
                        <a:extLst>
                          <a:ext uri="{FF2B5EF4-FFF2-40B4-BE49-F238E27FC236}">
                            <a16:creationId xmlns:a16="http://schemas.microsoft.com/office/drawing/2014/main" id="{B9CFEC99-BAB2-4C21-80B6-C37EBB209DCD}"/>
                          </a:ext>
                        </a:extLst>
                      </p:cNvPr>
                      <p:cNvPicPr/>
                      <p:nvPr/>
                    </p:nvPicPr>
                    <p:blipFill>
                      <a:blip r:embed="rId4"/>
                      <a:stretch>
                        <a:fillRect/>
                      </a:stretch>
                    </p:blipFill>
                    <p:spPr>
                      <a:xfrm>
                        <a:off x="6223355" y="1335731"/>
                        <a:ext cx="202489" cy="202489"/>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6F5E767D-053F-473F-B38C-F86C9A96515F}"/>
              </a:ext>
            </a:extLst>
          </p:cNvPr>
          <p:cNvSpPr>
            <a:spLocks noGrp="1"/>
          </p:cNvSpPr>
          <p:nvPr>
            <p:ph idx="13"/>
          </p:nvPr>
        </p:nvSpPr>
        <p:spPr>
          <a:xfrm>
            <a:off x="6477000" y="1295400"/>
            <a:ext cx="1371600" cy="283153"/>
          </a:xfrm>
        </p:spPr>
        <p:txBody>
          <a:bodyPr wrap="square" tIns="18288" bIns="18288">
            <a:spAutoFit/>
          </a:bodyPr>
          <a:lstStyle/>
          <a:p>
            <a:pPr marL="0" indent="0">
              <a:buNone/>
            </a:pPr>
            <a:r>
              <a:rPr lang="en-US" dirty="0">
                <a:latin typeface="Arial" panose="020B0604020202020204" pitchFamily="34" charset="0"/>
                <a:cs typeface="Arial" panose="020B0604020202020204" pitchFamily="34" charset="0"/>
              </a:rPr>
              <a:t>Criteria Weight</a:t>
            </a:r>
            <a:endParaRPr lang="en-US" dirty="0"/>
          </a:p>
        </p:txBody>
      </p:sp>
      <p:graphicFrame>
        <p:nvGraphicFramePr>
          <p:cNvPr id="9" name="Table">
            <a:extLst>
              <a:ext uri="{FF2B5EF4-FFF2-40B4-BE49-F238E27FC236}">
                <a16:creationId xmlns:a16="http://schemas.microsoft.com/office/drawing/2014/main" id="{7AB0E1E4-E0A0-4839-A882-A2DB8AD75AED}"/>
              </a:ext>
            </a:extLst>
          </p:cNvPr>
          <p:cNvGraphicFramePr>
            <a:graphicFrameLocks/>
          </p:cNvGraphicFramePr>
          <p:nvPr>
            <p:extLst>
              <p:ext uri="{D42A27DB-BD31-4B8C-83A1-F6EECF244321}">
                <p14:modId xmlns:p14="http://schemas.microsoft.com/office/powerpoint/2010/main" val="2211227659"/>
              </p:ext>
            </p:extLst>
          </p:nvPr>
        </p:nvGraphicFramePr>
        <p:xfrm>
          <a:off x="486265" y="2091105"/>
          <a:ext cx="8257881" cy="2229473"/>
        </p:xfrm>
        <a:graphic>
          <a:graphicData uri="http://schemas.openxmlformats.org/drawingml/2006/table">
            <a:tbl>
              <a:tblPr firstRow="1" bandRow="1">
                <a:tableStyleId>{9D7B26C5-4107-4FEC-AEDC-1716B250A1EF}</a:tableStyleId>
              </a:tblPr>
              <a:tblGrid>
                <a:gridCol w="838200">
                  <a:extLst>
                    <a:ext uri="{9D8B030D-6E8A-4147-A177-3AD203B41FA5}">
                      <a16:colId xmlns:a16="http://schemas.microsoft.com/office/drawing/2014/main" val="20000"/>
                    </a:ext>
                  </a:extLst>
                </a:gridCol>
                <a:gridCol w="463461">
                  <a:extLst>
                    <a:ext uri="{9D8B030D-6E8A-4147-A177-3AD203B41FA5}">
                      <a16:colId xmlns:a16="http://schemas.microsoft.com/office/drawing/2014/main" val="20001"/>
                    </a:ext>
                  </a:extLst>
                </a:gridCol>
                <a:gridCol w="433586">
                  <a:extLst>
                    <a:ext uri="{9D8B030D-6E8A-4147-A177-3AD203B41FA5}">
                      <a16:colId xmlns:a16="http://schemas.microsoft.com/office/drawing/2014/main" val="1181363898"/>
                    </a:ext>
                  </a:extLst>
                </a:gridCol>
                <a:gridCol w="585600">
                  <a:extLst>
                    <a:ext uri="{9D8B030D-6E8A-4147-A177-3AD203B41FA5}">
                      <a16:colId xmlns:a16="http://schemas.microsoft.com/office/drawing/2014/main" val="20002"/>
                    </a:ext>
                  </a:extLst>
                </a:gridCol>
                <a:gridCol w="609600">
                  <a:extLst>
                    <a:ext uri="{9D8B030D-6E8A-4147-A177-3AD203B41FA5}">
                      <a16:colId xmlns:a16="http://schemas.microsoft.com/office/drawing/2014/main" val="3231379719"/>
                    </a:ext>
                  </a:extLst>
                </a:gridCol>
                <a:gridCol w="533400">
                  <a:extLst>
                    <a:ext uri="{9D8B030D-6E8A-4147-A177-3AD203B41FA5}">
                      <a16:colId xmlns:a16="http://schemas.microsoft.com/office/drawing/2014/main" val="20003"/>
                    </a:ext>
                  </a:extLst>
                </a:gridCol>
                <a:gridCol w="685800">
                  <a:extLst>
                    <a:ext uri="{9D8B030D-6E8A-4147-A177-3AD203B41FA5}">
                      <a16:colId xmlns:a16="http://schemas.microsoft.com/office/drawing/2014/main" val="1754768655"/>
                    </a:ext>
                  </a:extLst>
                </a:gridCol>
                <a:gridCol w="581944">
                  <a:extLst>
                    <a:ext uri="{9D8B030D-6E8A-4147-A177-3AD203B41FA5}">
                      <a16:colId xmlns:a16="http://schemas.microsoft.com/office/drawing/2014/main" val="20004"/>
                    </a:ext>
                  </a:extLst>
                </a:gridCol>
                <a:gridCol w="561056">
                  <a:extLst>
                    <a:ext uri="{9D8B030D-6E8A-4147-A177-3AD203B41FA5}">
                      <a16:colId xmlns:a16="http://schemas.microsoft.com/office/drawing/2014/main" val="3110119285"/>
                    </a:ext>
                  </a:extLst>
                </a:gridCol>
                <a:gridCol w="685800">
                  <a:extLst>
                    <a:ext uri="{9D8B030D-6E8A-4147-A177-3AD203B41FA5}">
                      <a16:colId xmlns:a16="http://schemas.microsoft.com/office/drawing/2014/main" val="20005"/>
                    </a:ext>
                  </a:extLst>
                </a:gridCol>
                <a:gridCol w="838200">
                  <a:extLst>
                    <a:ext uri="{9D8B030D-6E8A-4147-A177-3AD203B41FA5}">
                      <a16:colId xmlns:a16="http://schemas.microsoft.com/office/drawing/2014/main" val="531543920"/>
                    </a:ext>
                  </a:extLst>
                </a:gridCol>
                <a:gridCol w="457200">
                  <a:extLst>
                    <a:ext uri="{9D8B030D-6E8A-4147-A177-3AD203B41FA5}">
                      <a16:colId xmlns:a16="http://schemas.microsoft.com/office/drawing/2014/main" val="20006"/>
                    </a:ext>
                  </a:extLst>
                </a:gridCol>
                <a:gridCol w="609600">
                  <a:extLst>
                    <a:ext uri="{9D8B030D-6E8A-4147-A177-3AD203B41FA5}">
                      <a16:colId xmlns:a16="http://schemas.microsoft.com/office/drawing/2014/main" val="1324183281"/>
                    </a:ext>
                  </a:extLst>
                </a:gridCol>
                <a:gridCol w="374434">
                  <a:extLst>
                    <a:ext uri="{9D8B030D-6E8A-4147-A177-3AD203B41FA5}">
                      <a16:colId xmlns:a16="http://schemas.microsoft.com/office/drawing/2014/main" val="20007"/>
                    </a:ext>
                  </a:extLst>
                </a:gridCol>
              </a:tblGrid>
              <a:tr h="496784">
                <a:tc>
                  <a:txBody>
                    <a:bodyPr/>
                    <a:lstStyle/>
                    <a:p>
                      <a:pPr algn="l"/>
                      <a:r>
                        <a:rPr lang="en-US" sz="800" b="1" kern="1200" baseline="0" dirty="0">
                          <a:solidFill>
                            <a:schemeClr val="bg1"/>
                          </a:solidFill>
                          <a:latin typeface="Arial" panose="020B0604020202020204" pitchFamily="34" charset="0"/>
                          <a:cs typeface="Arial" panose="020B0604020202020204" pitchFamily="34" charset="0"/>
                        </a:rPr>
                        <a:t>ALTERNATIVES</a:t>
                      </a:r>
                      <a:endParaRPr lang="en-US" sz="800" b="1" dirty="0">
                        <a:solidFill>
                          <a:schemeClr val="bg1"/>
                        </a:solidFill>
                        <a:latin typeface="Arial" panose="020B0604020202020204" pitchFamily="34" charset="0"/>
                        <a:cs typeface="Arial" panose="020B0604020202020204" pitchFamily="34" charset="0"/>
                      </a:endParaRP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INITIAL PRICE</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bg1"/>
                          </a:solidFill>
                          <a:latin typeface="Arial" panose="020B0604020202020204" pitchFamily="34" charset="0"/>
                          <a:cs typeface="Arial" panose="020B0604020202020204" pitchFamily="34" charset="0"/>
                        </a:rPr>
                        <a:t>INITIAL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bg1"/>
                          </a:solidFill>
                          <a:latin typeface="Arial" panose="020B0604020202020204" pitchFamily="34" charset="0"/>
                          <a:cs typeface="Arial" panose="020B0604020202020204" pitchFamily="34" charset="0"/>
                        </a:rPr>
                        <a:t>[10]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INTERIOR COMFORT</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bg1"/>
                          </a:solidFill>
                          <a:latin typeface="Arial" panose="020B0604020202020204" pitchFamily="34" charset="0"/>
                          <a:cs typeface="Arial" panose="020B0604020202020204" pitchFamily="34" charset="0"/>
                        </a:rPr>
                        <a:t>INTERIOR COMFORT</a:t>
                      </a:r>
                    </a:p>
                    <a:p>
                      <a:pPr algn="ctr"/>
                      <a:r>
                        <a:rPr lang="en-US" sz="800" b="1" dirty="0">
                          <a:solidFill>
                            <a:schemeClr val="bg1"/>
                          </a:solidFill>
                          <a:latin typeface="Arial" panose="020B0604020202020204" pitchFamily="34" charset="0"/>
                          <a:cs typeface="Arial" panose="020B0604020202020204" pitchFamily="34" charset="0"/>
                        </a:rPr>
                        <a:t>[8]</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DURABILITY</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bg1"/>
                          </a:solidFill>
                          <a:latin typeface="Arial" panose="020B0604020202020204" pitchFamily="34" charset="0"/>
                          <a:cs typeface="Arial" panose="020B0604020202020204" pitchFamily="34" charset="0"/>
                        </a:rPr>
                        <a:t>DURABILITY</a:t>
                      </a:r>
                    </a:p>
                    <a:p>
                      <a:pPr algn="ctr"/>
                      <a:r>
                        <a:rPr lang="en-US" sz="800" b="1" dirty="0">
                          <a:solidFill>
                            <a:schemeClr val="bg1"/>
                          </a:solidFill>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REPAIR RECORD</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REPAIR RECORD</a:t>
                      </a:r>
                    </a:p>
                    <a:p>
                      <a:pPr algn="ctr"/>
                      <a:r>
                        <a:rPr lang="en-US" sz="800" b="1" dirty="0">
                          <a:solidFill>
                            <a:schemeClr val="bg1"/>
                          </a:solidFill>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PERFORMANCE</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PERFORMANCE</a:t>
                      </a:r>
                    </a:p>
                    <a:p>
                      <a:pPr algn="ctr"/>
                      <a:r>
                        <a:rPr lang="en-US" sz="800" b="1" dirty="0">
                          <a:solidFill>
                            <a:schemeClr val="bg1"/>
                          </a:solidFill>
                          <a:latin typeface="Arial" panose="020B0604020202020204" pitchFamily="34" charset="0"/>
                          <a:cs typeface="Arial" panose="020B0604020202020204" pitchFamily="34" charset="0"/>
                        </a:rPr>
                        <a:t>[3]</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HANDLING</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bg1"/>
                          </a:solidFill>
                          <a:latin typeface="Arial" panose="020B0604020202020204" pitchFamily="34" charset="0"/>
                          <a:cs typeface="Arial" panose="020B0604020202020204" pitchFamily="34" charset="0"/>
                        </a:rPr>
                        <a:t>HANDLING</a:t>
                      </a:r>
                    </a:p>
                    <a:p>
                      <a:pPr algn="ctr"/>
                      <a:r>
                        <a:rPr lang="en-US" sz="800" b="1" dirty="0">
                          <a:solidFill>
                            <a:schemeClr val="bg1"/>
                          </a:solidFill>
                          <a:latin typeface="Arial" panose="020B0604020202020204" pitchFamily="34" charset="0"/>
                          <a:cs typeface="Arial" panose="020B0604020202020204" pitchFamily="34" charset="0"/>
                        </a:rPr>
                        <a:t>[1]</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TOTAL</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295146">
                <a:tc>
                  <a:txBody>
                    <a:bodyPr/>
                    <a:lstStyle/>
                    <a:p>
                      <a:r>
                        <a:rPr lang="en-US" sz="800" kern="1200" baseline="0" dirty="0">
                          <a:latin typeface="Arial" panose="020B0604020202020204" pitchFamily="34" charset="0"/>
                          <a:cs typeface="Arial" panose="020B0604020202020204" pitchFamily="34" charset="0"/>
                        </a:rPr>
                        <a:t>Jeep Compass</a:t>
                      </a:r>
                      <a:endParaRPr lang="en-US" sz="800" dirty="0">
                        <a:latin typeface="Arial" panose="020B0604020202020204" pitchFamily="34" charset="0"/>
                        <a:cs typeface="Arial" panose="020B0604020202020204" pitchFamily="34" charset="0"/>
                      </a:endParaRP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2</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80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195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282795">
                <a:tc>
                  <a:txBody>
                    <a:bodyPr/>
                    <a:lstStyle/>
                    <a:p>
                      <a:r>
                        <a:rPr lang="en-US" sz="800" kern="1200" baseline="0" dirty="0">
                          <a:latin typeface="Arial" panose="020B0604020202020204" pitchFamily="34" charset="0"/>
                          <a:cs typeface="Arial" panose="020B0604020202020204" pitchFamily="34" charset="0"/>
                        </a:rPr>
                        <a:t>Ford Focus</a:t>
                      </a:r>
                      <a:endParaRPr lang="en-US" sz="800" dirty="0">
                        <a:latin typeface="Arial" panose="020B0604020202020204" pitchFamily="34" charset="0"/>
                        <a:cs typeface="Arial" panose="020B0604020202020204" pitchFamily="34" charset="0"/>
                      </a:endParaRP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90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48</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24</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223</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286380">
                <a:tc>
                  <a:txBody>
                    <a:bodyPr/>
                    <a:lstStyle/>
                    <a:p>
                      <a:r>
                        <a:rPr lang="en-US" sz="800" kern="1200" baseline="0" dirty="0">
                          <a:latin typeface="Arial" panose="020B0604020202020204" pitchFamily="34" charset="0"/>
                          <a:cs typeface="Arial" panose="020B0604020202020204" pitchFamily="34" charset="0"/>
                        </a:rPr>
                        <a:t>Hyundai Elantra</a:t>
                      </a:r>
                      <a:endParaRPr lang="en-US" sz="800" dirty="0">
                        <a:latin typeface="Arial" panose="020B0604020202020204" pitchFamily="34" charset="0"/>
                        <a:cs typeface="Arial" panose="020B0604020202020204" pitchFamily="34" charset="0"/>
                      </a:endParaRP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80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12</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198</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06791">
                <a:tc>
                  <a:txBody>
                    <a:bodyPr/>
                    <a:lstStyle/>
                    <a:p>
                      <a:r>
                        <a:rPr lang="en-US" sz="800" kern="1200" baseline="0" dirty="0">
                          <a:latin typeface="Arial" panose="020B0604020202020204" pitchFamily="34" charset="0"/>
                          <a:cs typeface="Arial" panose="020B0604020202020204" pitchFamily="34" charset="0"/>
                        </a:rPr>
                        <a:t>Ford Fiesta </a:t>
                      </a:r>
                      <a:r>
                        <a:rPr lang="en-US" sz="800" kern="1200" spc="0" baseline="0" dirty="0">
                          <a:latin typeface="Arial" panose="020B0604020202020204" pitchFamily="34" charset="0"/>
                          <a:cs typeface="Arial" panose="020B0604020202020204" pitchFamily="34" charset="0"/>
                        </a:rPr>
                        <a:t>S</a:t>
                      </a:r>
                      <a:r>
                        <a:rPr lang="en-US" sz="100" kern="1200" spc="0" baseline="0" dirty="0">
                          <a:latin typeface="Arial" panose="020B0604020202020204" pitchFamily="34" charset="0"/>
                          <a:cs typeface="Arial" panose="020B0604020202020204" pitchFamily="34" charset="0"/>
                        </a:rPr>
                        <a:t> </a:t>
                      </a:r>
                      <a:r>
                        <a:rPr lang="en-US" sz="800" kern="1200" spc="0" baseline="0" dirty="0">
                          <a:latin typeface="Arial" panose="020B0604020202020204" pitchFamily="34" charset="0"/>
                          <a:cs typeface="Arial" panose="020B0604020202020204" pitchFamily="34" charset="0"/>
                        </a:rPr>
                        <a:t>E</a:t>
                      </a:r>
                      <a:r>
                        <a:rPr lang="en-US" sz="100" kern="1200" spc="0" baseline="0" dirty="0">
                          <a:latin typeface="Arial" panose="020B0604020202020204" pitchFamily="34" charset="0"/>
                          <a:cs typeface="Arial" panose="020B0604020202020204" pitchFamily="34" charset="0"/>
                        </a:rPr>
                        <a:t> </a:t>
                      </a:r>
                      <a:r>
                        <a:rPr lang="en-US" sz="800" kern="1200" spc="0" baseline="0" dirty="0">
                          <a:latin typeface="Arial" panose="020B0604020202020204" pitchFamily="34" charset="0"/>
                          <a:cs typeface="Arial" panose="020B0604020202020204" pitchFamily="34" charset="0"/>
                        </a:rPr>
                        <a:t>S</a:t>
                      </a:r>
                      <a:endParaRPr lang="en-US" sz="800" spc="0" baseline="0" dirty="0">
                        <a:latin typeface="Arial" panose="020B0604020202020204" pitchFamily="34" charset="0"/>
                        <a:cs typeface="Arial" panose="020B0604020202020204" pitchFamily="34" charset="0"/>
                      </a:endParaRP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90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18</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218</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276368">
                <a:tc>
                  <a:txBody>
                    <a:bodyPr/>
                    <a:lstStyle/>
                    <a:p>
                      <a:r>
                        <a:rPr lang="en-US" sz="800" kern="1200" baseline="0" dirty="0">
                          <a:latin typeface="Arial" panose="020B0604020202020204" pitchFamily="34" charset="0"/>
                          <a:cs typeface="Arial" panose="020B0604020202020204" pitchFamily="34" charset="0"/>
                        </a:rPr>
                        <a:t>Volkswagen Golf </a:t>
                      </a:r>
                      <a:r>
                        <a:rPr lang="en-US" sz="800" kern="1200" spc="0" baseline="0" dirty="0">
                          <a:latin typeface="Arial" panose="020B0604020202020204" pitchFamily="34" charset="0"/>
                          <a:cs typeface="Arial" panose="020B0604020202020204" pitchFamily="34" charset="0"/>
                        </a:rPr>
                        <a:t>G</a:t>
                      </a:r>
                      <a:r>
                        <a:rPr lang="en-US" sz="100" kern="1200" spc="0" baseline="0" dirty="0">
                          <a:latin typeface="Arial" panose="020B0604020202020204" pitchFamily="34" charset="0"/>
                          <a:cs typeface="Arial" panose="020B0604020202020204" pitchFamily="34" charset="0"/>
                        </a:rPr>
                        <a:t> </a:t>
                      </a:r>
                      <a:r>
                        <a:rPr lang="en-US" sz="800" kern="1200" spc="0" baseline="0" dirty="0">
                          <a:latin typeface="Arial" panose="020B0604020202020204" pitchFamily="34" charset="0"/>
                          <a:cs typeface="Arial" panose="020B0604020202020204" pitchFamily="34" charset="0"/>
                        </a:rPr>
                        <a:t>T</a:t>
                      </a:r>
                      <a:r>
                        <a:rPr lang="en-US" sz="100" kern="1200" spc="0" baseline="0" dirty="0">
                          <a:latin typeface="Arial" panose="020B0604020202020204" pitchFamily="34" charset="0"/>
                          <a:cs typeface="Arial" panose="020B0604020202020204" pitchFamily="34" charset="0"/>
                        </a:rPr>
                        <a:t> </a:t>
                      </a:r>
                      <a:r>
                        <a:rPr lang="en-US" sz="800" kern="1200" spc="0" baseline="0" dirty="0">
                          <a:latin typeface="Arial" panose="020B0604020202020204" pitchFamily="34" charset="0"/>
                          <a:cs typeface="Arial" panose="020B0604020202020204" pitchFamily="34" charset="0"/>
                        </a:rPr>
                        <a:t>I</a:t>
                      </a:r>
                      <a:endParaRPr lang="en-US" sz="800" spc="0" baseline="0" dirty="0">
                        <a:latin typeface="Arial" panose="020B0604020202020204" pitchFamily="34" charset="0"/>
                        <a:cs typeface="Arial" panose="020B0604020202020204" pitchFamily="34" charset="0"/>
                      </a:endParaRP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50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48</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50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21</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7</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221</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282795">
                <a:tc>
                  <a:txBody>
                    <a:bodyPr/>
                    <a:lstStyle/>
                    <a:p>
                      <a:r>
                        <a:rPr lang="en-US" sz="800" kern="1200" baseline="0" dirty="0">
                          <a:latin typeface="Arial" panose="020B0604020202020204" pitchFamily="34" charset="0"/>
                          <a:cs typeface="Arial" panose="020B0604020202020204" pitchFamily="34" charset="0"/>
                        </a:rPr>
                        <a:t>Toyota Prius</a:t>
                      </a:r>
                      <a:endParaRPr lang="en-US" sz="800" dirty="0">
                        <a:latin typeface="Arial" panose="020B0604020202020204" pitchFamily="34" charset="0"/>
                        <a:cs typeface="Arial" panose="020B0604020202020204" pitchFamily="34" charset="0"/>
                      </a:endParaRP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100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20</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9</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3</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202</a:t>
                      </a:r>
                    </a:p>
                  </a:txBody>
                  <a:tcPr marL="17822" marR="17822" marT="17471" marB="1747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23579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5DD5463-4090-4D75-8BA6-8DA586387B21}"/>
              </a:ext>
            </a:extLst>
          </p:cNvPr>
          <p:cNvSpPr>
            <a:spLocks noGrp="1"/>
          </p:cNvSpPr>
          <p:nvPr>
            <p:ph type="title"/>
          </p:nvPr>
        </p:nvSpPr>
        <p:spPr>
          <a:xfrm>
            <a:off x="466344" y="283464"/>
            <a:ext cx="8229600" cy="590931"/>
          </a:xfrm>
        </p:spPr>
        <p:txBody>
          <a:bodyPr tIns="18288" bIns="18288">
            <a:spAutoFit/>
          </a:bodyPr>
          <a:lstStyle/>
          <a:p>
            <a:r>
              <a:rPr kumimoji="0" lang="en-US" altLang="en-US" sz="3600" b="1" i="0" u="none" strike="noStrike" kern="1200" cap="none" spc="0" normalizeH="0" baseline="0" noProof="0" dirty="0">
                <a:ln>
                  <a:noFill/>
                </a:ln>
                <a:solidFill>
                  <a:srgbClr val="007FA3"/>
                </a:solidFill>
                <a:effectLst/>
                <a:uLnTx/>
                <a:uFillTx/>
                <a:latin typeface="+mj-lt"/>
                <a:ea typeface="ＭＳ Ｐゴシック" panose="020B0600070205080204" pitchFamily="34" charset="-128"/>
                <a:cs typeface="Arial" panose="020B0604020202020204" pitchFamily="34" charset="0"/>
              </a:rPr>
              <a:t>Selecting the Best Alternative </a:t>
            </a:r>
            <a:r>
              <a:rPr kumimoji="0" lang="en-US" altLang="en-US" sz="2800" b="1" i="0" u="none" strike="noStrike" kern="1200" cap="none" spc="0" normalizeH="0" baseline="0" noProof="0" dirty="0">
                <a:ln>
                  <a:noFill/>
                </a:ln>
                <a:solidFill>
                  <a:srgbClr val="007FA3"/>
                </a:solidFill>
                <a:effectLst/>
                <a:uLnTx/>
                <a:uFillTx/>
                <a:latin typeface="+mj-lt"/>
                <a:ea typeface="ＭＳ Ｐゴシック" panose="020B0600070205080204" pitchFamily="34" charset="-128"/>
                <a:cs typeface="Arial" panose="020B0604020202020204" pitchFamily="34" charset="0"/>
              </a:rPr>
              <a:t>(2 of 2)</a:t>
            </a:r>
            <a:endParaRPr lang="en-US" dirty="0">
              <a:latin typeface="+mj-lt"/>
            </a:endParaRPr>
          </a:p>
        </p:txBody>
      </p:sp>
      <p:sp>
        <p:nvSpPr>
          <p:cNvPr id="7" name="Content Placeholder 6">
            <a:extLst>
              <a:ext uri="{FF2B5EF4-FFF2-40B4-BE49-F238E27FC236}">
                <a16:creationId xmlns:a16="http://schemas.microsoft.com/office/drawing/2014/main" id="{BB71DE7B-679C-4307-91E9-A2B462452A98}"/>
              </a:ext>
            </a:extLst>
          </p:cNvPr>
          <p:cNvSpPr>
            <a:spLocks noGrp="1"/>
          </p:cNvSpPr>
          <p:nvPr>
            <p:ph idx="1"/>
          </p:nvPr>
        </p:nvSpPr>
        <p:spPr>
          <a:xfrm>
            <a:off x="457200" y="1295400"/>
            <a:ext cx="5688889" cy="283154"/>
          </a:xfrm>
        </p:spPr>
        <p:txBody>
          <a:bodyPr wrap="square" tIns="18288" bIns="18288">
            <a:spAutoFit/>
          </a:bodyPr>
          <a:lstStyle/>
          <a:p>
            <a:pPr marL="0" indent="0">
              <a:buNone/>
            </a:pPr>
            <a:r>
              <a:rPr lang="en-US" altLang="en-US" b="1" dirty="0">
                <a:latin typeface="Arial" panose="020B0604020202020204" pitchFamily="34" charset="0"/>
                <a:cs typeface="Arial" panose="020B0604020202020204" pitchFamily="34" charset="0"/>
              </a:rPr>
              <a:t>Exhibit 4.4 </a:t>
            </a:r>
            <a:r>
              <a:rPr lang="en-US" dirty="0">
                <a:latin typeface="Arial" panose="020B0604020202020204" pitchFamily="34" charset="0"/>
                <a:cs typeface="Arial" panose="020B0604020202020204" pitchFamily="34" charset="0"/>
              </a:rPr>
              <a:t>Evaluation of Car Alternatives: Assessment Criteria</a:t>
            </a:r>
            <a:endParaRPr lang="en-US" dirty="0"/>
          </a:p>
        </p:txBody>
      </p:sp>
      <p:graphicFrame>
        <p:nvGraphicFramePr>
          <p:cNvPr id="11" name="Object 10" descr="Times.">
            <a:extLst>
              <a:ext uri="{FF2B5EF4-FFF2-40B4-BE49-F238E27FC236}">
                <a16:creationId xmlns:a16="http://schemas.microsoft.com/office/drawing/2014/main" id="{4869EF63-ADE4-41FB-9ABB-3B6EDB4BB035}"/>
              </a:ext>
            </a:extLst>
          </p:cNvPr>
          <p:cNvGraphicFramePr>
            <a:graphicFrameLocks noChangeAspect="1"/>
          </p:cNvGraphicFramePr>
          <p:nvPr/>
        </p:nvGraphicFramePr>
        <p:xfrm>
          <a:off x="6198311" y="1340561"/>
          <a:ext cx="202489" cy="202489"/>
        </p:xfrm>
        <a:graphic>
          <a:graphicData uri="http://schemas.openxmlformats.org/presentationml/2006/ole">
            <mc:AlternateContent xmlns:mc="http://schemas.openxmlformats.org/markup-compatibility/2006">
              <mc:Choice xmlns:v="urn:schemas-microsoft-com:vml" Requires="v">
                <p:oleObj name="Equation" r:id="rId3" imgW="114120" imgH="114120" progId="Equation.DSMT4">
                  <p:embed/>
                </p:oleObj>
              </mc:Choice>
              <mc:Fallback>
                <p:oleObj name="Equation" r:id="rId3" imgW="114120" imgH="114120" progId="Equation.DSMT4">
                  <p:embed/>
                  <p:pic>
                    <p:nvPicPr>
                      <p:cNvPr id="11" name="Object 10" descr="Times.">
                        <a:extLst>
                          <a:ext uri="{FF2B5EF4-FFF2-40B4-BE49-F238E27FC236}">
                            <a16:creationId xmlns:a16="http://schemas.microsoft.com/office/drawing/2014/main" id="{4869EF63-ADE4-41FB-9ABB-3B6EDB4BB035}"/>
                          </a:ext>
                        </a:extLst>
                      </p:cNvPr>
                      <p:cNvPicPr/>
                      <p:nvPr/>
                    </p:nvPicPr>
                    <p:blipFill>
                      <a:blip r:embed="rId4"/>
                      <a:stretch>
                        <a:fillRect/>
                      </a:stretch>
                    </p:blipFill>
                    <p:spPr>
                      <a:xfrm>
                        <a:off x="6198311" y="1340561"/>
                        <a:ext cx="202489" cy="202489"/>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800D443B-83AF-49D1-B7EA-8F8A06C13FB5}"/>
              </a:ext>
            </a:extLst>
          </p:cNvPr>
          <p:cNvSpPr>
            <a:spLocks noGrp="1"/>
          </p:cNvSpPr>
          <p:nvPr>
            <p:ph idx="13"/>
          </p:nvPr>
        </p:nvSpPr>
        <p:spPr>
          <a:xfrm>
            <a:off x="6477000" y="1295400"/>
            <a:ext cx="1371600" cy="283154"/>
          </a:xfrm>
        </p:spPr>
        <p:txBody>
          <a:bodyPr wrap="square" tIns="18288" bIns="18288">
            <a:spAutoFit/>
          </a:bodyPr>
          <a:lstStyle/>
          <a:p>
            <a:pPr marL="0" indent="0">
              <a:buNone/>
            </a:pPr>
            <a:r>
              <a:rPr lang="en-US" dirty="0">
                <a:latin typeface="Arial" panose="020B0604020202020204" pitchFamily="34" charset="0"/>
                <a:cs typeface="Arial" panose="020B0604020202020204" pitchFamily="34" charset="0"/>
              </a:rPr>
              <a:t>Criteria Weight</a:t>
            </a:r>
            <a:endParaRPr lang="en-US" dirty="0"/>
          </a:p>
        </p:txBody>
      </p:sp>
      <p:sp>
        <p:nvSpPr>
          <p:cNvPr id="10" name="Content Placeholder 9">
            <a:extLst>
              <a:ext uri="{FF2B5EF4-FFF2-40B4-BE49-F238E27FC236}">
                <a16:creationId xmlns:a16="http://schemas.microsoft.com/office/drawing/2014/main" id="{C1DB7C87-7DD3-497D-AB2F-16C6FADE29DB}"/>
              </a:ext>
            </a:extLst>
          </p:cNvPr>
          <p:cNvSpPr>
            <a:spLocks noGrp="1"/>
          </p:cNvSpPr>
          <p:nvPr>
            <p:ph sz="quarter" idx="17"/>
          </p:nvPr>
        </p:nvSpPr>
        <p:spPr>
          <a:xfrm>
            <a:off x="466344" y="1600200"/>
            <a:ext cx="1066800" cy="283154"/>
          </a:xfrm>
        </p:spPr>
        <p:txBody>
          <a:bodyPr wrap="square" tIns="18288" bIns="18288">
            <a:spAutoFit/>
          </a:bodyPr>
          <a:lstStyle/>
          <a:p>
            <a:pPr marL="0" indent="0">
              <a:buNone/>
            </a:pPr>
            <a:r>
              <a:rPr lang="en-US" dirty="0">
                <a:latin typeface="Arial" panose="020B0604020202020204" pitchFamily="34" charset="0"/>
                <a:cs typeface="Arial" panose="020B0604020202020204" pitchFamily="34" charset="0"/>
              </a:rPr>
              <a:t>(continued)</a:t>
            </a:r>
            <a:endParaRPr lang="en-US" dirty="0"/>
          </a:p>
        </p:txBody>
      </p:sp>
      <p:graphicFrame>
        <p:nvGraphicFramePr>
          <p:cNvPr id="12" name="Table">
            <a:extLst>
              <a:ext uri="{FF2B5EF4-FFF2-40B4-BE49-F238E27FC236}">
                <a16:creationId xmlns:a16="http://schemas.microsoft.com/office/drawing/2014/main" id="{0ED8B344-707C-4000-ABF4-6C877D53E858}"/>
              </a:ext>
            </a:extLst>
          </p:cNvPr>
          <p:cNvGraphicFramePr>
            <a:graphicFrameLocks/>
          </p:cNvGraphicFramePr>
          <p:nvPr>
            <p:extLst>
              <p:ext uri="{D42A27DB-BD31-4B8C-83A1-F6EECF244321}">
                <p14:modId xmlns:p14="http://schemas.microsoft.com/office/powerpoint/2010/main" val="3008890615"/>
              </p:ext>
            </p:extLst>
          </p:nvPr>
        </p:nvGraphicFramePr>
        <p:xfrm>
          <a:off x="514939" y="2209800"/>
          <a:ext cx="8209569" cy="2410278"/>
        </p:xfrm>
        <a:graphic>
          <a:graphicData uri="http://schemas.openxmlformats.org/drawingml/2006/table">
            <a:tbl>
              <a:tblPr firstRow="1" bandRow="1">
                <a:tableStyleId>{9D7B26C5-4107-4FEC-AEDC-1716B250A1EF}</a:tableStyleId>
              </a:tblPr>
              <a:tblGrid>
                <a:gridCol w="958338">
                  <a:extLst>
                    <a:ext uri="{9D8B030D-6E8A-4147-A177-3AD203B41FA5}">
                      <a16:colId xmlns:a16="http://schemas.microsoft.com/office/drawing/2014/main" val="20000"/>
                    </a:ext>
                  </a:extLst>
                </a:gridCol>
                <a:gridCol w="413262">
                  <a:extLst>
                    <a:ext uri="{9D8B030D-6E8A-4147-A177-3AD203B41FA5}">
                      <a16:colId xmlns:a16="http://schemas.microsoft.com/office/drawing/2014/main" val="20001"/>
                    </a:ext>
                  </a:extLst>
                </a:gridCol>
                <a:gridCol w="457200">
                  <a:extLst>
                    <a:ext uri="{9D8B030D-6E8A-4147-A177-3AD203B41FA5}">
                      <a16:colId xmlns:a16="http://schemas.microsoft.com/office/drawing/2014/main" val="170818070"/>
                    </a:ext>
                  </a:extLst>
                </a:gridCol>
                <a:gridCol w="457200">
                  <a:extLst>
                    <a:ext uri="{9D8B030D-6E8A-4147-A177-3AD203B41FA5}">
                      <a16:colId xmlns:a16="http://schemas.microsoft.com/office/drawing/2014/main" val="20002"/>
                    </a:ext>
                  </a:extLst>
                </a:gridCol>
                <a:gridCol w="609600">
                  <a:extLst>
                    <a:ext uri="{9D8B030D-6E8A-4147-A177-3AD203B41FA5}">
                      <a16:colId xmlns:a16="http://schemas.microsoft.com/office/drawing/2014/main" val="3633329665"/>
                    </a:ext>
                  </a:extLst>
                </a:gridCol>
                <a:gridCol w="533400">
                  <a:extLst>
                    <a:ext uri="{9D8B030D-6E8A-4147-A177-3AD203B41FA5}">
                      <a16:colId xmlns:a16="http://schemas.microsoft.com/office/drawing/2014/main" val="20003"/>
                    </a:ext>
                  </a:extLst>
                </a:gridCol>
                <a:gridCol w="685800">
                  <a:extLst>
                    <a:ext uri="{9D8B030D-6E8A-4147-A177-3AD203B41FA5}">
                      <a16:colId xmlns:a16="http://schemas.microsoft.com/office/drawing/2014/main" val="2819509013"/>
                    </a:ext>
                  </a:extLst>
                </a:gridCol>
                <a:gridCol w="457200">
                  <a:extLst>
                    <a:ext uri="{9D8B030D-6E8A-4147-A177-3AD203B41FA5}">
                      <a16:colId xmlns:a16="http://schemas.microsoft.com/office/drawing/2014/main" val="20004"/>
                    </a:ext>
                  </a:extLst>
                </a:gridCol>
                <a:gridCol w="533400">
                  <a:extLst>
                    <a:ext uri="{9D8B030D-6E8A-4147-A177-3AD203B41FA5}">
                      <a16:colId xmlns:a16="http://schemas.microsoft.com/office/drawing/2014/main" val="1203963166"/>
                    </a:ext>
                  </a:extLst>
                </a:gridCol>
                <a:gridCol w="655125">
                  <a:extLst>
                    <a:ext uri="{9D8B030D-6E8A-4147-A177-3AD203B41FA5}">
                      <a16:colId xmlns:a16="http://schemas.microsoft.com/office/drawing/2014/main" val="20005"/>
                    </a:ext>
                  </a:extLst>
                </a:gridCol>
                <a:gridCol w="859913">
                  <a:extLst>
                    <a:ext uri="{9D8B030D-6E8A-4147-A177-3AD203B41FA5}">
                      <a16:colId xmlns:a16="http://schemas.microsoft.com/office/drawing/2014/main" val="340970133"/>
                    </a:ext>
                  </a:extLst>
                </a:gridCol>
                <a:gridCol w="509957">
                  <a:extLst>
                    <a:ext uri="{9D8B030D-6E8A-4147-A177-3AD203B41FA5}">
                      <a16:colId xmlns:a16="http://schemas.microsoft.com/office/drawing/2014/main" val="20006"/>
                    </a:ext>
                  </a:extLst>
                </a:gridCol>
                <a:gridCol w="599563">
                  <a:extLst>
                    <a:ext uri="{9D8B030D-6E8A-4147-A177-3AD203B41FA5}">
                      <a16:colId xmlns:a16="http://schemas.microsoft.com/office/drawing/2014/main" val="2317468232"/>
                    </a:ext>
                  </a:extLst>
                </a:gridCol>
                <a:gridCol w="479611">
                  <a:extLst>
                    <a:ext uri="{9D8B030D-6E8A-4147-A177-3AD203B41FA5}">
                      <a16:colId xmlns:a16="http://schemas.microsoft.com/office/drawing/2014/main" val="20007"/>
                    </a:ext>
                  </a:extLst>
                </a:gridCol>
              </a:tblGrid>
              <a:tr h="511838">
                <a:tc>
                  <a:txBody>
                    <a:bodyPr/>
                    <a:lstStyle/>
                    <a:p>
                      <a:pPr algn="l"/>
                      <a:r>
                        <a:rPr lang="en-US" sz="800" b="1" kern="1200" baseline="0" dirty="0">
                          <a:solidFill>
                            <a:schemeClr val="bg1"/>
                          </a:solidFill>
                          <a:latin typeface="Arial" panose="020B0604020202020204" pitchFamily="34" charset="0"/>
                          <a:cs typeface="Arial" panose="020B0604020202020204" pitchFamily="34" charset="0"/>
                        </a:rPr>
                        <a:t>ALTERNATIVES</a:t>
                      </a:r>
                      <a:endParaRPr lang="en-US" sz="800" b="1" dirty="0">
                        <a:solidFill>
                          <a:schemeClr val="bg1"/>
                        </a:solidFill>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INITIAL PRICE</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INITIAL PRICE</a:t>
                      </a:r>
                    </a:p>
                    <a:p>
                      <a:pPr algn="ctr"/>
                      <a:r>
                        <a:rPr lang="en-US" sz="800" b="1" dirty="0">
                          <a:solidFill>
                            <a:schemeClr val="bg1"/>
                          </a:solidFill>
                          <a:latin typeface="Arial" panose="020B0604020202020204" pitchFamily="34" charset="0"/>
                          <a:cs typeface="Arial" panose="020B0604020202020204" pitchFamily="34" charset="0"/>
                        </a:rPr>
                        <a:t>[10]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INTERIOR COMFORT</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INTERIOR COMFORT</a:t>
                      </a:r>
                    </a:p>
                    <a:p>
                      <a:pPr algn="ctr"/>
                      <a:r>
                        <a:rPr lang="en-US" sz="800" b="1" dirty="0">
                          <a:solidFill>
                            <a:schemeClr val="bg1"/>
                          </a:solidFill>
                          <a:latin typeface="Arial" panose="020B0604020202020204" pitchFamily="34" charset="0"/>
                          <a:cs typeface="Arial" panose="020B0604020202020204" pitchFamily="34" charset="0"/>
                        </a:rPr>
                        <a:t>[8]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DURABILITY</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DURABILITY</a:t>
                      </a:r>
                    </a:p>
                    <a:p>
                      <a:pPr algn="ctr"/>
                      <a:r>
                        <a:rPr lang="en-US" sz="800" b="1" dirty="0">
                          <a:solidFill>
                            <a:schemeClr val="bg1"/>
                          </a:solidFill>
                          <a:latin typeface="Arial" panose="020B0604020202020204" pitchFamily="34" charset="0"/>
                          <a:cs typeface="Arial" panose="020B0604020202020204" pitchFamily="34" charset="0"/>
                        </a:rPr>
                        <a:t>[5]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REPAIR RECORD</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REPAIR RECORD</a:t>
                      </a:r>
                    </a:p>
                    <a:p>
                      <a:pPr algn="ctr"/>
                      <a:r>
                        <a:rPr lang="en-US" sz="800" b="1" dirty="0">
                          <a:solidFill>
                            <a:schemeClr val="bg1"/>
                          </a:solidFill>
                          <a:latin typeface="Arial" panose="020B0604020202020204" pitchFamily="34" charset="0"/>
                          <a:cs typeface="Arial" panose="020B0604020202020204" pitchFamily="34" charset="0"/>
                        </a:rPr>
                        <a:t>[5]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PERFORMANCE</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PERFORMANCE</a:t>
                      </a:r>
                    </a:p>
                    <a:p>
                      <a:pPr algn="ctr"/>
                      <a:r>
                        <a:rPr lang="en-US" sz="800" b="1" dirty="0">
                          <a:solidFill>
                            <a:schemeClr val="bg1"/>
                          </a:solidFill>
                          <a:latin typeface="Arial" panose="020B0604020202020204" pitchFamily="34" charset="0"/>
                          <a:cs typeface="Arial" panose="020B0604020202020204" pitchFamily="34" charset="0"/>
                        </a:rPr>
                        <a:t>[3]</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600" b="1" dirty="0">
                          <a:solidFill>
                            <a:schemeClr val="bg1"/>
                          </a:solidFill>
                          <a:latin typeface="Arial" panose="020B0604020202020204" pitchFamily="34" charset="0"/>
                          <a:cs typeface="Arial" panose="020B0604020202020204" pitchFamily="34" charset="0"/>
                        </a:rPr>
                        <a:t>HANDLING</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HANDLING</a:t>
                      </a:r>
                    </a:p>
                    <a:p>
                      <a:pPr algn="ctr"/>
                      <a:r>
                        <a:rPr lang="en-US" sz="800" b="1" dirty="0">
                          <a:solidFill>
                            <a:schemeClr val="bg1"/>
                          </a:solidFill>
                          <a:latin typeface="Arial" panose="020B0604020202020204" pitchFamily="34" charset="0"/>
                          <a:cs typeface="Arial" panose="020B0604020202020204" pitchFamily="34" charset="0"/>
                        </a:rPr>
                        <a:t>[1]</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800" b="1" dirty="0">
                          <a:solidFill>
                            <a:schemeClr val="bg1"/>
                          </a:solidFill>
                          <a:latin typeface="Arial" panose="020B0604020202020204" pitchFamily="34" charset="0"/>
                          <a:cs typeface="Arial" panose="020B0604020202020204" pitchFamily="34" charset="0"/>
                        </a:rPr>
                        <a:t>TOTAL</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291364">
                <a:tc>
                  <a:txBody>
                    <a:bodyPr/>
                    <a:lstStyle/>
                    <a:p>
                      <a:r>
                        <a:rPr lang="en-US" sz="800" kern="1200" baseline="0" dirty="0">
                          <a:latin typeface="Arial" panose="020B0604020202020204" pitchFamily="34" charset="0"/>
                          <a:cs typeface="Arial" panose="020B0604020202020204" pitchFamily="34" charset="0"/>
                        </a:rPr>
                        <a:t>Mazda 3 </a:t>
                      </a:r>
                      <a:r>
                        <a:rPr lang="en-US" sz="800" kern="1200" spc="0" baseline="0" dirty="0">
                          <a:latin typeface="Arial" panose="020B0604020202020204" pitchFamily="34" charset="0"/>
                          <a:cs typeface="Arial" panose="020B0604020202020204" pitchFamily="34" charset="0"/>
                        </a:rPr>
                        <a:t>M</a:t>
                      </a:r>
                      <a:r>
                        <a:rPr lang="en-US" sz="100" kern="1200" spc="0" baseline="0" dirty="0">
                          <a:latin typeface="Arial" panose="020B0604020202020204" pitchFamily="34" charset="0"/>
                          <a:cs typeface="Arial" panose="020B0604020202020204" pitchFamily="34" charset="0"/>
                        </a:rPr>
                        <a:t> </a:t>
                      </a:r>
                      <a:r>
                        <a:rPr lang="en-US" sz="800" kern="1200" spc="0" baseline="0" dirty="0">
                          <a:latin typeface="Arial" panose="020B0604020202020204" pitchFamily="34" charset="0"/>
                          <a:cs typeface="Arial" panose="020B0604020202020204" pitchFamily="34" charset="0"/>
                        </a:rPr>
                        <a:t>T</a:t>
                      </a:r>
                      <a:endParaRPr lang="en-US" sz="800" spc="0" baseline="0" dirty="0">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64</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24</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9</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202</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291364">
                <a:tc>
                  <a:txBody>
                    <a:bodyPr/>
                    <a:lstStyle/>
                    <a:p>
                      <a:r>
                        <a:rPr lang="en-US" sz="800" kern="1200" baseline="0" dirty="0">
                          <a:latin typeface="Arial" panose="020B0604020202020204" pitchFamily="34" charset="0"/>
                          <a:cs typeface="Arial" panose="020B0604020202020204" pitchFamily="34" charset="0"/>
                        </a:rPr>
                        <a:t>Kia Soul</a:t>
                      </a:r>
                      <a:endParaRPr lang="en-US" sz="800" dirty="0">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70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209</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291364">
                <a:tc>
                  <a:txBody>
                    <a:bodyPr/>
                    <a:lstStyle/>
                    <a:p>
                      <a:r>
                        <a:rPr lang="en-US" sz="800" kern="1200" baseline="0" dirty="0">
                          <a:latin typeface="Arial" panose="020B0604020202020204" pitchFamily="34" charset="0"/>
                          <a:cs typeface="Arial" panose="020B0604020202020204" pitchFamily="34" charset="0"/>
                        </a:rPr>
                        <a:t>BMW </a:t>
                      </a:r>
                      <a:r>
                        <a:rPr lang="en-US" sz="800" kern="1200" baseline="0" dirty="0" err="1">
                          <a:latin typeface="Arial" panose="020B0604020202020204" pitchFamily="34" charset="0"/>
                          <a:cs typeface="Arial" panose="020B0604020202020204" pitchFamily="34" charset="0"/>
                        </a:rPr>
                        <a:t>i</a:t>
                      </a:r>
                      <a:r>
                        <a:rPr lang="en-US" sz="100" kern="1200" baseline="0" dirty="0">
                          <a:latin typeface="Arial" panose="020B0604020202020204" pitchFamily="34" charset="0"/>
                          <a:cs typeface="Arial" panose="020B0604020202020204" pitchFamily="34" charset="0"/>
                        </a:rPr>
                        <a:t> </a:t>
                      </a:r>
                      <a:r>
                        <a:rPr lang="en-US" sz="800" kern="1200" baseline="0" dirty="0">
                          <a:latin typeface="Arial" panose="020B0604020202020204" pitchFamily="34" charset="0"/>
                          <a:cs typeface="Arial" panose="020B0604020202020204" pitchFamily="34" charset="0"/>
                        </a:rPr>
                        <a:t>3</a:t>
                      </a:r>
                      <a:endParaRPr lang="en-US" sz="800" dirty="0">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9</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90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56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12</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7</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215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291364">
                <a:tc>
                  <a:txBody>
                    <a:bodyPr/>
                    <a:lstStyle/>
                    <a:p>
                      <a:r>
                        <a:rPr lang="en-US" sz="800" kern="1200" baseline="0" dirty="0">
                          <a:latin typeface="Arial" panose="020B0604020202020204" pitchFamily="34" charset="0"/>
                          <a:cs typeface="Arial" panose="020B0604020202020204" pitchFamily="34" charset="0"/>
                        </a:rPr>
                        <a:t>Nissan Cube</a:t>
                      </a:r>
                      <a:endParaRPr lang="en-US" sz="800" dirty="0">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50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64</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4</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199</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r h="291364">
                <a:tc>
                  <a:txBody>
                    <a:bodyPr/>
                    <a:lstStyle/>
                    <a:p>
                      <a:r>
                        <a:rPr lang="en-US" sz="800" kern="1200" baseline="0" dirty="0">
                          <a:latin typeface="Arial" panose="020B0604020202020204" pitchFamily="34" charset="0"/>
                          <a:cs typeface="Arial" panose="020B0604020202020204" pitchFamily="34" charset="0"/>
                        </a:rPr>
                        <a:t>Toyota Camry</a:t>
                      </a:r>
                      <a:endParaRPr lang="en-US" sz="800" dirty="0">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60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50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10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50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18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224</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1"/>
                  </a:ext>
                </a:extLst>
              </a:tr>
              <a:tr h="441620">
                <a:tc>
                  <a:txBody>
                    <a:bodyPr/>
                    <a:lstStyle/>
                    <a:p>
                      <a:r>
                        <a:rPr lang="en-US" sz="800" kern="1200" baseline="0" dirty="0">
                          <a:latin typeface="Arial" panose="020B0604020202020204" pitchFamily="34" charset="0"/>
                          <a:cs typeface="Arial" panose="020B0604020202020204" pitchFamily="34" charset="0"/>
                        </a:rPr>
                        <a:t>Honda Fit Sport </a:t>
                      </a:r>
                      <a:r>
                        <a:rPr lang="en-US" sz="800" kern="1200" spc="0" baseline="0" dirty="0">
                          <a:latin typeface="Arial" panose="020B0604020202020204" pitchFamily="34" charset="0"/>
                          <a:cs typeface="Arial" panose="020B0604020202020204" pitchFamily="34" charset="0"/>
                        </a:rPr>
                        <a:t>M</a:t>
                      </a:r>
                      <a:r>
                        <a:rPr lang="en-US" sz="100" kern="1200" spc="0" baseline="0" dirty="0">
                          <a:latin typeface="Arial" panose="020B0604020202020204" pitchFamily="34" charset="0"/>
                          <a:cs typeface="Arial" panose="020B0604020202020204" pitchFamily="34" charset="0"/>
                        </a:rPr>
                        <a:t> </a:t>
                      </a:r>
                      <a:r>
                        <a:rPr lang="en-US" sz="800" kern="1200" spc="0" baseline="0" dirty="0">
                          <a:latin typeface="Arial" panose="020B0604020202020204" pitchFamily="34" charset="0"/>
                          <a:cs typeface="Arial" panose="020B0604020202020204" pitchFamily="34" charset="0"/>
                        </a:rPr>
                        <a:t>T</a:t>
                      </a:r>
                      <a:endParaRPr lang="en-US" sz="800" spc="0" baseline="0" dirty="0">
                        <a:latin typeface="Arial" panose="020B0604020202020204" pitchFamily="34" charset="0"/>
                        <a:cs typeface="Arial" panose="020B0604020202020204" pitchFamily="34" charset="0"/>
                      </a:endParaRP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80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48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6</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30</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25</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7</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21</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dirty="0">
                          <a:latin typeface="Arial" panose="020B0604020202020204" pitchFamily="34" charset="0"/>
                          <a:cs typeface="Arial" panose="020B0604020202020204" pitchFamily="34" charset="0"/>
                        </a:rPr>
                        <a:t>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8</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0" b="1" dirty="0">
                          <a:latin typeface="Arial" panose="020B0604020202020204" pitchFamily="34" charset="0"/>
                          <a:cs typeface="Arial" panose="020B0604020202020204" pitchFamily="34" charset="0"/>
                        </a:rPr>
                        <a:t>212</a:t>
                      </a:r>
                    </a:p>
                  </a:txBody>
                  <a:tcPr marL="18000" marR="18000"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45746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dirty="0">
                <a:latin typeface="+mj-lt"/>
                <a:ea typeface="ＭＳ Ｐゴシック" pitchFamily="34" charset="-128"/>
                <a:cs typeface="Arial" charset="0"/>
              </a:rPr>
              <a:t>Implementing the Decision</a:t>
            </a:r>
            <a:endParaRPr lang="en-US" dirty="0">
              <a:latin typeface="+mj-lt"/>
            </a:endParaRPr>
          </a:p>
        </p:txBody>
      </p:sp>
      <p:sp>
        <p:nvSpPr>
          <p:cNvPr id="3" name="Content Placeholder 2"/>
          <p:cNvSpPr>
            <a:spLocks noGrp="1"/>
          </p:cNvSpPr>
          <p:nvPr>
            <p:ph idx="1"/>
          </p:nvPr>
        </p:nvSpPr>
        <p:spPr>
          <a:xfrm>
            <a:off x="468000" y="1295400"/>
            <a:ext cx="8229600" cy="967376"/>
          </a:xfrm>
        </p:spPr>
        <p:txBody>
          <a:bodyPr tIns="18000" bIns="18000">
            <a:spAutoFit/>
          </a:bodyPr>
          <a:lstStyle/>
          <a:p>
            <a:pPr marL="0" indent="0">
              <a:buNone/>
              <a:defRPr/>
            </a:pPr>
            <a:r>
              <a:rPr lang="en-US" altLang="en-US" sz="2400" b="1">
                <a:latin typeface="Arial" panose="020B0604020202020204" pitchFamily="34" charset="0"/>
                <a:ea typeface="ＭＳ Ｐゴシック" pitchFamily="34" charset="-128"/>
                <a:cs typeface="Arial" panose="020B0604020202020204" pitchFamily="34" charset="0"/>
              </a:rPr>
              <a:t>Decision implementation:</a:t>
            </a:r>
          </a:p>
          <a:p>
            <a:pPr>
              <a:defRPr/>
            </a:pPr>
            <a:r>
              <a:rPr lang="en-US" altLang="en-US" sz="2400">
                <a:latin typeface="Arial" panose="020B0604020202020204" pitchFamily="34" charset="0"/>
                <a:ea typeface="ＭＳ Ｐゴシック" pitchFamily="34" charset="-128"/>
                <a:cs typeface="Arial" panose="020B0604020202020204" pitchFamily="34" charset="0"/>
              </a:rPr>
              <a:t>putting a decision into action.</a:t>
            </a:r>
            <a:endParaRPr lang="en-US" sz="240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dirty="0">
                <a:latin typeface="+mj-lt"/>
                <a:ea typeface="ＭＳ Ｐゴシック" pitchFamily="34" charset="-128"/>
                <a:cs typeface="Arial" charset="0"/>
              </a:rPr>
              <a:t>Evaluating the Decision</a:t>
            </a:r>
            <a:endParaRPr lang="en-US" dirty="0">
              <a:latin typeface="+mj-lt"/>
            </a:endParaRPr>
          </a:p>
        </p:txBody>
      </p:sp>
      <p:sp>
        <p:nvSpPr>
          <p:cNvPr id="3" name="Content Placeholder 2"/>
          <p:cNvSpPr>
            <a:spLocks noGrp="1"/>
          </p:cNvSpPr>
          <p:nvPr>
            <p:ph idx="1"/>
          </p:nvPr>
        </p:nvSpPr>
        <p:spPr>
          <a:xfrm>
            <a:off x="468000" y="1295400"/>
            <a:ext cx="8229600" cy="967376"/>
          </a:xfrm>
        </p:spPr>
        <p:txBody>
          <a:bodyPr tIns="18000" bIns="18000">
            <a:spAutoFit/>
          </a:bodyPr>
          <a:lstStyle/>
          <a:p>
            <a:pPr marL="0" indent="0">
              <a:buNone/>
            </a:pPr>
            <a:r>
              <a:rPr lang="en-US" sz="2400" b="1" dirty="0">
                <a:latin typeface="Arial" panose="020B0604020202020204" pitchFamily="34" charset="0"/>
                <a:ea typeface="ＭＳ Ｐゴシック" pitchFamily="34" charset="-128"/>
                <a:cs typeface="Arial" panose="020B0604020202020204" pitchFamily="34" charset="0"/>
              </a:rPr>
              <a:t>Appraising the outcome of the decision</a:t>
            </a:r>
          </a:p>
          <a:p>
            <a:r>
              <a:rPr lang="en-US" sz="2400" dirty="0">
                <a:latin typeface="Arial" panose="020B0604020202020204" pitchFamily="34" charset="0"/>
                <a:ea typeface="ＭＳ Ｐゴシック" pitchFamily="34" charset="-128"/>
                <a:cs typeface="Arial" panose="020B0604020202020204" pitchFamily="34" charset="0"/>
              </a:rPr>
              <a:t>Was the problem resolved?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1144347"/>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Common Decision-Making Errors and Biases</a:t>
            </a:r>
            <a:endParaRPr lang="en-US" sz="2800" dirty="0">
              <a:latin typeface="+mj-lt"/>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622427"/>
            <a:ext cx="8280087" cy="282573"/>
          </a:xfrm>
        </p:spPr>
        <p:txBody>
          <a:bodyPr wrap="square" tIns="18000" bIns="18000">
            <a:spAutoFit/>
          </a:bodyPr>
          <a:lstStyle/>
          <a:p>
            <a:pPr marL="0" indent="0">
              <a:buNone/>
              <a:defRPr/>
            </a:pPr>
            <a:r>
              <a:rPr lang="en-US" altLang="en-US" b="1" dirty="0">
                <a:latin typeface="Arial" panose="020B0604020202020204" pitchFamily="34" charset="0"/>
                <a:cs typeface="Arial" panose="020B0604020202020204" pitchFamily="34" charset="0"/>
              </a:rPr>
              <a:t>Exhibit 4.5 </a:t>
            </a:r>
            <a:r>
              <a:rPr lang="en-US" dirty="0">
                <a:latin typeface="Arial" panose="020B0604020202020204" pitchFamily="34" charset="0"/>
                <a:cs typeface="Arial" panose="020B0604020202020204" pitchFamily="34" charset="0"/>
              </a:rPr>
              <a:t>Common Decision-Making Errors and Biases</a:t>
            </a:r>
          </a:p>
        </p:txBody>
      </p:sp>
      <p:pic>
        <p:nvPicPr>
          <p:cNvPr id="7" name="Picture Placeholder 6" descr="An illustration shows decision-making errors and biases.&#10;Long description is available in notes, press F6.">
            <a:extLst>
              <a:ext uri="{FF2B5EF4-FFF2-40B4-BE49-F238E27FC236}">
                <a16:creationId xmlns:a16="http://schemas.microsoft.com/office/drawing/2014/main" id="{D5FEF03D-D7AD-403C-9B4F-08EF00F6BF1E}"/>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1981200" y="2209800"/>
            <a:ext cx="5210175" cy="4010025"/>
          </a:xfrm>
          <a:prstGeom prst="rect">
            <a:avLst/>
          </a:prstGeom>
        </p:spPr>
      </p:pic>
    </p:spTree>
    <p:extLst>
      <p:ext uri="{BB962C8B-B14F-4D97-AF65-F5344CB8AC3E}">
        <p14:creationId xmlns:p14="http://schemas.microsoft.com/office/powerpoint/2010/main" val="2681601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latin typeface="+mj-lt"/>
                <a:cs typeface="Arial" panose="020B0604020202020204" pitchFamily="34" charset="0"/>
              </a:rPr>
              <a:t>Learning Objective 4.2</a:t>
            </a:r>
            <a:endParaRPr lang="en-US" dirty="0">
              <a:solidFill>
                <a:schemeClr val="bg2"/>
              </a:solidFill>
              <a:latin typeface="+mj-lt"/>
              <a:cs typeface="Arial" panose="020B0604020202020204" pitchFamily="34" charset="0"/>
            </a:endParaRPr>
          </a:p>
        </p:txBody>
      </p:sp>
      <p:sp>
        <p:nvSpPr>
          <p:cNvPr id="3" name="Content Placeholder 2"/>
          <p:cNvSpPr>
            <a:spLocks noGrp="1"/>
          </p:cNvSpPr>
          <p:nvPr>
            <p:ph idx="1"/>
          </p:nvPr>
        </p:nvSpPr>
        <p:spPr>
          <a:xfrm>
            <a:off x="468000" y="1295400"/>
            <a:ext cx="8229600" cy="775015"/>
          </a:xfrm>
        </p:spPr>
        <p:txBody>
          <a:bodyPr tIns="18000" bIns="18000">
            <a:spAutoFit/>
          </a:bodyPr>
          <a:lstStyle/>
          <a:p>
            <a:r>
              <a:rPr lang="en-US" sz="2400" dirty="0">
                <a:latin typeface="Arial" panose="020B0604020202020204" pitchFamily="34" charset="0"/>
                <a:cs typeface="Arial" panose="020B0604020202020204" pitchFamily="34" charset="0"/>
              </a:rPr>
              <a:t>Explain the three approaches managers can use to make decisions.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400"/>
          </a:xfrm>
        </p:spPr>
        <p:txBody>
          <a:bodyPr tIns="18000" bIns="18000"/>
          <a:lstStyle/>
          <a:p>
            <a:r>
              <a:rPr lang="en-US" sz="3600" dirty="0">
                <a:latin typeface="+mj-lt"/>
                <a:ea typeface="ＭＳ Ｐゴシック" pitchFamily="34" charset="-128"/>
                <a:cs typeface="Arial" charset="0"/>
              </a:rPr>
              <a:t>Decisions Managers Make </a:t>
            </a:r>
            <a:r>
              <a:rPr lang="en-US" sz="2800" dirty="0">
                <a:latin typeface="+mj-lt"/>
                <a:ea typeface="ＭＳ Ｐゴシック" pitchFamily="34" charset="-128"/>
                <a:cs typeface="Arial" charset="0"/>
              </a:rPr>
              <a:t>(1 of 4)</a:t>
            </a:r>
            <a:endParaRPr lang="en-US" sz="2800" dirty="0">
              <a:latin typeface="+mj-lt"/>
            </a:endParaRPr>
          </a:p>
        </p:txBody>
      </p:sp>
      <p:sp>
        <p:nvSpPr>
          <p:cNvPr id="4" name="Content Placeholder 3"/>
          <p:cNvSpPr>
            <a:spLocks noGrp="1"/>
          </p:cNvSpPr>
          <p:nvPr>
            <p:ph idx="1"/>
          </p:nvPr>
        </p:nvSpPr>
        <p:spPr>
          <a:xfrm>
            <a:off x="468000" y="1295400"/>
            <a:ext cx="8229600" cy="282573"/>
          </a:xfrm>
        </p:spPr>
        <p:txBody>
          <a:bodyPr tIns="18000" bIns="18000">
            <a:spAutoFit/>
          </a:bodyPr>
          <a:lstStyle/>
          <a:p>
            <a:pPr marL="0" indent="0">
              <a:buNone/>
            </a:pPr>
            <a:r>
              <a:rPr lang="en-US" altLang="en-US" b="1" dirty="0">
                <a:latin typeface="Arial" panose="020B0604020202020204" pitchFamily="34" charset="0"/>
                <a:cs typeface="Arial" panose="020B0604020202020204" pitchFamily="34" charset="0"/>
              </a:rPr>
              <a:t>Exhibit 4.6 </a:t>
            </a:r>
            <a:r>
              <a:rPr lang="en-US" dirty="0">
                <a:latin typeface="Arial" panose="020B0604020202020204" pitchFamily="34" charset="0"/>
                <a:cs typeface="Arial" panose="020B0604020202020204" pitchFamily="34" charset="0"/>
              </a:rPr>
              <a:t>Decisions Managers May Make</a:t>
            </a:r>
          </a:p>
        </p:txBody>
      </p:sp>
      <p:sp>
        <p:nvSpPr>
          <p:cNvPr id="3" name="Content Placeholder 2"/>
          <p:cNvSpPr>
            <a:spLocks noGrp="1"/>
          </p:cNvSpPr>
          <p:nvPr>
            <p:ph idx="13"/>
          </p:nvPr>
        </p:nvSpPr>
        <p:spPr>
          <a:xfrm>
            <a:off x="468000" y="1752600"/>
            <a:ext cx="8229600" cy="2652452"/>
          </a:xfrm>
        </p:spPr>
        <p:txBody>
          <a:bodyPr tIns="18000" bIns="18000">
            <a:spAutoFit/>
          </a:bodyPr>
          <a:lstStyle/>
          <a:p>
            <a:pPr>
              <a:buNone/>
            </a:pPr>
            <a:r>
              <a:rPr lang="en-US" sz="2400" b="1" dirty="0">
                <a:latin typeface="Arial" panose="020B0604020202020204" pitchFamily="34" charset="0"/>
                <a:cs typeface="Arial" panose="020B0604020202020204" pitchFamily="34" charset="0"/>
              </a:rPr>
              <a:t>Planning</a:t>
            </a:r>
          </a:p>
          <a:p>
            <a:r>
              <a:rPr lang="en-US" sz="2400" dirty="0">
                <a:latin typeface="Arial" panose="020B0604020202020204" pitchFamily="34" charset="0"/>
                <a:cs typeface="Arial" panose="020B0604020202020204" pitchFamily="34" charset="0"/>
              </a:rPr>
              <a:t>What are the organization’s long-term objectives?</a:t>
            </a:r>
          </a:p>
          <a:p>
            <a:r>
              <a:rPr lang="en-US" sz="2400" dirty="0">
                <a:latin typeface="Arial" panose="020B0604020202020204" pitchFamily="34" charset="0"/>
                <a:cs typeface="Arial" panose="020B0604020202020204" pitchFamily="34" charset="0"/>
              </a:rPr>
              <a:t>What strategies will best achieve those objectives?</a:t>
            </a:r>
          </a:p>
          <a:p>
            <a:r>
              <a:rPr lang="en-US" sz="2400" dirty="0">
                <a:latin typeface="Arial" panose="020B0604020202020204" pitchFamily="34" charset="0"/>
                <a:cs typeface="Arial" panose="020B0604020202020204" pitchFamily="34" charset="0"/>
              </a:rPr>
              <a:t>What should the organization’s short-term objectives be?</a:t>
            </a:r>
          </a:p>
          <a:p>
            <a:r>
              <a:rPr lang="en-US" sz="2400" dirty="0">
                <a:latin typeface="Arial" panose="020B0604020202020204" pitchFamily="34" charset="0"/>
                <a:cs typeface="Arial" panose="020B0604020202020204" pitchFamily="34" charset="0"/>
              </a:rPr>
              <a:t>How difficult should individual goals be?</a:t>
            </a:r>
          </a:p>
        </p:txBody>
      </p:sp>
    </p:spTree>
    <p:extLst>
      <p:ext uri="{BB962C8B-B14F-4D97-AF65-F5344CB8AC3E}">
        <p14:creationId xmlns:p14="http://schemas.microsoft.com/office/powerpoint/2010/main" val="905718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dirty="0">
                <a:latin typeface="+mj-lt"/>
                <a:ea typeface="ＭＳ Ｐゴシック" pitchFamily="34" charset="-128"/>
                <a:cs typeface="Arial" charset="0"/>
              </a:rPr>
              <a:t>Decisions Managers Make </a:t>
            </a:r>
            <a:r>
              <a:rPr lang="en-US" sz="2800" dirty="0">
                <a:latin typeface="+mj-lt"/>
                <a:ea typeface="ＭＳ Ｐゴシック" pitchFamily="34" charset="-128"/>
                <a:cs typeface="Arial" charset="0"/>
              </a:rPr>
              <a:t>(2 of 4)</a:t>
            </a:r>
            <a:endParaRPr lang="en-US" sz="2800" dirty="0">
              <a:latin typeface="+mj-lt"/>
            </a:endParaRPr>
          </a:p>
        </p:txBody>
      </p:sp>
      <p:sp>
        <p:nvSpPr>
          <p:cNvPr id="3" name="Content Placeholder 2"/>
          <p:cNvSpPr>
            <a:spLocks noGrp="1"/>
          </p:cNvSpPr>
          <p:nvPr>
            <p:ph idx="1"/>
          </p:nvPr>
        </p:nvSpPr>
        <p:spPr>
          <a:xfrm>
            <a:off x="468000" y="1295400"/>
            <a:ext cx="8229600" cy="282573"/>
          </a:xfrm>
        </p:spPr>
        <p:txBody>
          <a:bodyPr tIns="18000" bIns="18000">
            <a:spAutoFit/>
          </a:bodyPr>
          <a:lstStyle/>
          <a:p>
            <a:pPr marL="0" indent="0">
              <a:buNone/>
            </a:pPr>
            <a:r>
              <a:rPr lang="en-US" altLang="en-US" b="1" dirty="0">
                <a:latin typeface="Arial" panose="020B0604020202020204" pitchFamily="34" charset="0"/>
                <a:cs typeface="Arial" panose="020B0604020202020204" pitchFamily="34" charset="0"/>
              </a:rPr>
              <a:t>Exhibit 4.6 </a:t>
            </a:r>
            <a:r>
              <a:rPr lang="en-US" dirty="0">
                <a:latin typeface="Arial" panose="020B0604020202020204" pitchFamily="34" charset="0"/>
                <a:cs typeface="Arial" panose="020B0604020202020204" pitchFamily="34" charset="0"/>
              </a:rPr>
              <a:t>Decisions Managers May Make (continued)</a:t>
            </a:r>
          </a:p>
        </p:txBody>
      </p:sp>
      <p:sp>
        <p:nvSpPr>
          <p:cNvPr id="4" name="Content Placeholder 3"/>
          <p:cNvSpPr>
            <a:spLocks noGrp="1"/>
          </p:cNvSpPr>
          <p:nvPr>
            <p:ph idx="13"/>
          </p:nvPr>
        </p:nvSpPr>
        <p:spPr>
          <a:xfrm>
            <a:off x="468000" y="1752600"/>
            <a:ext cx="8229600" cy="3088640"/>
          </a:xfrm>
        </p:spPr>
        <p:txBody>
          <a:bodyPr tIns="18000" bIns="18000">
            <a:spAutoFit/>
          </a:bodyPr>
          <a:lstStyle/>
          <a:p>
            <a:pPr marL="0" indent="0">
              <a:buNone/>
            </a:pPr>
            <a:r>
              <a:rPr lang="en-US" sz="2400" b="1">
                <a:latin typeface="Arial" panose="020B0604020202020204" pitchFamily="34" charset="0"/>
                <a:cs typeface="Arial" panose="020B0604020202020204" pitchFamily="34" charset="0"/>
              </a:rPr>
              <a:t>Leading</a:t>
            </a:r>
          </a:p>
          <a:p>
            <a:r>
              <a:rPr lang="en-US" sz="2400">
                <a:latin typeface="Arial" panose="020B0604020202020204" pitchFamily="34" charset="0"/>
                <a:cs typeface="Arial" panose="020B0604020202020204" pitchFamily="34" charset="0"/>
              </a:rPr>
              <a:t>How do I handle unmotivated employees?</a:t>
            </a:r>
          </a:p>
          <a:p>
            <a:r>
              <a:rPr lang="en-US" sz="2400">
                <a:latin typeface="Arial" panose="020B0604020202020204" pitchFamily="34" charset="0"/>
                <a:cs typeface="Arial" panose="020B0604020202020204" pitchFamily="34" charset="0"/>
              </a:rPr>
              <a:t>What is the most effective leadership style in a given situation?</a:t>
            </a:r>
          </a:p>
          <a:p>
            <a:r>
              <a:rPr lang="en-US" sz="2400">
                <a:latin typeface="Arial" panose="020B0604020202020204" pitchFamily="34" charset="0"/>
                <a:cs typeface="Arial" panose="020B0604020202020204" pitchFamily="34" charset="0"/>
              </a:rPr>
              <a:t>How will a specific change affect worker productivity?</a:t>
            </a:r>
          </a:p>
          <a:p>
            <a:r>
              <a:rPr lang="en-US" sz="2400">
                <a:latin typeface="Arial" panose="020B0604020202020204" pitchFamily="34" charset="0"/>
                <a:cs typeface="Arial" panose="020B0604020202020204" pitchFamily="34" charset="0"/>
              </a:rPr>
              <a:t>When is the right time to stimulate conflict?</a:t>
            </a:r>
          </a:p>
        </p:txBody>
      </p:sp>
    </p:spTree>
    <p:extLst>
      <p:ext uri="{BB962C8B-B14F-4D97-AF65-F5344CB8AC3E}">
        <p14:creationId xmlns:p14="http://schemas.microsoft.com/office/powerpoint/2010/main" val="2044258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dirty="0">
                <a:latin typeface="+mj-lt"/>
                <a:ea typeface="ＭＳ Ｐゴシック" pitchFamily="34" charset="-128"/>
                <a:cs typeface="Arial" charset="0"/>
              </a:rPr>
              <a:t>Decisions Managers Make </a:t>
            </a:r>
            <a:r>
              <a:rPr lang="en-US" sz="2800" dirty="0">
                <a:latin typeface="+mj-lt"/>
                <a:ea typeface="ＭＳ Ｐゴシック" pitchFamily="34" charset="-128"/>
                <a:cs typeface="Arial" charset="0"/>
              </a:rPr>
              <a:t>(3 of 4)</a:t>
            </a:r>
            <a:endParaRPr lang="en-US" sz="2800" dirty="0">
              <a:latin typeface="+mj-lt"/>
            </a:endParaRPr>
          </a:p>
        </p:txBody>
      </p:sp>
      <p:sp>
        <p:nvSpPr>
          <p:cNvPr id="3" name="Content Placeholder 2"/>
          <p:cNvSpPr>
            <a:spLocks noGrp="1"/>
          </p:cNvSpPr>
          <p:nvPr>
            <p:ph idx="1"/>
          </p:nvPr>
        </p:nvSpPr>
        <p:spPr>
          <a:xfrm>
            <a:off x="468000" y="1295400"/>
            <a:ext cx="8229600" cy="282573"/>
          </a:xfrm>
        </p:spPr>
        <p:txBody>
          <a:bodyPr tIns="18000" bIns="18000">
            <a:spAutoFit/>
          </a:bodyPr>
          <a:lstStyle/>
          <a:p>
            <a:pPr marL="0" indent="0">
              <a:buNone/>
            </a:pPr>
            <a:r>
              <a:rPr lang="en-US" altLang="en-US" b="1" dirty="0">
                <a:latin typeface="Arial" panose="020B0604020202020204" pitchFamily="34" charset="0"/>
                <a:cs typeface="Arial" panose="020B0604020202020204" pitchFamily="34" charset="0"/>
              </a:rPr>
              <a:t>Exhibit 4.6 </a:t>
            </a:r>
            <a:r>
              <a:rPr lang="en-US" dirty="0">
                <a:latin typeface="Arial" panose="020B0604020202020204" pitchFamily="34" charset="0"/>
                <a:cs typeface="Arial" panose="020B0604020202020204" pitchFamily="34" charset="0"/>
              </a:rPr>
              <a:t>Decisions Managers May Make (continued)</a:t>
            </a:r>
          </a:p>
        </p:txBody>
      </p:sp>
      <p:sp>
        <p:nvSpPr>
          <p:cNvPr id="4" name="Content Placeholder 3"/>
          <p:cNvSpPr>
            <a:spLocks noGrp="1"/>
          </p:cNvSpPr>
          <p:nvPr>
            <p:ph idx="13"/>
          </p:nvPr>
        </p:nvSpPr>
        <p:spPr>
          <a:xfrm>
            <a:off x="468000" y="1752600"/>
            <a:ext cx="8229600" cy="3391116"/>
          </a:xfrm>
        </p:spPr>
        <p:txBody>
          <a:bodyPr tIns="18000" bIns="18000">
            <a:spAutoFit/>
          </a:bodyPr>
          <a:lstStyle/>
          <a:p>
            <a:pPr marL="0" indent="0">
              <a:buNone/>
            </a:pPr>
            <a:r>
              <a:rPr lang="en-US" sz="2400" b="1" dirty="0">
                <a:latin typeface="Arial" panose="020B0604020202020204" pitchFamily="34" charset="0"/>
                <a:cs typeface="Arial" panose="020B0604020202020204" pitchFamily="34" charset="0"/>
              </a:rPr>
              <a:t>Organizing</a:t>
            </a:r>
          </a:p>
          <a:p>
            <a:r>
              <a:rPr lang="en-US" sz="2400" dirty="0">
                <a:latin typeface="Arial" panose="020B0604020202020204" pitchFamily="34" charset="0"/>
                <a:cs typeface="Arial" panose="020B0604020202020204" pitchFamily="34" charset="0"/>
              </a:rPr>
              <a:t>How many employees should I have report directly to me?</a:t>
            </a:r>
          </a:p>
          <a:p>
            <a:r>
              <a:rPr lang="en-US" sz="2400" dirty="0">
                <a:latin typeface="Arial" panose="020B0604020202020204" pitchFamily="34" charset="0"/>
                <a:cs typeface="Arial" panose="020B0604020202020204" pitchFamily="34" charset="0"/>
              </a:rPr>
              <a:t>How much centralization should there be in an organization?</a:t>
            </a:r>
          </a:p>
          <a:p>
            <a:r>
              <a:rPr lang="en-US" sz="2400" dirty="0">
                <a:latin typeface="Arial" panose="020B0604020202020204" pitchFamily="34" charset="0"/>
                <a:cs typeface="Arial" panose="020B0604020202020204" pitchFamily="34" charset="0"/>
              </a:rPr>
              <a:t>How should jobs be designed?</a:t>
            </a:r>
          </a:p>
          <a:p>
            <a:r>
              <a:rPr lang="en-US" sz="2400" dirty="0">
                <a:latin typeface="Arial" panose="020B0604020202020204" pitchFamily="34" charset="0"/>
                <a:cs typeface="Arial" panose="020B0604020202020204" pitchFamily="34" charset="0"/>
              </a:rPr>
              <a:t>When should the organization implement a different structure?</a:t>
            </a:r>
          </a:p>
        </p:txBody>
      </p:sp>
    </p:spTree>
    <p:extLst>
      <p:ext uri="{BB962C8B-B14F-4D97-AF65-F5344CB8AC3E}">
        <p14:creationId xmlns:p14="http://schemas.microsoft.com/office/powerpoint/2010/main" val="2361014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dirty="0">
                <a:latin typeface="+mj-lt"/>
                <a:ea typeface="ＭＳ Ｐゴシック" pitchFamily="34" charset="-128"/>
                <a:cs typeface="Arial" charset="0"/>
              </a:rPr>
              <a:t>Decisions Managers Make </a:t>
            </a:r>
            <a:r>
              <a:rPr lang="en-US" sz="2800" dirty="0">
                <a:latin typeface="+mj-lt"/>
                <a:ea typeface="ＭＳ Ｐゴシック" pitchFamily="34" charset="-128"/>
                <a:cs typeface="Arial" charset="0"/>
              </a:rPr>
              <a:t>(4 of 4)</a:t>
            </a:r>
            <a:endParaRPr lang="en-US" sz="2800" dirty="0">
              <a:latin typeface="+mj-lt"/>
            </a:endParaRPr>
          </a:p>
        </p:txBody>
      </p:sp>
      <p:sp>
        <p:nvSpPr>
          <p:cNvPr id="3" name="Content Placeholder 2"/>
          <p:cNvSpPr>
            <a:spLocks noGrp="1"/>
          </p:cNvSpPr>
          <p:nvPr>
            <p:ph idx="1"/>
          </p:nvPr>
        </p:nvSpPr>
        <p:spPr>
          <a:xfrm>
            <a:off x="468000" y="1295400"/>
            <a:ext cx="8229600" cy="282573"/>
          </a:xfrm>
        </p:spPr>
        <p:txBody>
          <a:bodyPr tIns="18000" bIns="18000">
            <a:spAutoFit/>
          </a:bodyPr>
          <a:lstStyle/>
          <a:p>
            <a:pPr marL="0" indent="0">
              <a:buNone/>
            </a:pPr>
            <a:r>
              <a:rPr lang="en-US" altLang="en-US" b="1" dirty="0">
                <a:latin typeface="Arial" panose="020B0604020202020204" pitchFamily="34" charset="0"/>
                <a:cs typeface="Arial" panose="020B0604020202020204" pitchFamily="34" charset="0"/>
              </a:rPr>
              <a:t>Exhibit 4.6 </a:t>
            </a:r>
            <a:r>
              <a:rPr lang="en-US" dirty="0">
                <a:latin typeface="Arial" panose="020B0604020202020204" pitchFamily="34" charset="0"/>
                <a:cs typeface="Arial" panose="020B0604020202020204" pitchFamily="34" charset="0"/>
              </a:rPr>
              <a:t>Decisions Managers May Make (continued)</a:t>
            </a:r>
          </a:p>
        </p:txBody>
      </p:sp>
      <p:sp>
        <p:nvSpPr>
          <p:cNvPr id="4" name="Content Placeholder 3"/>
          <p:cNvSpPr>
            <a:spLocks noGrp="1"/>
          </p:cNvSpPr>
          <p:nvPr>
            <p:ph idx="13"/>
          </p:nvPr>
        </p:nvSpPr>
        <p:spPr>
          <a:xfrm>
            <a:off x="468000" y="1828800"/>
            <a:ext cx="8229600" cy="3021784"/>
          </a:xfrm>
        </p:spPr>
        <p:txBody>
          <a:bodyPr tIns="18000" bIns="18000">
            <a:spAutoFit/>
          </a:bodyPr>
          <a:lstStyle/>
          <a:p>
            <a:pPr marL="0" indent="0">
              <a:buNone/>
            </a:pPr>
            <a:r>
              <a:rPr lang="en-US" sz="2400" b="1" dirty="0">
                <a:latin typeface="Arial" panose="020B0604020202020204" pitchFamily="34" charset="0"/>
                <a:cs typeface="Arial" panose="020B0604020202020204" pitchFamily="34" charset="0"/>
              </a:rPr>
              <a:t>Controlling</a:t>
            </a:r>
          </a:p>
          <a:p>
            <a:r>
              <a:rPr lang="en-US" sz="2400" dirty="0">
                <a:latin typeface="Arial" panose="020B0604020202020204" pitchFamily="34" charset="0"/>
                <a:cs typeface="Arial" panose="020B0604020202020204" pitchFamily="34" charset="0"/>
              </a:rPr>
              <a:t>What activities in the organization need to be controlled?</a:t>
            </a:r>
          </a:p>
          <a:p>
            <a:r>
              <a:rPr lang="en-US" sz="2400" dirty="0">
                <a:latin typeface="Arial" panose="020B0604020202020204" pitchFamily="34" charset="0"/>
                <a:cs typeface="Arial" panose="020B0604020202020204" pitchFamily="34" charset="0"/>
              </a:rPr>
              <a:t>How should those activities be controlled?</a:t>
            </a:r>
          </a:p>
          <a:p>
            <a:r>
              <a:rPr lang="en-US" sz="2400" dirty="0">
                <a:latin typeface="Arial" panose="020B0604020202020204" pitchFamily="34" charset="0"/>
                <a:cs typeface="Arial" panose="020B0604020202020204" pitchFamily="34" charset="0"/>
              </a:rPr>
              <a:t>When is a performance deviation significant?</a:t>
            </a:r>
          </a:p>
          <a:p>
            <a:r>
              <a:rPr lang="en-US" sz="2400" dirty="0">
                <a:latin typeface="Arial" panose="020B0604020202020204" pitchFamily="34" charset="0"/>
                <a:cs typeface="Arial" panose="020B0604020202020204" pitchFamily="34" charset="0"/>
              </a:rPr>
              <a:t>What type of management information system should the organization have?</a:t>
            </a:r>
          </a:p>
        </p:txBody>
      </p:sp>
      <p:sp>
        <p:nvSpPr>
          <p:cNvPr id="5" name="Content Placeholder 4"/>
          <p:cNvSpPr>
            <a:spLocks noGrp="1"/>
          </p:cNvSpPr>
          <p:nvPr>
            <p:ph sz="quarter" idx="14"/>
          </p:nvPr>
        </p:nvSpPr>
        <p:spPr>
          <a:xfrm>
            <a:off x="468000" y="5080717"/>
            <a:ext cx="8305800" cy="405683"/>
          </a:xfrm>
        </p:spPr>
        <p:txBody>
          <a:bodyPr tIns="18000" bIns="18000">
            <a:spAutoFit/>
          </a:bodyPr>
          <a:lstStyle/>
          <a:p>
            <a:pPr lvl="0"/>
            <a:r>
              <a:rPr lang="en-US" sz="1200" i="1" dirty="0">
                <a:solidFill>
                  <a:prstClr val="black"/>
                </a:solidFill>
                <a:latin typeface="Arial" panose="020B0604020202020204" pitchFamily="34" charset="0"/>
                <a:cs typeface="Arial" panose="020B0604020202020204" pitchFamily="34" charset="0"/>
              </a:rPr>
              <a:t>Source</a:t>
            </a:r>
            <a:r>
              <a:rPr lang="en-US" sz="1200" b="1" dirty="0">
                <a:solidFill>
                  <a:prstClr val="black"/>
                </a:solidFill>
                <a:latin typeface="Arial" panose="020B0604020202020204" pitchFamily="34" charset="0"/>
                <a:cs typeface="Arial" panose="020B0604020202020204" pitchFamily="34" charset="0"/>
              </a:rPr>
              <a:t>: </a:t>
            </a:r>
            <a:r>
              <a:rPr lang="en-US" sz="1200" dirty="0">
                <a:solidFill>
                  <a:prstClr val="black"/>
                </a:solidFill>
                <a:latin typeface="Arial" panose="020B0604020202020204" pitchFamily="34" charset="0"/>
                <a:cs typeface="Arial" panose="020B0604020202020204" pitchFamily="34" charset="0"/>
              </a:rPr>
              <a:t>Robbins, Stephen P., Coulter, Mary, </a:t>
            </a:r>
            <a:r>
              <a:rPr lang="en-US" sz="1200" i="1" dirty="0">
                <a:solidFill>
                  <a:prstClr val="black"/>
                </a:solidFill>
                <a:latin typeface="Arial" panose="020B0604020202020204" pitchFamily="34" charset="0"/>
                <a:cs typeface="Arial" panose="020B0604020202020204" pitchFamily="34" charset="0"/>
              </a:rPr>
              <a:t>Management</a:t>
            </a:r>
            <a:r>
              <a:rPr lang="en-US" sz="1200" b="1" dirty="0">
                <a:solidFill>
                  <a:prstClr val="black"/>
                </a:solidFill>
                <a:latin typeface="Arial" panose="020B0604020202020204" pitchFamily="34" charset="0"/>
                <a:cs typeface="Arial" panose="020B0604020202020204" pitchFamily="34" charset="0"/>
              </a:rPr>
              <a:t>, </a:t>
            </a:r>
            <a:r>
              <a:rPr lang="en-US" sz="1200" dirty="0">
                <a:solidFill>
                  <a:prstClr val="black"/>
                </a:solidFill>
                <a:latin typeface="Arial" panose="020B0604020202020204" pitchFamily="34" charset="0"/>
                <a:cs typeface="Arial" panose="020B0604020202020204" pitchFamily="34" charset="0"/>
              </a:rPr>
              <a:t>13th E</a:t>
            </a:r>
            <a:r>
              <a:rPr lang="en-US" sz="100" dirty="0">
                <a:solidFill>
                  <a:prstClr val="black"/>
                </a:solidFill>
                <a:latin typeface="Arial" panose="020B0604020202020204" pitchFamily="34" charset="0"/>
                <a:cs typeface="Arial" panose="020B0604020202020204" pitchFamily="34" charset="0"/>
              </a:rPr>
              <a:t> </a:t>
            </a:r>
            <a:r>
              <a:rPr lang="en-US" sz="1200" dirty="0">
                <a:solidFill>
                  <a:prstClr val="black"/>
                </a:solidFill>
                <a:latin typeface="Arial" panose="020B0604020202020204" pitchFamily="34" charset="0"/>
                <a:cs typeface="Arial" panose="020B0604020202020204" pitchFamily="34" charset="0"/>
              </a:rPr>
              <a:t>d., © 2016, p. 45. Reprinted and electronically reproduced by permission of Pearson Education, Inc., New York, </a:t>
            </a:r>
            <a:r>
              <a:rPr lang="en-US" sz="1200" spc="-200" dirty="0">
                <a:solidFill>
                  <a:prstClr val="black"/>
                </a:solidFill>
                <a:latin typeface="Arial" panose="020B0604020202020204" pitchFamily="34" charset="0"/>
                <a:cs typeface="Arial" panose="020B0604020202020204" pitchFamily="34" charset="0"/>
              </a:rPr>
              <a:t>N </a:t>
            </a:r>
            <a:r>
              <a:rPr lang="en-US" sz="1200" dirty="0">
                <a:solidFill>
                  <a:prstClr val="black"/>
                </a:solidFill>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877150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68000" y="284400"/>
            <a:ext cx="8229600" cy="590349"/>
          </a:xfrm>
        </p:spPr>
        <p:txBody>
          <a:bodyPr tIns="18000" bIns="18000">
            <a:spAutoFit/>
          </a:bodyPr>
          <a:lstStyle/>
          <a:p>
            <a:r>
              <a:rPr lang="en-US" altLang="en-US" sz="3600" dirty="0">
                <a:latin typeface="+mj-lt"/>
                <a:cs typeface="Arial" pitchFamily="34" charset="0"/>
              </a:rPr>
              <a:t>Rational Model</a:t>
            </a:r>
            <a:endParaRPr lang="en-US" dirty="0">
              <a:latin typeface="+mj-lt"/>
            </a:endParaRPr>
          </a:p>
        </p:txBody>
      </p:sp>
      <p:sp>
        <p:nvSpPr>
          <p:cNvPr id="8" name="Content Placeholder 7">
            <a:extLst>
              <a:ext uri="{FF2B5EF4-FFF2-40B4-BE49-F238E27FC236}">
                <a16:creationId xmlns:a16="http://schemas.microsoft.com/office/drawing/2014/main" id="{39C58501-19F8-4D95-A25A-869983C1FAC7}"/>
              </a:ext>
            </a:extLst>
          </p:cNvPr>
          <p:cNvSpPr>
            <a:spLocks noGrp="1"/>
          </p:cNvSpPr>
          <p:nvPr>
            <p:ph sz="quarter" idx="13"/>
          </p:nvPr>
        </p:nvSpPr>
        <p:spPr>
          <a:xfrm>
            <a:off x="468000" y="1295400"/>
            <a:ext cx="8295000" cy="1336708"/>
          </a:xfrm>
        </p:spPr>
        <p:txBody>
          <a:bodyPr wrap="square" tIns="18000" bIns="18000">
            <a:spAutoFit/>
          </a:bodyPr>
          <a:lstStyle/>
          <a:p>
            <a:pPr marL="0" indent="0">
              <a:buNone/>
            </a:pPr>
            <a:r>
              <a:rPr lang="en-US" sz="2400" b="1">
                <a:latin typeface="Arial" panose="020B0604020202020204" pitchFamily="34" charset="0"/>
                <a:ea typeface="ＭＳ Ｐゴシック" pitchFamily="34" charset="-128"/>
                <a:cs typeface="Arial" panose="020B0604020202020204" pitchFamily="34" charset="0"/>
              </a:rPr>
              <a:t>Rational decision making”</a:t>
            </a:r>
          </a:p>
          <a:p>
            <a:r>
              <a:rPr lang="en-US" sz="2400">
                <a:latin typeface="Arial" panose="020B0604020202020204" pitchFamily="34" charset="0"/>
                <a:cs typeface="Arial" panose="020B0604020202020204" pitchFamily="34" charset="0"/>
              </a:rPr>
              <a:t>choices that are consistent and value-maximizing within specified constraints.</a:t>
            </a:r>
          </a:p>
        </p:txBody>
      </p:sp>
      <p:sp>
        <p:nvSpPr>
          <p:cNvPr id="9" name="Content Placeholder 8">
            <a:extLst>
              <a:ext uri="{FF2B5EF4-FFF2-40B4-BE49-F238E27FC236}">
                <a16:creationId xmlns:a16="http://schemas.microsoft.com/office/drawing/2014/main" id="{9791BCDA-1212-4CFF-AD0C-327006BF4DA0}"/>
              </a:ext>
            </a:extLst>
          </p:cNvPr>
          <p:cNvSpPr>
            <a:spLocks noGrp="1"/>
          </p:cNvSpPr>
          <p:nvPr>
            <p:ph sz="quarter" idx="14"/>
          </p:nvPr>
        </p:nvSpPr>
        <p:spPr>
          <a:xfrm>
            <a:off x="468000" y="2819400"/>
            <a:ext cx="8295000" cy="405683"/>
          </a:xfrm>
        </p:spPr>
        <p:txBody>
          <a:bodyPr wrap="square" tIns="18000" bIns="18000">
            <a:spAutoFit/>
          </a:bodyPr>
          <a:lstStyle/>
          <a:p>
            <a:pPr marL="0" indent="0">
              <a:buNone/>
            </a:pPr>
            <a:r>
              <a:rPr lang="en-US" sz="2400" b="1">
                <a:latin typeface="Arial" panose="020B0604020202020204" pitchFamily="34" charset="0"/>
                <a:ea typeface="ＭＳ Ｐゴシック" pitchFamily="34" charset="-128"/>
                <a:cs typeface="Arial" panose="020B0604020202020204" pitchFamily="34" charset="0"/>
              </a:rPr>
              <a:t>Rationality is not a very realistic approach.</a:t>
            </a:r>
            <a:endParaRPr lang="en-US" sz="2400">
              <a:latin typeface="Arial" panose="020B0604020202020204" pitchFamily="34" charset="0"/>
              <a:cs typeface="Arial" panose="020B0604020202020204" pitchFamily="34" charset="0"/>
            </a:endParaRPr>
          </a:p>
        </p:txBody>
      </p:sp>
      <p:pic>
        <p:nvPicPr>
          <p:cNvPr id="32" name="Picture Placeholder 31" descr="An illustration shows gears superimposed on a human brain.">
            <a:extLst>
              <a:ext uri="{FF2B5EF4-FFF2-40B4-BE49-F238E27FC236}">
                <a16:creationId xmlns:a16="http://schemas.microsoft.com/office/drawing/2014/main" id="{3256A663-B101-4D9A-AECB-82102AB6B2AC}"/>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6477000" y="3505200"/>
            <a:ext cx="1901952" cy="2517648"/>
          </a:xfrm>
          <a:prstGeom prst="rect">
            <a:avLst/>
          </a:prstGeom>
        </p:spPr>
      </p:pic>
    </p:spTree>
    <p:extLst>
      <p:ext uri="{BB962C8B-B14F-4D97-AF65-F5344CB8AC3E}">
        <p14:creationId xmlns:p14="http://schemas.microsoft.com/office/powerpoint/2010/main" val="2585555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68000" y="284400"/>
            <a:ext cx="8229600" cy="590349"/>
          </a:xfrm>
        </p:spPr>
        <p:txBody>
          <a:bodyPr tIns="18000" bIns="18000">
            <a:spAutoFit/>
          </a:bodyPr>
          <a:lstStyle/>
          <a:p>
            <a:r>
              <a:rPr lang="en-US" sz="3600">
                <a:latin typeface="+mj-lt"/>
                <a:ea typeface="ＭＳ Ｐゴシック" pitchFamily="34" charset="-128"/>
                <a:cs typeface="Arial" charset="0"/>
              </a:rPr>
              <a:t>Bounded Rationality</a:t>
            </a:r>
            <a:endParaRPr lang="en-US">
              <a:latin typeface="+mj-lt"/>
            </a:endParaRPr>
          </a:p>
        </p:txBody>
      </p:sp>
      <p:sp>
        <p:nvSpPr>
          <p:cNvPr id="8" name="Content Placeholder 7">
            <a:extLst>
              <a:ext uri="{FF2B5EF4-FFF2-40B4-BE49-F238E27FC236}">
                <a16:creationId xmlns:a16="http://schemas.microsoft.com/office/drawing/2014/main" id="{39C58501-19F8-4D95-A25A-869983C1FAC7}"/>
              </a:ext>
            </a:extLst>
          </p:cNvPr>
          <p:cNvSpPr>
            <a:spLocks noGrp="1"/>
          </p:cNvSpPr>
          <p:nvPr>
            <p:ph sz="quarter" idx="13"/>
          </p:nvPr>
        </p:nvSpPr>
        <p:spPr>
          <a:xfrm>
            <a:off x="468000" y="1295400"/>
            <a:ext cx="4104000" cy="1529068"/>
          </a:xfrm>
        </p:spPr>
        <p:txBody>
          <a:bodyPr wrap="square" tIns="18000" bIns="18000">
            <a:spAutoFit/>
          </a:bodyPr>
          <a:lstStyle/>
          <a:p>
            <a:r>
              <a:rPr lang="en-US" sz="2400" b="1" dirty="0">
                <a:latin typeface="Arial" panose="020B0604020202020204" pitchFamily="34" charset="0"/>
                <a:ea typeface="ＭＳ Ｐゴシック" pitchFamily="34" charset="-128"/>
                <a:cs typeface="Arial" panose="020B0604020202020204" pitchFamily="34" charset="0"/>
              </a:rPr>
              <a:t>Satisfice</a:t>
            </a:r>
          </a:p>
          <a:p>
            <a:r>
              <a:rPr lang="en-US" sz="2400" b="1" dirty="0">
                <a:latin typeface="Arial" panose="020B0604020202020204" pitchFamily="34" charset="0"/>
                <a:ea typeface="ＭＳ Ｐゴシック" pitchFamily="34" charset="-128"/>
                <a:cs typeface="Arial" panose="020B0604020202020204" pitchFamily="34" charset="0"/>
              </a:rPr>
              <a:t>Escalation of commitment</a:t>
            </a:r>
          </a:p>
          <a:p>
            <a:r>
              <a:rPr lang="en-US" sz="2400" dirty="0">
                <a:latin typeface="Arial" panose="020B0604020202020204" pitchFamily="34" charset="0"/>
                <a:ea typeface="ＭＳ Ｐゴシック" pitchFamily="34" charset="-128"/>
                <a:cs typeface="Arial" panose="020B0604020202020204" pitchFamily="34" charset="0"/>
              </a:rPr>
              <a:t>A more realistic approach.</a:t>
            </a:r>
            <a:endParaRPr lang="en-US" sz="2400" dirty="0">
              <a:latin typeface="Arial" panose="020B0604020202020204" pitchFamily="34" charset="0"/>
              <a:cs typeface="Arial" panose="020B0604020202020204" pitchFamily="34" charset="0"/>
            </a:endParaRPr>
          </a:p>
        </p:txBody>
      </p:sp>
      <p:pic>
        <p:nvPicPr>
          <p:cNvPr id="10" name="Picture Placeholder 9" descr="A photo shows a road sign with two arrow boards pointing in different directions. Text on one board reads, Make. Text on the other board reads, Make a choice.">
            <a:extLst>
              <a:ext uri="{FF2B5EF4-FFF2-40B4-BE49-F238E27FC236}">
                <a16:creationId xmlns:a16="http://schemas.microsoft.com/office/drawing/2014/main" id="{8ACEA32B-BF65-4841-AE29-B25332FE40AB}"/>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5796417" y="1315768"/>
            <a:ext cx="2661783" cy="3332432"/>
          </a:xfrm>
          <a:prstGeom prst="rect">
            <a:avLst/>
          </a:prstGeom>
        </p:spPr>
      </p:pic>
    </p:spTree>
    <p:extLst>
      <p:ext uri="{BB962C8B-B14F-4D97-AF65-F5344CB8AC3E}">
        <p14:creationId xmlns:p14="http://schemas.microsoft.com/office/powerpoint/2010/main" val="2752241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68000" y="284400"/>
            <a:ext cx="8229600" cy="590349"/>
          </a:xfrm>
        </p:spPr>
        <p:txBody>
          <a:bodyPr tIns="18000" bIns="18000">
            <a:spAutoFit/>
          </a:bodyPr>
          <a:lstStyle/>
          <a:p>
            <a:r>
              <a:rPr lang="en-US" sz="3600">
                <a:latin typeface="+mj-lt"/>
                <a:ea typeface="ＭＳ Ｐゴシック" pitchFamily="34" charset="-128"/>
                <a:cs typeface="Arial" charset="0"/>
              </a:rPr>
              <a:t>Intuitive Decision Making </a:t>
            </a:r>
            <a:r>
              <a:rPr lang="en-US" sz="2800">
                <a:latin typeface="+mj-lt"/>
                <a:ea typeface="ＭＳ Ｐゴシック" pitchFamily="34" charset="-128"/>
                <a:cs typeface="Arial" charset="0"/>
              </a:rPr>
              <a:t>(1 of 2)</a:t>
            </a:r>
            <a:endParaRPr lang="en-US">
              <a:latin typeface="+mj-lt"/>
            </a:endParaRPr>
          </a:p>
        </p:txBody>
      </p:sp>
      <p:sp>
        <p:nvSpPr>
          <p:cNvPr id="8" name="Content Placeholder 7">
            <a:extLst>
              <a:ext uri="{FF2B5EF4-FFF2-40B4-BE49-F238E27FC236}">
                <a16:creationId xmlns:a16="http://schemas.microsoft.com/office/drawing/2014/main" id="{39C58501-19F8-4D95-A25A-869983C1FAC7}"/>
              </a:ext>
            </a:extLst>
          </p:cNvPr>
          <p:cNvSpPr>
            <a:spLocks noGrp="1"/>
          </p:cNvSpPr>
          <p:nvPr>
            <p:ph sz="quarter" idx="13"/>
          </p:nvPr>
        </p:nvSpPr>
        <p:spPr>
          <a:xfrm>
            <a:off x="468000" y="1295400"/>
            <a:ext cx="8295000" cy="282573"/>
          </a:xfrm>
        </p:spPr>
        <p:txBody>
          <a:bodyPr wrap="square" tIns="18000" bIns="18000">
            <a:spAutoFit/>
          </a:bodyPr>
          <a:lstStyle/>
          <a:p>
            <a:pPr marL="0" indent="0">
              <a:buNone/>
            </a:pPr>
            <a:r>
              <a:rPr lang="en-US" altLang="en-US" b="1" dirty="0">
                <a:latin typeface="Arial" panose="020B0604020202020204" pitchFamily="34" charset="0"/>
                <a:cs typeface="Arial" panose="020B0604020202020204" pitchFamily="34" charset="0"/>
              </a:rPr>
              <a:t>Exhibit 4.7 </a:t>
            </a:r>
            <a:r>
              <a:rPr lang="en-US" dirty="0">
                <a:latin typeface="Arial" panose="020B0604020202020204" pitchFamily="34" charset="0"/>
                <a:cs typeface="Arial" panose="020B0604020202020204" pitchFamily="34" charset="0"/>
              </a:rPr>
              <a:t>What Is Intuition?</a:t>
            </a:r>
          </a:p>
        </p:txBody>
      </p:sp>
      <p:pic>
        <p:nvPicPr>
          <p:cNvPr id="5" name="Picture Placeholder 4" descr="An illustration shows different decisions made by managers using intuition.&#10;Long description is available in notes, press F6.">
            <a:extLst>
              <a:ext uri="{FF2B5EF4-FFF2-40B4-BE49-F238E27FC236}">
                <a16:creationId xmlns:a16="http://schemas.microsoft.com/office/drawing/2014/main" id="{51DBAF67-6CC8-4907-A09C-54E8B31CF758}"/>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594360" y="1998624"/>
            <a:ext cx="8016240" cy="3712464"/>
          </a:xfrm>
          <a:prstGeom prst="rect">
            <a:avLst/>
          </a:prstGeom>
        </p:spPr>
      </p:pic>
    </p:spTree>
    <p:extLst>
      <p:ext uri="{BB962C8B-B14F-4D97-AF65-F5344CB8AC3E}">
        <p14:creationId xmlns:p14="http://schemas.microsoft.com/office/powerpoint/2010/main" val="1026979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7848600" cy="590349"/>
          </a:xfrm>
        </p:spPr>
        <p:txBody>
          <a:bodyPr tIns="18000" bIns="18000">
            <a:spAutoFit/>
          </a:bodyPr>
          <a:lstStyle/>
          <a:p>
            <a:r>
              <a:rPr lang="en-US" sz="3600">
                <a:latin typeface="+mj-lt"/>
                <a:ea typeface="ＭＳ Ｐゴシック" pitchFamily="34" charset="-128"/>
                <a:cs typeface="Arial" charset="0"/>
              </a:rPr>
              <a:t>Intuitive Decision Making </a:t>
            </a:r>
            <a:r>
              <a:rPr lang="en-US" sz="2800">
                <a:latin typeface="+mj-lt"/>
                <a:ea typeface="ＭＳ Ｐゴシック" pitchFamily="34" charset="-128"/>
                <a:cs typeface="Arial" charset="0"/>
              </a:rPr>
              <a:t>(2 of 2)</a:t>
            </a:r>
            <a:endParaRPr lang="en-US" sz="2800">
              <a:latin typeface="+mj-lt"/>
            </a:endParaRPr>
          </a:p>
        </p:txBody>
      </p:sp>
      <p:sp>
        <p:nvSpPr>
          <p:cNvPr id="3" name="Content Placeholder 2"/>
          <p:cNvSpPr>
            <a:spLocks noGrp="1"/>
          </p:cNvSpPr>
          <p:nvPr>
            <p:ph idx="1"/>
          </p:nvPr>
        </p:nvSpPr>
        <p:spPr>
          <a:xfrm>
            <a:off x="468000" y="1295400"/>
            <a:ext cx="8218800" cy="2067677"/>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Sources: </a:t>
            </a:r>
            <a:r>
              <a:rPr lang="en-US" sz="1200">
                <a:latin typeface="Arial" panose="020B0604020202020204" pitchFamily="34" charset="0"/>
                <a:cs typeface="Arial" panose="020B0604020202020204" pitchFamily="34" charset="0"/>
              </a:rPr>
              <a:t>Based on J. Evans, “Intuition and Reasoning: A Dual-Process Perspective,” </a:t>
            </a:r>
            <a:r>
              <a:rPr lang="en-US" sz="1200" i="1">
                <a:latin typeface="Arial" panose="020B0604020202020204" pitchFamily="34" charset="0"/>
                <a:cs typeface="Arial" panose="020B0604020202020204" pitchFamily="34" charset="0"/>
              </a:rPr>
              <a:t>Psychological Inquiry</a:t>
            </a:r>
            <a:r>
              <a:rPr lang="en-US" sz="1200">
                <a:latin typeface="Arial" panose="020B0604020202020204" pitchFamily="34" charset="0"/>
                <a:cs typeface="Arial" panose="020B0604020202020204" pitchFamily="34" charset="0"/>
              </a:rPr>
              <a:t>, October–December 2010, p</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 313–26; T. Betsch and A. Blockner, “Intuition in Judgment and Decision Making: Extensive Thinking Without Effort,” </a:t>
            </a:r>
            <a:r>
              <a:rPr lang="en-US" sz="1200" i="1">
                <a:latin typeface="Arial" panose="020B0604020202020204" pitchFamily="34" charset="0"/>
                <a:cs typeface="Arial" panose="020B0604020202020204" pitchFamily="34" charset="0"/>
              </a:rPr>
              <a:t>Psychological Inquiry</a:t>
            </a:r>
            <a:r>
              <a:rPr lang="en-US" sz="1200">
                <a:latin typeface="Arial" panose="020B0604020202020204" pitchFamily="34" charset="0"/>
                <a:cs typeface="Arial" panose="020B0604020202020204" pitchFamily="34" charset="0"/>
              </a:rPr>
              <a:t>, October–December 2010, p</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 279–94; R. Lange and J. Houran, “A Transliminal View of Intuitions in the Workplace,” </a:t>
            </a:r>
            <a:r>
              <a:rPr lang="en-US" sz="1200" i="1">
                <a:latin typeface="Arial" panose="020B0604020202020204" pitchFamily="34" charset="0"/>
                <a:cs typeface="Arial" panose="020B0604020202020204" pitchFamily="34" charset="0"/>
              </a:rPr>
              <a:t>North American Journal of Psychology</a:t>
            </a:r>
            <a:r>
              <a:rPr lang="en-US" sz="1200">
                <a:latin typeface="Arial" panose="020B0604020202020204" pitchFamily="34" charset="0"/>
                <a:cs typeface="Arial" panose="020B0604020202020204" pitchFamily="34" charset="0"/>
              </a:rPr>
              <a:t>, 12, no. 3 (2010), p</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 501–16; E. Dane and M. G. Pratt, “Exploring Intuition and Its Role in Managerial Decision Making,” </a:t>
            </a:r>
            <a:r>
              <a:rPr lang="en-US" sz="1200" i="1">
                <a:latin typeface="Arial" panose="020B0604020202020204" pitchFamily="34" charset="0"/>
                <a:cs typeface="Arial" panose="020B0604020202020204" pitchFamily="34" charset="0"/>
              </a:rPr>
              <a:t>Academy of Management Review</a:t>
            </a:r>
            <a:r>
              <a:rPr lang="en-US" sz="1200">
                <a:latin typeface="Arial" panose="020B0604020202020204" pitchFamily="34" charset="0"/>
                <a:cs typeface="Arial" panose="020B0604020202020204" pitchFamily="34" charset="0"/>
              </a:rPr>
              <a:t>, January 2007, p</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 33–54; M. H. Bazerman and D. Chugh, “Decisions without Blinders,” </a:t>
            </a:r>
            <a:r>
              <a:rPr lang="en-US" sz="1200" i="1">
                <a:latin typeface="Arial" panose="020B0604020202020204" pitchFamily="34" charset="0"/>
                <a:cs typeface="Arial" panose="020B0604020202020204" pitchFamily="34" charset="0"/>
              </a:rPr>
              <a:t>Harvard Business Review</a:t>
            </a:r>
            <a:r>
              <a:rPr lang="en-US" sz="1200">
                <a:latin typeface="Arial" panose="020B0604020202020204" pitchFamily="34" charset="0"/>
                <a:cs typeface="Arial" panose="020B0604020202020204" pitchFamily="34" charset="0"/>
              </a:rPr>
              <a:t>, January 2006, p</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p.88–97; C. C. Miller and R. D. Ireland, “Intuition in Strategic Decision Making: Friend or Foe in the Fast- Paced 21st Century,” </a:t>
            </a:r>
            <a:r>
              <a:rPr lang="en-US" sz="1200" i="1">
                <a:latin typeface="Arial" panose="020B0604020202020204" pitchFamily="34" charset="0"/>
                <a:cs typeface="Arial" panose="020B0604020202020204" pitchFamily="34" charset="0"/>
              </a:rPr>
              <a:t>Academy of Management Executive</a:t>
            </a:r>
            <a:r>
              <a:rPr lang="en-US" sz="1200">
                <a:latin typeface="Arial" panose="020B0604020202020204" pitchFamily="34" charset="0"/>
                <a:cs typeface="Arial" panose="020B0604020202020204" pitchFamily="34" charset="0"/>
              </a:rPr>
              <a:t>, February 2005, p</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 19–30; E. Sadler-Smith and E. Shefy, “The Intuitive Executive: Understanding and Applying ‘Gut Feel’ in Decision-Making,” </a:t>
            </a:r>
            <a:r>
              <a:rPr lang="en-US" sz="1200" i="1">
                <a:latin typeface="Arial" panose="020B0604020202020204" pitchFamily="34" charset="0"/>
                <a:cs typeface="Arial" panose="020B0604020202020204" pitchFamily="34" charset="0"/>
              </a:rPr>
              <a:t>Academy of Management Executive</a:t>
            </a:r>
            <a:r>
              <a:rPr lang="en-US" sz="1200">
                <a:latin typeface="Arial" panose="020B0604020202020204" pitchFamily="34" charset="0"/>
                <a:cs typeface="Arial" panose="020B0604020202020204" pitchFamily="34" charset="0"/>
              </a:rPr>
              <a:t>, November 2004, p</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 76–91; and L. A. Burke and M. K. Miller, “Taking the Mystery Out of Intuitive Decision Making,” </a:t>
            </a:r>
            <a:r>
              <a:rPr lang="en-US" sz="1200" i="1">
                <a:latin typeface="Arial" panose="020B0604020202020204" pitchFamily="34" charset="0"/>
                <a:cs typeface="Arial" panose="020B0604020202020204" pitchFamily="34" charset="0"/>
              </a:rPr>
              <a:t>Academy of Management Executive</a:t>
            </a:r>
            <a:r>
              <a:rPr lang="en-US" sz="1200">
                <a:latin typeface="Arial" panose="020B0604020202020204" pitchFamily="34" charset="0"/>
                <a:cs typeface="Arial" panose="020B0604020202020204" pitchFamily="34" charset="0"/>
              </a:rPr>
              <a:t>, October 1999, p</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 91–99.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cs typeface="Arial" pitchFamily="34" charset="0"/>
              </a:rPr>
              <a:t>Learning Objective 4.3</a:t>
            </a:r>
            <a:endParaRPr lang="en-US">
              <a:latin typeface="+mj-lt"/>
            </a:endParaRPr>
          </a:p>
        </p:txBody>
      </p:sp>
      <p:sp>
        <p:nvSpPr>
          <p:cNvPr id="3" name="Content Placeholder 2"/>
          <p:cNvSpPr>
            <a:spLocks noGrp="1"/>
          </p:cNvSpPr>
          <p:nvPr>
            <p:ph idx="1"/>
          </p:nvPr>
        </p:nvSpPr>
        <p:spPr>
          <a:xfrm>
            <a:off x="468000" y="1295400"/>
            <a:ext cx="8229600" cy="775015"/>
          </a:xfrm>
        </p:spPr>
        <p:txBody>
          <a:bodyPr tIns="18000" bIns="18000">
            <a:spAutoFit/>
          </a:bodyPr>
          <a:lstStyle/>
          <a:p>
            <a:r>
              <a:rPr lang="en-US" sz="2400">
                <a:latin typeface="Arial" panose="020B0604020202020204" pitchFamily="34" charset="0"/>
                <a:cs typeface="Arial" panose="020B0604020202020204" pitchFamily="34" charset="0"/>
              </a:rPr>
              <a:t>Describe the types of decisions and decision-making conditions that managers face.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a:latin typeface="+mj-lt"/>
                <a:ea typeface="ＭＳ Ｐゴシック" pitchFamily="34" charset="-128"/>
                <a:cs typeface="Arial" charset="0"/>
              </a:rPr>
              <a:t>Types of Problems</a:t>
            </a:r>
            <a:endParaRPr lang="en-US" sz="2800">
              <a:latin typeface="+mj-lt"/>
            </a:endParaRPr>
          </a:p>
        </p:txBody>
      </p:sp>
      <p:sp>
        <p:nvSpPr>
          <p:cNvPr id="3" name="Content Placeholder 2"/>
          <p:cNvSpPr>
            <a:spLocks noGrp="1"/>
          </p:cNvSpPr>
          <p:nvPr>
            <p:ph idx="1"/>
          </p:nvPr>
        </p:nvSpPr>
        <p:spPr>
          <a:xfrm>
            <a:off x="457200" y="1295400"/>
            <a:ext cx="8229600" cy="967376"/>
          </a:xfrm>
        </p:spPr>
        <p:txBody>
          <a:bodyPr tIns="18000" bIns="18000">
            <a:spAutoFit/>
          </a:bodyPr>
          <a:lstStyle/>
          <a:p>
            <a:pPr marL="0" indent="0">
              <a:buNone/>
            </a:pPr>
            <a:r>
              <a:rPr lang="en-US" sz="2400" b="1">
                <a:latin typeface="Arial" panose="020B0604020202020204" pitchFamily="34" charset="0"/>
                <a:ea typeface="ＭＳ Ｐゴシック" pitchFamily="34" charset="-128"/>
                <a:cs typeface="Arial" panose="020B0604020202020204" pitchFamily="34" charset="0"/>
              </a:rPr>
              <a:t>Structured problem:</a:t>
            </a:r>
          </a:p>
          <a:p>
            <a:r>
              <a:rPr lang="en-US" sz="2400">
                <a:latin typeface="Arial" panose="020B0604020202020204" pitchFamily="34" charset="0"/>
                <a:ea typeface="ＭＳ Ｐゴシック" pitchFamily="34" charset="-128"/>
                <a:cs typeface="Arial" panose="020B0604020202020204" pitchFamily="34" charset="0"/>
              </a:rPr>
              <a:t>straightforward, familiar, easily defined.</a:t>
            </a:r>
          </a:p>
        </p:txBody>
      </p:sp>
      <p:sp>
        <p:nvSpPr>
          <p:cNvPr id="4" name="Content Placeholder 3"/>
          <p:cNvSpPr>
            <a:spLocks noGrp="1"/>
          </p:cNvSpPr>
          <p:nvPr>
            <p:ph idx="13"/>
          </p:nvPr>
        </p:nvSpPr>
        <p:spPr>
          <a:xfrm>
            <a:off x="457200" y="2438400"/>
            <a:ext cx="8229600" cy="1336708"/>
          </a:xfrm>
        </p:spPr>
        <p:txBody>
          <a:bodyPr tIns="18000" bIns="18000">
            <a:spAutoFit/>
          </a:bodyPr>
          <a:lstStyle/>
          <a:p>
            <a:pPr marL="0" indent="0">
              <a:buNone/>
            </a:pPr>
            <a:r>
              <a:rPr lang="en-US" sz="2400" b="1">
                <a:latin typeface="Arial" panose="020B0604020202020204" pitchFamily="34" charset="0"/>
                <a:cs typeface="Arial" panose="020B0604020202020204" pitchFamily="34" charset="0"/>
              </a:rPr>
              <a:t>Unstructured problem:</a:t>
            </a:r>
          </a:p>
          <a:p>
            <a:r>
              <a:rPr lang="en-US" sz="2400">
                <a:latin typeface="Arial" panose="020B0604020202020204" pitchFamily="34" charset="0"/>
                <a:cs typeface="Arial" panose="020B0604020202020204" pitchFamily="34" charset="0"/>
              </a:rPr>
              <a:t>new or unusual for which information is ambiguous or incomplete.</a:t>
            </a:r>
          </a:p>
        </p:txBody>
      </p:sp>
    </p:spTree>
    <p:extLst>
      <p:ext uri="{BB962C8B-B14F-4D97-AF65-F5344CB8AC3E}">
        <p14:creationId xmlns:p14="http://schemas.microsoft.com/office/powerpoint/2010/main" val="851965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68000" y="284400"/>
            <a:ext cx="8229600" cy="590349"/>
          </a:xfrm>
        </p:spPr>
        <p:txBody>
          <a:bodyPr tIns="18000" bIns="18000">
            <a:spAutoFit/>
          </a:bodyPr>
          <a:lstStyle/>
          <a:p>
            <a:r>
              <a:rPr lang="en-US" sz="3600">
                <a:latin typeface="+mj-lt"/>
                <a:ea typeface="ＭＳ Ｐゴシック" pitchFamily="34" charset="-128"/>
                <a:cs typeface="Arial" charset="0"/>
              </a:rPr>
              <a:t>Types of Decisions </a:t>
            </a:r>
            <a:r>
              <a:rPr lang="en-US" sz="2800">
                <a:latin typeface="+mj-lt"/>
                <a:ea typeface="ＭＳ Ｐゴシック" pitchFamily="34" charset="-128"/>
                <a:cs typeface="Arial" charset="0"/>
              </a:rPr>
              <a:t>(1 of 2)</a:t>
            </a:r>
            <a:endParaRPr lang="en-US">
              <a:latin typeface="+mj-lt"/>
            </a:endParaRPr>
          </a:p>
        </p:txBody>
      </p:sp>
      <p:sp>
        <p:nvSpPr>
          <p:cNvPr id="8" name="Content Placeholder 7">
            <a:extLst>
              <a:ext uri="{FF2B5EF4-FFF2-40B4-BE49-F238E27FC236}">
                <a16:creationId xmlns:a16="http://schemas.microsoft.com/office/drawing/2014/main" id="{39C58501-19F8-4D95-A25A-869983C1FAC7}"/>
              </a:ext>
            </a:extLst>
          </p:cNvPr>
          <p:cNvSpPr>
            <a:spLocks noGrp="1"/>
          </p:cNvSpPr>
          <p:nvPr>
            <p:ph sz="quarter" idx="13"/>
          </p:nvPr>
        </p:nvSpPr>
        <p:spPr>
          <a:xfrm>
            <a:off x="468000" y="1295400"/>
            <a:ext cx="8295000" cy="1336708"/>
          </a:xfrm>
        </p:spPr>
        <p:txBody>
          <a:bodyPr wrap="square" tIns="18000" bIns="18000">
            <a:spAutoFit/>
          </a:bodyPr>
          <a:lstStyle/>
          <a:p>
            <a:pPr marL="0" indent="0">
              <a:buNone/>
            </a:pPr>
            <a:r>
              <a:rPr lang="en-US" sz="2400" b="1">
                <a:latin typeface="Arial" panose="020B0604020202020204" pitchFamily="34" charset="0"/>
                <a:ea typeface="ＭＳ Ｐゴシック" pitchFamily="34" charset="-128"/>
                <a:cs typeface="Arial" panose="020B0604020202020204" pitchFamily="34" charset="0"/>
              </a:rPr>
              <a:t>Programmed:</a:t>
            </a:r>
          </a:p>
          <a:p>
            <a:r>
              <a:rPr lang="en-US" sz="2400">
                <a:latin typeface="Arial" panose="020B0604020202020204" pitchFamily="34" charset="0"/>
                <a:ea typeface="ＭＳ Ｐゴシック" pitchFamily="34" charset="-128"/>
                <a:cs typeface="Arial" panose="020B0604020202020204" pitchFamily="34" charset="0"/>
              </a:rPr>
              <a:t>repetitive decisions that can be handled using a routine approach.</a:t>
            </a:r>
            <a:endParaRPr lang="en-US" sz="2400">
              <a:latin typeface="Arial" panose="020B0604020202020204" pitchFamily="34" charset="0"/>
              <a:cs typeface="Arial" panose="020B0604020202020204" pitchFamily="34" charset="0"/>
            </a:endParaRPr>
          </a:p>
        </p:txBody>
      </p:sp>
      <p:pic>
        <p:nvPicPr>
          <p:cNvPr id="7" name="Picture Placeholder 6" descr="Four men standing in a circle, holding sheets of papers, and discussing.">
            <a:extLst>
              <a:ext uri="{FF2B5EF4-FFF2-40B4-BE49-F238E27FC236}">
                <a16:creationId xmlns:a16="http://schemas.microsoft.com/office/drawing/2014/main" id="{551EEC4E-F247-4F90-9B2F-7DBA496E372E}"/>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4203192" y="2971800"/>
            <a:ext cx="4559808" cy="3176016"/>
          </a:xfrm>
          <a:prstGeom prst="rect">
            <a:avLst/>
          </a:prstGeom>
        </p:spPr>
      </p:pic>
    </p:spTree>
    <p:extLst>
      <p:ext uri="{BB962C8B-B14F-4D97-AF65-F5344CB8AC3E}">
        <p14:creationId xmlns:p14="http://schemas.microsoft.com/office/powerpoint/2010/main" val="2604091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a:latin typeface="+mj-lt"/>
                <a:ea typeface="ＭＳ Ｐゴシック" pitchFamily="34" charset="-128"/>
                <a:cs typeface="Arial" charset="0"/>
              </a:rPr>
              <a:t>Types of Decisions </a:t>
            </a:r>
            <a:r>
              <a:rPr lang="en-US" sz="2800">
                <a:latin typeface="+mj-lt"/>
                <a:ea typeface="ＭＳ Ｐゴシック" pitchFamily="34" charset="-128"/>
                <a:cs typeface="Arial" charset="0"/>
              </a:rPr>
              <a:t>(2 of 2)</a:t>
            </a:r>
            <a:endParaRPr lang="en-US" sz="2800">
              <a:latin typeface="+mj-lt"/>
            </a:endParaRPr>
          </a:p>
        </p:txBody>
      </p:sp>
      <p:sp>
        <p:nvSpPr>
          <p:cNvPr id="3" name="Content Placeholder 2"/>
          <p:cNvSpPr>
            <a:spLocks noGrp="1"/>
          </p:cNvSpPr>
          <p:nvPr>
            <p:ph idx="1"/>
          </p:nvPr>
        </p:nvSpPr>
        <p:spPr>
          <a:xfrm>
            <a:off x="468000" y="1295400"/>
            <a:ext cx="8229600" cy="1336708"/>
          </a:xfrm>
        </p:spPr>
        <p:txBody>
          <a:bodyPr tIns="18000" bIns="18000">
            <a:spAutoFit/>
          </a:bodyPr>
          <a:lstStyle/>
          <a:p>
            <a:pPr marL="0" indent="0">
              <a:buNone/>
            </a:pPr>
            <a:r>
              <a:rPr lang="en-US" sz="2400" b="1">
                <a:latin typeface="Arial" panose="020B0604020202020204" pitchFamily="34" charset="0"/>
                <a:ea typeface="ＭＳ Ｐゴシック" pitchFamily="34" charset="-128"/>
                <a:cs typeface="Arial" panose="020B0604020202020204" pitchFamily="34" charset="0"/>
              </a:rPr>
              <a:t>Nonprogrammed:</a:t>
            </a:r>
          </a:p>
          <a:p>
            <a:r>
              <a:rPr lang="en-US" sz="2400">
                <a:latin typeface="Arial" panose="020B0604020202020204" pitchFamily="34" charset="0"/>
                <a:ea typeface="ＭＳ Ｐゴシック" pitchFamily="34" charset="-128"/>
                <a:cs typeface="Arial" panose="020B0604020202020204" pitchFamily="34" charset="0"/>
              </a:rPr>
              <a:t>A unique and nonrecurring decision that requires a custom made solution. </a:t>
            </a:r>
            <a:endParaRPr lang="en-US" sz="2400">
              <a:latin typeface="Arial" panose="020B0604020202020204" pitchFamily="34"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68000" y="284400"/>
            <a:ext cx="8229600" cy="1144347"/>
          </a:xfrm>
        </p:spPr>
        <p:txBody>
          <a:bodyPr tIns="18000" bIns="18000">
            <a:spAutoFit/>
          </a:bodyPr>
          <a:lstStyle/>
          <a:p>
            <a:r>
              <a:rPr lang="en-US" sz="3600">
                <a:latin typeface="+mj-lt"/>
                <a:ea typeface="ＭＳ Ｐゴシック" pitchFamily="34" charset="-128"/>
                <a:cs typeface="Arial" charset="0"/>
              </a:rPr>
              <a:t>Problems, Decision Types, and Organizational Levels</a:t>
            </a:r>
            <a:endParaRPr lang="en-US">
              <a:latin typeface="+mj-lt"/>
            </a:endParaRPr>
          </a:p>
        </p:txBody>
      </p:sp>
      <p:sp>
        <p:nvSpPr>
          <p:cNvPr id="8" name="Content Placeholder 7">
            <a:extLst>
              <a:ext uri="{FF2B5EF4-FFF2-40B4-BE49-F238E27FC236}">
                <a16:creationId xmlns:a16="http://schemas.microsoft.com/office/drawing/2014/main" id="{39C58501-19F8-4D95-A25A-869983C1FAC7}"/>
              </a:ext>
            </a:extLst>
          </p:cNvPr>
          <p:cNvSpPr>
            <a:spLocks noGrp="1"/>
          </p:cNvSpPr>
          <p:nvPr>
            <p:ph sz="quarter" idx="13"/>
          </p:nvPr>
        </p:nvSpPr>
        <p:spPr>
          <a:xfrm>
            <a:off x="468000" y="1727917"/>
            <a:ext cx="8295000" cy="282573"/>
          </a:xfrm>
        </p:spPr>
        <p:txBody>
          <a:bodyPr wrap="square" tIns="18000" bIns="18000">
            <a:spAutoFit/>
          </a:bodyPr>
          <a:lstStyle/>
          <a:p>
            <a:pPr marL="0" indent="0">
              <a:buNone/>
            </a:pPr>
            <a:r>
              <a:rPr lang="en-US" altLang="en-US" b="1" dirty="0">
                <a:latin typeface="Arial" panose="020B0604020202020204" pitchFamily="34" charset="0"/>
                <a:cs typeface="Arial" panose="020B0604020202020204" pitchFamily="34" charset="0"/>
              </a:rPr>
              <a:t>Exhibit 4.8 </a:t>
            </a:r>
            <a:r>
              <a:rPr lang="en-US" dirty="0">
                <a:latin typeface="Arial" panose="020B0604020202020204" pitchFamily="34" charset="0"/>
                <a:cs typeface="Arial" panose="020B0604020202020204" pitchFamily="34" charset="0"/>
              </a:rPr>
              <a:t>Types of Problems, Types of Decisions, and Organizational Level</a:t>
            </a:r>
          </a:p>
        </p:txBody>
      </p:sp>
      <p:pic>
        <p:nvPicPr>
          <p:cNvPr id="5" name="Picture Placeholder 4" descr="An illustration shows the types of decisions for different types of problems, which are handled by the managers in different levels of organization.&#10;Long description is available in notes, press F6.">
            <a:extLst>
              <a:ext uri="{FF2B5EF4-FFF2-40B4-BE49-F238E27FC236}">
                <a16:creationId xmlns:a16="http://schemas.microsoft.com/office/drawing/2014/main" id="{9F9E3FC7-3F85-49D5-8449-7D6B42792708}"/>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638175" y="2514600"/>
            <a:ext cx="7896225" cy="2143125"/>
          </a:xfrm>
          <a:prstGeom prst="rect">
            <a:avLst/>
          </a:prstGeom>
        </p:spPr>
      </p:pic>
    </p:spTree>
    <p:extLst>
      <p:ext uri="{BB962C8B-B14F-4D97-AF65-F5344CB8AC3E}">
        <p14:creationId xmlns:p14="http://schemas.microsoft.com/office/powerpoint/2010/main" val="4264213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cs typeface="Arial" pitchFamily="34" charset="0"/>
              </a:rPr>
              <a:t>Decision-Making Conditions</a:t>
            </a:r>
            <a:endParaRPr lang="en-US">
              <a:latin typeface="+mj-lt"/>
            </a:endParaRPr>
          </a:p>
        </p:txBody>
      </p:sp>
      <p:sp>
        <p:nvSpPr>
          <p:cNvPr id="3" name="Content Placeholder 2"/>
          <p:cNvSpPr>
            <a:spLocks noGrp="1"/>
          </p:cNvSpPr>
          <p:nvPr>
            <p:ph idx="1"/>
          </p:nvPr>
        </p:nvSpPr>
        <p:spPr>
          <a:xfrm>
            <a:off x="468000" y="1295400"/>
            <a:ext cx="8229600" cy="1523999"/>
          </a:xfrm>
        </p:spPr>
        <p:txBody>
          <a:bodyPr tIns="18000" bIns="18000">
            <a:spAutoFit/>
          </a:bodyPr>
          <a:lstStyle/>
          <a:p>
            <a:r>
              <a:rPr lang="en-US" sz="2400">
                <a:latin typeface="Arial" panose="020B0604020202020204" pitchFamily="34" charset="0"/>
                <a:cs typeface="Arial" panose="020B0604020202020204" pitchFamily="34" charset="0"/>
              </a:rPr>
              <a:t>Certainty</a:t>
            </a:r>
          </a:p>
          <a:p>
            <a:r>
              <a:rPr lang="en-US" sz="2400">
                <a:latin typeface="Arial" panose="020B0604020202020204" pitchFamily="34" charset="0"/>
                <a:cs typeface="Arial" panose="020B0604020202020204" pitchFamily="34" charset="0"/>
              </a:rPr>
              <a:t>Risk</a:t>
            </a:r>
          </a:p>
          <a:p>
            <a:r>
              <a:rPr lang="en-US" sz="2400">
                <a:latin typeface="Arial" panose="020B0604020202020204" pitchFamily="34" charset="0"/>
                <a:cs typeface="Arial" panose="020B0604020202020204" pitchFamily="34" charset="0"/>
              </a:rPr>
              <a:t>Uncertainty</a:t>
            </a:r>
          </a:p>
        </p:txBody>
      </p:sp>
    </p:spTree>
    <p:extLst>
      <p:ext uri="{BB962C8B-B14F-4D97-AF65-F5344CB8AC3E}">
        <p14:creationId xmlns:p14="http://schemas.microsoft.com/office/powerpoint/2010/main" val="471475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cs typeface="Arial" pitchFamily="34" charset="0"/>
              </a:rPr>
              <a:t>Learning Objective 4.4</a:t>
            </a:r>
            <a:endParaRPr lang="en-US">
              <a:latin typeface="+mj-lt"/>
            </a:endParaRPr>
          </a:p>
        </p:txBody>
      </p:sp>
      <p:sp>
        <p:nvSpPr>
          <p:cNvPr id="3" name="Content Placeholder 2"/>
          <p:cNvSpPr>
            <a:spLocks noGrp="1"/>
          </p:cNvSpPr>
          <p:nvPr>
            <p:ph idx="1"/>
          </p:nvPr>
        </p:nvSpPr>
        <p:spPr>
          <a:xfrm>
            <a:off x="468000" y="1295400"/>
            <a:ext cx="8229600" cy="405683"/>
          </a:xfrm>
        </p:spPr>
        <p:txBody>
          <a:bodyPr tIns="18000" bIns="18000">
            <a:spAutoFit/>
          </a:bodyPr>
          <a:lstStyle/>
          <a:p>
            <a:r>
              <a:rPr lang="en-US" sz="2400">
                <a:latin typeface="Arial" panose="020B0604020202020204" pitchFamily="34" charset="0"/>
                <a:cs typeface="Arial" panose="020B0604020202020204" pitchFamily="34" charset="0"/>
              </a:rPr>
              <a:t>Discuss group decision making.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cs typeface="Arial" panose="020B0604020202020204" pitchFamily="34" charset="0"/>
              </a:rPr>
              <a:t>How Do Groups Make Decisions?</a:t>
            </a:r>
            <a:endParaRPr lang="en-US">
              <a:latin typeface="+mj-lt"/>
              <a:cs typeface="Arial" panose="020B0604020202020204" pitchFamily="34" charset="0"/>
            </a:endParaRPr>
          </a:p>
        </p:txBody>
      </p:sp>
      <p:sp>
        <p:nvSpPr>
          <p:cNvPr id="3" name="Content Placeholder 2"/>
          <p:cNvSpPr>
            <a:spLocks noGrp="1"/>
          </p:cNvSpPr>
          <p:nvPr>
            <p:ph idx="1"/>
          </p:nvPr>
        </p:nvSpPr>
        <p:spPr>
          <a:xfrm>
            <a:off x="468000" y="1295400"/>
            <a:ext cx="8229600" cy="3021784"/>
          </a:xfrm>
        </p:spPr>
        <p:txBody>
          <a:bodyPr tIns="18000" bIns="18000">
            <a:spAutoFit/>
          </a:bodyPr>
          <a:lstStyle/>
          <a:p>
            <a:pPr marL="0" indent="0">
              <a:buNone/>
            </a:pPr>
            <a:r>
              <a:rPr lang="en-US" altLang="en-US" sz="2400">
                <a:latin typeface="Arial" panose="020B0604020202020204" pitchFamily="34" charset="0"/>
                <a:ea typeface="ＭＳ Ｐゴシック" pitchFamily="34" charset="-128"/>
                <a:cs typeface="Arial" panose="020B0604020202020204" pitchFamily="34" charset="0"/>
              </a:rPr>
              <a:t>Decisions are often made by groups representing the people who will be most affected by those decisions.</a:t>
            </a:r>
            <a:endParaRPr lang="en-US" sz="2400">
              <a:latin typeface="Arial" panose="020B0604020202020204" pitchFamily="34" charset="0"/>
              <a:cs typeface="Arial" panose="020B0604020202020204" pitchFamily="34" charset="0"/>
            </a:endParaRPr>
          </a:p>
          <a:p>
            <a:r>
              <a:rPr lang="en-US" sz="2400">
                <a:latin typeface="Arial" panose="020B0604020202020204" pitchFamily="34" charset="0"/>
                <a:cs typeface="Arial" panose="020B0604020202020204" pitchFamily="34" charset="0"/>
              </a:rPr>
              <a:t>Committees</a:t>
            </a:r>
          </a:p>
          <a:p>
            <a:r>
              <a:rPr lang="en-US" sz="2400">
                <a:latin typeface="Arial" panose="020B0604020202020204" pitchFamily="34" charset="0"/>
                <a:cs typeface="Arial" panose="020B0604020202020204" pitchFamily="34" charset="0"/>
              </a:rPr>
              <a:t>Task forces</a:t>
            </a:r>
          </a:p>
          <a:p>
            <a:r>
              <a:rPr lang="en-US" sz="2400">
                <a:latin typeface="Arial" panose="020B0604020202020204" pitchFamily="34" charset="0"/>
                <a:cs typeface="Arial" panose="020B0604020202020204" pitchFamily="34" charset="0"/>
              </a:rPr>
              <a:t>Review panels</a:t>
            </a:r>
          </a:p>
          <a:p>
            <a:r>
              <a:rPr lang="en-US" sz="2400">
                <a:latin typeface="Arial" panose="020B0604020202020204" pitchFamily="34" charset="0"/>
                <a:cs typeface="Arial" panose="020B0604020202020204" pitchFamily="34" charset="0"/>
              </a:rPr>
              <a:t>Work teams</a:t>
            </a:r>
          </a:p>
        </p:txBody>
      </p:sp>
    </p:spTree>
    <p:extLst>
      <p:ext uri="{BB962C8B-B14F-4D97-AF65-F5344CB8AC3E}">
        <p14:creationId xmlns:p14="http://schemas.microsoft.com/office/powerpoint/2010/main" val="1077229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1144347"/>
          </a:xfrm>
        </p:spPr>
        <p:txBody>
          <a:bodyPr tIns="18000" bIns="18000">
            <a:spAutoFit/>
          </a:bodyPr>
          <a:lstStyle/>
          <a:p>
            <a:r>
              <a:rPr lang="en-US" altLang="en-US" sz="3600">
                <a:latin typeface="+mj-lt"/>
                <a:cs typeface="Arial" pitchFamily="34" charset="0"/>
              </a:rPr>
              <a:t>Advantages of Group Decision Making</a:t>
            </a:r>
            <a:endParaRPr lang="en-US">
              <a:latin typeface="+mj-lt"/>
            </a:endParaRPr>
          </a:p>
        </p:txBody>
      </p:sp>
      <p:sp>
        <p:nvSpPr>
          <p:cNvPr id="3" name="Content Placeholder 2"/>
          <p:cNvSpPr>
            <a:spLocks noGrp="1"/>
          </p:cNvSpPr>
          <p:nvPr>
            <p:ph idx="1"/>
          </p:nvPr>
        </p:nvSpPr>
        <p:spPr>
          <a:xfrm>
            <a:off x="468000" y="1600200"/>
            <a:ext cx="8229600" cy="2667000"/>
          </a:xfrm>
        </p:spPr>
        <p:txBody>
          <a:bodyPr tIns="18000" bIns="18000">
            <a:spAutoFit/>
          </a:bodyPr>
          <a:lstStyle/>
          <a:p>
            <a:r>
              <a:rPr lang="en-US" sz="2400">
                <a:latin typeface="Arial" panose="020B0604020202020204" pitchFamily="34" charset="0"/>
                <a:cs typeface="Arial" panose="020B0604020202020204" pitchFamily="34" charset="0"/>
              </a:rPr>
              <a:t>Diversity of experiences/perspectives</a:t>
            </a:r>
          </a:p>
          <a:p>
            <a:r>
              <a:rPr lang="en-US" sz="2400">
                <a:latin typeface="Arial" panose="020B0604020202020204" pitchFamily="34" charset="0"/>
                <a:cs typeface="Arial" panose="020B0604020202020204" pitchFamily="34" charset="0"/>
              </a:rPr>
              <a:t>More complete information</a:t>
            </a:r>
          </a:p>
          <a:p>
            <a:r>
              <a:rPr lang="en-US" sz="2400">
                <a:latin typeface="Arial" panose="020B0604020202020204" pitchFamily="34" charset="0"/>
                <a:cs typeface="Arial" panose="020B0604020202020204" pitchFamily="34" charset="0"/>
              </a:rPr>
              <a:t>More alternatives generated</a:t>
            </a:r>
          </a:p>
          <a:p>
            <a:r>
              <a:rPr lang="en-US" sz="2400">
                <a:latin typeface="Arial" panose="020B0604020202020204" pitchFamily="34" charset="0"/>
                <a:cs typeface="Arial" panose="020B0604020202020204" pitchFamily="34" charset="0"/>
              </a:rPr>
              <a:t>Increased acceptance of solution</a:t>
            </a:r>
          </a:p>
          <a:p>
            <a:r>
              <a:rPr lang="en-US" sz="2400">
                <a:latin typeface="Arial" panose="020B0604020202020204" pitchFamily="34" charset="0"/>
                <a:cs typeface="Arial" panose="020B0604020202020204" pitchFamily="34" charset="0"/>
              </a:rPr>
              <a:t>Increased legitimacy</a:t>
            </a:r>
          </a:p>
        </p:txBody>
      </p:sp>
    </p:spTree>
    <p:extLst>
      <p:ext uri="{BB962C8B-B14F-4D97-AF65-F5344CB8AC3E}">
        <p14:creationId xmlns:p14="http://schemas.microsoft.com/office/powerpoint/2010/main" val="1647009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1144347"/>
          </a:xfrm>
        </p:spPr>
        <p:txBody>
          <a:bodyPr tIns="18000" bIns="18000">
            <a:spAutoFit/>
          </a:bodyPr>
          <a:lstStyle/>
          <a:p>
            <a:r>
              <a:rPr lang="en-US" altLang="en-US" sz="3600">
                <a:latin typeface="+mj-lt"/>
                <a:cs typeface="Arial" panose="020B0604020202020204" pitchFamily="34" charset="0"/>
              </a:rPr>
              <a:t>Disadvantages of Group Decision Making</a:t>
            </a:r>
            <a:endParaRPr lang="en-US">
              <a:latin typeface="+mj-lt"/>
              <a:cs typeface="Arial" panose="020B0604020202020204" pitchFamily="34" charset="0"/>
            </a:endParaRPr>
          </a:p>
        </p:txBody>
      </p:sp>
      <p:sp>
        <p:nvSpPr>
          <p:cNvPr id="3" name="Content Placeholder 2"/>
          <p:cNvSpPr>
            <a:spLocks noGrp="1"/>
          </p:cNvSpPr>
          <p:nvPr>
            <p:ph idx="1"/>
          </p:nvPr>
        </p:nvSpPr>
        <p:spPr>
          <a:xfrm>
            <a:off x="468000" y="1600200"/>
            <a:ext cx="8229600" cy="2133600"/>
          </a:xfrm>
        </p:spPr>
        <p:txBody>
          <a:bodyPr tIns="18000" bIns="18000">
            <a:spAutoFit/>
          </a:bodyPr>
          <a:lstStyle/>
          <a:p>
            <a:r>
              <a:rPr lang="en-US" sz="2400">
                <a:latin typeface="Arial" panose="020B0604020202020204" pitchFamily="34" charset="0"/>
                <a:cs typeface="Arial" panose="020B0604020202020204" pitchFamily="34" charset="0"/>
              </a:rPr>
              <a:t>Time-consuming</a:t>
            </a:r>
          </a:p>
          <a:p>
            <a:r>
              <a:rPr lang="en-US" sz="2400">
                <a:latin typeface="Arial" panose="020B0604020202020204" pitchFamily="34" charset="0"/>
                <a:cs typeface="Arial" panose="020B0604020202020204" pitchFamily="34" charset="0"/>
              </a:rPr>
              <a:t>Minority domination</a:t>
            </a:r>
          </a:p>
          <a:p>
            <a:r>
              <a:rPr lang="en-US" sz="2400">
                <a:latin typeface="Arial" panose="020B0604020202020204" pitchFamily="34" charset="0"/>
                <a:cs typeface="Arial" panose="020B0604020202020204" pitchFamily="34" charset="0"/>
              </a:rPr>
              <a:t>Ambiguous responsibility</a:t>
            </a:r>
          </a:p>
          <a:p>
            <a:r>
              <a:rPr lang="en-US" sz="2400">
                <a:latin typeface="Arial" panose="020B0604020202020204" pitchFamily="34" charset="0"/>
                <a:cs typeface="Arial" panose="020B0604020202020204" pitchFamily="34" charset="0"/>
              </a:rPr>
              <a:t>Pressures to conform</a:t>
            </a:r>
          </a:p>
        </p:txBody>
      </p:sp>
    </p:spTree>
    <p:extLst>
      <p:ext uri="{BB962C8B-B14F-4D97-AF65-F5344CB8AC3E}">
        <p14:creationId xmlns:p14="http://schemas.microsoft.com/office/powerpoint/2010/main" val="874399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cs typeface="Arial" pitchFamily="34" charset="0"/>
              </a:rPr>
              <a:t>Groupthink</a:t>
            </a:r>
            <a:endParaRPr lang="en-US">
              <a:latin typeface="+mj-lt"/>
            </a:endParaRPr>
          </a:p>
        </p:txBody>
      </p:sp>
      <p:sp>
        <p:nvSpPr>
          <p:cNvPr id="3" name="Content Placeholder 2"/>
          <p:cNvSpPr>
            <a:spLocks noGrp="1"/>
          </p:cNvSpPr>
          <p:nvPr>
            <p:ph idx="1"/>
          </p:nvPr>
        </p:nvSpPr>
        <p:spPr>
          <a:xfrm>
            <a:off x="468000" y="1295400"/>
            <a:ext cx="8229600" cy="2895600"/>
          </a:xfrm>
        </p:spPr>
        <p:txBody>
          <a:bodyPr tIns="18000" bIns="18000">
            <a:spAutoFit/>
          </a:bodyPr>
          <a:lstStyle/>
          <a:p>
            <a:pPr marL="0" indent="0">
              <a:buNone/>
            </a:pPr>
            <a:r>
              <a:rPr lang="en-US" altLang="en-US" sz="2400">
                <a:solidFill>
                  <a:srgbClr val="000000"/>
                </a:solidFill>
                <a:latin typeface="Arial" panose="020B0604020202020204" pitchFamily="34" charset="0"/>
                <a:ea typeface="ＭＳ Ｐゴシック" pitchFamily="34" charset="-128"/>
                <a:cs typeface="Arial" panose="020B0604020202020204" pitchFamily="34" charset="0"/>
              </a:rPr>
              <a:t>When a group exerts extensive pressure on an individual to withhold his or her different views in order to appear to be in agreement.</a:t>
            </a:r>
            <a:endParaRPr lang="en-US" sz="2400">
              <a:latin typeface="Arial" panose="020B0604020202020204" pitchFamily="34" charset="0"/>
              <a:cs typeface="Arial" panose="020B0604020202020204" pitchFamily="34" charset="0"/>
            </a:endParaRPr>
          </a:p>
          <a:p>
            <a:r>
              <a:rPr lang="en-US" sz="2400">
                <a:latin typeface="Arial" panose="020B0604020202020204" pitchFamily="34" charset="0"/>
                <a:cs typeface="Arial" panose="020B0604020202020204" pitchFamily="34" charset="0"/>
              </a:rPr>
              <a:t>What it does</a:t>
            </a:r>
          </a:p>
          <a:p>
            <a:r>
              <a:rPr lang="en-US" sz="2400">
                <a:latin typeface="Arial" panose="020B0604020202020204" pitchFamily="34" charset="0"/>
                <a:cs typeface="Arial" panose="020B0604020202020204" pitchFamily="34" charset="0"/>
              </a:rPr>
              <a:t>How it occurs</a:t>
            </a:r>
          </a:p>
          <a:p>
            <a:r>
              <a:rPr lang="en-US" sz="2400">
                <a:latin typeface="Arial" panose="020B0604020202020204" pitchFamily="34" charset="0"/>
                <a:cs typeface="Arial" panose="020B0604020202020204" pitchFamily="34" charset="0"/>
              </a:rPr>
              <a:t>How to minimize it</a:t>
            </a:r>
          </a:p>
        </p:txBody>
      </p:sp>
    </p:spTree>
    <p:extLst>
      <p:ext uri="{BB962C8B-B14F-4D97-AF65-F5344CB8AC3E}">
        <p14:creationId xmlns:p14="http://schemas.microsoft.com/office/powerpoint/2010/main" val="3871868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dirty="0">
                <a:latin typeface="+mj-lt"/>
                <a:ea typeface="ＭＳ Ｐゴシック" pitchFamily="34" charset="-128"/>
                <a:cs typeface="Arial" charset="0"/>
              </a:rPr>
              <a:t>When Are Groups Most Effective?</a:t>
            </a:r>
            <a:endParaRPr lang="en-US" dirty="0">
              <a:latin typeface="+mj-lt"/>
            </a:endParaRPr>
          </a:p>
        </p:txBody>
      </p:sp>
      <p:sp>
        <p:nvSpPr>
          <p:cNvPr id="12" name="Content Placeholder 11">
            <a:extLst>
              <a:ext uri="{FF2B5EF4-FFF2-40B4-BE49-F238E27FC236}">
                <a16:creationId xmlns:a16="http://schemas.microsoft.com/office/drawing/2014/main" id="{9284D41F-A53E-4B4C-AC5E-01AEFF101508}"/>
              </a:ext>
            </a:extLst>
          </p:cNvPr>
          <p:cNvSpPr>
            <a:spLocks noGrp="1"/>
          </p:cNvSpPr>
          <p:nvPr>
            <p:ph idx="1"/>
          </p:nvPr>
        </p:nvSpPr>
        <p:spPr>
          <a:xfrm>
            <a:off x="457200" y="1295400"/>
            <a:ext cx="3657600" cy="1908215"/>
          </a:xfrm>
        </p:spPr>
        <p:txBody>
          <a:bodyPr tIns="18000" bIns="18288">
            <a:spAutoFit/>
          </a:bodyPr>
          <a:lstStyle/>
          <a:p>
            <a:pPr marL="0" indent="0">
              <a:buNone/>
              <a:defRPr/>
            </a:pPr>
            <a:r>
              <a:rPr lang="en-US" altLang="en-US" sz="2400" b="1" dirty="0">
                <a:latin typeface="Arial" panose="020B0604020202020204" pitchFamily="34" charset="0"/>
                <a:ea typeface="ＭＳ Ｐゴシック" pitchFamily="34" charset="-128"/>
                <a:cs typeface="Arial" panose="020B0604020202020204" pitchFamily="34" charset="0"/>
              </a:rPr>
              <a:t>Individual</a:t>
            </a:r>
          </a:p>
          <a:p>
            <a:pPr>
              <a:defRPr/>
            </a:pPr>
            <a:r>
              <a:rPr lang="en-US" altLang="en-US" sz="2400" dirty="0">
                <a:latin typeface="Arial" panose="020B0604020202020204" pitchFamily="34" charset="0"/>
                <a:ea typeface="ＭＳ Ｐゴシック" pitchFamily="34" charset="-128"/>
                <a:cs typeface="Arial" panose="020B0604020202020204" pitchFamily="34" charset="0"/>
              </a:rPr>
              <a:t>Faster decision making</a:t>
            </a:r>
          </a:p>
          <a:p>
            <a:pPr>
              <a:defRPr/>
            </a:pPr>
            <a:r>
              <a:rPr lang="en-US" altLang="en-US" sz="2400" dirty="0">
                <a:latin typeface="Arial" panose="020B0604020202020204" pitchFamily="34" charset="0"/>
                <a:ea typeface="ＭＳ Ｐゴシック" pitchFamily="34" charset="-128"/>
                <a:cs typeface="Arial" panose="020B0604020202020204" pitchFamily="34" charset="0"/>
              </a:rPr>
              <a:t>More efficient use of work hours</a:t>
            </a:r>
            <a:endParaRPr lang="en-US" sz="2400" dirty="0">
              <a:latin typeface="Arial" panose="020B0604020202020204" pitchFamily="34" charset="0"/>
              <a:cs typeface="Arial" panose="020B0604020202020204" pitchFamily="34" charset="0"/>
            </a:endParaRPr>
          </a:p>
        </p:txBody>
      </p:sp>
      <p:sp>
        <p:nvSpPr>
          <p:cNvPr id="10" name="Content Placeholder 9">
            <a:extLst>
              <a:ext uri="{FF2B5EF4-FFF2-40B4-BE49-F238E27FC236}">
                <a16:creationId xmlns:a16="http://schemas.microsoft.com/office/drawing/2014/main" id="{F2D10829-1D61-49FF-84B8-1852A2EB3A4D}"/>
              </a:ext>
            </a:extLst>
          </p:cNvPr>
          <p:cNvSpPr>
            <a:spLocks noGrp="1"/>
          </p:cNvSpPr>
          <p:nvPr>
            <p:ph idx="13"/>
          </p:nvPr>
        </p:nvSpPr>
        <p:spPr>
          <a:xfrm>
            <a:off x="4648200" y="1295400"/>
            <a:ext cx="4114800" cy="3391698"/>
          </a:xfrm>
        </p:spPr>
        <p:txBody>
          <a:bodyPr wrap="square" tIns="18288" bIns="18288">
            <a:spAutoFit/>
          </a:bodyPr>
          <a:lstStyle/>
          <a:p>
            <a:pPr marL="0" indent="0">
              <a:buNone/>
              <a:defRPr/>
            </a:pPr>
            <a:r>
              <a:rPr lang="en-US" altLang="en-US" sz="2400" b="1" dirty="0">
                <a:ea typeface="ＭＳ Ｐゴシック" pitchFamily="34" charset="-128"/>
                <a:cs typeface="Arial" charset="0"/>
              </a:rPr>
              <a:t>Group</a:t>
            </a:r>
          </a:p>
          <a:p>
            <a:pPr>
              <a:defRPr/>
            </a:pPr>
            <a:r>
              <a:rPr lang="en-US" altLang="en-US" sz="2400" dirty="0">
                <a:ea typeface="ＭＳ Ｐゴシック" pitchFamily="34" charset="-128"/>
                <a:cs typeface="Arial" charset="0"/>
              </a:rPr>
              <a:t>More accurate decisions</a:t>
            </a:r>
          </a:p>
          <a:p>
            <a:pPr>
              <a:defRPr/>
            </a:pPr>
            <a:r>
              <a:rPr lang="en-US" altLang="en-US" sz="2400" dirty="0">
                <a:ea typeface="ＭＳ Ｐゴシック" pitchFamily="34" charset="-128"/>
                <a:cs typeface="Arial" charset="0"/>
              </a:rPr>
              <a:t>More creative</a:t>
            </a:r>
          </a:p>
          <a:p>
            <a:pPr>
              <a:defRPr/>
            </a:pPr>
            <a:r>
              <a:rPr lang="en-US" altLang="en-US" sz="2400" dirty="0">
                <a:ea typeface="ＭＳ Ｐゴシック" pitchFamily="34" charset="-128"/>
                <a:cs typeface="Arial" charset="0"/>
              </a:rPr>
              <a:t>More heterogeneous representation</a:t>
            </a:r>
          </a:p>
          <a:p>
            <a:pPr>
              <a:defRPr/>
            </a:pPr>
            <a:r>
              <a:rPr lang="en-US" altLang="en-US" sz="2400" dirty="0">
                <a:ea typeface="ＭＳ Ｐゴシック" pitchFamily="34" charset="-128"/>
                <a:cs typeface="Arial" charset="0"/>
              </a:rPr>
              <a:t>Greater acceptance of final solution</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cs typeface="Arial" pitchFamily="34" charset="0"/>
              </a:rPr>
              <a:t>Improving Group Decision Making</a:t>
            </a:r>
            <a:endParaRPr lang="en-US">
              <a:latin typeface="+mj-lt"/>
            </a:endParaRPr>
          </a:p>
        </p:txBody>
      </p:sp>
      <p:sp>
        <p:nvSpPr>
          <p:cNvPr id="3" name="Content Placeholder 2"/>
          <p:cNvSpPr>
            <a:spLocks noGrp="1"/>
          </p:cNvSpPr>
          <p:nvPr>
            <p:ph idx="1"/>
          </p:nvPr>
        </p:nvSpPr>
        <p:spPr>
          <a:xfrm>
            <a:off x="468000" y="1295400"/>
            <a:ext cx="8229600" cy="2072584"/>
          </a:xfrm>
        </p:spPr>
        <p:txBody>
          <a:bodyPr tIns="18000" bIns="18000">
            <a:spAutoFit/>
          </a:bodyPr>
          <a:lstStyle/>
          <a:p>
            <a:pPr marL="0" indent="0">
              <a:buNone/>
            </a:pPr>
            <a:r>
              <a:rPr lang="en-US" altLang="en-US" sz="2400" b="1">
                <a:latin typeface="Arial" panose="020B0604020202020204" pitchFamily="34" charset="0"/>
                <a:ea typeface="ＭＳ Ｐゴシック" pitchFamily="34" charset="-128"/>
                <a:cs typeface="Arial" panose="020B0604020202020204" pitchFamily="34" charset="0"/>
              </a:rPr>
              <a:t>Make group decisions more creative by:</a:t>
            </a:r>
            <a:endParaRPr lang="en-US" sz="2400">
              <a:latin typeface="Arial" panose="020B0604020202020204" pitchFamily="34" charset="0"/>
              <a:cs typeface="Arial" panose="020B0604020202020204" pitchFamily="34" charset="0"/>
            </a:endParaRPr>
          </a:p>
          <a:p>
            <a:r>
              <a:rPr lang="en-US" sz="2400">
                <a:latin typeface="Arial" panose="020B0604020202020204" pitchFamily="34" charset="0"/>
                <a:cs typeface="Arial" panose="020B0604020202020204" pitchFamily="34" charset="0"/>
              </a:rPr>
              <a:t>Brainstorming</a:t>
            </a:r>
          </a:p>
          <a:p>
            <a:r>
              <a:rPr lang="en-US" sz="2400">
                <a:latin typeface="Arial" panose="020B0604020202020204" pitchFamily="34" charset="0"/>
                <a:cs typeface="Arial" panose="020B0604020202020204" pitchFamily="34" charset="0"/>
              </a:rPr>
              <a:t>The nominal group technique</a:t>
            </a:r>
          </a:p>
          <a:p>
            <a:r>
              <a:rPr lang="en-US" sz="2400">
                <a:latin typeface="Arial" panose="020B0604020202020204" pitchFamily="34" charset="0"/>
                <a:cs typeface="Arial" panose="020B0604020202020204" pitchFamily="34" charset="0"/>
              </a:rPr>
              <a:t>Electronic meetings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cs typeface="Arial" pitchFamily="34" charset="0"/>
              </a:rPr>
              <a:t>Learning Objective 4.5</a:t>
            </a:r>
            <a:endParaRPr lang="en-US">
              <a:latin typeface="+mj-lt"/>
            </a:endParaRPr>
          </a:p>
        </p:txBody>
      </p:sp>
      <p:sp>
        <p:nvSpPr>
          <p:cNvPr id="3" name="Content Placeholder 2"/>
          <p:cNvSpPr>
            <a:spLocks noGrp="1"/>
          </p:cNvSpPr>
          <p:nvPr>
            <p:ph idx="1"/>
          </p:nvPr>
        </p:nvSpPr>
        <p:spPr>
          <a:xfrm>
            <a:off x="468000" y="1295400"/>
            <a:ext cx="8229600" cy="775015"/>
          </a:xfrm>
        </p:spPr>
        <p:txBody>
          <a:bodyPr tIns="18000" bIns="18000">
            <a:spAutoFit/>
          </a:bodyPr>
          <a:lstStyle/>
          <a:p>
            <a:r>
              <a:rPr lang="en-US" sz="2400">
                <a:latin typeface="Arial" panose="020B0604020202020204" pitchFamily="34" charset="0"/>
                <a:cs typeface="Arial" panose="020B0604020202020204" pitchFamily="34" charset="0"/>
              </a:rPr>
              <a:t>Discuss contemporary issues in managerial decision making.</a:t>
            </a:r>
          </a:p>
        </p:txBody>
      </p:sp>
    </p:spTree>
    <p:extLst>
      <p:ext uri="{BB962C8B-B14F-4D97-AF65-F5344CB8AC3E}">
        <p14:creationId xmlns:p14="http://schemas.microsoft.com/office/powerpoint/2010/main" val="33374548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a:latin typeface="+mj-lt"/>
                <a:ea typeface="ＭＳ Ｐゴシック" pitchFamily="34" charset="-128"/>
                <a:cs typeface="Arial" charset="0"/>
              </a:rPr>
              <a:t>Contemporary Issues </a:t>
            </a:r>
            <a:r>
              <a:rPr lang="en-US" sz="2800">
                <a:latin typeface="+mj-lt"/>
                <a:ea typeface="ＭＳ Ｐゴシック" pitchFamily="34" charset="-128"/>
                <a:cs typeface="Arial" charset="0"/>
              </a:rPr>
              <a:t>(1 of 4)</a:t>
            </a:r>
            <a:endParaRPr lang="en-US" sz="2800">
              <a:latin typeface="+mj-lt"/>
            </a:endParaRPr>
          </a:p>
        </p:txBody>
      </p:sp>
      <p:sp>
        <p:nvSpPr>
          <p:cNvPr id="3" name="Content Placeholder 2"/>
          <p:cNvSpPr>
            <a:spLocks noGrp="1"/>
          </p:cNvSpPr>
          <p:nvPr>
            <p:ph idx="1"/>
          </p:nvPr>
        </p:nvSpPr>
        <p:spPr>
          <a:xfrm>
            <a:off x="468000" y="1295400"/>
            <a:ext cx="8229600" cy="1336708"/>
          </a:xfrm>
        </p:spPr>
        <p:txBody>
          <a:bodyPr tIns="18000" bIns="18000">
            <a:spAutoFit/>
          </a:bodyPr>
          <a:lstStyle/>
          <a:p>
            <a:pPr marL="0" indent="0">
              <a:buNone/>
            </a:pPr>
            <a:r>
              <a:rPr lang="en-US" sz="2400" b="1">
                <a:latin typeface="Arial" panose="020B0604020202020204" pitchFamily="34" charset="0"/>
                <a:ea typeface="ＭＳ Ｐゴシック" pitchFamily="34" charset="-128"/>
                <a:cs typeface="Arial" panose="020B0604020202020204" pitchFamily="34" charset="0"/>
              </a:rPr>
              <a:t>National culture:</a:t>
            </a:r>
          </a:p>
          <a:p>
            <a:r>
              <a:rPr lang="en-US" sz="2400">
                <a:latin typeface="Arial" panose="020B0604020202020204" pitchFamily="34" charset="0"/>
                <a:ea typeface="ＭＳ Ｐゴシック" pitchFamily="34" charset="-128"/>
                <a:cs typeface="Arial" panose="020B0604020202020204" pitchFamily="34" charset="0"/>
              </a:rPr>
              <a:t>influences the way decisions are made and the degree of risk involved.</a:t>
            </a:r>
            <a:endParaRPr lang="en-US" sz="2400">
              <a:latin typeface="Arial" panose="020B0604020202020204" pitchFamily="34" charset="0"/>
              <a:cs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a:latin typeface="+mj-lt"/>
                <a:ea typeface="ＭＳ Ｐゴシック" pitchFamily="34" charset="-128"/>
                <a:cs typeface="Arial" charset="0"/>
              </a:rPr>
              <a:t>Contemporary Issues </a:t>
            </a:r>
            <a:r>
              <a:rPr lang="en-US" sz="2800">
                <a:latin typeface="+mj-lt"/>
                <a:ea typeface="ＭＳ Ｐゴシック" pitchFamily="34" charset="-128"/>
                <a:cs typeface="Arial" charset="0"/>
              </a:rPr>
              <a:t>(2 of 4)</a:t>
            </a:r>
            <a:endParaRPr lang="en-US" sz="2800">
              <a:latin typeface="+mj-lt"/>
            </a:endParaRPr>
          </a:p>
        </p:txBody>
      </p:sp>
      <p:sp>
        <p:nvSpPr>
          <p:cNvPr id="3" name="Content Placeholder 2"/>
          <p:cNvSpPr>
            <a:spLocks noGrp="1"/>
          </p:cNvSpPr>
          <p:nvPr>
            <p:ph idx="1"/>
          </p:nvPr>
        </p:nvSpPr>
        <p:spPr>
          <a:xfrm>
            <a:off x="468000" y="1295400"/>
            <a:ext cx="8229600" cy="2133599"/>
          </a:xfrm>
        </p:spPr>
        <p:txBody>
          <a:bodyPr tIns="18000" bIns="18000">
            <a:spAutoFit/>
          </a:bodyPr>
          <a:lstStyle/>
          <a:p>
            <a:pPr marL="0" indent="0">
              <a:buNone/>
            </a:pPr>
            <a:r>
              <a:rPr lang="en-US" sz="2400" b="1">
                <a:latin typeface="Arial" panose="020B0604020202020204" pitchFamily="34" charset="0"/>
                <a:ea typeface="ＭＳ Ｐゴシック" pitchFamily="34" charset="-128"/>
                <a:cs typeface="Arial" panose="020B0604020202020204" pitchFamily="34" charset="0"/>
              </a:rPr>
              <a:t>Creativity</a:t>
            </a:r>
            <a:r>
              <a:rPr lang="en-US" sz="2400" b="1">
                <a:solidFill>
                  <a:srgbClr val="648596"/>
                </a:solidFill>
                <a:latin typeface="Arial" panose="020B0604020202020204" pitchFamily="34" charset="0"/>
                <a:ea typeface="ＭＳ Ｐゴシック" pitchFamily="34" charset="-128"/>
                <a:cs typeface="Arial" panose="020B0604020202020204" pitchFamily="34" charset="0"/>
              </a:rPr>
              <a:t> </a:t>
            </a:r>
            <a:r>
              <a:rPr lang="en-US" sz="2400">
                <a:latin typeface="Arial" panose="020B0604020202020204" pitchFamily="34" charset="0"/>
                <a:ea typeface="ＭＳ Ｐゴシック" pitchFamily="34" charset="-128"/>
                <a:cs typeface="Arial" panose="020B0604020202020204" pitchFamily="34" charset="0"/>
              </a:rPr>
              <a:t>lets the decision maker:</a:t>
            </a:r>
          </a:p>
          <a:p>
            <a:r>
              <a:rPr lang="en-US" sz="2400">
                <a:latin typeface="Arial" panose="020B0604020202020204" pitchFamily="34" charset="0"/>
                <a:ea typeface="ＭＳ Ｐゴシック" pitchFamily="34" charset="-128"/>
                <a:cs typeface="Arial" panose="020B0604020202020204" pitchFamily="34" charset="0"/>
              </a:rPr>
              <a:t>Understand a problem more fully</a:t>
            </a:r>
          </a:p>
          <a:p>
            <a:r>
              <a:rPr lang="en-US" sz="2400">
                <a:latin typeface="Arial" panose="020B0604020202020204" pitchFamily="34" charset="0"/>
                <a:ea typeface="ＭＳ Ｐゴシック" pitchFamily="34" charset="-128"/>
                <a:cs typeface="Arial" panose="020B0604020202020204" pitchFamily="34" charset="0"/>
              </a:rPr>
              <a:t>See problems others can’t</a:t>
            </a:r>
          </a:p>
          <a:p>
            <a:r>
              <a:rPr lang="en-US" sz="2400">
                <a:latin typeface="Arial" panose="020B0604020202020204" pitchFamily="34" charset="0"/>
                <a:ea typeface="ＭＳ Ｐゴシック" pitchFamily="34" charset="-128"/>
                <a:cs typeface="Arial" panose="020B0604020202020204" pitchFamily="34" charset="0"/>
              </a:rPr>
              <a:t>Identify all viable alternatives</a:t>
            </a:r>
          </a:p>
        </p:txBody>
      </p:sp>
    </p:spTree>
    <p:extLst>
      <p:ext uri="{BB962C8B-B14F-4D97-AF65-F5344CB8AC3E}">
        <p14:creationId xmlns:p14="http://schemas.microsoft.com/office/powerpoint/2010/main" val="34782674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68000" y="284400"/>
            <a:ext cx="8229600" cy="590349"/>
          </a:xfrm>
        </p:spPr>
        <p:txBody>
          <a:bodyPr tIns="18000" bIns="18000">
            <a:spAutoFit/>
          </a:bodyPr>
          <a:lstStyle/>
          <a:p>
            <a:r>
              <a:rPr lang="en-US" sz="3600">
                <a:latin typeface="+mj-lt"/>
                <a:ea typeface="ＭＳ Ｐゴシック" pitchFamily="34" charset="-128"/>
                <a:cs typeface="Arial" charset="0"/>
              </a:rPr>
              <a:t>Contemporary Issues </a:t>
            </a:r>
            <a:r>
              <a:rPr lang="en-US" sz="2800">
                <a:latin typeface="+mj-lt"/>
                <a:ea typeface="ＭＳ Ｐゴシック" pitchFamily="34" charset="-128"/>
                <a:cs typeface="Arial" charset="0"/>
              </a:rPr>
              <a:t>(3 of 4)</a:t>
            </a:r>
            <a:endParaRPr lang="en-US">
              <a:latin typeface="+mj-lt"/>
            </a:endParaRPr>
          </a:p>
        </p:txBody>
      </p:sp>
      <p:sp>
        <p:nvSpPr>
          <p:cNvPr id="8" name="Content Placeholder 7">
            <a:extLst>
              <a:ext uri="{FF2B5EF4-FFF2-40B4-BE49-F238E27FC236}">
                <a16:creationId xmlns:a16="http://schemas.microsoft.com/office/drawing/2014/main" id="{39C58501-19F8-4D95-A25A-869983C1FAC7}"/>
              </a:ext>
            </a:extLst>
          </p:cNvPr>
          <p:cNvSpPr>
            <a:spLocks noGrp="1"/>
          </p:cNvSpPr>
          <p:nvPr>
            <p:ph sz="quarter" idx="13"/>
          </p:nvPr>
        </p:nvSpPr>
        <p:spPr>
          <a:xfrm>
            <a:off x="468000" y="1295400"/>
            <a:ext cx="8295000" cy="1336708"/>
          </a:xfrm>
        </p:spPr>
        <p:txBody>
          <a:bodyPr wrap="square" tIns="18000" bIns="18000">
            <a:spAutoFit/>
          </a:bodyPr>
          <a:lstStyle/>
          <a:p>
            <a:pPr marL="0" indent="0">
              <a:buNone/>
              <a:defRPr/>
            </a:pPr>
            <a:r>
              <a:rPr lang="en-US" altLang="en-US" sz="2400" b="1">
                <a:latin typeface="Arial" panose="020B0604020202020204" pitchFamily="34" charset="0"/>
                <a:ea typeface="ＭＳ Ｐゴシック" pitchFamily="34" charset="-128"/>
                <a:cs typeface="Arial" panose="020B0604020202020204" pitchFamily="34" charset="0"/>
              </a:rPr>
              <a:t>Design thinking:</a:t>
            </a:r>
          </a:p>
          <a:p>
            <a:pPr>
              <a:defRPr/>
            </a:pPr>
            <a:r>
              <a:rPr lang="en-US" altLang="en-US" sz="2400">
                <a:latin typeface="Arial" panose="020B0604020202020204" pitchFamily="34" charset="0"/>
                <a:ea typeface="ＭＳ Ｐゴシック" pitchFamily="34" charset="-128"/>
                <a:cs typeface="Arial" panose="020B0604020202020204" pitchFamily="34" charset="0"/>
              </a:rPr>
              <a:t>approaching management problems as designers approach design problems.</a:t>
            </a:r>
            <a:endParaRPr lang="en-US" sz="2400">
              <a:latin typeface="Arial" panose="020B0604020202020204" pitchFamily="34" charset="0"/>
              <a:cs typeface="Arial" panose="020B0604020202020204" pitchFamily="34" charset="0"/>
            </a:endParaRPr>
          </a:p>
        </p:txBody>
      </p:sp>
      <p:pic>
        <p:nvPicPr>
          <p:cNvPr id="7" name="Picture Placeholder 6" descr="A man in suit speaking with hand gestures. ">
            <a:extLst>
              <a:ext uri="{FF2B5EF4-FFF2-40B4-BE49-F238E27FC236}">
                <a16:creationId xmlns:a16="http://schemas.microsoft.com/office/drawing/2014/main" id="{D6E7285B-93F1-46E0-B6C7-E757234C83BC}"/>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697480" y="3052759"/>
            <a:ext cx="3779520" cy="2798064"/>
          </a:xfrm>
          <a:prstGeom prst="rect">
            <a:avLst/>
          </a:prstGeom>
        </p:spPr>
      </p:pic>
    </p:spTree>
    <p:extLst>
      <p:ext uri="{BB962C8B-B14F-4D97-AF65-F5344CB8AC3E}">
        <p14:creationId xmlns:p14="http://schemas.microsoft.com/office/powerpoint/2010/main" val="7261430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sz="3600">
                <a:latin typeface="+mj-lt"/>
                <a:ea typeface="ＭＳ Ｐゴシック" pitchFamily="34" charset="-128"/>
                <a:cs typeface="Arial" charset="0"/>
              </a:rPr>
              <a:t>Contemporary Issues </a:t>
            </a:r>
            <a:r>
              <a:rPr lang="en-US" sz="2800">
                <a:latin typeface="+mj-lt"/>
                <a:ea typeface="ＭＳ Ｐゴシック" pitchFamily="34" charset="-128"/>
                <a:cs typeface="Arial" charset="0"/>
              </a:rPr>
              <a:t>(4 of 4)</a:t>
            </a:r>
            <a:endParaRPr lang="en-US" sz="2800">
              <a:latin typeface="+mj-lt"/>
            </a:endParaRPr>
          </a:p>
        </p:txBody>
      </p:sp>
      <p:sp>
        <p:nvSpPr>
          <p:cNvPr id="3" name="Content Placeholder 2"/>
          <p:cNvSpPr>
            <a:spLocks noGrp="1"/>
          </p:cNvSpPr>
          <p:nvPr>
            <p:ph idx="1"/>
          </p:nvPr>
        </p:nvSpPr>
        <p:spPr>
          <a:xfrm>
            <a:off x="468000" y="1295400"/>
            <a:ext cx="8229600" cy="1336708"/>
          </a:xfrm>
        </p:spPr>
        <p:txBody>
          <a:bodyPr tIns="18000" bIns="18000">
            <a:spAutoFit/>
          </a:bodyPr>
          <a:lstStyle/>
          <a:p>
            <a:pPr marL="0" indent="0">
              <a:buNone/>
              <a:defRPr/>
            </a:pPr>
            <a:r>
              <a:rPr lang="en-US" altLang="en-US" sz="2400" b="1">
                <a:latin typeface="Arial" panose="020B0604020202020204" pitchFamily="34" charset="0"/>
                <a:ea typeface="ＭＳ Ｐゴシック" pitchFamily="34" charset="-128"/>
                <a:cs typeface="Arial" panose="020B0604020202020204" pitchFamily="34" charset="0"/>
              </a:rPr>
              <a:t>Big Data:</a:t>
            </a:r>
          </a:p>
          <a:p>
            <a:pPr>
              <a:defRPr/>
            </a:pPr>
            <a:r>
              <a:rPr lang="en-US" altLang="en-US" sz="2400">
                <a:latin typeface="Arial" panose="020B0604020202020204" pitchFamily="34" charset="0"/>
                <a:ea typeface="ＭＳ Ｐゴシック" pitchFamily="34" charset="-128"/>
                <a:cs typeface="Arial" panose="020B0604020202020204" pitchFamily="34" charset="0"/>
              </a:rPr>
              <a:t>the vast amounts of quantifiable information that can be analyzed by highly sophisticated data processing.</a:t>
            </a:r>
          </a:p>
        </p:txBody>
      </p:sp>
      <p:sp>
        <p:nvSpPr>
          <p:cNvPr id="4" name="Content Placeholder 3"/>
          <p:cNvSpPr>
            <a:spLocks noGrp="1"/>
          </p:cNvSpPr>
          <p:nvPr>
            <p:ph idx="13"/>
          </p:nvPr>
        </p:nvSpPr>
        <p:spPr>
          <a:xfrm>
            <a:off x="468000" y="2743200"/>
            <a:ext cx="8229600" cy="405683"/>
          </a:xfrm>
        </p:spPr>
        <p:txBody>
          <a:bodyPr tIns="18000" bIns="18000">
            <a:spAutoFit/>
          </a:bodyPr>
          <a:lstStyle/>
          <a:p>
            <a:pPr marL="0" indent="0">
              <a:buNone/>
            </a:pPr>
            <a:r>
              <a:rPr lang="en-US" altLang="en-US" sz="2400" b="1">
                <a:latin typeface="Arial" panose="020B0604020202020204" pitchFamily="34" charset="0"/>
                <a:ea typeface="ＭＳ Ｐゴシック" pitchFamily="34" charset="-128"/>
                <a:cs typeface="Arial" panose="020B0604020202020204" pitchFamily="34" charset="0"/>
              </a:rPr>
              <a:t>Changing the way managers make decisions.</a:t>
            </a:r>
            <a:endParaRPr lang="en-US" sz="2400">
              <a:latin typeface="Arial" panose="020B0604020202020204" pitchFamily="34" charset="0"/>
              <a:cs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67999" y="284400"/>
            <a:ext cx="8280713" cy="590349"/>
          </a:xfrm>
        </p:spPr>
        <p:txBody>
          <a:bodyPr wrap="square" lIns="0" tIns="18000" rIns="0" bIns="18000" rtlCol="0" anchor="b" anchorCtr="0">
            <a:spAutoFit/>
          </a:bodyPr>
          <a:lstStyle/>
          <a:p>
            <a:pPr eaLnBrk="1" fontAlgn="auto" hangingPunct="1">
              <a:spcAft>
                <a:spcPts val="0"/>
              </a:spcAft>
              <a:defRPr/>
            </a:pPr>
            <a:r>
              <a:rPr lang="en-US" sz="3600">
                <a:latin typeface="+mj-lt"/>
              </a:rPr>
              <a:t>Copyright</a:t>
            </a:r>
            <a:endParaRPr lang="en-US" sz="3600" b="0">
              <a:latin typeface="+mj-lt"/>
            </a:endParaRPr>
          </a:p>
        </p:txBody>
      </p:sp>
      <p:pic>
        <p:nvPicPr>
          <p:cNvPr id="47107" name="Picture Placeholder 9" descr="Warning">
            <a:extLst>
              <a:ext uri="{FF2B5EF4-FFF2-40B4-BE49-F238E27FC236}">
                <a16:creationId xmlns:a16="http://schemas.microsoft.com/office/drawing/2014/main"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2739600"/>
            <a:ext cx="1269677" cy="1269677"/>
          </a:xfr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2218181" y="2012400"/>
            <a:ext cx="6530532" cy="3239167"/>
          </a:xfrm>
          <a:ln w="28575">
            <a:solidFill>
              <a:schemeClr val="tx1"/>
            </a:solidFill>
            <a:miter lim="800000"/>
            <a:headEnd/>
            <a:tailEnd/>
          </a:ln>
        </p:spPr>
        <p:txBody>
          <a:bodyPr wrap="square" lIns="273600" tIns="273600" rIns="273600" bIns="273600" numCol="1" anchor="t" anchorCtr="0" compatLnSpc="1">
            <a:prstTxWarp prst="textNoShape">
              <a:avLst/>
            </a:prstTxWarp>
            <a:spAutoFit/>
          </a:bodyPr>
          <a:lstStyle/>
          <a:p>
            <a:pPr marL="0" indent="0" eaLnBrk="1" hangingPunct="1">
              <a:buFont typeface="Arial" panose="020B0604020202020204" pitchFamily="34" charset="0"/>
              <a:buNone/>
            </a:pPr>
            <a:r>
              <a:rPr lang="en-US" altLang="en-US" b="1">
                <a:latin typeface="Arial" panose="020B0604020202020204" pitchFamily="34" charset="0"/>
                <a:cs typeface="Arial" panose="020B0604020202020204" pitchFamily="34" charset="0"/>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d6a74b88bb98ce1330c39b78d67b2f67c9e84ab7"/>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c1bd8dc-4e40-424f-a15f-9ffcd522197f" xsi:nil="true"/>
    <lcf76f155ced4ddcb4097134ff3c332f xmlns="6125ffc9-2c56-435e-8267-1393444907b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7FBCCF-F568-40BA-9549-C69677538656}">
  <ds:schemaRefs>
    <ds:schemaRef ds:uri="http://schemas.microsoft.com/office/2006/metadata/properties"/>
    <ds:schemaRef ds:uri="http://schemas.microsoft.com/office/infopath/2007/PartnerControls"/>
    <ds:schemaRef ds:uri="7c1bd8dc-4e40-424f-a15f-9ffcd522197f"/>
    <ds:schemaRef ds:uri="6125ffc9-2c56-435e-8267-1393444907b2"/>
  </ds:schemaRefs>
</ds:datastoreItem>
</file>

<file path=customXml/itemProps2.xml><?xml version="1.0" encoding="utf-8"?>
<ds:datastoreItem xmlns:ds="http://schemas.openxmlformats.org/officeDocument/2006/customXml" ds:itemID="{119EE1B0-E308-4F53-901A-19B71542AE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85FC36-3EB7-4852-9C03-F26A4F4C09B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Horizon</Template>
  <TotalTime>5253</TotalTime>
  <Words>1880</Words>
  <Application>Microsoft Office PowerPoint</Application>
  <PresentationFormat>On-screen Show (4:3)</PresentationFormat>
  <Paragraphs>550</Paragraphs>
  <Slides>43</Slides>
  <Notes>38</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43</vt:i4>
      </vt:variant>
    </vt:vector>
  </HeadingPairs>
  <TitlesOfParts>
    <vt:vector size="51" baseType="lpstr">
      <vt:lpstr>Arial</vt:lpstr>
      <vt:lpstr>Noto Sans Symbols</vt:lpstr>
      <vt:lpstr>Times New Roman</vt:lpstr>
      <vt:lpstr>Verdana</vt:lpstr>
      <vt:lpstr>Wingdings</vt:lpstr>
      <vt:lpstr>508 Lecture</vt:lpstr>
      <vt:lpstr>1_508 Lecture</vt:lpstr>
      <vt:lpstr>Equation</vt:lpstr>
      <vt:lpstr>Fundamentals of Management</vt:lpstr>
      <vt:lpstr>Learning Objectives</vt:lpstr>
      <vt:lpstr>Learning Objective 4.1</vt:lpstr>
      <vt:lpstr>The Decision-Making Process</vt:lpstr>
      <vt:lpstr>Identifying a Decision Problem</vt:lpstr>
      <vt:lpstr>Identifying Decision Criteria</vt:lpstr>
      <vt:lpstr>Weighting Criteria</vt:lpstr>
      <vt:lpstr>Developing Alternatives (1 of 2)</vt:lpstr>
      <vt:lpstr>Developing Alternatives (2 of 2)</vt:lpstr>
      <vt:lpstr>Analyzing Alternatives</vt:lpstr>
      <vt:lpstr>Selecting the Best Alternative (1 of 2)</vt:lpstr>
      <vt:lpstr>Selecting the Best Alternative (2 of 2)</vt:lpstr>
      <vt:lpstr>Implementing the Decision</vt:lpstr>
      <vt:lpstr>Evaluating the Decision</vt:lpstr>
      <vt:lpstr>Common Decision-Making Errors and Biases</vt:lpstr>
      <vt:lpstr>Learning Objective 4.2</vt:lpstr>
      <vt:lpstr>Decisions Managers Make (1 of 4)</vt:lpstr>
      <vt:lpstr>Decisions Managers Make (2 of 4)</vt:lpstr>
      <vt:lpstr>Decisions Managers Make (3 of 4)</vt:lpstr>
      <vt:lpstr>Decisions Managers Make (4 of 4)</vt:lpstr>
      <vt:lpstr>Rational Model</vt:lpstr>
      <vt:lpstr>Bounded Rationality</vt:lpstr>
      <vt:lpstr>Intuitive Decision Making (1 of 2)</vt:lpstr>
      <vt:lpstr>Intuitive Decision Making (2 of 2)</vt:lpstr>
      <vt:lpstr>Learning Objective 4.3</vt:lpstr>
      <vt:lpstr>Types of Problems</vt:lpstr>
      <vt:lpstr>Types of Decisions (1 of 2)</vt:lpstr>
      <vt:lpstr>Types of Decisions (2 of 2)</vt:lpstr>
      <vt:lpstr>Problems, Decision Types, and Organizational Levels</vt:lpstr>
      <vt:lpstr>Decision-Making Conditions</vt:lpstr>
      <vt:lpstr>Learning Objective 4.4</vt:lpstr>
      <vt:lpstr>How Do Groups Make Decisions?</vt:lpstr>
      <vt:lpstr>Advantages of Group Decision Making</vt:lpstr>
      <vt:lpstr>Disadvantages of Group Decision Making</vt:lpstr>
      <vt:lpstr>Groupthink</vt:lpstr>
      <vt:lpstr>When Are Groups Most Effective?</vt:lpstr>
      <vt:lpstr>Improving Group Decision Making</vt:lpstr>
      <vt:lpstr>Learning Objective 4.5</vt:lpstr>
      <vt:lpstr>Contemporary Issues (1 of 4)</vt:lpstr>
      <vt:lpstr>Contemporary Issues (2 of 4)</vt:lpstr>
      <vt:lpstr>Contemporary Issues (3 of 4)</vt:lpstr>
      <vt:lpstr>Contemporary Issues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Management, Eleventh Edition, Chapter 4</dc:title>
  <dc:subject>Fundamentals of Management</dc:subject>
  <dc:creator>Robbins, Coulter and DeCenzo</dc:creator>
  <cp:keywords/>
  <dc:description>Additional information may be found in the Notes Pane of each slide by pressing F6.</dc:description>
  <cp:lastModifiedBy>John Frazier</cp:lastModifiedBy>
  <cp:revision>1607</cp:revision>
  <dcterms:created xsi:type="dcterms:W3CDTF">2014-07-14T20:04:21Z</dcterms:created>
  <dcterms:modified xsi:type="dcterms:W3CDTF">2023-08-08T14:01:44Z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ies>
</file>