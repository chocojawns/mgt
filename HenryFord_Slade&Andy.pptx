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2"/>
  </p:notesMasterIdLst>
  <p:sldIdLst>
    <p:sldId id="256" r:id="rId5"/>
    <p:sldId id="257" r:id="rId6"/>
    <p:sldId id="258" r:id="rId7"/>
    <p:sldId id="259" r:id="rId8"/>
    <p:sldId id="260" r:id="rId9"/>
    <p:sldId id="263" r:id="rId10"/>
    <p:sldId id="264" r:id="rId11"/>
    <p:sldId id="265" r:id="rId12"/>
    <p:sldId id="270" r:id="rId13"/>
    <p:sldId id="271" r:id="rId14"/>
    <p:sldId id="266" r:id="rId15"/>
    <p:sldId id="261" r:id="rId16"/>
    <p:sldId id="262" r:id="rId17"/>
    <p:sldId id="267" r:id="rId18"/>
    <p:sldId id="268" r:id="rId19"/>
    <p:sldId id="269" r:id="rId20"/>
    <p:sldId id="272" r:id="rId21"/>
    <p:sldId id="273" r:id="rId22"/>
    <p:sldId id="274" r:id="rId23"/>
    <p:sldId id="276" r:id="rId24"/>
    <p:sldId id="277" r:id="rId25"/>
    <p:sldId id="278" r:id="rId26"/>
    <p:sldId id="279" r:id="rId27"/>
    <p:sldId id="285" r:id="rId39"/>
    <p:sldId id="281" r:id="rId28"/>
    <p:sldId id="282" r:id="rId29"/>
    <p:sldId id="283" r:id="rId30"/>
    <p:sldId id="284" r:id="rId31"/>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76" dt="2026-10-20T04:53:35.908"/>
    <p1510:client id="{2DC62E14-14D2-200B-5612-D7BE1AF2F346}" v="1" dt="2026-10-20T11:11:39.507"/>
    <p1510:client id="{5E26362B-DA3D-4640-B3D5-AB634D0B8996}" v="4" dt="2026-10-20T03:23:38.869"/>
    <p1510:client id="{6962DFE3-E19B-0709-6669-B25AE98CB50F}" v="6" dt="2026-10-20T03:25:37.2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6/11/relationships/changesInfo" Target="changesInfos/changesInfo1.xml"/><Relationship Id="rId38" Type="http://schemas.microsoft.com/office/2015/10/relationships/revisionInfo" Target="revisionInfo.xml"/><Relationship Id="rId3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lade W McClain" userId="S::s.mcclain1@andersonuniversity.edu::ed2e8bcc-652b-4354-83a2-0b259727ad71" providerId="AD" clId="Web-{00000000-0000-0000-0000-000000000000}"/>
    <pc:docChg chg="modSld">
      <pc:chgData name="Slade W McClain" userId="S::s.mcclain1@andersonuniversity.edu::ed2e8bcc-652b-4354-83a2-0b259727ad71" providerId="AD" clId="Web-{00000000-0000-0000-0000-000000000000}" dt="2026-10-20T04:53:35.908" v="194" actId="20577"/>
      <pc:docMkLst>
        <pc:docMk/>
      </pc:docMkLst>
      <pc:sldChg chg="delSp modSp">
        <pc:chgData name="Slade W McClain" userId="S::s.mcclain1@andersonuniversity.edu::ed2e8bcc-652b-4354-83a2-0b259727ad71" providerId="AD" clId="Web-{00000000-0000-0000-0000-000000000000}" dt="2026-10-20T04:39:31.056" v="170" actId="20577"/>
        <pc:sldMkLst>
          <pc:docMk/>
          <pc:sldMk cId="1189378689" sldId="261"/>
        </pc:sldMkLst>
        <pc:spChg chg="mod">
          <ac:chgData name="Slade W McClain" userId="S::s.mcclain1@andersonuniversity.edu::ed2e8bcc-652b-4354-83a2-0b259727ad71" providerId="AD" clId="Web-{00000000-0000-0000-0000-000000000000}" dt="2026-10-20T04:39:31.056" v="170" actId="20577"/>
          <ac:spMkLst>
            <pc:docMk/>
            <pc:sldMk cId="1189378689" sldId="261"/>
            <ac:spMk id="4" creationId="{00000000-0000-0000-0000-000000000000}"/>
          </ac:spMkLst>
        </pc:spChg>
        <pc:spChg chg="mod">
          <ac:chgData name="Slade W McClain" userId="S::s.mcclain1@andersonuniversity.edu::ed2e8bcc-652b-4354-83a2-0b259727ad71" providerId="AD" clId="Web-{00000000-0000-0000-0000-000000000000}" dt="2026-10-20T04:38:33.773" v="168" actId="20577"/>
          <ac:spMkLst>
            <pc:docMk/>
            <pc:sldMk cId="1189378689" sldId="261"/>
            <ac:spMk id="6" creationId="{00000000-0000-0000-0000-000000000000}"/>
          </ac:spMkLst>
        </pc:spChg>
        <pc:spChg chg="del">
          <ac:chgData name="Slade W McClain" userId="S::s.mcclain1@andersonuniversity.edu::ed2e8bcc-652b-4354-83a2-0b259727ad71" providerId="AD" clId="Web-{00000000-0000-0000-0000-000000000000}" dt="2026-10-20T04:32:39.652" v="148"/>
          <ac:spMkLst>
            <pc:docMk/>
            <pc:sldMk cId="1189378689" sldId="261"/>
            <ac:spMk id="7" creationId="{00000000-0000-0000-0000-000000000000}"/>
          </ac:spMkLst>
        </pc:spChg>
      </pc:sldChg>
      <pc:sldChg chg="modSp">
        <pc:chgData name="Slade W McClain" userId="S::s.mcclain1@andersonuniversity.edu::ed2e8bcc-652b-4354-83a2-0b259727ad71" providerId="AD" clId="Web-{00000000-0000-0000-0000-000000000000}" dt="2026-10-20T04:40:48.872" v="183" actId="14100"/>
        <pc:sldMkLst>
          <pc:docMk/>
          <pc:sldMk cId="632206657" sldId="262"/>
        </pc:sldMkLst>
        <pc:spChg chg="mod">
          <ac:chgData name="Slade W McClain" userId="S::s.mcclain1@andersonuniversity.edu::ed2e8bcc-652b-4354-83a2-0b259727ad71" providerId="AD" clId="Web-{00000000-0000-0000-0000-000000000000}" dt="2026-10-20T04:40:20.949" v="177" actId="20577"/>
          <ac:spMkLst>
            <pc:docMk/>
            <pc:sldMk cId="632206657" sldId="262"/>
            <ac:spMk id="2" creationId="{00000000-0000-0000-0000-000000000000}"/>
          </ac:spMkLst>
        </pc:spChg>
        <pc:spChg chg="mod">
          <ac:chgData name="Slade W McClain" userId="S::s.mcclain1@andersonuniversity.edu::ed2e8bcc-652b-4354-83a2-0b259727ad71" providerId="AD" clId="Web-{00000000-0000-0000-0000-000000000000}" dt="2026-10-20T04:40:35.230" v="179" actId="20577"/>
          <ac:spMkLst>
            <pc:docMk/>
            <pc:sldMk cId="632206657" sldId="262"/>
            <ac:spMk id="6" creationId="{00000000-0000-0000-0000-000000000000}"/>
          </ac:spMkLst>
        </pc:spChg>
        <pc:spChg chg="mod">
          <ac:chgData name="Slade W McClain" userId="S::s.mcclain1@andersonuniversity.edu::ed2e8bcc-652b-4354-83a2-0b259727ad71" providerId="AD" clId="Web-{00000000-0000-0000-0000-000000000000}" dt="2026-10-20T04:40:48.872" v="183" actId="14100"/>
          <ac:spMkLst>
            <pc:docMk/>
            <pc:sldMk cId="632206657" sldId="262"/>
            <ac:spMk id="7" creationId="{00000000-0000-0000-0000-000000000000}"/>
          </ac:spMkLst>
        </pc:spChg>
      </pc:sldChg>
      <pc:sldChg chg="modSp modNotes">
        <pc:chgData name="Slade W McClain" userId="S::s.mcclain1@andersonuniversity.edu::ed2e8bcc-652b-4354-83a2-0b259727ad71" providerId="AD" clId="Web-{00000000-0000-0000-0000-000000000000}" dt="2026-10-20T04:21:43.468" v="147" actId="20577"/>
        <pc:sldMkLst>
          <pc:docMk/>
          <pc:sldMk cId="2061274652" sldId="266"/>
        </pc:sldMkLst>
        <pc:spChg chg="mod">
          <ac:chgData name="Slade W McClain" userId="S::s.mcclain1@andersonuniversity.edu::ed2e8bcc-652b-4354-83a2-0b259727ad71" providerId="AD" clId="Web-{00000000-0000-0000-0000-000000000000}" dt="2026-10-20T04:21:43.468" v="147" actId="20577"/>
          <ac:spMkLst>
            <pc:docMk/>
            <pc:sldMk cId="2061274652" sldId="266"/>
            <ac:spMk id="3" creationId="{A2EE4D0D-6158-4BAA-B48A-7F92098B976D}"/>
          </ac:spMkLst>
        </pc:spChg>
      </pc:sldChg>
      <pc:sldChg chg="modSp">
        <pc:chgData name="Slade W McClain" userId="S::s.mcclain1@andersonuniversity.edu::ed2e8bcc-652b-4354-83a2-0b259727ad71" providerId="AD" clId="Web-{00000000-0000-0000-0000-000000000000}" dt="2026-10-20T04:53:35.908" v="194" actId="20577"/>
        <pc:sldMkLst>
          <pc:docMk/>
          <pc:sldMk cId="115066481" sldId="267"/>
        </pc:sldMkLst>
        <pc:spChg chg="mod">
          <ac:chgData name="Slade W McClain" userId="S::s.mcclain1@andersonuniversity.edu::ed2e8bcc-652b-4354-83a2-0b259727ad71" providerId="AD" clId="Web-{00000000-0000-0000-0000-000000000000}" dt="2026-10-20T04:53:35.908" v="194" actId="20577"/>
          <ac:spMkLst>
            <pc:docMk/>
            <pc:sldMk cId="115066481" sldId="267"/>
            <ac:spMk id="3" creationId="{F81745F6-D94E-4485-8792-261A1218ABAE}"/>
          </ac:spMkLst>
        </pc:spChg>
        <pc:spChg chg="mod">
          <ac:chgData name="Slade W McClain" userId="S::s.mcclain1@andersonuniversity.edu::ed2e8bcc-652b-4354-83a2-0b259727ad71" providerId="AD" clId="Web-{00000000-0000-0000-0000-000000000000}" dt="2026-10-20T04:53:26.939" v="193" actId="20577"/>
          <ac:spMkLst>
            <pc:docMk/>
            <pc:sldMk cId="115066481" sldId="267"/>
            <ac:spMk id="4" creationId="{144937CF-9588-4AC4-B716-53A9B1195B7E}"/>
          </ac:spMkLst>
        </pc:spChg>
      </pc:sldChg>
    </pc:docChg>
  </pc:docChgLst>
  <pc:docChgLst>
    <pc:chgData name="Slade W McClain" userId="S::s.mcclain1@andersonuniversity.edu::ed2e8bcc-652b-4354-83a2-0b259727ad71" providerId="AD" clId="Web-{2DC62E14-14D2-200B-5612-D7BE1AF2F346}"/>
    <pc:docChg chg="modSld">
      <pc:chgData name="Slade W McClain" userId="S::s.mcclain1@andersonuniversity.edu::ed2e8bcc-652b-4354-83a2-0b259727ad71" providerId="AD" clId="Web-{2DC62E14-14D2-200B-5612-D7BE1AF2F346}" dt="2026-10-20T11:38:29.222" v="2"/>
      <pc:docMkLst>
        <pc:docMk/>
      </pc:docMkLst>
      <pc:sldChg chg="delSp">
        <pc:chgData name="Slade W McClain" userId="S::s.mcclain1@andersonuniversity.edu::ed2e8bcc-652b-4354-83a2-0b259727ad71" providerId="AD" clId="Web-{2DC62E14-14D2-200B-5612-D7BE1AF2F346}" dt="2026-10-20T11:11:39.507" v="0"/>
        <pc:sldMkLst>
          <pc:docMk/>
          <pc:sldMk cId="672209375" sldId="268"/>
        </pc:sldMkLst>
        <pc:spChg chg="del">
          <ac:chgData name="Slade W McClain" userId="S::s.mcclain1@andersonuniversity.edu::ed2e8bcc-652b-4354-83a2-0b259727ad71" providerId="AD" clId="Web-{2DC62E14-14D2-200B-5612-D7BE1AF2F346}" dt="2026-10-20T11:11:39.507" v="0"/>
          <ac:spMkLst>
            <pc:docMk/>
            <pc:sldMk cId="672209375" sldId="268"/>
            <ac:spMk id="12" creationId="{00000000-0000-0000-0000-000000000000}"/>
          </ac:spMkLst>
        </pc:spChg>
      </pc:sldChg>
      <pc:sldChg chg="modNotes">
        <pc:chgData name="Slade W McClain" userId="S::s.mcclain1@andersonuniversity.edu::ed2e8bcc-652b-4354-83a2-0b259727ad71" providerId="AD" clId="Web-{2DC62E14-14D2-200B-5612-D7BE1AF2F346}" dt="2026-10-20T11:38:29.222" v="2"/>
        <pc:sldMkLst>
          <pc:docMk/>
          <pc:sldMk cId="1733993840" sldId="274"/>
        </pc:sldMkLst>
      </pc:sldChg>
    </pc:docChg>
  </pc:docChgLst>
  <pc:docChgLst>
    <pc:chgData name="Andrew L Johnson" userId="f8944353-2a2e-4eb7-88a1-42a0c8804752" providerId="ADAL" clId="{1458174F-365E-4567-B9B1-25B04863396F}"/>
    <pc:docChg chg="modSld sldOrd">
      <pc:chgData name="Andrew L Johnson" userId="f8944353-2a2e-4eb7-88a1-42a0c8804752" providerId="ADAL" clId="{1458174F-365E-4567-B9B1-25B04863396F}" dt="2026-10-20T03:09:18.461" v="1"/>
      <pc:docMkLst>
        <pc:docMk/>
      </pc:docMkLst>
      <pc:sldChg chg="ord">
        <pc:chgData name="Andrew L Johnson" userId="f8944353-2a2e-4eb7-88a1-42a0c8804752" providerId="ADAL" clId="{1458174F-365E-4567-B9B1-25B04863396F}" dt="2026-10-20T03:09:15.128" v="0"/>
        <pc:sldMkLst>
          <pc:docMk/>
          <pc:sldMk cId="1189378689" sldId="261"/>
        </pc:sldMkLst>
      </pc:sldChg>
      <pc:sldChg chg="ord">
        <pc:chgData name="Andrew L Johnson" userId="f8944353-2a2e-4eb7-88a1-42a0c8804752" providerId="ADAL" clId="{1458174F-365E-4567-B9B1-25B04863396F}" dt="2026-10-20T03:09:18.461" v="1"/>
        <pc:sldMkLst>
          <pc:docMk/>
          <pc:sldMk cId="632206657" sldId="262"/>
        </pc:sldMkLst>
      </pc:sldChg>
    </pc:docChg>
  </pc:docChgLst>
  <pc:docChgLst>
    <pc:chgData name="Slade W McClain" userId="S::s.mcclain1@andersonuniversity.edu::ed2e8bcc-652b-4354-83a2-0b259727ad71" providerId="AD" clId="Web-{6962DFE3-E19B-0709-6669-B25AE98CB50F}"/>
    <pc:docChg chg="delSld modSld">
      <pc:chgData name="Slade W McClain" userId="S::s.mcclain1@andersonuniversity.edu::ed2e8bcc-652b-4354-83a2-0b259727ad71" providerId="AD" clId="Web-{6962DFE3-E19B-0709-6669-B25AE98CB50F}" dt="2026-10-20T03:25:37.215" v="4"/>
      <pc:docMkLst>
        <pc:docMk/>
      </pc:docMkLst>
      <pc:sldChg chg="delSp">
        <pc:chgData name="Slade W McClain" userId="S::s.mcclain1@andersonuniversity.edu::ed2e8bcc-652b-4354-83a2-0b259727ad71" providerId="AD" clId="Web-{6962DFE3-E19B-0709-6669-B25AE98CB50F}" dt="2026-10-20T03:13:21.916" v="0"/>
        <pc:sldMkLst>
          <pc:docMk/>
          <pc:sldMk cId="672209375" sldId="268"/>
        </pc:sldMkLst>
        <pc:spChg chg="del">
          <ac:chgData name="Slade W McClain" userId="S::s.mcclain1@andersonuniversity.edu::ed2e8bcc-652b-4354-83a2-0b259727ad71" providerId="AD" clId="Web-{6962DFE3-E19B-0709-6669-B25AE98CB50F}" dt="2026-10-20T03:13:21.916" v="0"/>
          <ac:spMkLst>
            <pc:docMk/>
            <pc:sldMk cId="672209375" sldId="268"/>
            <ac:spMk id="3" creationId="{00000000-0000-0000-0000-000000000000}"/>
          </ac:spMkLst>
        </pc:spChg>
      </pc:sldChg>
      <pc:sldChg chg="modSp">
        <pc:chgData name="Slade W McClain" userId="S::s.mcclain1@andersonuniversity.edu::ed2e8bcc-652b-4354-83a2-0b259727ad71" providerId="AD" clId="Web-{6962DFE3-E19B-0709-6669-B25AE98CB50F}" dt="2026-10-20T03:25:29.371" v="3" actId="20577"/>
        <pc:sldMkLst>
          <pc:docMk/>
          <pc:sldMk cId="2096857313" sldId="270"/>
        </pc:sldMkLst>
        <pc:spChg chg="mod">
          <ac:chgData name="Slade W McClain" userId="S::s.mcclain1@andersonuniversity.edu::ed2e8bcc-652b-4354-83a2-0b259727ad71" providerId="AD" clId="Web-{6962DFE3-E19B-0709-6669-B25AE98CB50F}" dt="2026-10-20T03:25:29.371" v="3" actId="20577"/>
          <ac:spMkLst>
            <pc:docMk/>
            <pc:sldMk cId="2096857313" sldId="270"/>
            <ac:spMk id="3" creationId="{00000000-0000-0000-0000-000000000000}"/>
          </ac:spMkLst>
        </pc:spChg>
      </pc:sldChg>
      <pc:sldChg chg="delSp">
        <pc:chgData name="Slade W McClain" userId="S::s.mcclain1@andersonuniversity.edu::ed2e8bcc-652b-4354-83a2-0b259727ad71" providerId="AD" clId="Web-{6962DFE3-E19B-0709-6669-B25AE98CB50F}" dt="2026-10-20T03:25:37.215" v="4"/>
        <pc:sldMkLst>
          <pc:docMk/>
          <pc:sldMk cId="1930188366" sldId="271"/>
        </pc:sldMkLst>
        <pc:spChg chg="del">
          <ac:chgData name="Slade W McClain" userId="S::s.mcclain1@andersonuniversity.edu::ed2e8bcc-652b-4354-83a2-0b259727ad71" providerId="AD" clId="Web-{6962DFE3-E19B-0709-6669-B25AE98CB50F}" dt="2026-10-20T03:25:37.215" v="4"/>
          <ac:spMkLst>
            <pc:docMk/>
            <pc:sldMk cId="1930188366" sldId="271"/>
            <ac:spMk id="3" creationId="{00000000-0000-0000-0000-000000000000}"/>
          </ac:spMkLst>
        </pc:spChg>
      </pc:sldChg>
      <pc:sldChg chg="del">
        <pc:chgData name="Slade W McClain" userId="S::s.mcclain1@andersonuniversity.edu::ed2e8bcc-652b-4354-83a2-0b259727ad71" providerId="AD" clId="Web-{6962DFE3-E19B-0709-6669-B25AE98CB50F}" dt="2026-10-20T03:20:13.319" v="1"/>
        <pc:sldMkLst>
          <pc:docMk/>
          <pc:sldMk cId="346675941" sldId="275"/>
        </pc:sldMkLst>
      </pc:sldChg>
      <pc:sldChg chg="modNotes">
        <pc:chgData name="Slade W McClain" userId="S::s.mcclain1@andersonuniversity.edu::ed2e8bcc-652b-4354-83a2-0b259727ad71" providerId="AD" clId="Web-{6962DFE3-E19B-0709-6669-B25AE98CB50F}" dt="2026-10-20T03:22:08.420" v="2"/>
        <pc:sldMkLst>
          <pc:docMk/>
          <pc:sldMk cId="399691910"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0:00–0:30 (30 sec)</a:t>
            </a:r>
          </a:p>
          <a:p>
            <a:r>
              <a:t>Andy | 30 seconds</a:t>
            </a:r>
          </a:p>
          <a:p>
            <a:r>
              <a:t>CUES: Cars / management system / tradeoffs</a:t>
            </a:r>
          </a:p>
          <a:p/>
          <a:p>
            <a:r>
              <a:t>SAY IN YOUR OWN WORDS</a:t>
            </a:r>
          </a:p>
          <a:p>
            <a:r>
              <a:t>“Ford did not invent the automobile. His company helped make it affordable by changing how work was organized. We’ll examine how those gains affected workers—and ask whether efficiency alone makes someone a good manager.”</a:t>
            </a:r>
          </a:p>
          <a:p/>
          <a:p>
            <a:r>
              <a:t>BACKUP RESEARCH — NOT A SCRIPT</a:t>
            </a:r>
          </a:p>
          <a:p>
            <a:r>
              <a:t>Andy | 30 seconds</a:t>
            </a:r>
          </a:p>
          <a:p>
            <a:r>
              <a:t>CUES: Cars / system / central question</a:t>
            </a:r>
          </a:p>
          <a:p/>
          <a:p>
            <a:r>
              <a:t>Most of us connect Henry Ford with cars and assembly lines. Today we are going to look at the management behind them. Ford did not invent the automobile. His company helped make an expensive product practical for a mass market by changing how work happened.</a:t>
            </a:r>
          </a:p>
          <a:p>
            <a:r>
              <a:t>Our argument is that his greatest contribution was an integrated system. Product design, factory organization, employee pay, and supply decisions reinforced one another. But that system also created human problems, and Ford made serious ethical failures. Our question is: what happens when efficiency becomes the organizing idea of an entire company?</a:t>
            </a:r>
          </a:p>
          <a:p/>
          <a:p>
            <a:r>
              <a:t>RESEARCH (accessed October 19, 2026):</a:t>
            </a:r>
          </a:p>
          <a:p>
            <a:r>
              <a:t>[A] The Henry Ford, “Henry Ford” biography and interview transcript</a:t>
            </a:r>
          </a:p>
          <a:p>
            <a:r>
              <a:t>https://www.thehenryford.org/collections/explore/videos/henry-ford</a:t>
            </a:r>
          </a:p>
          <a:p>
            <a:r>
              <a:t>[G] Bob Casey, “Henry Ford: Case Study of an Innovator” (2021)</a:t>
            </a:r>
          </a:p>
          <a:p>
            <a:r>
              <a:t>https://www.thehenryford.org/collections/explore/articles/henry-ford-case-study-of-an-innovator</a:t>
            </a:r>
          </a:p>
          <a:p>
            <a:r>
              <a:t>IMAGE CREDIT: First official Ford Motor Company portrait, 1904, THF97952. The Henry Ford, image reproduced from source G.</a:t>
            </a:r>
          </a:p>
          <a:p/>
          <a:p/>
          <a:p/>
          <a:p>
            <a:r>
              <a:t>REHEARSAL PLAN</a:t>
            </a:r>
          </a:p>
          <a:p>
            <a:r>
              <a:t>Planned spoken content plus activity: 22:25. Q&amp;A follows separately. Andy: slides 1–10 and 21–23; Slade: 11 and 13–20; Andy facilitates slide 12 while Slade times reports. The activity stays after the staffing problem; Detroit prices remain removed. Use cue sections; do not read backup research aloud. Seven groups of four discuss for two minutes; take three reports of twenty seconds. Any separate Detroit-cost discussion needs sources and must fit within the 20–25-minute total. Target 22–23 minutes in rehearsal.</a:t>
            </a:r>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0:30–1:15 (45 sec)</a:t>
            </a:r>
          </a:p>
          <a:p>
            <a:r>
              <a:t>Andy | 45 seconds</a:t>
            </a:r>
          </a:p>
          <a:p>
            <a:r>
              <a:t>CUES: Efficiency / effectiveness / people</a:t>
            </a:r>
          </a:p>
          <a:p/>
          <a:p>
            <a:r>
              <a:t>SAY IN YOUR OWN WORDS</a:t>
            </a:r>
          </a:p>
          <a:p>
            <a:r>
              <a:t>“Efficiency means using fewer resources per car. Effectiveness means achieving the right goals. A fast factory still has a problem if customers don’t want its cars or workers won’t stay. We’ll use both ideas to evaluate Ford.”</a:t>
            </a:r>
          </a:p>
          <a:p/>
          <a:p>
            <a:r>
              <a:t>BACKUP RESEARCH — NOT A SCRIPT</a:t>
            </a:r>
          </a:p>
          <a:p>
            <a:r>
              <a:t>Andy | 45 seconds</a:t>
            </a:r>
          </a:p>
          <a:p>
            <a:r>
              <a:t>CUES: Problem / linked decisions / evaluate</a:t>
            </a:r>
          </a:p>
          <a:p/>
          <a:p>
            <a:r>
              <a:t>Chapter 1 defines management around getting results through people. Efficiency asks how economically we use resources. Effectiveness asks whether we achieve the right goals. They are related, but they are not identical.</a:t>
            </a:r>
          </a:p>
          <a:p>
            <a:r>
              <a:t>Imagine a factory building the wrong product twice as fast. It has improved one measure while making its larger business problem worse. Keep that distinction in mind as we follow Ford.</a:t>
            </a:r>
          </a:p>
          <a:p>
            <a:r>
              <a:t>We will first explain his background and influences, then the production system, then the employment decisions it required. Finally, we will examine its limitations and where we see related ideas today. The goal is to evaluate management choices, rather than simply collect interesting facts about an automobile executive.</a:t>
            </a:r>
          </a:p>
          <a:p/>
          <a:p>
            <a:r>
              <a:t>COURSE CONNECTION: Chapter 1, slides 10–11, management and efficiency/effectiveness. History Module, systems approach.</a:t>
            </a:r>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1:15–1:50 (35 sec)</a:t>
            </a:r>
          </a:p>
          <a:p>
            <a:r>
              <a:t>Andy | 35 seconds</a:t>
            </a:r>
          </a:p>
          <a:p>
            <a:r>
              <a:t>CUES: Farm / engineering / Model T</a:t>
            </a:r>
          </a:p>
          <a:p/>
          <a:p>
            <a:r>
              <a:t>SAY IN YOUR OWN WORDS</a:t>
            </a:r>
          </a:p>
          <a:p>
            <a:r>
              <a:t>“Ford’s practical background and engineering work shaped his approach, but success took experimentation and a team. The Model T targeted a broad market. That goal required a different production system from building luxury cars in small numbers.”</a:t>
            </a:r>
          </a:p>
          <a:p/>
          <a:p>
            <a:r>
              <a:t>BACKUP RESEARCH — NOT A SCRIPT</a:t>
            </a:r>
          </a:p>
          <a:p>
            <a:r>
              <a:t>Andy | 35 seconds</a:t>
            </a:r>
          </a:p>
          <a:p>
            <a:r>
              <a:t>CUES: Machinery / experience / broad market</a:t>
            </a:r>
          </a:p>
          <a:p/>
          <a:p>
            <a:r>
              <a:t>Ford grew up around farm work but pursued machinery. Before the successful company, he worked as an engineer and experimented with gasoline vehicles. His career included failed automobile ventures, which matters because the familiar success story can make his outcome look inevitable.</a:t>
            </a:r>
          </a:p>
          <a:p>
            <a:r>
              <a:t>The company founded in 1903 and the Model T introduced in 1908 were parts of a longer learning process. The Model T aimed at durability, simple operation, and affordability.</a:t>
            </a:r>
          </a:p>
          <a:p>
            <a:r>
              <a:t>Think about the connection between a customer's needs and a manager's choices. A car designed for a broad market needs a different business system from a luxury car assembled in small numbers. Ford's background helps explain his practical approach, but the business depended on a team as well as its founder.</a:t>
            </a:r>
          </a:p>
          <a:p/>
          <a:p>
            <a:r>
              <a:t>RESEARCH (accessed October 19, 2026):</a:t>
            </a:r>
          </a:p>
          <a:p>
            <a:r>
              <a:t>[A] The Henry Ford, “Henry Ford” biography and interview transcript</a:t>
            </a:r>
          </a:p>
          <a:p>
            <a:r>
              <a:t>https://www.thehenryford.org/collections/explore/videos/henry-ford</a:t>
            </a:r>
          </a:p>
          <a:p>
            <a:r>
              <a:t>[C] Ford Motor Company, “The Model T” (2020)</a:t>
            </a:r>
          </a:p>
          <a:p>
            <a:r>
              <a:t>https://corporate.ford.com/articles/history/the-model-t/</a:t>
            </a:r>
          </a:p>
          <a:p>
            <a:r>
              <a:t>IMAGE CREDIT: 1927 Model T Touring Car, THF135450, The Henry Ford. Source K; collections-media.thehenryford.org/CollectionImages/_detail/photos/thf135450.jpg</a:t>
            </a:r>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1:50–2:45 (55 sec)</a:t>
            </a:r>
          </a:p>
          <a:p>
            <a:r>
              <a:t>Andy | 55 seconds</a:t>
            </a:r>
          </a:p>
          <a:p>
            <a:r>
              <a:t>CUES: Edison / earlier methods / team effort</a:t>
            </a:r>
          </a:p>
          <a:p/>
          <a:p>
            <a:r>
              <a:t>SAY IN YOUR OWN WORDS</a:t>
            </a:r>
          </a:p>
          <a:p>
            <a:r>
              <a:t>“Edison encouraged Ford’s automotive work. Industrial precedents, including meatpacking, informed moving production methods. Smith and Taylor help us interpret specialization and standardization; we aren’t claiming they personally taught Ford. His team’s contribution was adapting and coordinating these ideas at scale.”</a:t>
            </a:r>
          </a:p>
          <a:p/>
          <a:p>
            <a:r>
              <a:t>BACKUP RESEARCH — NOT A SCRIPT</a:t>
            </a:r>
          </a:p>
          <a:p>
            <a:r>
              <a:t>Andy | 55 seconds</a:t>
            </a:r>
          </a:p>
          <a:p>
            <a:r>
              <a:t>CUES: Edison / borrowing / team credit</a:t>
            </a:r>
          </a:p>
          <a:p/>
          <a:p>
            <a:r>
              <a:t>Edison was a personal encouragement to Ford. That is different from saying Edison designed Ford's factories. The production methods also drew on earlier industrial practices. The museum documents Ford engineers adapting the moving disassembly principle used in meatpacking.</a:t>
            </a:r>
          </a:p>
          <a:p>
            <a:r>
              <a:t>The course history module takes division of labor back to Adam Smith and describes Taylor's search for a scientifically defined method of doing each job. Ford operated in that wider efficiency movement. That is a conceptual relationship, not proof that Taylor personally taught Ford his system.</a:t>
            </a:r>
          </a:p>
          <a:p>
            <a:r>
              <a:t>Ford's engineers and managers deserve credit for implementation. Management innovation often means recognizing useful ideas elsewhere and coordinating people to make them work at scale. The genius-in-a-garage version leaves out a lot of the actual management.</a:t>
            </a:r>
          </a:p>
          <a:p/>
          <a:p>
            <a:r>
              <a:t>COURSE CONNECTION: History Module, Adam Smith and scientific management sections. Chapter 6, slide 24, creativity and innovation.</a:t>
            </a:r>
          </a:p>
          <a:p>
            <a:r>
              <a:t>RESEARCH (accessed October 19, 2026):</a:t>
            </a:r>
          </a:p>
          <a:p>
            <a:r>
              <a:t>[L] The Henry Ford, authenticated Henry Ford quotations, Edison recollections</a:t>
            </a:r>
          </a:p>
          <a:p>
            <a:r>
              <a:t>https://www.thehenryford.org/collections/explore/popular-research-topics/henry-ford-quotations</a:t>
            </a:r>
          </a:p>
          <a:p>
            <a:r>
              <a:t>[K] The Henry Ford, “Our Most-Viewed Digitized Artifacts of All Time”</a:t>
            </a:r>
          </a:p>
          <a:p>
            <a:r>
              <a:t>https://www.thehenryford.org/collections/explore/sets/detail/our-most-viewed-digitized-artifacts-of-all-time</a:t>
            </a:r>
          </a:p>
          <a:p/>
          <a:p/>
          <a:p>
            <a:r>
              <a:t>DISCUSSION DEPTH</a:t>
            </a:r>
          </a:p>
          <a:p>
            <a:r>
              <a:t>Name the collaborators rather than crediting a lone inventor. Ford’s breakthrough was coordinating existing ideas and experimentation. Treat the Taylor connection as a comparison of management principles, not a documented personal mentorship.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2:45–3:40 (55 sec)</a:t>
            </a:r>
          </a:p>
          <a:p>
            <a:r>
              <a:t>Andy | 55 seconds</a:t>
            </a:r>
          </a:p>
          <a:p>
            <a:r>
              <a:t>CUES: Standard parts / narrow jobs / common pace</a:t>
            </a:r>
          </a:p>
          <a:p/>
          <a:p>
            <a:r>
              <a:t>SAY IN YOUR OWN WORDS</a:t>
            </a:r>
          </a:p>
          <a:p>
            <a:r>
              <a:t>“Three decisions worked together: interchangeable parts, specialized tasks, and moving work past employees. That reduced fitting and travel, but workers had less choice about their task and pace. A stoppage or missing worker could affect the whole flow.”</a:t>
            </a:r>
          </a:p>
          <a:p/>
          <a:p>
            <a:r>
              <a:t>BACKUP RESEARCH — NOT A SCRIPT</a:t>
            </a:r>
          </a:p>
          <a:p>
            <a:r>
              <a:t>Andy | 55 seconds</a:t>
            </a:r>
          </a:p>
          <a:p>
            <a:r>
              <a:t>CUES: Parts / jobs / movement / dependence</a:t>
            </a:r>
          </a:p>
          <a:p/>
          <a:p>
            <a:r>
              <a:t>Look at how the workers and materials are arranged. The sequence of tasks matters as much as any individual machine. Standard parts reduce the need to custom fit a component. Specialized jobs make the work easier to repeat and train. Bringing the chassis past workers reduces travel around the factory.</a:t>
            </a:r>
          </a:p>
          <a:p>
            <a:r>
              <a:t>Chapter 8 calls dividing work into specific tasks work specialization. Formalization concerns how much rules and procedures guide a job. Ford's production system used both heavily.</a:t>
            </a:r>
          </a:p>
          <a:p>
            <a:r>
              <a:t>The tradeoff is dependence between stations. A problem at one point can interrupt work elsewhere. A well-designed line therefore needs reliable parts and dependable staffing. This is why we should study the whole system instead of giving all the credit to a conveyor belt. The belt cannot solve a missing-parts problem by moving more enthusiastically.</a:t>
            </a:r>
          </a:p>
          <a:p/>
          <a:p>
            <a:r>
              <a:t>COURSE CONNECTION: Chapter 8, slides 4–5 and 15, specialization and formalization.</a:t>
            </a:r>
          </a:p>
          <a:p>
            <a:r>
              <a:t>RESEARCH (accessed October 19, 2026):</a:t>
            </a:r>
          </a:p>
          <a:p>
            <a:r>
              <a:t>[B] Library of Congress, “Ford Implements the Moving Assembly Line”</a:t>
            </a:r>
          </a:p>
          <a:p>
            <a:r>
              <a:t>https://guides.loc.gov/this-month-in-business-history/october/ford</a:t>
            </a:r>
          </a:p>
          <a:p>
            <a:r>
              <a:t>[K] The Henry Ford, “Our Most-Viewed Digitized Artifacts of All Time”</a:t>
            </a:r>
          </a:p>
          <a:p>
            <a:r>
              <a:t>https://www.thehenryford.org/collections/explore/sets/detail/our-most-viewed-digitized-artifacts-of-all-time</a:t>
            </a:r>
          </a:p>
          <a:p>
            <a:r>
              <a:t>IMAGE CREDIT: Workers Installing Tires on Ford Model T Assembly Line, circa 1925, THF94827. The Henry Ford, source K.</a:t>
            </a:r>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3:40–4:25 (45 sec)</a:t>
            </a:r>
          </a:p>
          <a:p>
            <a:r>
              <a:t>Andy | 45 seconds</a:t>
            </a:r>
          </a:p>
          <a:p>
            <a:r>
              <a:t>CUES: 750 minutes / 93 minutes / measure carefully</a:t>
            </a:r>
          </a:p>
          <a:p/>
          <a:p>
            <a:r>
              <a:t>SAY IN YOUR OWN WORDS</a:t>
            </a:r>
          </a:p>
          <a:p>
            <a:r>
              <a:t>“Reported chassis assembly time fell from roughly 12½ hours to 93 minutes—about an 88 percent reduction. That’s time spent assembling a chassis, not a claim that only one car came off the line every 93 minutes. Many chassis could be in progress together.”</a:t>
            </a:r>
          </a:p>
          <a:p/>
          <a:p>
            <a:r>
              <a:t>BACKUP RESEARCH — NOT A SCRIPT</a:t>
            </a:r>
          </a:p>
          <a:p>
            <a:r>
              <a:t>Andy | 45 seconds</a:t>
            </a:r>
          </a:p>
          <a:p>
            <a:r>
              <a:t>CUES: Same measure / calculation / throughput distinction</a:t>
            </a:r>
          </a:p>
          <a:p/>
          <a:p>
            <a:r>
              <a:t>These are commonly reported figures for the reduction in assembly time as Ford refined the line. Converting twelve and a half hours to seven hundred fifty minutes lets us compare the same units. The decrease to ninety-three minutes is roughly eighty-eight percent.</a:t>
            </a:r>
          </a:p>
          <a:p>
            <a:r>
              <a:t>Be careful about what that number means. Several chassis can be on the line at once. Ninety-three minutes does not mean the factory finished only one vehicle every ninety-three minutes. The interval between completions is a separate throughput measure. It also is not a measure of every upstream operation needed to make an automobile.</a:t>
            </a:r>
          </a:p>
          <a:p>
            <a:r>
              <a:t>For a manager, the important question is which metric the process improves and which costs remain elsewhere. Use the numbers as evidence of a major process change without turning them into a claim they cannot support.</a:t>
            </a:r>
          </a:p>
          <a:p/>
          <a:p>
            <a:r>
              <a:t>RESEARCH (accessed October 19, 2026):</a:t>
            </a:r>
          </a:p>
          <a:p>
            <a:r>
              <a:t>[B] Library of Congress, “Ford Implements the Moving Assembly Line”</a:t>
            </a:r>
          </a:p>
          <a:p>
            <a:r>
              <a:t>https://guides.loc.gov/this-month-in-business-history/october/ford</a:t>
            </a:r>
          </a:p>
          <a:p>
            <a:r>
              <a:t>[D] Matt Anderson, “Ford’s Five-Dollar Day,” The Henry Ford (2014)</a:t>
            </a:r>
          </a:p>
          <a:p>
            <a:r>
              <a:t>https://www.thehenryford.org/collections/explore/articles/fords-five-dollar-day</a:t>
            </a:r>
          </a:p>
          <a:p/>
          <a:p/>
          <a:p>
            <a:r>
              <a:t>DISCUSSION DEPTH</a:t>
            </a:r>
          </a:p>
          <a:p>
            <a:r>
              <a:t>Calculation: (750 − 93) / 750 = 87.6%, rounded to about 88%. These figures concern approximate chassis assembly duration across experiments, not total labor content or the interval between finished cars. Greater output also depended on materials, capacity, and sales.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4:25–5:05 (40 sec)</a:t>
            </a:r>
          </a:p>
          <a:p>
            <a:r>
              <a:t>Andy | 40 seconds</a:t>
            </a:r>
          </a:p>
          <a:p>
            <a:r>
              <a:t>CUES: Price / volume / broader market</a:t>
            </a:r>
          </a:p>
          <a:p/>
          <a:p>
            <a:r>
              <a:t>SAY IN YOUR OWN WORDS</a:t>
            </a:r>
          </a:p>
          <a:p>
            <a:r>
              <a:t>“Model T prices ranged from $850 to as low as $260 over its production life. Those are nominal prices from different years and configurations. Standardization and scale supported affordability, alongside other changes. More than 15 million Model Ts were built and sold.”</a:t>
            </a:r>
          </a:p>
          <a:p/>
          <a:p>
            <a:r>
              <a:t>BACKUP RESEARCH — NOT A SCRIPT</a:t>
            </a:r>
          </a:p>
          <a:p>
            <a:r>
              <a:t>Andy | 40 seconds</a:t>
            </a:r>
          </a:p>
          <a:p>
            <a:r>
              <a:t>CUES: Price range / volume / strategy</a:t>
            </a:r>
          </a:p>
          <a:p/>
          <a:p>
            <a:r>
              <a:t>Ford reports a Model T price range from eight hundred fifty dollars down to as little as two hundred sixty dollars, and more than fifteen million built and sold. These are nominal prices from different years and configurations, not an inflation-adjusted comparison of identical vehicles.</a:t>
            </a:r>
          </a:p>
          <a:p>
            <a:r>
              <a:t>The broader pattern fits a cost-leadership interpretation. A standardized offering and high production volume helped Ford compete through low cost for a broad market. That is our application of Chapter 5, not a claim Ford used today's textbook label.</a:t>
            </a:r>
          </a:p>
          <a:p>
            <a:r>
              <a:t>We should also avoid saying the assembly line alone caused the price decline. Product changes, purchasing, factory learning, and other decisions mattered. The strategic lesson is that operations can change what customers can afford, which can in turn change the size of a market.</a:t>
            </a:r>
          </a:p>
          <a:p/>
          <a:p>
            <a:r>
              <a:t>COURSE CONNECTION: Chapter 5, strategic management and competitive strategies, slides 9 and 19.</a:t>
            </a:r>
          </a:p>
          <a:p>
            <a:r>
              <a:t>RESEARCH (accessed October 19, 2026):</a:t>
            </a:r>
          </a:p>
          <a:p>
            <a:r>
              <a:t>[C] Ford Motor Company, “The Model T” (2020)</a:t>
            </a:r>
          </a:p>
          <a:p>
            <a:r>
              <a:t>https://corporate.ford.com/articles/history/the-model-t/</a:t>
            </a:r>
          </a:p>
          <a:p/>
          <a:p/>
          <a:p>
            <a:r>
              <a:t>DISCUSSION DEPTH</a:t>
            </a:r>
          </a:p>
          <a:p>
            <a:r>
              <a:t>Cost leadership is our application of Chapter 5 terminology to the historical case. A low selling price is not itself proof of low unit cost. Explain how standardization and volume could support both, and why sales demand matters. Model T prices varied by body style and year, so $850 and $260 are illustrative endpoints rather than identical configurations.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5:05–5:50 (45 sec)</a:t>
            </a:r>
          </a:p>
          <a:p>
            <a:r>
              <a:t>Andy | 45 seconds</a:t>
            </a:r>
          </a:p>
          <a:p>
            <a:r>
              <a:t>CUES: Reinforcing choices / dependence / limits</a:t>
            </a:r>
          </a:p>
          <a:p/>
          <a:p>
            <a:r>
              <a:t>SAY IN YOUR OWN WORDS</a:t>
            </a:r>
          </a:p>
          <a:p>
            <a:r>
              <a:t>“The product, factory, costs, and market reinforced one another. But a highly standardized system depended on steady demand and workers willing to do the jobs. Next, we’ll look at who worked in that system and how company policies shaped their opportunities.”</a:t>
            </a:r>
          </a:p>
          <a:p/>
          <a:p>
            <a:r>
              <a:t>BACKUP RESEARCH — NOT A SCRIPT</a:t>
            </a:r>
          </a:p>
          <a:p>
            <a:r>
              <a:t>Andy | 45 seconds</a:t>
            </a:r>
          </a:p>
          <a:p>
            <a:r>
              <a:t>CUES: Connections / assumptions / handoff</a:t>
            </a:r>
          </a:p>
          <a:p/>
          <a:p>
            <a:r>
              <a:t>Fordism is a useful label for the connection between standardized mass production and a mass market. For this presentation, treat it as an analytical summary rather than a claim that every part appeared at once.</a:t>
            </a:r>
          </a:p>
          <a:p>
            <a:r>
              <a:t>The decisions reinforce each other. A wider product range would make the production system more complicated. A highly standardized product makes repeated tasks easier. High volume can spread equipment and facility costs across more units, but only if customers buy the output.</a:t>
            </a:r>
          </a:p>
          <a:p>
            <a:r>
              <a:t>The model depends on its assumptions. It works less well when buyers want more variety or when the people operating it will not stay. Systems thinking means following those relationships. Before Slade explains turnover and pay, Andy will look at women entering this factory system and how company rules shaped their work.</a:t>
            </a:r>
          </a:p>
          <a:p/>
          <a:p>
            <a:r>
              <a:t>COURSE CONNECTION: History Module, systems approach. Chapters 5 and 8, strategy and organizational structure.</a:t>
            </a:r>
          </a:p>
          <a:p/>
          <a:p/>
          <a:p>
            <a:r>
              <a:t>DISCUSSION DEPTH</a:t>
            </a:r>
          </a:p>
          <a:p>
            <a:r>
              <a:t>Use a failure example: a cheaper process creates little value if customers reject the product or the workforce cannot sustain output. The systems view connects the production gains to retention and later resistance to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5:50–7:05 (75 sec)</a:t>
            </a:r>
          </a:p>
          <a:p>
            <a:r>
              <a:t>Andy | 75 seconds</a:t>
            </a:r>
          </a:p>
          <a:p>
            <a:r>
              <a:t>CUES: Women before WWII / component work / unequal access</a:t>
            </a:r>
          </a:p>
          <a:p/>
          <a:p>
            <a:r>
              <a:t>SAY IN YOUR OWN WORDS</a:t>
            </a:r>
          </a:p>
          <a:p>
            <a:r>
              <a:t>“Women were doing factory work at Ford before World War II. A circa-1913 photograph documents women making magneto components. It shows a specific production role—not equal access to every job. Their experience also depended on company rules about compensation and family circumstances. We’ll return to the wage policy after the class activity.”</a:t>
            </a:r>
          </a:p>
          <a:p/>
          <a:p>
            <a:r>
              <a:t>BACKUP RESEARCH — NOT A SCRIPT</a:t>
            </a:r>
          </a:p>
          <a:p>
            <a:r>
              <a:t>Andy | 75 seconds</a:t>
            </a:r>
          </a:p>
          <a:p>
            <a:r>
              <a:t>CUES: Factory evidence / conditional pay / broader minimum</a:t>
            </a:r>
          </a:p>
          <a:p/>
          <a:p>
            <a:r>
              <a:t>Ford did not introduce women to factory work generally. For this company, The Henry Ford's circa-1913 photograph documents women in the coil-manufacturing department winding wire around iron cores and boxing magneto parts. This is specific evidence of factory work, not proof that women had access to every production occupation.</a:t>
            </a:r>
          </a:p>
          <a:p>
            <a:r>
              <a:t>The pay structure requires care. In chapter VIII of his 1922 account, Ford describes ordinary wages plus a conditional share of profits for workers with at least six months' service. One eligible category included women who were the sole support of relatives. Therefore, saying that all women were excluded until 1916 would be too absolute. Conversely, the 1914 headline does not show that every female worker immediately received five dollars.</a:t>
            </a:r>
          </a:p>
          <a:p>
            <a:r>
              <a:t>An October 26, 1916 New York Times editorial discusses Ford's announcement that women as well as men would have a minimum of five dollars a day. This supports the broader extension in 1916. It does not provide a complete wage schedule for every job or prove equal lifetime earnings. Distinguish minimum compensation from occupational access and advancement.</a:t>
            </a:r>
          </a:p>
          <a:p>
            <a:r>
              <a:t>[O] The Henry Ford, Women Workers Assembling Magnetos at the Highland Park Plant, circa 1913, THF99642, object 84.1.1660.P.833.158. https://www.thehenryford.org/collections/explore/artifact/4461</a:t>
            </a:r>
          </a:p>
          <a:p>
            <a:r>
              <a:t>[P] Henry Ford with Samuel Crowther, My Life and Work (1922), chapter VIII, Wages. A retrospective primary account that presents Ford's own justification. https://www.gutenberg.org/cache/epub/7213/pg7213-images.html</a:t>
            </a:r>
          </a:p>
          <a:p>
            <a:r>
              <a:t>[Q] The New York Times, October 26, 1916, editorial For Every Woman, $5 a Day, digitized by the Library of Congress. https://tile.loc.gov/storage-services/service/sgp/sgpbatches/batch_dlc_1zubrowka_ver01/data/2004540423/print00192511057/1916102201/0129.pdf</a:t>
            </a:r>
          </a:p>
          <a:p>
            <a:r>
              <a:t>Accessed October 19, 2026.</a:t>
            </a:r>
          </a:p>
          <a:p/>
          <a:p>
            <a:r>
              <a:t>DELIVERY: Explain what factory life involved: assigned, repeatable component work within a standardized system. The photograph documents the task, not a complete account of women’s experiences. Do not invent a special women-only training program or suggest that all women held assembly-line jobs.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7:05–8:20 (75 sec)</a:t>
            </a:r>
          </a:p>
          <a:p>
            <a:r>
              <a:t>Andy | 75 seconds</a:t>
            </a:r>
          </a:p>
          <a:p>
            <a:r>
              <a:t>CUES: Tasks / family-status rules / evaluate fairly</a:t>
            </a:r>
          </a:p>
          <a:p/>
          <a:p>
            <a:r>
              <a:t>SAY IN YOUR OWN WORDS</a:t>
            </a:r>
          </a:p>
          <a:p>
            <a:r>
              <a:t>“Ford organized work through standardized tasks, but also regulated who could hold a job. In his own account, he reported dismissing 82 women in 1919 because their husbands worked. Treat that as his reported figure and policy. Later wartime hiring widened roles, but access to work, pay, and advancement are separate questions. Slade will now explain the staffing problem this system created.”</a:t>
            </a:r>
          </a:p>
          <a:p/>
          <a:p>
            <a:r>
              <a:t>BACKUP RESEARCH — NOT A SCRIPT</a:t>
            </a:r>
          </a:p>
          <a:p>
            <a:r>
              <a:t>Andy | 75 seconds</a:t>
            </a:r>
          </a:p>
          <a:p>
            <a:r>
              <a:t>CUES: Job design / family status / later wartime expansion</a:t>
            </a:r>
          </a:p>
          <a:p/>
          <a:p>
            <a:r>
              <a:t>Women did industrial work inside the same broader system of task specialization and managerial discipline. Beyond the shop floor, eligibility rules and company assessments of household circumstances made family status relevant to employment and compensation. The Sociological Department's visits extended managerial influence into workers' homes. This was paternalism, meaning that the employer claimed authority to direct private conduct for workers' supposed benefit.</a:t>
            </a:r>
          </a:p>
          <a:p>
            <a:r>
              <a:t>Ford's own chapter VII states that eighty-two women were discharged in 1919 because their husbands worked, and describes a policy of not employing married women with employed husbands. Cite this as Ford's reported figure and policy for that period, not an independently audited count or a rule for every Ford plant throughout its history. His account is especially useful evidence of the assumptions management publicly defended. A higher minimum wage could coexist with exclusion from employment.</a:t>
            </a:r>
          </a:p>
          <a:p>
            <a:r>
              <a:t>For a brief contrast, The Henry Ford's Rosie the Riveter guide describes women as approximately one-third of Willow Run's wartime workforce, including riveting and welding roles. Labor shortages and recruitment widened access. This is a later wartime development, not evidence of broad equality in 1914.</a:t>
            </a:r>
          </a:p>
          <a:p>
            <a:r>
              <a:t>Ask rhetorically: can a pay policy be generous while the hiring system is unfair? Under the course's justice and rights approaches, the answer can be yes.</a:t>
            </a:r>
          </a:p>
          <a:p>
            <a:r>
              <a:t>[P] Ford and Crowther, My Life and Work (1922), chapters VII and VIII. https://www.gutenberg.org/cache/epub/7213/pg7213-images.html</a:t>
            </a:r>
          </a:p>
          <a:p>
            <a:r>
              <a:t>[R] The Henry Ford, K-12 Research Guide: Rosie the Riveter. https://askus.thehenryford.org/K12/faq/429559</a:t>
            </a:r>
          </a:p>
          <a:p>
            <a:r>
              <a:t>[E] The Henry Ford, Ford Motor Company Sociological Department &amp; English School. https://www.thehenryford.org/collections/explore/popular-research-topics/ford-motor-company-sociological-department-english-school</a:t>
            </a:r>
          </a:p>
          <a:p>
            <a:r>
              <a:t>Accessed October 19, 2026.</a:t>
            </a:r>
          </a:p>
          <a:p/>
          <a:p>
            <a:r>
              <a:t>HANDOFF TO SLADE: “Ford’s rules shaped who could work and who qualified for pay. Slade will now explain why the company struggled to keep workers—and what the five-dollar day actually 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8:20–9:05 (45 sec)</a:t>
            </a:r>
          </a:p>
          <a:p>
            <a:r>
              <a:t>Slade | 45 seconds</a:t>
            </a:r>
          </a:p>
          <a:p>
            <a:r>
              <a:t>CUES: Human consequences / retention / primary evidence</a:t>
            </a:r>
          </a:p>
          <a:p/>
          <a:p>
            <a:r>
              <a:t>The museum's biography describes Ford hiring fifty-three thousand people in a year to keep fourteen thousand jobs filled. We are using that description rather than mixing turnover percentages that different accounts report differently.</a:t>
            </a:r>
          </a:p>
          <a:p>
            <a:r>
              <a:t>On the right is a primary document: a worker's wife wrote to Ford in January 1914 about treatment on the assembly line. It gives us an individual perspective, not a statistical sample of every worker. But it reminds us that output figures leave out lived experience.</a:t>
            </a:r>
          </a:p>
          <a:p>
            <a:r>
              <a:t>Workers weren’t allowed to use the restroom</a:t>
            </a:r>
          </a:p>
          <a:p>
            <a:r>
              <a:t>Has to work even when he doesn't feel well</a:t>
            </a:r>
          </a:p>
          <a:p>
            <a:r>
              <a:t>Workers had to buy their own tools</a:t>
            </a:r>
          </a:p>
          <a:p>
            <a:r>
              <a:t>Tools and personal items were being stolen due to no lockers/locks</a:t>
            </a:r>
          </a:p>
          <a:p/>
          <a:p>
            <a:r>
              <a:t>Chapter 9 includes keeping competent employees as part of HR management. If a job is easy to learn but workers leave constantly, that job still creates organizational costs. Here the production solution generated an employment problem. The machines stayed where management put them. The people had other options.</a:t>
            </a:r>
          </a:p>
          <a:p/>
          <a:p>
            <a:r>
              <a:t>COURSE CONNECTION: Chapter 9, slides 5 and 20, HRM and retention. Chapter 8, work specialization.</a:t>
            </a:r>
          </a:p>
          <a:p>
            <a:r>
              <a:t>RESEARCH (accessed October 19, 2026):</a:t>
            </a:r>
          </a:p>
          <a:p>
            <a:r>
              <a:t>[A] The Henry Ford, “Henry Ford” biography and interview transcript</a:t>
            </a:r>
          </a:p>
          <a:p>
            <a:r>
              <a:t>https://www.thehenryford.org/collections/explore/videos/henry-ford</a:t>
            </a:r>
          </a:p>
          <a:p>
            <a:r>
              <a:t>[K] The Henry Ford, “Our Most-Viewed Digitized Artifacts of All Time”</a:t>
            </a:r>
          </a:p>
          <a:p>
            <a:r>
              <a:t>https://www.thehenryford.org/collections/explore/sets/detail/our-most-viewed-digitized-artifacts-of-all-time</a:t>
            </a:r>
          </a:p>
          <a:p>
            <a:r>
              <a:t>IMAGE CREDIT: Letter to Henry Ford from the Wife of an Assembly Line Worker, January 23, 1914, THF94994. The Henry Ford, source K.</a:t>
            </a:r>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9:05–12:35 (210 sec)</a:t>
            </a:r>
          </a:p>
          <a:p>
            <a:r>
              <a:t>Andy facilitates; Slade times and invites reports | 210 seconds</a:t>
            </a:r>
          </a:p>
          <a:p>
            <a:r>
              <a:t>CUES: Seven groups / at least one change / why and cost / listen</a:t>
            </a:r>
          </a:p>
          <a:p/>
          <a:p>
            <a:r>
              <a:t>0:00–0:30: “You manage this factory. The line makes production faster, but workers keep leaving. Your task is to keep workers while keeping the business operating. You may change more than one thing.” Arrange roughly 28 students into seven groups of four; neighboring students can remain seated.</a:t>
            </a:r>
          </a:p>
          <a:p>
            <a:r>
              <a:t>0:30–2:30: Groups agree on at least one change, how they help retention, their likely costs, and a measure of success. Slade gives a 30-second warning. Do not reveal Ford’s answer or limit groups to a single choice. If a group is stuck, ask whether its plan changes pay, hours, safety, supervision, breaks, or the work itself. These are possible proposals, not claims of policies Ford implemented.</a:t>
            </a:r>
          </a:p>
          <a:p>
            <a:r>
              <a:t>2:30–3:30: Hear three groups for 20 seconds each. Slade invites volunteers; Andy briefly repeats the proposed change(s). Acknowledge combined proposals without declaring a winner.</a:t>
            </a:r>
          </a:p>
          <a:p/>
          <a:p>
            <a:r>
              <a:t>The situation is a simplified classroom scenario based on early Ford assembly work and turnover. General machinery hazards are context; do not invent accident rates or claim a specific undocumented injury occurred. $2.34 is dollars for a whole workday, not cents, an hourly rate, or a legal minimum wage. Set the management decision immediately before the January 1914 announcement.</a:t>
            </a:r>
          </a:p>
          <a:p/>
          <a:p>
            <a:r>
              <a:t>Listen for costs of raises, lost production from shorter shifts, training costs, equipment or safety changes, and potential benefits from retention. Useful measures include quits, absences, injuries, quality, and recruitment/training effort. Do not imply higher wages guarantee retention or solve unsafe work.</a:t>
            </a:r>
          </a:p>
          <a:p>
            <a:r>
              <a:t>Sources retained from the deck: The Henry Ford biography [A] and “Ford’s Five-Dollar Day” [D]; full URLs in the reference slides. These source links were not newly verified online.</a:t>
            </a:r>
          </a:p>
          <a:p>
            <a:r>
              <a:t>TRANSITION: “Let’s compare your ideas with the changes Ford actually announced.”</a:t>
            </a:r>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12:35–13:50 (75 sec)</a:t>
            </a:r>
          </a:p>
          <a:p>
            <a:r>
              <a:t>Slade | 75 seconds</a:t>
            </a:r>
          </a:p>
          <a:p>
            <a:r>
              <a:t>CUES: January 5 / daily pay / hours / conditions / compare</a:t>
            </a:r>
          </a:p>
          <a:p/>
          <a:p>
            <a:r>
              <a:t>Say: “Ford chose a combination, just as your groups could. On January 5, 1914, Ford and James Couzens announced a five-dollar day and an eight-hour workday. Compare that with about $2.34 for nine hours.”</a:t>
            </a:r>
          </a:p>
          <a:p>
            <a:r>
              <a:t>“The daily package rose by $2.66—about 114 percent—while the workday became an hour shorter. That is $5 for the day, not per hour. And the original package combined ordinary wages with a conditional share of profits. It was not automatically available to everyone.”</a:t>
            </a:r>
          </a:p>
          <a:p/>
          <a:p>
            <a:r>
              <a:t>Ask for one quick show of hands: “Who proposed both pay and hours?” Then: “Higher compensation could help attract and retain workers. But did it remove repetition, safety concerns, or lack of control over the work?” Take one brief answer if time allows. Do not imply that this pay announcement implemented every safety or job-design proposal students suggested.</a:t>
            </a:r>
          </a:p>
          <a:p/>
          <a:p>
            <a:r>
              <a:t>The policy responded in part to staffing instability; avoid saying exhaustion was its only cause or that every departing worker left for the same reason. The eligibility rules and intrusive checks receive fuller treatment later. Do not confuse the 1914 eight-hour day with the later five-day workweek.</a:t>
            </a:r>
          </a:p>
          <a:p/>
          <a:p>
            <a:r>
              <a:t>Arithmetic: (5 − 2.34)/2.34 × 100 = 113.675%, rounded to 114%. Hourly equivalents: 2.34/9 = $0.26; 5/8 = $0.625. Conditional daily compensation is the relevant historical comparison, not a universal unconditional base rate.</a:t>
            </a:r>
          </a:p>
          <a:p>
            <a:r>
              <a:t>SOURCE: [D] Matt Anderson, “Ford’s Five-Dollar Day,” The Henry Ford (2014), https://www.thehenryford.org/collections/explore/articles/fords-five-dollar-day . Retained from the supplied presentation; live retrieval was blocked.</a:t>
            </a:r>
          </a:p>
          <a:p>
            <a:r>
              <a:t>TRANSITION: “We have compared the headline pay and hours. Now let’s examine the conditions attached to that offer—and what money alone did not change.”</a:t>
            </a:r>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13:50–14:50 (60 sec)</a:t>
            </a:r>
          </a:p>
          <a:p>
            <a:r>
              <a:t>Slade | 60 seconds</a:t>
            </a:r>
          </a:p>
          <a:p>
            <a:r>
              <a:t>CUES: Compensation / retention / eligibility</a:t>
            </a:r>
          </a:p>
          <a:p/>
          <a:p>
            <a:r>
              <a:t>The five-dollar announcement made compensation part of the production strategy. Higher total pay could make repetitive work more attractive and help stabilize staffing. The plan also brought extraordinary publicity.</a:t>
            </a:r>
          </a:p>
          <a:p>
            <a:r>
              <a:t>The fine print matters. The original arrangement combined ordinary wages with a conditional profit-sharing payment. It was not an automatic five-dollar base wage for every worker. Eligibility depended on company requirements, including expectations about personal conduct.</a:t>
            </a:r>
          </a:p>
          <a:p>
            <a:r>
              <a:t>Our management interpretation is that a higher pay bill can still be economically sensible if it reduces costly turnover. That does not establish the exact savings from this program, and it does not mean money fixes every job-design problem. Pay can influence whether people stay while leaving monotony and lack of voice unresolved. Next, look at how the company decided who qualified.</a:t>
            </a:r>
          </a:p>
          <a:p/>
          <a:p>
            <a:r>
              <a:t>COURSE CONNECTION: Chapter 9, slides 25–28, retaining and compensating employees.</a:t>
            </a:r>
          </a:p>
          <a:p>
            <a:r>
              <a:t>RESEARCH (accessed October 19, 2026):</a:t>
            </a:r>
          </a:p>
          <a:p>
            <a:r>
              <a:t>[D] Matt Anderson, “Ford’s Five-Dollar Day,” The Henry Ford (2014)</a:t>
            </a:r>
          </a:p>
          <a:p>
            <a:r>
              <a:t>https://www.thehenryford.org/collections/explore/articles/fords-five-dollar-day</a:t>
            </a:r>
          </a:p>
          <a:p>
            <a:r>
              <a:t>IMAGE CREDIT: The Henry Ford, THF204872, contemporary newspaper coverage, reproduced from source D (flyer-5day.jpg).</a:t>
            </a:r>
          </a:p>
          <a:p/>
          <a:p/>
          <a:p>
            <a:r>
              <a:t>DISCUSSION DEPTH</a:t>
            </a:r>
          </a:p>
          <a:p>
            <a:r>
              <a:t>Make the unit explicit: five dollars for an eight-hour DAY. The previous cited rate was $2.34 for nine hours. Do not describe the package as five dollars an hour or universal unconditional base pay. Higher wages and shorter shifts were complementary staffing and capacity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14:50–15:55 (65 sec)</a:t>
            </a:r>
          </a:p>
          <a:p>
            <a:r>
              <a:t>Slade | 65 seconds</a:t>
            </a:r>
          </a:p>
          <a:p>
            <a:r>
              <a:t>CUES: Per day / sequence / strength of evidence</a:t>
            </a:r>
          </a:p>
          <a:p/>
          <a:p>
            <a:r>
              <a:t>There are two different periods here. First, repetitive assembly work created a staffing problem. In January 1914, Ford and James Couzens announced five dollars for an eight-hour day—not five dollars an hour. The package initially included conditional profit sharing.</a:t>
            </a:r>
          </a:p>
          <a:p>
            <a:r>
              <a:t>Later, Harry Bennett’s security organization used intimidation against organized labor. The Detroit Historical Society describes recruits including former criminals and other enforcers. Its chronology puts Bennett’s Ford career after the 1914 pay announcement and his leadership of the security organization in 1926.</a:t>
            </a:r>
          </a:p>
          <a:p>
            <a:r>
              <a:t>So we should not say hired gangsters caused the turnover that led to the five-dollar day. The documented chronology does not support that chain. What we can say is that Ford’s management combined an early effort to stabilize staffing through pay with a later coercive approach to employee voice. Higher compensation did not make the later intimidation acceptable.</a:t>
            </a:r>
          </a:p>
          <a:p/>
          <a:p>
            <a:r>
              <a:t>[D] Matt Anderson, Ford's Five-Dollar Day, The Henry Ford, January 3, 2014. https://www.thehenryford.org/collections/explore/articles/fords-five-dollar-day</a:t>
            </a:r>
          </a:p>
          <a:p>
            <a:r>
              <a:t>[N] Detroit Historical Society, Bennett, Harry. https://www.detroithistorical.org/learn/online-research/encyclopedia-of-detroit/bennett-harry</a:t>
            </a:r>
          </a:p>
          <a:p>
            <a:r>
              <a:t>Accessed October 19,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15:55–16:50 (55 sec)</a:t>
            </a:r>
          </a:p>
          <a:p>
            <a:r>
              <a:t>Slade | 55 seconds</a:t>
            </a:r>
          </a:p>
          <a:p>
            <a:r>
              <a:t>CUES: Benefits / privacy / founder culture</a:t>
            </a:r>
          </a:p>
          <a:p/>
          <a:p>
            <a:r>
              <a:t>The Sociological Department connected employee benefits to Ford's preferred way of living. Its investigators examined private life while the company also offered practical support. Both sides belong in the account.</a:t>
            </a:r>
          </a:p>
          <a:p>
            <a:r>
              <a:t>This is paternalism: an employer claims to act for workers' benefit while reserving authority over decisions workers might prefer to make themselves. We can recognize useful services without accepting the intrusion that accompanied them.</a:t>
            </a:r>
          </a:p>
          <a:p>
            <a:r>
              <a:t>Imagine the email: congratulations on your compensation package, and someone from work would like to inspect your kitchen. Pause briefly, then return to the issue. Chapter 2 explains how a founder can shape organizational culture. Chapter 3 asks us to consider rights as well as outcomes. An employment relationship gives a company influence, but it does not automatically justify authority over an employee's whole life.</a:t>
            </a:r>
          </a:p>
          <a:p/>
          <a:p>
            <a:r>
              <a:t>COURSE CONNECTION: Chapter 2, slide 21, founder influence on culture. Chapter 3, slides 20–24, ethics and ethical leadership.</a:t>
            </a:r>
          </a:p>
          <a:p>
            <a:r>
              <a:t>RESEARCH (accessed October 19, 2026):</a:t>
            </a:r>
          </a:p>
          <a:p>
            <a:r>
              <a:t>[E] The Henry Ford, “Henry Ford: Sociological Department”</a:t>
            </a:r>
          </a:p>
          <a:p>
            <a:r>
              <a:t>https://www.thehenryford.org/collections/explore/sets/detail/henry-ford-sociological-department</a:t>
            </a:r>
          </a:p>
          <a:p/>
          <a:p/>
          <a:p>
            <a:r>
              <a:t>DISCUSSION DEPTH</a:t>
            </a:r>
          </a:p>
          <a:p>
            <a:r>
              <a:t>Separate the ethical frameworks. A utilitarian argument might emphasize stable income and reliable production. A rights view asks whether an employer can inspect private life. A justice view asks who qualifies and who is excluded. Do not let useful services settle the separate question of consent.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16:50–17:30 (40 sec)</a:t>
            </a:r>
          </a:p>
          <a:p>
            <a:r>
              <a:t>Slade | 40 seconds</a:t>
            </a:r>
          </a:p>
          <a:p>
            <a:r>
              <a:t>CUES: Definition / chronology / tradeoff</a:t>
            </a:r>
          </a:p>
          <a:p/>
          <a:p>
            <a:r>
              <a:t>Vertical integration means expanding into other stages of a production or distribution chain. At Rouge, Ford pursued control over materials and manufacturing instead of relying entirely on outside suppliers. The museum dates the ore-to-assembly achievement to the Model A in 1927. This came after the early Model T assembly-line breakthrough at Highland Park.</a:t>
            </a:r>
          </a:p>
          <a:p>
            <a:r>
              <a:t>The attraction is coordination. A manager can align schedules and specifications across stages under common ownership. But ownership also requires capital and expertise. If needs change, a company may be stuck with facilities that are difficult to redeploy.</a:t>
            </a:r>
          </a:p>
          <a:p>
            <a:r>
              <a:t>Think of a restaurant deciding whether to buy ingredients or own the farm. Control can solve some problems and create others. Chapter 5 lists vertical integration as a growth strategy, which makes Rouge a concrete historical example rather than just a large factory.</a:t>
            </a:r>
          </a:p>
          <a:p/>
          <a:p>
            <a:r>
              <a:t>COURSE CONNECTION: Chapter 5, slide 16, growth strategies including vertical integration.</a:t>
            </a:r>
          </a:p>
          <a:p>
            <a:r>
              <a:t>RESEARCH (accessed October 19, 2026):</a:t>
            </a:r>
          </a:p>
          <a:p>
            <a:r>
              <a:t>[F] The Henry Ford, “Ford Rouge Factory” research guide</a:t>
            </a:r>
          </a:p>
          <a:p>
            <a:r>
              <a:t>https://askus.thehenryford.org/K12/faq/405833</a:t>
            </a:r>
          </a:p>
          <a:p/>
          <a:p/>
          <a:p>
            <a:r>
              <a:t>DISCUSSION DEPTH</a:t>
            </a:r>
          </a:p>
          <a:p>
            <a:r>
              <a:t>Vertical integration changes organizational boundaries. It can coordinate supply and reduce dependence on outside firms, but it commits capital and makes management more complex. This is an application of Chapter 5, not proof that integration is always superior.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17:30–18:20 (50 sec)</a:t>
            </a:r>
          </a:p>
          <a:p>
            <a:r>
              <a:t>Slade | 50 seconds</a:t>
            </a:r>
          </a:p>
          <a:p>
            <a:r>
              <a:t>CUES: Success / rigidity / environment</a:t>
            </a:r>
          </a:p>
          <a:p/>
          <a:p>
            <a:r>
              <a:t>Ford's earlier success created a dangerous confidence in the existing formula. Buyers increasingly valued style and comfort. His reluctance to replace the Model T left the company responding late, before the new Model A appeared in 1927.</a:t>
            </a:r>
          </a:p>
          <a:p>
            <a:r>
              <a:t>That is a useful tension for an introduction to management. A person can drive radical innovation in one period and resist it later. Centralized authority can accelerate decisions when the leader understands the problem, then slow adaptation when the leader rejects unwelcome information.</a:t>
            </a:r>
          </a:p>
          <a:p>
            <a:r>
              <a:t>The course's warning about planning reinforcing today's success fits this case. Managers need feedback that can challenge the plan, not simply help execute it faster. The takeaway is not that standardization is bad. It is that a strategy needs to change when the market on which it depends changes.</a:t>
            </a:r>
          </a:p>
          <a:p/>
          <a:p>
            <a:r>
              <a:t>COURSE CONNECTION: Chapter 5, slide 6, rigidity and the limits of planning. Chapter 6, managing change and innovation.</a:t>
            </a:r>
          </a:p>
          <a:p>
            <a:r>
              <a:t>RESEARCH (accessed October 19, 2026):</a:t>
            </a:r>
          </a:p>
          <a:p>
            <a:r>
              <a:t>[G] Bob Casey, “Henry Ford: Case Study of an Innovator” (2021)</a:t>
            </a:r>
          </a:p>
          <a:p>
            <a:r>
              <a:t>https://www.thehenryford.org/collections/explore/articles/henry-ford-case-study-of-an-innovator</a:t>
            </a:r>
          </a:p>
          <a:p>
            <a:r>
              <a:t>IMAGE CREDIT: Henry Ford and Edsel Ford with Ford Model A Fordor Sedan, New York Industrial Exposition, 1928, THF91597. The Henry Ford, source G.</a:t>
            </a:r>
          </a:p>
          <a:p/>
          <a:p/>
          <a:p>
            <a:r>
              <a:t>DISCUSSION DEPTH</a:t>
            </a:r>
          </a:p>
          <a:p>
            <a:r>
              <a:t>Connect Chapter 2 external environment to Chapter 4 escalation of commitment and Chapter 6 resistance to change. A method that succeeded under one set of customer preferences can become rigid when conditions change. Present these as analytical lenses, not a clinical diagnosis of Ford.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18:20–19:05 (45 sec)</a:t>
            </a:r>
          </a:p>
          <a:p>
            <a:r>
              <a:t>Slade | 45 seconds</a:t>
            </a:r>
          </a:p>
          <a:p>
            <a:r>
              <a:t>CUES: No humor / evidence / power</a:t>
            </a:r>
          </a:p>
          <a:p/>
          <a:p>
            <a:r>
              <a:t>The Battle of the Overpass shows why a pay policy cannot stand in for an evaluation of labor relations. In 1937, Ford security personnel assaulted union organizers distributing material near the Rouge complex. Photographs made the violence visible to a wider public. Ford accepted union representation in 1941.</a:t>
            </a:r>
          </a:p>
          <a:p>
            <a:r>
              <a:t>The ethical issue is not whether higher wages were valuable. Workers could value pay and still seek collective voice over working conditions. Those interests can exist together.</a:t>
            </a:r>
          </a:p>
          <a:p>
            <a:r>
              <a:t>For management, this raises the question of whose concerns leadership hears and how employees can challenge decisions without fear. It also shows how conduct inside an organization can become a public stakeholder problem. Treat this episode seriously. We can evaluate an important operational achievement while also naming the coercion associated with the organization that produced it.</a:t>
            </a:r>
          </a:p>
          <a:p/>
          <a:p>
            <a:r>
              <a:t>COURSE CONNECTION: Chapters 2–3, stakeholder environment and ethics. Chapter 9, legal environment and employee relations.</a:t>
            </a:r>
          </a:p>
          <a:p>
            <a:r>
              <a:t>RESEARCH (accessed October 19, 2026):</a:t>
            </a:r>
          </a:p>
          <a:p>
            <a:r>
              <a:t>[I] Michigan Supreme Court Learning Center, “Right of Assembly: Battle of the Overpass”</a:t>
            </a:r>
          </a:p>
          <a:p>
            <a:r>
              <a:t>https://www.courts.michigan.gov/49b296/siteassets/msc-learning-center/scrapbook-fordbattleoverpass1937.pdf</a:t>
            </a:r>
          </a:p>
          <a:p/>
          <a:p/>
          <a:p>
            <a:r>
              <a:t>DISCUSSION DEPTH</a:t>
            </a:r>
          </a:p>
          <a:p>
            <a:r>
              <a:t>Keep the later coercion distinct from the 1914 turnover story. Bennett’s enforcers and the 1937 attack demonstrate that higher pay did not eliminate conflict over organizing and dignity. If asked about gangs, refer back to the chronology and the narrower documented description of former criminals and enforcers.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19:05–19:50 (45 sec)</a:t>
            </a:r>
          </a:p>
          <a:p>
            <a:r>
              <a:t>Slade | 45 seconds</a:t>
            </a:r>
          </a:p>
          <a:p>
            <a:r>
              <a:t>CUES: Separate achievements / ethical judgment / handoff</a:t>
            </a:r>
          </a:p>
          <a:p/>
          <a:p>
            <a:r>
              <a:t>These are different dimensions of evaluation. A production method can be effective at reducing assembly time while leadership fails ethically. We do not have to choose between pretending Ford contributed nothing and treating his contribution as permission to ignore his conduct.</a:t>
            </a:r>
          </a:p>
          <a:p>
            <a:r>
              <a:t>The course asks us to understand management theory and practice. Ford helps explain both the power of designing an organization around a clear goal and the risk of letting the founder define every boundary.</a:t>
            </a:r>
          </a:p>
          <a:p>
            <a:r>
              <a:t>For a manager today, a reasonable evaluation would examine output, quality, employee experience, and consequences for other stakeholders. A single attractive measure cannot capture the whole organization. Andy will now connect those lessons to familiar workplaces and close with what managers can use from this case.</a:t>
            </a:r>
          </a:p>
          <a:p/>
          <a:p>
            <a:r>
              <a:t>COURSE CONNECTION: Chapter 1 and Chapter 3, effectiveness and ethical conduct.</a:t>
            </a:r>
          </a:p>
          <a:p>
            <a:r>
              <a:t>RESEARCH (accessed October 19, 2026):</a:t>
            </a:r>
          </a:p>
          <a:p>
            <a:r>
              <a:t>[C] Ford Motor Company, “The Model T” (2020)</a:t>
            </a:r>
          </a:p>
          <a:p>
            <a:r>
              <a:t>https://corporate.ford.com/articles/history/the-model-t/</a:t>
            </a:r>
          </a:p>
          <a:p>
            <a:r>
              <a:t>[D] Matt Anderson, “Ford’s Five-Dollar Day,” The Henry Ford (2014)</a:t>
            </a:r>
          </a:p>
          <a:p>
            <a:r>
              <a:t>https://www.thehenryford.org/collections/explore/articles/fords-five-dollar-day</a:t>
            </a:r>
          </a:p>
          <a:p>
            <a:r>
              <a:t>[E] The Henry Ford, “Henry Ford: Sociological Department”</a:t>
            </a:r>
          </a:p>
          <a:p>
            <a:r>
              <a:t>https://www.thehenryford.org/collections/explore/sets/detail/henry-ford-sociological-department</a:t>
            </a:r>
          </a:p>
          <a:p>
            <a:r>
              <a:t>[G] Bob Casey, “Henry Ford: Case Study of an Innovator” (2021)</a:t>
            </a:r>
          </a:p>
          <a:p>
            <a:r>
              <a:t>https://www.thehenryford.org/collections/explore/articles/henry-ford-case-study-of-an-innovator</a:t>
            </a:r>
          </a:p>
          <a:p>
            <a:r>
              <a:t>[H] U.S. Holocaust Memorial Museum, “Antisemitism and Henry Ford’s ‘The International Jew’”</a:t>
            </a:r>
          </a:p>
          <a:p>
            <a:r>
              <a:t>https://encyclopedia.ushmm.org/content/en/article/antisemitism-and-henry-fords-international-jew</a:t>
            </a:r>
          </a:p>
          <a:p>
            <a:r>
              <a:t>[I] Michigan Supreme Court Learning Center, “Right of Assembly: Battle of the Overpass”</a:t>
            </a:r>
          </a:p>
          <a:p>
            <a:r>
              <a:t>https://www.courts.michigan.gov/49b296/siteassets/msc-learning-center/scrapbook-fordbattleoverpass1937.pdf</a:t>
            </a:r>
          </a:p>
          <a:p/>
          <a:p/>
          <a:p>
            <a:r>
              <a:t>DISCUSSION DEPTH</a:t>
            </a:r>
          </a:p>
          <a:p>
            <a:r>
              <a:t>Evaluate practices separately. Expanded affordability does not excuse coercion. The women’s employment evidence shows why a favorable pay headline cannot stand in for an assessment of equal opportunity.</a:t>
            </a:r>
          </a:p>
          <a:p>
            <a:r>
              <a:t>EVIDENCE FOR THE ANTISEMITISM POINT: Ford’s newspaper circulated antisemitic conspiracy theories beginning in 1920; the articles circulated as The International Jew. Explain this briefly if using the evaluation slide’s claim. Source: United States Holocaust Memorial Museum, https://encyclopedia.ushmm.org/content/en/article/antisemitism-and-henry-fords-international-jew . The user removed the separate slide; do not silently restore it or treat the claim as self-explanatory.</a:t>
            </a:r>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19:50–20:35 (45 sec)</a:t>
            </a:r>
          </a:p>
          <a:p>
            <a:r>
              <a:t>Andy | 45 seconds</a:t>
            </a:r>
          </a:p>
          <a:p>
            <a:r>
              <a:t>CUES: Standards / Toyota’s differences / everyday comparisons</a:t>
            </a:r>
          </a:p>
          <a:p/>
          <a:p>
            <a:r>
              <a:t>SAY IN YOUR OWN WORDS</a:t>
            </a:r>
          </a:p>
          <a:p>
            <a:r>
              <a:t>“Modern manufacturing still uses standard work and coordinated flow. Toyota adds important differences, including pull production and stopping to address defects. Kitchens and warehouses offer familiar comparisons, but we aren’t claiming Ford invented them. The lesson is to adapt methods to the job and listen to the people doing it.”</a:t>
            </a:r>
          </a:p>
          <a:p/>
          <a:p>
            <a:r>
              <a:t>BACKUP RESEARCH — NOT A SCRIPT</a:t>
            </a:r>
          </a:p>
          <a:p>
            <a:r>
              <a:t>Andy | 45 seconds</a:t>
            </a:r>
          </a:p>
          <a:p>
            <a:r>
              <a:t>CUES: Historical influence / analogies / evolution</a:t>
            </a:r>
          </a:p>
          <a:p/>
          <a:p>
            <a:r>
              <a:t>Ford's production methods spread across manufacturing. Modern factories still coordinate specialized work and material movement, but they have evolved substantially. Toyota describes its system around just-in-time production and jidoka, which means detecting problems and stopping to prevent defects from continuing.</a:t>
            </a:r>
          </a:p>
          <a:p>
            <a:r>
              <a:t>The service examples are comparisons, not a claim that Ford directly invented modern kitchens or warehouses. A kitchen's stations and a fulfillment operation's standard procedures make the same general questions easy to see: how should work flow, how much should a job repeat, and who can improve the process?</a:t>
            </a:r>
          </a:p>
          <a:p>
            <a:r>
              <a:t>The modern lesson is selective adaptation. Stable, repeatable work can benefit from standards. Changing demand and complex problems also require feedback and employee judgment. Ford gives us a useful starting point for those questions, not a complete operating manual.</a:t>
            </a:r>
          </a:p>
          <a:p/>
          <a:p>
            <a:r>
              <a:t>COURSE CONNECTION: Chapter 8, job design. Chapter 6, innovation. Service and logistics examples are contemporary analytical comparisons.</a:t>
            </a:r>
          </a:p>
          <a:p>
            <a:r>
              <a:t>RESEARCH (accessed October 19, 2026):</a:t>
            </a:r>
          </a:p>
          <a:p>
            <a:r>
              <a:t>[G] Bob Casey, “Henry Ford: Case Study of an Innovator” (2021)</a:t>
            </a:r>
          </a:p>
          <a:p>
            <a:r>
              <a:t>https://www.thehenryford.org/collections/explore/articles/henry-ford-case-study-of-an-innovator</a:t>
            </a:r>
          </a:p>
          <a:p>
            <a:r>
              <a:t>[J] Toyota Motor Corporation, “Toyota Production System”</a:t>
            </a:r>
          </a:p>
          <a:p>
            <a:r>
              <a:t>https://global.toyota/en/company/plant-tours/production-system/</a:t>
            </a:r>
          </a:p>
          <a:p/>
          <a:p/>
          <a:p>
            <a:r>
              <a:t>DISCUSSION DEPTH</a:t>
            </a:r>
          </a:p>
          <a:p>
            <a:r>
              <a:t>Toyota’s own description emphasizes just-in-time and jidoka, including stopping when abnormalities occur. Avoid presenting Toyota as simply copying Ford. Services examples are conceptual comparisons of work organization.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20:35–21:30 (55 sec)</a:t>
            </a:r>
          </a:p>
          <a:p>
            <a:r>
              <a:t>Andy | 55 seconds</a:t>
            </a:r>
          </a:p>
          <a:p>
            <a:r>
              <a:t>CUES: Plan / organize / lead / control</a:t>
            </a:r>
          </a:p>
          <a:p/>
          <a:p>
            <a:r>
              <a:t>SAY IN YOUR OWN WORDS</a:t>
            </a:r>
          </a:p>
          <a:p>
            <a:r>
              <a:t>“Ford’s case connects the four functions. Planning linked affordability to the market. Organizing coordinated tasks and resources. Leading involved pay, treatment, and employee voice. Controlling should examine quality and turnover as well as output. These are our course concepts applied to Ford, not four theories he invented.”</a:t>
            </a:r>
          </a:p>
          <a:p/>
          <a:p>
            <a:r>
              <a:t>BACKUP RESEARCH — NOT A SCRIPT</a:t>
            </a:r>
          </a:p>
          <a:p>
            <a:r>
              <a:t>Andy | 55 seconds</a:t>
            </a:r>
          </a:p>
          <a:p>
            <a:r>
              <a:t>CUES: Apply the course / distinguish metrics / whole system</a:t>
            </a:r>
          </a:p>
          <a:p/>
          <a:p>
            <a:r>
              <a:t>Here is the case in the course's four-function framework. Planning links the desired market to product and cost choices. Organizing assigns work and coordinates resources. Leading concerns the people carrying out the plan. Controlling compares performance with expectations and responds to gaps.</a:t>
            </a:r>
          </a:p>
          <a:p>
            <a:r>
              <a:t>Ford shows that these functions interact. The production plan created a need for staffing stability. Compensation addressed part of that need. Yet intrusive oversight and coercion damaged the relationship with employees.</a:t>
            </a:r>
          </a:p>
          <a:p>
            <a:r>
              <a:t>If we were advising a manager facing a similar problem, we would ask for more than an output target. We would ask how often employees leave, whether quality improves, what customers want, and whether people can report problems. That is how the historical case becomes a way to think through a present management decision rather than a list of vocabulary words.</a:t>
            </a:r>
          </a:p>
          <a:p/>
          <a:p>
            <a:r>
              <a:t>COURSE CONNECTION: Chapter 1, slide 19, four management functions. Chapters 4–6, 8–9 support these applications.</a:t>
            </a:r>
          </a:p>
          <a:p/>
          <a:p/>
          <a:p>
            <a:r>
              <a:t>DISCUSSION DEPTH</a:t>
            </a:r>
          </a:p>
          <a:p>
            <a:r>
              <a:t>Chapter map: Ch. 1 four functions and efficiency/effectiveness. Ch. 2 environment and culture. Ch. 3 ethics and justice. Ch. 4 alternatives, evidence, and commitment bias. Ch. 5 cost leadership and vertical integration. Ch. 6 innovation and resistance. Ch. 8 specialization, formalization, and centralization. Ch. 9 retention, compensation, and inclusion. History Module: Smith, scientific management, systems and contingency views. The chapter concepts are analytical frameworks applied to Ford, not theories he personally authored.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OF SHOW 21:30–22:25 (55 sec)</a:t>
            </a:r>
          </a:p>
          <a:p>
            <a:r>
              <a:t>Andy | 55 seconds</a:t>
            </a:r>
          </a:p>
          <a:p>
            <a:r>
              <a:t>CUES: Linked system / human consequences / return to activity</a:t>
            </a:r>
          </a:p>
          <a:p/>
          <a:p>
            <a:r>
              <a:t>SAY IN YOUR OWN WORDS</a:t>
            </a:r>
          </a:p>
          <a:p>
            <a:r>
              <a:t>“Our main point is that product design, production, and staffing form one management problem. Ford’s methods changed industry, but efficiency didn’t excuse exclusion, coercion, or other harms. Think back to your factory plan: what would you keep, and what would you change? We’re ready for your questions.”</a:t>
            </a:r>
          </a:p>
          <a:p/>
          <a:p>
            <a:r>
              <a:t>BACKUP RESEARCH — NOT A SCRIPT</a:t>
            </a:r>
          </a:p>
          <a:p>
            <a:r>
              <a:t>Andy | 55 seconds</a:t>
            </a:r>
          </a:p>
          <a:p>
            <a:r>
              <a:t>CUES: Thesis / consequences / invite Q&amp;A</a:t>
            </a:r>
          </a:p>
          <a:p/>
          <a:p>
            <a:r>
              <a:t>Ford's durable contribution was the integration of decisions that managers sometimes treat separately. The product affected the process. The process affected jobs. Jobs affected staffing, and staffing affected output. At enormous scale, those connections changed industrial practice.</a:t>
            </a:r>
          </a:p>
          <a:p>
            <a:r>
              <a:t>The same case shows why efficiency alone cannot define good management. An organization also has to adapt to customers and treat people responsibly. Ford could see a different future for production while failing to see the limits of his own authority and beliefs.</a:t>
            </a:r>
          </a:p>
          <a:p>
            <a:r>
              <a:t>Our conclusion is that his methods deserve study and his conduct deserves judgment. Managers can learn from both. Thank you. We are ready for questions about the assembly line, employment policies, influences, or the legacy of his approach.</a:t>
            </a:r>
          </a:p>
          <a:p/>
          <a:p>
            <a:r>
              <a:t>RESEARCH (accessed October 19, 2026):</a:t>
            </a:r>
          </a:p>
          <a:p>
            <a:r>
              <a:t>[B] Library of Congress, “Ford Implements the Moving Assembly Line”</a:t>
            </a:r>
          </a:p>
          <a:p>
            <a:r>
              <a:t>https://guides.loc.gov/this-month-in-business-history/october/ford</a:t>
            </a:r>
          </a:p>
          <a:p>
            <a:r>
              <a:t>[D] Matt Anderson, “Ford’s Five-Dollar Day,” The Henry Ford (2014)</a:t>
            </a:r>
          </a:p>
          <a:p>
            <a:r>
              <a:t>https://www.thehenryford.org/collections/explore/articles/fords-five-dollar-day</a:t>
            </a:r>
          </a:p>
          <a:p>
            <a:r>
              <a:t>[G] Bob Casey, “Henry Ford: Case Study of an Innovator” (2021)</a:t>
            </a:r>
          </a:p>
          <a:p>
            <a:r>
              <a:t>https://www.thehenryford.org/collections/explore/articles/henry-ford-case-study-of-an-innovator</a:t>
            </a:r>
          </a:p>
          <a:p>
            <a:r>
              <a:t>[H] U.S. Holocaust Memorial Museum, “Antisemitism and Henry Ford’s ‘The International Jew’”</a:t>
            </a:r>
          </a:p>
          <a:p>
            <a:r>
              <a:t>https://encyclopedia.ushmm.org/content/en/article/antisemitism-and-henry-fords-international-jew</a:t>
            </a:r>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The Henry Ford, “Henry Ford” biography and interview transcript</a:t>
            </a:r>
          </a:p>
          <a:p>
            <a:r>
              <a:t>https://www.thehenryford.org/collections/explore/videos/henry-ford</a:t>
            </a:r>
          </a:p>
          <a:p/>
          <a:p>
            <a:r>
              <a:t>[B] Library of Congress, “Ford Implements the Moving Assembly Line”</a:t>
            </a:r>
          </a:p>
          <a:p>
            <a:r>
              <a:t>https://guides.loc.gov/this-month-in-business-history/october/ford</a:t>
            </a:r>
          </a:p>
          <a:p/>
          <a:p>
            <a:r>
              <a:t>[C] Ford Motor Company, “The Model T” (2020)</a:t>
            </a:r>
          </a:p>
          <a:p>
            <a:r>
              <a:t>https://corporate.ford.com/articles/history/the-model-t/</a:t>
            </a:r>
          </a:p>
          <a:p/>
          <a:p>
            <a:r>
              <a:t>[F] The Henry Ford, “Ford Rouge Factory” research guide</a:t>
            </a:r>
          </a:p>
          <a:p>
            <a:r>
              <a:t>https://askus.thehenryford.org/K12/faq/405833</a:t>
            </a:r>
          </a:p>
          <a:p/>
          <a:p>
            <a:r>
              <a:t>[G] Bob Casey, “Henry Ford: Case Study of an Innovator” (2021)</a:t>
            </a:r>
          </a:p>
          <a:p>
            <a:r>
              <a:t>https://www.thehenryford.org/collections/explore/articles/henry-ford-case-study-of-an-innovator</a:t>
            </a:r>
          </a:p>
          <a:p/>
          <a:p>
            <a:r>
              <a:t>[L] The Henry Ford, authenticated Henry Ford quotations, Edison recollections</a:t>
            </a:r>
          </a:p>
          <a:p>
            <a:r>
              <a:t>https://www.thehenryford.org/collections/explore/popular-research-topics/henry-ford-quotations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 Matt Anderson, “Ford’s Five-Dollar Day,” The Henry Ford (2014)</a:t>
            </a:r>
          </a:p>
          <a:p>
            <a:r>
              <a:t>https://www.thehenryford.org/collections/explore/articles/fords-five-dollar-day</a:t>
            </a:r>
          </a:p>
          <a:p/>
          <a:p>
            <a:r>
              <a:t>[E] The Henry Ford, “Henry Ford: Sociological Department”</a:t>
            </a:r>
          </a:p>
          <a:p>
            <a:r>
              <a:t>https://www.thehenryford.org/collections/explore/sets/detail/henry-ford-sociological-department</a:t>
            </a:r>
          </a:p>
          <a:p/>
          <a:p>
            <a:r>
              <a:t>[H] U.S. Holocaust Memorial Museum, “Antisemitism and Henry Ford’s ‘The International Jew’”</a:t>
            </a:r>
          </a:p>
          <a:p>
            <a:r>
              <a:t>https://encyclopedia.ushmm.org/content/en/article/antisemitism-and-henry-fords-international-jew</a:t>
            </a:r>
          </a:p>
          <a:p/>
          <a:p>
            <a:r>
              <a:t>[I] Michigan Supreme Court Learning Center, “Right of Assembly: Battle of the Overpass”</a:t>
            </a:r>
          </a:p>
          <a:p>
            <a:r>
              <a:t>https://www.courts.michigan.gov/49b296/siteassets/msc-learning-center/scrapbook-fordbattleoverpass1937.pdf</a:t>
            </a:r>
          </a:p>
          <a:p/>
          <a:p>
            <a:r>
              <a:t>[J] Toyota Motor Corporation, “Toyota Production System”</a:t>
            </a:r>
          </a:p>
          <a:p>
            <a:r>
              <a:t>https://global.toyota/en/company/plant-tours/production-system/</a:t>
            </a:r>
          </a:p>
          <a:p/>
          <a:p>
            <a:r>
              <a:t>[M] The Henry Ford, “Henry Ford and Anti-Semitism”</a:t>
            </a:r>
          </a:p>
          <a:p>
            <a:r>
              <a:t>https://www.thehenryford.org/collections/explore/popular-research-topics/henry-ford-and-anti-semitism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MATERIAL — not part of the timed presentation.</a:t>
            </a:r>
          </a:p>
          <a:p/>
          <a:p>
            <a:r>
              <a:t>https://www.thehenryford.org/collections/explore/articles/fords-five-dollar-day</a:t>
            </a:r>
          </a:p>
          <a:p>
            <a:r>
              <a:t>https://www.detroithistorical.org/learn/online-research/encyclopedia-of-detroit/bennett-harry</a:t>
            </a:r>
          </a:p>
          <a:p>
            <a:r>
              <a:t>https://www.thehenryford.org/collections/explore/artifact/4461</a:t>
            </a:r>
          </a:p>
          <a:p>
            <a:r>
              <a:t>https://www.gutenberg.org/cache/epub/7213/pg7213-images.html</a:t>
            </a:r>
          </a:p>
          <a:p>
            <a:r>
              <a:t>https://tile.loc.gov/storage-services/service/sgp/sgpbatches/batch_dlc_1zubrowka_ver01/data/2004540423/print00192511057/1916102201/0129.pdf</a:t>
            </a:r>
          </a:p>
          <a:p>
            <a:r>
              <a:t>https://askus.thehenryford.org/K12/faq/429559</a:t>
            </a:r>
          </a:p>
          <a:p>
            <a:r>
              <a:t>https://www.thehenryford.org/collections/explore/popular-research-topics/ford-motor-company-sociological-department-english-school</a:t>
            </a:r>
          </a:p>
          <a:p/>
          <a:p>
            <a:r>
              <a:t>[N] Bennett biography: evidence for the later security apparatus, not the cause of the 1914 wage plan.</a:t>
            </a:r>
          </a:p>
          <a:p>
            <a:r>
              <a:t>[O] Photograph: women manufacturing magneto components circa 1913; does not prove access to every factory role.</a:t>
            </a:r>
          </a:p>
          <a:p>
            <a:r>
              <a:t>[P] Ford’s retrospective primary account: conditional profit sharing and his reported marriage-related employment restrictions. Treat his explanations critically.</a:t>
            </a:r>
          </a:p>
          <a:p>
            <a:r>
              <a:t>[Q] Contemporary editorial: broader $5 daily minimum for women in 1916.</a:t>
            </a:r>
          </a:p>
          <a:p>
            <a:r>
              <a:t>[R] Later wartime roles at Willow Run; do not project these back to 1914.</a:t>
            </a:r>
          </a:p>
          <a:p/>
          <a:p>
            <a:r>
              <a:t>These citations were supplied in the proposed revision. Live retrieval returned network-proxy 403 errors during this edit; they were not independently reverified online.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Slade</a:t>
            </a:r>
          </a:p>
          <a:p>
            <a:r>
              <a:t>CUES: Course materials and visual credits</a:t>
            </a:r>
          </a:p>
          <a:p/>
          <a:p>
            <a:r>
              <a:t>COURSE MATERIALS USED:</a:t>
            </a:r>
          </a:p>
          <a:p>
            <a:r>
              <a:t>Chapter 1: management, efficiency/effectiveness, four functions (slides 10–11, 19).</a:t>
            </a:r>
          </a:p>
          <a:p>
            <a:r>
              <a:t>Chapter 2: stakeholders and organizational culture, including founder influence (slide 21).</a:t>
            </a:r>
          </a:p>
          <a:p>
            <a:r>
              <a:t>Chapter 3: ethical approaches and leadership (slides 20–24).</a:t>
            </a:r>
          </a:p>
          <a:p>
            <a:r>
              <a:t>Chapter 4: identifying problems and evaluating management decisions.</a:t>
            </a:r>
          </a:p>
          <a:p>
            <a:r>
              <a:t>Chapter 5: strategy, planning rigidity, competitive strategies, vertical integration (slides 6, 9, 16, 19–20).</a:t>
            </a:r>
          </a:p>
          <a:p>
            <a:r>
              <a:t>Chapter 6: change and innovation (slide 24 and related sections).</a:t>
            </a:r>
          </a:p>
          <a:p>
            <a:r>
              <a:t>Chapter 8: structure, specialization, centralization, formalization (slides 4–5, 14–15).</a:t>
            </a:r>
          </a:p>
          <a:p>
            <a:r>
              <a:t>Chapter 9: HRM, retention, compensation (slides 5, 20, 25–28).</a:t>
            </a:r>
          </a:p>
          <a:p>
            <a:r>
              <a:t>History Module-1.pdf: Adam Smith, Taylor, systems and contingency approaches.</a:t>
            </a:r>
          </a:p>
          <a:p>
            <a:r>
              <a:t>Visuals: slide 1 THF97952; slide 3 THF135450; slide 5 THF94827; slide 11 THF94994; slide 14 THF204872; slide 18 THF91597. All The Henry Ford. Source credits remain in the corresponding slide notes. Source O is a discussed artifact, not an image added to the slide.</a:t>
            </a:r>
          </a:p>
          <a:p>
            <a:r>
              <a:t>Rubric supplied by the user: 20–25 minutes plus Q&amp;A, management contributions, influences, contemporary evidence, professional visual aids, research and information submission. The course name follows the user's correction to MGT 210, Section T01.</a:t>
            </a:r>
          </a:p>
          <a:p/>
          <a:p>
            <a:r>
              <a:t>RESEARCH (accessed October 19, 2026):</a:t>
            </a:r>
          </a:p>
          <a:p>
            <a:r>
              <a:t>[K] The Henry Ford, “Our Most-Viewed Digitized Artifacts of All Time”</a:t>
            </a:r>
          </a:p>
          <a:p>
            <a:r>
              <a:t>https://www.thehenryford.org/collections/explore/sets/detail/our-most-viewed-digitized-artifacts-of-all-time</a:t>
            </a:r>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 after the timed presentation; allow 3–5 minutes or follow the instructor.</a:t>
            </a:r>
          </a:p>
          <a:p>
            <a:r>
              <a:t>Andy: production, influences, women’s work, modern relevance. Slade: turnover, wages, conditions, labor relations. Both should answer at least one question.</a:t>
            </a:r>
          </a:p>
          <a:p>
            <a:r>
              <a:t>Return to the class activity: ask whether a group would change its original recommendation after hearing the evidence.</a:t>
            </a:r>
          </a:p>
          <a:p>
            <a:r>
              <a:t>If asked: the $5 plan was daily compensation for eligible workers, initially wages plus conditional profit sharing. Ford’s production system adapted earlier industrial methods. The Bennett/enforcer chronology belongs to a later period and does not establish the cause of the 1914 wage decision. Women worked at Ford before WWII, but pay access and employment rules were unequal.</a:t>
            </a:r>
          </a:p>
          <a:p>
            <a:r>
              <a:t>If a question exceeds the sources, acknowledge the limit rather than guessing. Reference slides are submission material, not a second conclusion.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www.thehenryford.org/collections/explore/videos/henry-ford" TargetMode="External"/><Relationship Id="rId4" Type="http://schemas.openxmlformats.org/officeDocument/2006/relationships/hyperlink" Target="https://guides.loc.gov/this-month-in-business-history/october/ford" TargetMode="External"/><Relationship Id="rId5" Type="http://schemas.openxmlformats.org/officeDocument/2006/relationships/hyperlink" Target="https://corporate.ford.com/articles/history/the-model-t/" TargetMode="External"/><Relationship Id="rId6" Type="http://schemas.openxmlformats.org/officeDocument/2006/relationships/hyperlink" Target="https://askus.thehenryford.org/K12/faq/405833" TargetMode="External"/><Relationship Id="rId7" Type="http://schemas.openxmlformats.org/officeDocument/2006/relationships/hyperlink" Target="https://www.thehenryford.org/collections/explore/articles/henry-ford-case-study-of-an-innovator" TargetMode="External"/><Relationship Id="rId8" Type="http://schemas.openxmlformats.org/officeDocument/2006/relationships/hyperlink" Target="https://www.thehenryford.org/collections/explore/popular-research-topics/henry-ford-quotation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www.thehenryford.org/collections/explore/articles/fords-five-dollar-day" TargetMode="External"/><Relationship Id="rId4" Type="http://schemas.openxmlformats.org/officeDocument/2006/relationships/hyperlink" Target="https://www.thehenryford.org/collections/explore/sets/detail/henry-ford-sociological-department" TargetMode="External"/><Relationship Id="rId5" Type="http://schemas.openxmlformats.org/officeDocument/2006/relationships/hyperlink" Target="https://encyclopedia.ushmm.org/content/en/article/antisemitism-and-henry-fords-international-jew" TargetMode="External"/><Relationship Id="rId6" Type="http://schemas.openxmlformats.org/officeDocument/2006/relationships/hyperlink" Target="https://www.courts.michigan.gov/49b296/siteassets/msc-learning-center/scrapbook-fordbattleoverpass1937.pdf" TargetMode="External"/><Relationship Id="rId7" Type="http://schemas.openxmlformats.org/officeDocument/2006/relationships/hyperlink" Target="https://global.toyota/en/company/plant-tours/production-system/" TargetMode="External"/><Relationship Id="rId8" Type="http://schemas.openxmlformats.org/officeDocument/2006/relationships/hyperlink" Target="https://www.thehenryford.org/collections/explore/popular-research-topics/henry-ford-and-anti-semitis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A36"/>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E19B98-FB5A-4614-92EA-72369D690D84}"/>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4800" b="1">
                <a:solidFill>
                  <a:srgbClr val="F4F1EA"/>
                </a:solidFill>
                <a:latin typeface="Arial"/>
                <a:ea typeface="Arial"/>
                <a:cs typeface="Arial"/>
              </a:defRPr>
            </a:pPr>
            <a:r>
              <a:rPr sz="4800" b="1">
                <a:solidFill>
                  <a:srgbClr val="F4F1EA"/>
                </a:solidFill>
                <a:latin typeface="Arial"/>
                <a:ea typeface="Arial"/>
                <a:cs typeface="Arial"/>
              </a:rPr>
              <a:t>Henry Ford</a:t>
            </a:r>
          </a:p>
        </p:txBody>
      </p:sp>
      <p:sp>
        <p:nvSpPr>
          <p:cNvPr id="2" name="Rectangle 1">
            <a:extLst>
              <a:ext uri="{FF2B5EF4-FFF2-40B4-BE49-F238E27FC236}">
                <a16:creationId xmlns:a16="http://schemas.microsoft.com/office/drawing/2014/main" id="{7005FDF1-0CBD-48B3-9EF8-7BC317C43B1E}"/>
              </a:ext>
            </a:extLst>
          </p:cNvPr>
          <p:cNvSpPr>
            <a:spLocks noGrp="1"/>
          </p:cNvSpPr>
          <p:nvPr/>
        </p:nvSpPr>
        <p:spPr>
          <a:xfrm>
            <a:off x="609600" y="2095500"/>
            <a:ext cx="6191250" cy="952500"/>
          </a:xfrm>
          <a:prstGeom prst="rect">
            <a:avLst/>
          </a:prstGeom>
          <a:noFill/>
          <a:ln w="0">
            <a:noFill/>
          </a:ln>
        </p:spPr>
        <p:txBody>
          <a:bodyPr lIns="0" tIns="0" rIns="0" bIns="0">
            <a:noAutofit/>
          </a:bodyPr>
          <a:lstStyle/>
          <a:p>
            <a:pPr>
              <a:buNone/>
              <a:defRPr sz="2550" b="0">
                <a:solidFill>
                  <a:srgbClr val="F4F1EA"/>
                </a:solidFill>
                <a:latin typeface="Arial"/>
                <a:ea typeface="Arial"/>
                <a:cs typeface="Arial"/>
              </a:defRPr>
            </a:pPr>
            <a:r>
              <a:rPr sz="2550" b="0">
                <a:solidFill>
                  <a:srgbClr val="F4F1EA"/>
                </a:solidFill>
                <a:latin typeface="Arial"/>
                <a:ea typeface="Arial"/>
                <a:cs typeface="Arial"/>
              </a:rPr>
              <a:t>Mass production, people, and the limits of control</a:t>
            </a:r>
          </a:p>
        </p:txBody>
      </p:sp>
      <p:sp>
        <p:nvSpPr>
          <p:cNvPr id="3" name="Rectangle 2">
            <a:extLst>
              <a:ext uri="{FF2B5EF4-FFF2-40B4-BE49-F238E27FC236}">
                <a16:creationId xmlns:a16="http://schemas.microsoft.com/office/drawing/2014/main" id="{4EF62AE1-4BC4-4A57-B094-829E0F4D5EF9}"/>
              </a:ext>
            </a:extLst>
          </p:cNvPr>
          <p:cNvSpPr>
            <a:spLocks noGrp="1"/>
          </p:cNvSpPr>
          <p:nvPr/>
        </p:nvSpPr>
        <p:spPr>
          <a:xfrm>
            <a:off x="609600" y="4829175"/>
            <a:ext cx="6191250" cy="952500"/>
          </a:xfrm>
          <a:prstGeom prst="rect">
            <a:avLst/>
          </a:prstGeom>
          <a:noFill/>
          <a:ln w="0">
            <a:noFill/>
          </a:ln>
        </p:spPr>
        <p:txBody>
          <a:bodyPr lIns="0" tIns="0" rIns="0" bIns="0">
            <a:noAutofit/>
          </a:bodyPr>
          <a:lstStyle/>
          <a:p>
            <a:pPr>
              <a:buNone/>
              <a:defRPr sz="1875" b="0">
                <a:solidFill>
                  <a:srgbClr val="F4F1EA"/>
                </a:solidFill>
                <a:latin typeface="Arial"/>
                <a:ea typeface="Arial"/>
                <a:cs typeface="Arial"/>
              </a:defRPr>
            </a:pPr>
            <a:r>
              <a:rPr sz="1875" b="0">
                <a:solidFill>
                  <a:srgbClr val="F4F1EA"/>
                </a:solidFill>
                <a:latin typeface="Arial"/>
                <a:ea typeface="Arial"/>
                <a:cs typeface="Arial"/>
              </a:rPr>
              <a:t>Andy Johnson &amp; Slade McClain</a:t>
            </a:r>
          </a:p>
          <a:p>
            <a:pPr>
              <a:buNone/>
              <a:defRPr sz="1875" b="0">
                <a:solidFill>
                  <a:srgbClr val="F4F1EA"/>
                </a:solidFill>
                <a:latin typeface="Arial"/>
                <a:ea typeface="Arial"/>
                <a:cs typeface="Arial"/>
              </a:defRPr>
            </a:pPr>
            <a:r>
              <a:rPr sz="1875" b="0">
                <a:solidFill>
                  <a:srgbClr val="F4F1EA"/>
                </a:solidFill>
                <a:latin typeface="Arial"/>
                <a:ea typeface="Arial"/>
                <a:cs typeface="Arial"/>
              </a:rPr>
              <a:t>MGT 210, Section T01</a:t>
            </a:r>
          </a:p>
        </p:txBody>
      </p:sp>
      <p:pic>
        <p:nvPicPr>
          <p:cNvPr id="10" name="Picture 9">
            <a:extLst>
              <a:ext uri="{FF2B5EF4-FFF2-40B4-BE49-F238E27FC236}">
                <a16:creationId xmlns:a16="http://schemas.microsoft.com/office/drawing/2014/main" id="{FD89E0E4-B626-4A95-BCCA-7648BE81780E}"/>
              </a:ext>
            </a:extLst>
          </p:cNvPr>
          <p:cNvPicPr>
            <a:picLocks noChangeAspect="1"/>
          </p:cNvPicPr>
          <p:nvPr/>
        </p:nvPicPr>
        <p:blipFill>
          <a:blip r:embed="rId3"/>
          <a:stretch/>
        </p:blipFill>
        <p:spPr>
          <a:xfrm>
            <a:off x="7524750" y="531485"/>
            <a:ext cx="4000500" cy="5452129"/>
          </a:xfrm>
          <a:prstGeom prst="rect">
            <a:avLst/>
          </a:prstGeom>
        </p:spPr>
      </p:pic>
      <p:sp>
        <p:nvSpPr>
          <p:cNvPr id="5" name="Rectangle 4">
            <a:extLst>
              <a:ext uri="{FF2B5EF4-FFF2-40B4-BE49-F238E27FC236}">
                <a16:creationId xmlns:a16="http://schemas.microsoft.com/office/drawing/2014/main" id="{E572306D-3F0D-4A82-A735-D049B1098EFB}"/>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C2C9CB"/>
                </a:solidFill>
                <a:latin typeface="Arial"/>
                <a:ea typeface="Arial"/>
                <a:cs typeface="Arial"/>
              </a:defRPr>
            </a:pPr>
            <a:fld id="{7D8967BC-F8CA-415F-9132-C832198756E8}" type="slidenum">
              <a:rPr lang="en-US" sz="1000">
                <a:solidFill>
                  <a:srgbClr val="BDC8CB"/>
                </a:solidFill>
              </a:rPr>
              <a:t>1</a:t>
            </a:fld>
          </a:p>
        </p:txBody>
      </p:sp>
    </p:spTree>
    <p:extLst>
      <p:ext uri="{BB962C8B-B14F-4D97-AF65-F5344CB8AC3E}">
        <p14:creationId xmlns:p14="http://schemas.microsoft.com/office/powerpoint/2010/main" val="1862157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D79716F-55ED-489F-9CB2-94D1E5FB1E31}"/>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The management question</a:t>
            </a:r>
          </a:p>
        </p:txBody>
      </p:sp>
      <p:sp>
        <p:nvSpPr>
          <p:cNvPr id="2" name="Rectangle 1">
            <a:extLst>
              <a:ext uri="{FF2B5EF4-FFF2-40B4-BE49-F238E27FC236}">
                <a16:creationId xmlns:a16="http://schemas.microsoft.com/office/drawing/2014/main" id="{EEBA6C4C-EFF3-4510-9227-E8C8A62FB2D9}"/>
              </a:ext>
            </a:extLst>
          </p:cNvPr>
          <p:cNvSpPr>
            <a:spLocks noGrp="1"/>
          </p:cNvSpPr>
          <p:nvPr/>
        </p:nvSpPr>
        <p:spPr>
          <a:xfrm>
            <a:off x="666750" y="1762125"/>
            <a:ext cx="10572750" cy="952500"/>
          </a:xfrm>
          <a:prstGeom prst="rect">
            <a:avLst/>
          </a:prstGeom>
          <a:noFill/>
          <a:ln w="0">
            <a:noFill/>
          </a:ln>
        </p:spPr>
        <p:txBody>
          <a:bodyPr lIns="0" tIns="0" rIns="0" bIns="0">
            <a:noAutofit/>
          </a:bodyPr>
          <a:lstStyle/>
          <a:p>
            <a:pPr>
              <a:buNone/>
              <a:defRPr sz="2400" b="0">
                <a:solidFill>
                  <a:srgbClr val="172A36"/>
                </a:solidFill>
                <a:latin typeface="Arial"/>
                <a:ea typeface="Arial"/>
                <a:cs typeface="Arial"/>
              </a:defRPr>
            </a:pPr>
            <a:r>
              <a:rPr sz="2400" b="0">
                <a:solidFill>
                  <a:srgbClr val="172A36"/>
                </a:solidFill>
                <a:latin typeface="Arial"/>
                <a:ea typeface="Arial"/>
                <a:cs typeface="Arial"/>
              </a:rPr>
              <a:t>How do you make a complicated product affordable to millions?</a:t>
            </a:r>
          </a:p>
        </p:txBody>
      </p:sp>
      <p:sp>
        <p:nvSpPr>
          <p:cNvPr id="3" name="Rectangle 2">
            <a:extLst>
              <a:ext uri="{FF2B5EF4-FFF2-40B4-BE49-F238E27FC236}">
                <a16:creationId xmlns:a16="http://schemas.microsoft.com/office/drawing/2014/main" id="{2591DB82-674E-4244-B292-CC8BD0CEFBE1}"/>
              </a:ext>
            </a:extLst>
          </p:cNvPr>
          <p:cNvSpPr>
            <a:spLocks noGrp="1"/>
          </p:cNvSpPr>
          <p:nvPr/>
        </p:nvSpPr>
        <p:spPr>
          <a:xfrm>
            <a:off x="666750" y="2809875"/>
            <a:ext cx="10572750" cy="952500"/>
          </a:xfrm>
          <a:prstGeom prst="rect">
            <a:avLst/>
          </a:prstGeom>
          <a:noFill/>
          <a:ln w="0">
            <a:noFill/>
          </a:ln>
        </p:spPr>
        <p:txBody>
          <a:bodyPr lIns="0" tIns="0" rIns="0" bIns="0">
            <a:noAutofit/>
          </a:bodyPr>
          <a:lstStyle/>
          <a:p>
            <a:pPr>
              <a:buNone/>
              <a:defRPr sz="2400" b="0">
                <a:solidFill>
                  <a:srgbClr val="172A36"/>
                </a:solidFill>
                <a:latin typeface="Arial"/>
                <a:ea typeface="Arial"/>
                <a:cs typeface="Arial"/>
              </a:defRPr>
            </a:pPr>
            <a:r>
              <a:rPr sz="2400" b="0">
                <a:solidFill>
                  <a:srgbClr val="172A36"/>
                </a:solidFill>
                <a:latin typeface="Arial"/>
                <a:ea typeface="Arial"/>
                <a:cs typeface="Arial"/>
              </a:rPr>
              <a:t>Ford connected the product, the production process, and the people doing the work.</a:t>
            </a:r>
          </a:p>
        </p:txBody>
      </p:sp>
      <p:sp>
        <p:nvSpPr>
          <p:cNvPr id="4" name="Rectangle 3">
            <a:extLst>
              <a:ext uri="{FF2B5EF4-FFF2-40B4-BE49-F238E27FC236}">
                <a16:creationId xmlns:a16="http://schemas.microsoft.com/office/drawing/2014/main" id="{F515F816-A874-4422-831C-7FAA73E5A0EA}"/>
              </a:ext>
            </a:extLst>
          </p:cNvPr>
          <p:cNvSpPr>
            <a:spLocks noGrp="1"/>
          </p:cNvSpPr>
          <p:nvPr/>
        </p:nvSpPr>
        <p:spPr>
          <a:xfrm>
            <a:off x="666750" y="3857625"/>
            <a:ext cx="10572750" cy="952500"/>
          </a:xfrm>
          <a:prstGeom prst="rect">
            <a:avLst/>
          </a:prstGeom>
          <a:noFill/>
          <a:ln w="0">
            <a:noFill/>
          </a:ln>
        </p:spPr>
        <p:txBody>
          <a:bodyPr lIns="0" tIns="0" rIns="0" bIns="0">
            <a:noAutofit/>
          </a:bodyPr>
          <a:lstStyle>
            <a:defPPr algn="l">
              <a:defRPr sz="2250">
                <a:solidFill>
                  <a:srgbClr val="172A36"/>
                </a:solidFill>
                <a:latin typeface="Arial"/>
                <a:ea typeface="Arial"/>
                <a:cs typeface="Arial"/>
              </a:defRPr>
            </a:defPPr>
            <a:lvl1pPr algn="l">
              <a:defRPr sz="2250">
                <a:solidFill>
                  <a:srgbClr val="172A36"/>
                </a:solidFill>
                <a:latin typeface="Arial"/>
                <a:ea typeface="Arial"/>
                <a:cs typeface="Arial"/>
              </a:defRPr>
            </a:lvl1pPr>
            <a:lvl2pPr algn="l">
              <a:defRPr sz="2250">
                <a:solidFill>
                  <a:srgbClr val="172A36"/>
                </a:solidFill>
                <a:latin typeface="Arial"/>
                <a:ea typeface="Arial"/>
                <a:cs typeface="Arial"/>
              </a:defRPr>
            </a:lvl2pPr>
            <a:lvl3pPr algn="l">
              <a:defRPr sz="2250">
                <a:solidFill>
                  <a:srgbClr val="172A36"/>
                </a:solidFill>
                <a:latin typeface="Arial"/>
                <a:ea typeface="Arial"/>
                <a:cs typeface="Arial"/>
              </a:defRPr>
            </a:lvl3pPr>
            <a:lvl4pPr algn="l">
              <a:defRPr sz="2250">
                <a:solidFill>
                  <a:srgbClr val="172A36"/>
                </a:solidFill>
                <a:latin typeface="Arial"/>
                <a:ea typeface="Arial"/>
                <a:cs typeface="Arial"/>
              </a:defRPr>
            </a:lvl4pPr>
            <a:lvl5pPr algn="l">
              <a:defRPr sz="2250">
                <a:solidFill>
                  <a:srgbClr val="172A36"/>
                </a:solidFill>
                <a:latin typeface="Arial"/>
                <a:ea typeface="Arial"/>
                <a:cs typeface="Arial"/>
              </a:defRPr>
            </a:lvl5pPr>
            <a:lvl6pPr algn="l">
              <a:defRPr sz="2250">
                <a:solidFill>
                  <a:srgbClr val="172A36"/>
                </a:solidFill>
                <a:latin typeface="Arial"/>
                <a:ea typeface="Arial"/>
                <a:cs typeface="Arial"/>
              </a:defRPr>
            </a:lvl6pPr>
            <a:lvl7pPr algn="l">
              <a:defRPr sz="2250">
                <a:solidFill>
                  <a:srgbClr val="172A36"/>
                </a:solidFill>
                <a:latin typeface="Arial"/>
                <a:ea typeface="Arial"/>
                <a:cs typeface="Arial"/>
              </a:defRPr>
            </a:lvl7pPr>
            <a:lvl8pPr algn="l">
              <a:defRPr sz="2250">
                <a:solidFill>
                  <a:srgbClr val="172A36"/>
                </a:solidFill>
                <a:latin typeface="Arial"/>
                <a:ea typeface="Arial"/>
                <a:cs typeface="Arial"/>
              </a:defRPr>
            </a:lvl8pPr>
            <a:lvl9pPr algn="l">
              <a:defRPr sz="2250">
                <a:solidFill>
                  <a:srgbClr val="172A36"/>
                </a:solidFill>
                <a:latin typeface="Arial"/>
                <a:ea typeface="Arial"/>
                <a:cs typeface="Arial"/>
              </a:defRPr>
            </a:lvl9pPr>
          </a:lstStyle>
          <a:p>
            <a:pPr algn="l">
              <a:buNone/>
              <a:defRPr sz="2250" b="0">
                <a:solidFill>
                  <a:srgbClr val="172A36"/>
                </a:solidFill>
                <a:latin typeface="Arial"/>
                <a:ea typeface="Arial"/>
                <a:cs typeface="Arial"/>
              </a:defRPr>
            </a:pPr>
            <a:r>
              <a:rPr sz="2250" b="0">
                <a:solidFill>
                  <a:srgbClr val="172A36"/>
                </a:solidFill>
                <a:latin typeface="Arial"/>
                <a:ea typeface="Arial"/>
                <a:cs typeface="Arial"/>
              </a:rPr>
              <a:t>Efficiency: fewer resources per car</a:t>
            </a:r>
          </a:p>
          <a:p>
            <a:pPr algn="l">
              <a:buNone/>
              <a:defRPr sz="2250" b="0">
                <a:solidFill>
                  <a:srgbClr val="172A36"/>
                </a:solidFill>
                <a:latin typeface="Arial"/>
                <a:ea typeface="Arial"/>
                <a:cs typeface="Arial"/>
              </a:defRPr>
            </a:pPr>
            <a:r>
              <a:rPr sz="2250" b="0">
                <a:solidFill>
                  <a:srgbClr val="172A36"/>
                </a:solidFill>
                <a:latin typeface="Arial"/>
                <a:ea typeface="Arial"/>
                <a:cs typeface="Arial"/>
              </a:rPr>
              <a:t>Effectiveness: cars buyers want and workers can sustain</a:t>
            </a:r>
          </a:p>
        </p:txBody>
      </p:sp>
      <p:sp>
        <p:nvSpPr>
          <p:cNvPr id="5" name="Rectangle 4">
            <a:extLst>
              <a:ext uri="{FF2B5EF4-FFF2-40B4-BE49-F238E27FC236}">
                <a16:creationId xmlns:a16="http://schemas.microsoft.com/office/drawing/2014/main" id="{8B952FBC-4B3D-4D14-8087-4776EB362158}"/>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efficiency and effectiveness</a:t>
            </a:r>
          </a:p>
        </p:txBody>
      </p:sp>
      <p:sp>
        <p:nvSpPr>
          <p:cNvPr id="6" name="Rectangle 5">
            <a:extLst>
              <a:ext uri="{FF2B5EF4-FFF2-40B4-BE49-F238E27FC236}">
                <a16:creationId xmlns:a16="http://schemas.microsoft.com/office/drawing/2014/main" id="{B5ABCC37-AA14-4483-806E-11799E49A069}"/>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860212DA-CF6E-4B90-938D-1C99D5ADB8D4}" type="slidenum">
              <a:rPr lang="en-US" sz="1000">
                <a:solidFill>
                  <a:srgbClr val="586A70"/>
                </a:solidFill>
              </a:rPr>
              <a:t>2</a:t>
            </a:fld>
          </a:p>
        </p:txBody>
      </p:sp>
    </p:spTree>
    <p:extLst>
      <p:ext uri="{BB962C8B-B14F-4D97-AF65-F5344CB8AC3E}">
        <p14:creationId xmlns:p14="http://schemas.microsoft.com/office/powerpoint/2010/main" val="661398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63A6EAE-E790-400E-AB81-E0CA233FE373}"/>
              </a:ext>
            </a:extLst>
          </p:cNvPr>
          <p:cNvSpPr>
            <a:spLocks noGrp="1"/>
          </p:cNvSpPr>
          <p:nvPr/>
        </p:nvSpPr>
        <p:spPr>
          <a:xfrm>
            <a:off x="609600" y="457200"/>
            <a:ext cx="64770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The mechanic behind the manager</a:t>
            </a:r>
          </a:p>
        </p:txBody>
      </p:sp>
      <p:pic>
        <p:nvPicPr>
          <p:cNvPr id="10" name="Picture 9">
            <a:extLst>
              <a:ext uri="{FF2B5EF4-FFF2-40B4-BE49-F238E27FC236}">
                <a16:creationId xmlns:a16="http://schemas.microsoft.com/office/drawing/2014/main" id="{C9403F1C-0C8A-4FDF-90AB-B587C25A5DAA}"/>
              </a:ext>
            </a:extLst>
          </p:cNvPr>
          <p:cNvPicPr>
            <a:picLocks noChangeAspect="1"/>
          </p:cNvPicPr>
          <p:nvPr/>
        </p:nvPicPr>
        <p:blipFill>
          <a:blip r:embed="rId3"/>
          <a:stretch/>
        </p:blipFill>
        <p:spPr>
          <a:xfrm>
            <a:off x="7048500" y="2206625"/>
            <a:ext cx="4524375" cy="3016250"/>
          </a:xfrm>
          <a:prstGeom prst="rect">
            <a:avLst/>
          </a:prstGeom>
        </p:spPr>
      </p:pic>
      <p:sp>
        <p:nvSpPr>
          <p:cNvPr id="3" name="Rectangle 2">
            <a:extLst>
              <a:ext uri="{FF2B5EF4-FFF2-40B4-BE49-F238E27FC236}">
                <a16:creationId xmlns:a16="http://schemas.microsoft.com/office/drawing/2014/main" id="{899B4D0B-397C-40B2-ABE6-B3ADAC704A06}"/>
              </a:ext>
            </a:extLst>
          </p:cNvPr>
          <p:cNvSpPr>
            <a:spLocks noGrp="1"/>
          </p:cNvSpPr>
          <p:nvPr/>
        </p:nvSpPr>
        <p:spPr>
          <a:xfrm>
            <a:off x="666750" y="1847850"/>
            <a:ext cx="5905500" cy="904875"/>
          </a:xfrm>
          <a:prstGeom prst="rect">
            <a:avLst/>
          </a:prstGeom>
          <a:noFill/>
          <a:ln w="0">
            <a:noFill/>
          </a:ln>
        </p:spPr>
        <p:txBody>
          <a:bodyPr lIns="0" tIns="0" rIns="0" bIns="0">
            <a:noAutofit/>
          </a:bodyPr>
          <a:lstStyle/>
          <a:p>
            <a:pPr>
              <a:buNone/>
              <a:defRPr sz="2175" b="0">
                <a:solidFill>
                  <a:srgbClr val="172A36"/>
                </a:solidFill>
                <a:latin typeface="Arial"/>
                <a:ea typeface="Arial"/>
                <a:cs typeface="Arial"/>
              </a:defRPr>
            </a:pPr>
            <a:r>
              <a:rPr sz="2175" b="0">
                <a:solidFill>
                  <a:srgbClr val="172A36"/>
                </a:solidFill>
                <a:latin typeface="Arial"/>
                <a:ea typeface="Arial"/>
                <a:cs typeface="Arial"/>
              </a:rPr>
              <a:t>1863–1947</a:t>
            </a:r>
          </a:p>
          <a:p>
            <a:pPr>
              <a:buNone/>
              <a:defRPr sz="2175" b="0">
                <a:solidFill>
                  <a:srgbClr val="172A36"/>
                </a:solidFill>
                <a:latin typeface="Arial"/>
                <a:ea typeface="Arial"/>
                <a:cs typeface="Arial"/>
              </a:defRPr>
            </a:pPr>
            <a:r>
              <a:rPr sz="2175" b="0">
                <a:solidFill>
                  <a:srgbClr val="172A36"/>
                </a:solidFill>
                <a:latin typeface="Arial"/>
                <a:ea typeface="Arial"/>
                <a:cs typeface="Arial"/>
              </a:rPr>
              <a:t>Raised on a Michigan farm</a:t>
            </a:r>
          </a:p>
        </p:txBody>
      </p:sp>
      <p:sp>
        <p:nvSpPr>
          <p:cNvPr id="4" name="Rectangle 3">
            <a:extLst>
              <a:ext uri="{FF2B5EF4-FFF2-40B4-BE49-F238E27FC236}">
                <a16:creationId xmlns:a16="http://schemas.microsoft.com/office/drawing/2014/main" id="{B60762DB-7FC0-46C1-85F7-3DF10F675C85}"/>
              </a:ext>
            </a:extLst>
          </p:cNvPr>
          <p:cNvSpPr>
            <a:spLocks noGrp="1"/>
          </p:cNvSpPr>
          <p:nvPr/>
        </p:nvSpPr>
        <p:spPr>
          <a:xfrm>
            <a:off x="666750" y="3038475"/>
            <a:ext cx="5905500" cy="904875"/>
          </a:xfrm>
          <a:prstGeom prst="rect">
            <a:avLst/>
          </a:prstGeom>
          <a:noFill/>
          <a:ln w="0">
            <a:noFill/>
          </a:ln>
        </p:spPr>
        <p:txBody>
          <a:bodyPr lIns="0" tIns="0" rIns="0" bIns="0">
            <a:noAutofit/>
          </a:bodyPr>
          <a:lstStyle/>
          <a:p>
            <a:pPr>
              <a:buNone/>
              <a:defRPr sz="2175" b="0">
                <a:solidFill>
                  <a:srgbClr val="172A36"/>
                </a:solidFill>
                <a:latin typeface="Arial"/>
                <a:ea typeface="Arial"/>
                <a:cs typeface="Arial"/>
              </a:defRPr>
            </a:pPr>
            <a:r>
              <a:rPr sz="2175" b="0">
                <a:solidFill>
                  <a:srgbClr val="172A36"/>
                </a:solidFill>
                <a:latin typeface="Arial"/>
                <a:ea typeface="Arial"/>
                <a:cs typeface="Arial"/>
              </a:rPr>
              <a:t>1903</a:t>
            </a:r>
          </a:p>
          <a:p>
            <a:pPr>
              <a:buNone/>
              <a:defRPr sz="2175" b="0">
                <a:solidFill>
                  <a:srgbClr val="172A36"/>
                </a:solidFill>
                <a:latin typeface="Arial"/>
                <a:ea typeface="Arial"/>
                <a:cs typeface="Arial"/>
              </a:defRPr>
            </a:pPr>
            <a:r>
              <a:rPr sz="2175" b="0">
                <a:solidFill>
                  <a:srgbClr val="172A36"/>
                </a:solidFill>
                <a:latin typeface="Arial"/>
                <a:ea typeface="Arial"/>
                <a:cs typeface="Arial"/>
              </a:rPr>
              <a:t>Ford Motor Company founded</a:t>
            </a:r>
          </a:p>
        </p:txBody>
      </p:sp>
      <p:sp>
        <p:nvSpPr>
          <p:cNvPr id="5" name="Rectangle 4">
            <a:extLst>
              <a:ext uri="{FF2B5EF4-FFF2-40B4-BE49-F238E27FC236}">
                <a16:creationId xmlns:a16="http://schemas.microsoft.com/office/drawing/2014/main" id="{FF5B2C58-D0F1-4B39-B308-F741873A3361}"/>
              </a:ext>
            </a:extLst>
          </p:cNvPr>
          <p:cNvSpPr>
            <a:spLocks noGrp="1"/>
          </p:cNvSpPr>
          <p:nvPr/>
        </p:nvSpPr>
        <p:spPr>
          <a:xfrm>
            <a:off x="666750" y="4229100"/>
            <a:ext cx="5905500" cy="904875"/>
          </a:xfrm>
          <a:prstGeom prst="rect">
            <a:avLst/>
          </a:prstGeom>
          <a:noFill/>
          <a:ln w="0">
            <a:noFill/>
          </a:ln>
        </p:spPr>
        <p:txBody>
          <a:bodyPr lIns="0" tIns="0" rIns="0" bIns="0">
            <a:noAutofit/>
          </a:bodyPr>
          <a:lstStyle/>
          <a:p>
            <a:pPr>
              <a:buNone/>
              <a:defRPr sz="2175" b="0">
                <a:solidFill>
                  <a:srgbClr val="172A36"/>
                </a:solidFill>
                <a:latin typeface="Arial"/>
                <a:ea typeface="Arial"/>
                <a:cs typeface="Arial"/>
              </a:defRPr>
            </a:pPr>
            <a:r>
              <a:rPr sz="2175" b="0">
                <a:solidFill>
                  <a:srgbClr val="172A36"/>
                </a:solidFill>
                <a:latin typeface="Arial"/>
                <a:ea typeface="Arial"/>
                <a:cs typeface="Arial"/>
              </a:rPr>
              <a:t>1908</a:t>
            </a:r>
          </a:p>
          <a:p>
            <a:pPr>
              <a:buNone/>
              <a:defRPr sz="2175" b="0">
                <a:solidFill>
                  <a:srgbClr val="172A36"/>
                </a:solidFill>
                <a:latin typeface="Arial"/>
                <a:ea typeface="Arial"/>
                <a:cs typeface="Arial"/>
              </a:defRPr>
            </a:pPr>
            <a:r>
              <a:rPr sz="2175" b="0">
                <a:solidFill>
                  <a:srgbClr val="172A36"/>
                </a:solidFill>
                <a:latin typeface="Arial"/>
                <a:ea typeface="Arial"/>
                <a:cs typeface="Arial"/>
              </a:rPr>
              <a:t>Model T introduced</a:t>
            </a:r>
          </a:p>
        </p:txBody>
      </p:sp>
      <p:sp>
        <p:nvSpPr>
          <p:cNvPr id="6" name="Rectangle 5">
            <a:extLst>
              <a:ext uri="{FF2B5EF4-FFF2-40B4-BE49-F238E27FC236}">
                <a16:creationId xmlns:a16="http://schemas.microsoft.com/office/drawing/2014/main" id="{39EE7694-322A-4CA9-B0D8-3308AFDBE94A}"/>
              </a:ext>
            </a:extLst>
          </p:cNvPr>
          <p:cNvSpPr>
            <a:spLocks noGrp="1"/>
          </p:cNvSpPr>
          <p:nvPr/>
        </p:nvSpPr>
        <p:spPr>
          <a:xfrm>
            <a:off x="7048500" y="5772150"/>
            <a:ext cx="4524375" cy="1905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sz="1125" b="0">
                <a:solidFill>
                  <a:srgbClr val="55636A"/>
                </a:solidFill>
                <a:latin typeface="Arial"/>
                <a:ea typeface="Arial"/>
                <a:cs typeface="Arial"/>
              </a:rPr>
              <a:t>The fifteen-millionth Ford, a 1927 Model T</a:t>
            </a:r>
          </a:p>
        </p:txBody>
      </p:sp>
      <p:sp>
        <p:nvSpPr>
          <p:cNvPr id="7" name="Rectangle 6">
            <a:extLst>
              <a:ext uri="{FF2B5EF4-FFF2-40B4-BE49-F238E27FC236}">
                <a16:creationId xmlns:a16="http://schemas.microsoft.com/office/drawing/2014/main" id="{26E50122-077C-454C-8277-69B61E4FFFCF}"/>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54613D32-865B-4BCB-B76C-21092FD111E6}" type="slidenum">
              <a:rPr lang="en-US" sz="1000">
                <a:solidFill>
                  <a:srgbClr val="586A70"/>
                </a:solidFill>
              </a:rPr>
              <a:t>3</a:t>
            </a:fld>
          </a:p>
        </p:txBody>
      </p:sp>
    </p:spTree>
    <p:extLst>
      <p:ext uri="{BB962C8B-B14F-4D97-AF65-F5344CB8AC3E}">
        <p14:creationId xmlns:p14="http://schemas.microsoft.com/office/powerpoint/2010/main" val="1786085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B76465-A7C3-4765-8A6C-67BA44E92E02}"/>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Ford’s influences and collaborators</a:t>
            </a:r>
          </a:p>
        </p:txBody>
      </p:sp>
      <p:sp>
        <p:nvSpPr>
          <p:cNvPr id="2" name="Rectangle 1">
            <a:extLst>
              <a:ext uri="{FF2B5EF4-FFF2-40B4-BE49-F238E27FC236}">
                <a16:creationId xmlns:a16="http://schemas.microsoft.com/office/drawing/2014/main" id="{7668001E-5872-4691-8576-F546E67C8B78}"/>
              </a:ext>
            </a:extLst>
          </p:cNvPr>
          <p:cNvSpPr>
            <a:spLocks noGrp="1"/>
          </p:cNvSpPr>
          <p:nvPr/>
        </p:nvSpPr>
        <p:spPr>
          <a:xfrm>
            <a:off x="666750" y="1809750"/>
            <a:ext cx="5143500" cy="619125"/>
          </a:xfrm>
          <a:prstGeom prst="rect">
            <a:avLst/>
          </a:prstGeom>
          <a:noFill/>
          <a:ln w="0">
            <a:noFill/>
          </a:ln>
        </p:spPr>
        <p:txBody>
          <a:bodyPr lIns="0" tIns="0" rIns="0" bIns="0">
            <a:noAutofit/>
          </a:bodyPr>
          <a:lstStyle/>
          <a:p>
            <a:pPr>
              <a:buNone/>
              <a:defRPr sz="2325" b="1">
                <a:solidFill>
                  <a:srgbClr val="A95D35"/>
                </a:solidFill>
                <a:latin typeface="Arial"/>
                <a:ea typeface="Arial"/>
                <a:cs typeface="Arial"/>
              </a:defRPr>
            </a:pPr>
            <a:r>
              <a:rPr sz="2325" b="1">
                <a:solidFill>
                  <a:srgbClr val="A95D35"/>
                </a:solidFill>
                <a:latin typeface="Arial"/>
                <a:ea typeface="Arial"/>
                <a:cs typeface="Arial"/>
              </a:rPr>
              <a:t>Direct influences</a:t>
            </a:r>
          </a:p>
        </p:txBody>
      </p:sp>
      <p:sp>
        <p:nvSpPr>
          <p:cNvPr id="3" name="Rectangle 2">
            <a:extLst>
              <a:ext uri="{FF2B5EF4-FFF2-40B4-BE49-F238E27FC236}">
                <a16:creationId xmlns:a16="http://schemas.microsoft.com/office/drawing/2014/main" id="{A0E3F2D4-DE9E-49D3-B609-174E29447FE7}"/>
              </a:ext>
            </a:extLst>
          </p:cNvPr>
          <p:cNvSpPr>
            <a:spLocks noGrp="1"/>
          </p:cNvSpPr>
          <p:nvPr/>
        </p:nvSpPr>
        <p:spPr>
          <a:xfrm>
            <a:off x="666750" y="2638425"/>
            <a:ext cx="5048250" cy="30003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Edison encouraged Ford’s automotive work.</a:t>
            </a:r>
          </a:p>
          <a:p>
            <a:endParaRPr sz="2175" b="0">
              <a:solidFill>
                <a:srgbClr val="172A36"/>
              </a:solidFill>
              <a:latin typeface="Arial"/>
              <a:ea typeface="Arial"/>
              <a:cs typeface="Arial"/>
            </a:endParaRPr>
          </a:p>
          <a:p>
            <a:pPr algn="l">
              <a:buNone/>
              <a:defRPr sz="2100" b="0">
                <a:solidFill>
                  <a:srgbClr val="172A36"/>
                </a:solidFill>
                <a:latin typeface="Arial"/>
                <a:ea typeface="Arial"/>
                <a:cs typeface="Arial"/>
              </a:defRPr>
            </a:pPr>
            <a:r>
              <a:rPr sz="2100" b="0">
                <a:solidFill>
                  <a:srgbClr val="172A36"/>
                </a:solidFill>
                <a:latin typeface="Arial"/>
                <a:ea typeface="Arial"/>
                <a:cs typeface="Arial"/>
              </a:rPr>
              <a:t>Meatpacking suggested moving work past fixed stations.</a:t>
            </a:r>
          </a:p>
        </p:txBody>
      </p:sp>
      <p:sp>
        <p:nvSpPr>
          <p:cNvPr id="4" name="Rectangle 3">
            <a:extLst>
              <a:ext uri="{FF2B5EF4-FFF2-40B4-BE49-F238E27FC236}">
                <a16:creationId xmlns:a16="http://schemas.microsoft.com/office/drawing/2014/main" id="{8FBBE1E6-6EDD-4877-8900-B70CDAE333E1}"/>
              </a:ext>
            </a:extLst>
          </p:cNvPr>
          <p:cNvSpPr>
            <a:spLocks noGrp="1"/>
          </p:cNvSpPr>
          <p:nvPr/>
        </p:nvSpPr>
        <p:spPr>
          <a:xfrm>
            <a:off x="6286500" y="1809750"/>
            <a:ext cx="5143500" cy="619125"/>
          </a:xfrm>
          <a:prstGeom prst="rect">
            <a:avLst/>
          </a:prstGeom>
          <a:noFill/>
          <a:ln w="0">
            <a:noFill/>
          </a:ln>
        </p:spPr>
        <p:txBody>
          <a:bodyPr lIns="0" tIns="0" rIns="0" bIns="0">
            <a:noAutofit/>
          </a:bodyPr>
          <a:lstStyle/>
          <a:p>
            <a:pPr>
              <a:buNone/>
              <a:defRPr sz="2325" b="1">
                <a:solidFill>
                  <a:srgbClr val="A95D35"/>
                </a:solidFill>
                <a:latin typeface="Arial"/>
                <a:ea typeface="Arial"/>
                <a:cs typeface="Arial"/>
              </a:defRPr>
            </a:pPr>
            <a:r>
              <a:rPr sz="2325" b="1">
                <a:solidFill>
                  <a:srgbClr val="A95D35"/>
                </a:solidFill>
                <a:latin typeface="Arial"/>
                <a:ea typeface="Arial"/>
                <a:cs typeface="Arial"/>
              </a:rPr>
              <a:t>Management context</a:t>
            </a:r>
          </a:p>
        </p:txBody>
      </p:sp>
      <p:sp>
        <p:nvSpPr>
          <p:cNvPr id="5" name="Rectangle 4">
            <a:extLst>
              <a:ext uri="{FF2B5EF4-FFF2-40B4-BE49-F238E27FC236}">
                <a16:creationId xmlns:a16="http://schemas.microsoft.com/office/drawing/2014/main" id="{D746C895-E165-4FAD-81F1-C34FB9AA74C3}"/>
              </a:ext>
            </a:extLst>
          </p:cNvPr>
          <p:cNvSpPr>
            <a:spLocks noGrp="1"/>
          </p:cNvSpPr>
          <p:nvPr/>
        </p:nvSpPr>
        <p:spPr>
          <a:xfrm>
            <a:off x="6286500" y="2638425"/>
            <a:ext cx="5048250" cy="30003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Smith: division of labor</a:t>
            </a:r>
          </a:p>
          <a:p>
            <a:pPr algn="l">
              <a:defRPr sz="2100">
                <a:solidFill>
                  <a:srgbClr val="172A36"/>
                </a:solidFill>
                <a:latin typeface="Arial"/>
                <a:ea typeface="Arial"/>
                <a:cs typeface="Arial"/>
              </a:defRPr>
            </a:pPr>
            <a:r>
              <a:rPr sz="2100">
                <a:solidFill>
                  <a:srgbClr val="172A36"/>
                </a:solidFill>
                <a:latin typeface="Arial"/>
                <a:ea typeface="Arial"/>
                <a:cs typeface="Arial"/>
              </a:rPr>
              <a:t>Taylor: measured, standardized tasks</a:t>
            </a:r>
            <a:endParaRPr sz="2175" b="0">
              <a:solidFill>
                <a:srgbClr val="172A36"/>
              </a:solidFill>
              <a:latin typeface="Arial"/>
              <a:ea typeface="Arial"/>
              <a:cs typeface="Arial"/>
            </a:endParaRPr>
          </a:p>
          <a:p>
            <a:pPr>
              <a:buNone/>
              <a:defRPr sz="2175" b="0">
                <a:solidFill>
                  <a:srgbClr val="172A36"/>
                </a:solidFill>
                <a:latin typeface="Arial"/>
                <a:ea typeface="Arial"/>
                <a:cs typeface="Arial"/>
              </a:defRPr>
            </a:pPr>
            <a:endParaRPr sz="2175" b="0">
              <a:solidFill>
                <a:srgbClr val="172A36"/>
              </a:solidFill>
              <a:latin typeface="Arial"/>
              <a:ea typeface="Arial"/>
              <a:cs typeface="Arial"/>
            </a:endParaRPr>
          </a:p>
          <a:p>
            <a:pPr algn="l">
              <a:buNone/>
              <a:defRPr sz="2100" b="0">
                <a:solidFill>
                  <a:srgbClr val="172A36"/>
                </a:solidFill>
                <a:latin typeface="Arial"/>
                <a:ea typeface="Arial"/>
                <a:cs typeface="Arial"/>
              </a:defRPr>
            </a:pPr>
            <a:r>
              <a:rPr sz="2100" b="0">
                <a:solidFill>
                  <a:srgbClr val="172A36"/>
                </a:solidFill>
                <a:latin typeface="Arial"/>
                <a:ea typeface="Arial"/>
                <a:cs typeface="Arial"/>
              </a:rPr>
              <a:t>Ford’s team integrated these principles at scale.</a:t>
            </a:r>
          </a:p>
        </p:txBody>
      </p:sp>
      <p:sp>
        <p:nvSpPr>
          <p:cNvPr id="6" name="Rectangle 5">
            <a:extLst>
              <a:ext uri="{FF2B5EF4-FFF2-40B4-BE49-F238E27FC236}">
                <a16:creationId xmlns:a16="http://schemas.microsoft.com/office/drawing/2014/main" id="{A6D66A6C-8499-46B6-AA60-24291A280D21}"/>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division of labor and scientific management</a:t>
            </a:r>
          </a:p>
        </p:txBody>
      </p:sp>
      <p:sp>
        <p:nvSpPr>
          <p:cNvPr id="7" name="Rectangle 6">
            <a:extLst>
              <a:ext uri="{FF2B5EF4-FFF2-40B4-BE49-F238E27FC236}">
                <a16:creationId xmlns:a16="http://schemas.microsoft.com/office/drawing/2014/main" id="{9024E619-45CA-4A91-8537-FC788939D6B4}"/>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E98B8190-3E34-4F4F-88AA-D2D58D795209}" type="slidenum">
              <a:rPr lang="en-US" sz="1000">
                <a:solidFill>
                  <a:srgbClr val="586A70"/>
                </a:solidFill>
              </a:rPr>
              <a:t>4</a:t>
            </a:fld>
          </a:p>
        </p:txBody>
      </p:sp>
    </p:spTree>
    <p:extLst>
      <p:ext uri="{BB962C8B-B14F-4D97-AF65-F5344CB8AC3E}">
        <p14:creationId xmlns:p14="http://schemas.microsoft.com/office/powerpoint/2010/main" val="733559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F47CF67-D0CB-4A59-8F8C-A7DC37E6130B}"/>
              </a:ext>
            </a:extLst>
          </p:cNvPr>
          <p:cNvSpPr>
            <a:spLocks noGrp="1"/>
          </p:cNvSpPr>
          <p:nvPr/>
        </p:nvSpPr>
        <p:spPr>
          <a:xfrm>
            <a:off x="609600" y="457200"/>
            <a:ext cx="64770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The production system</a:t>
            </a:r>
          </a:p>
        </p:txBody>
      </p:sp>
      <p:pic>
        <p:nvPicPr>
          <p:cNvPr id="11" name="Picture 10">
            <a:extLst>
              <a:ext uri="{FF2B5EF4-FFF2-40B4-BE49-F238E27FC236}">
                <a16:creationId xmlns:a16="http://schemas.microsoft.com/office/drawing/2014/main" id="{1A4746E0-3BB9-4045-A229-4AA9B7FF74A2}"/>
              </a:ext>
            </a:extLst>
          </p:cNvPr>
          <p:cNvPicPr>
            <a:picLocks noChangeAspect="1"/>
          </p:cNvPicPr>
          <p:nvPr/>
        </p:nvPicPr>
        <p:blipFill>
          <a:blip r:embed="rId3"/>
          <a:stretch/>
        </p:blipFill>
        <p:spPr>
          <a:xfrm>
            <a:off x="7048500" y="1884263"/>
            <a:ext cx="4524375" cy="3660973"/>
          </a:xfrm>
          <a:prstGeom prst="rect">
            <a:avLst/>
          </a:prstGeom>
        </p:spPr>
      </p:pic>
      <p:sp>
        <p:nvSpPr>
          <p:cNvPr id="3" name="Rectangle 2">
            <a:extLst>
              <a:ext uri="{FF2B5EF4-FFF2-40B4-BE49-F238E27FC236}">
                <a16:creationId xmlns:a16="http://schemas.microsoft.com/office/drawing/2014/main" id="{558655D0-A0B6-4946-A014-4C77F0F68CA7}"/>
              </a:ext>
            </a:extLst>
          </p:cNvPr>
          <p:cNvSpPr>
            <a:spLocks noGrp="1"/>
          </p:cNvSpPr>
          <p:nvPr/>
        </p:nvSpPr>
        <p:spPr>
          <a:xfrm>
            <a:off x="666750" y="1847850"/>
            <a:ext cx="5905500" cy="9048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Interchangeable parts reduced fitting, rework, and dependence on craft skill.</a:t>
            </a:r>
          </a:p>
        </p:txBody>
      </p:sp>
      <p:sp>
        <p:nvSpPr>
          <p:cNvPr id="4" name="Rectangle 3">
            <a:extLst>
              <a:ext uri="{FF2B5EF4-FFF2-40B4-BE49-F238E27FC236}">
                <a16:creationId xmlns:a16="http://schemas.microsoft.com/office/drawing/2014/main" id="{70A76072-FD0F-4928-B3FE-8D4347C50392}"/>
              </a:ext>
            </a:extLst>
          </p:cNvPr>
          <p:cNvSpPr>
            <a:spLocks noGrp="1"/>
          </p:cNvSpPr>
          <p:nvPr/>
        </p:nvSpPr>
        <p:spPr>
          <a:xfrm>
            <a:off x="666750" y="2990850"/>
            <a:ext cx="5905500" cy="9048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Narrow jobs shortened training but reduced worker autonomy.</a:t>
            </a:r>
          </a:p>
        </p:txBody>
      </p:sp>
      <p:sp>
        <p:nvSpPr>
          <p:cNvPr id="5" name="Rectangle 4">
            <a:extLst>
              <a:ext uri="{FF2B5EF4-FFF2-40B4-BE49-F238E27FC236}">
                <a16:creationId xmlns:a16="http://schemas.microsoft.com/office/drawing/2014/main" id="{085429B7-31CA-45F5-B2A2-7B103E3C007D}"/>
              </a:ext>
            </a:extLst>
          </p:cNvPr>
          <p:cNvSpPr>
            <a:spLocks noGrp="1"/>
          </p:cNvSpPr>
          <p:nvPr/>
        </p:nvSpPr>
        <p:spPr>
          <a:xfrm>
            <a:off x="666750" y="4133850"/>
            <a:ext cx="5905500" cy="9048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A moving chassis coordinated task order and imposed a common pace.</a:t>
            </a:r>
          </a:p>
        </p:txBody>
      </p:sp>
      <p:sp>
        <p:nvSpPr>
          <p:cNvPr id="6" name="Rectangle 5">
            <a:extLst>
              <a:ext uri="{FF2B5EF4-FFF2-40B4-BE49-F238E27FC236}">
                <a16:creationId xmlns:a16="http://schemas.microsoft.com/office/drawing/2014/main" id="{0DE81D3F-6769-48FD-8D99-15A576F52B5C}"/>
              </a:ext>
            </a:extLst>
          </p:cNvPr>
          <p:cNvSpPr>
            <a:spLocks noGrp="1"/>
          </p:cNvSpPr>
          <p:nvPr/>
        </p:nvSpPr>
        <p:spPr>
          <a:xfrm>
            <a:off x="7048500" y="5772150"/>
            <a:ext cx="4524375" cy="1905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sz="1125" b="0">
                <a:solidFill>
                  <a:srgbClr val="55636A"/>
                </a:solidFill>
                <a:latin typeface="Arial"/>
                <a:ea typeface="Arial"/>
                <a:cs typeface="Arial"/>
              </a:rPr>
              <a:t>Tire installation at Highland Park, circa 1925</a:t>
            </a:r>
          </a:p>
        </p:txBody>
      </p:sp>
      <p:sp>
        <p:nvSpPr>
          <p:cNvPr id="7" name="Rectangle 6">
            <a:extLst>
              <a:ext uri="{FF2B5EF4-FFF2-40B4-BE49-F238E27FC236}">
                <a16:creationId xmlns:a16="http://schemas.microsoft.com/office/drawing/2014/main" id="{22D483FB-2F39-44ED-9F10-C089A2E06D69}"/>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work specialization and formalization</a:t>
            </a:r>
          </a:p>
        </p:txBody>
      </p:sp>
      <p:sp>
        <p:nvSpPr>
          <p:cNvPr id="8" name="Rectangle 7">
            <a:extLst>
              <a:ext uri="{FF2B5EF4-FFF2-40B4-BE49-F238E27FC236}">
                <a16:creationId xmlns:a16="http://schemas.microsoft.com/office/drawing/2014/main" id="{6541E51A-CF6B-45F6-8ABB-93FABFBBF1F5}"/>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4C6991D9-BE11-4347-A9DA-F5403C770917}" type="slidenum">
              <a:rPr lang="en-US" sz="1000">
                <a:solidFill>
                  <a:srgbClr val="586A70"/>
                </a:solidFill>
              </a:rPr>
              <a:t>5</a:t>
            </a:fld>
          </a:p>
        </p:txBody>
      </p:sp>
    </p:spTree>
    <p:extLst>
      <p:ext uri="{BB962C8B-B14F-4D97-AF65-F5344CB8AC3E}">
        <p14:creationId xmlns:p14="http://schemas.microsoft.com/office/powerpoint/2010/main" val="764156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5B1EA06-F5D7-4919-B118-A6FC230CDC93}"/>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Assembly time fell dramatically</a:t>
            </a:r>
          </a:p>
        </p:txBody>
      </p:sp>
      <p:sp>
        <p:nvSpPr>
          <p:cNvPr id="2" name="Rectangle 1">
            <a:extLst>
              <a:ext uri="{FF2B5EF4-FFF2-40B4-BE49-F238E27FC236}">
                <a16:creationId xmlns:a16="http://schemas.microsoft.com/office/drawing/2014/main" id="{8EF86609-EFB3-4571-AF6F-5F07EC81322E}"/>
              </a:ext>
            </a:extLst>
          </p:cNvPr>
          <p:cNvSpPr>
            <a:spLocks noGrp="1"/>
          </p:cNvSpPr>
          <p:nvPr/>
        </p:nvSpPr>
        <p:spPr>
          <a:xfrm>
            <a:off x="609600" y="1857375"/>
            <a:ext cx="10287000" cy="1428750"/>
          </a:xfrm>
          <a:prstGeom prst="rect">
            <a:avLst/>
          </a:prstGeom>
          <a:noFill/>
          <a:ln w="0">
            <a:noFill/>
          </a:ln>
        </p:spPr>
        <p:txBody>
          <a:bodyPr lIns="0" tIns="0" rIns="0" bIns="0">
            <a:noAutofit/>
          </a:bodyPr>
          <a:lstStyle/>
          <a:p>
            <a:pPr>
              <a:buNone/>
              <a:defRPr sz="4875" b="1">
                <a:solidFill>
                  <a:srgbClr val="A95D35"/>
                </a:solidFill>
                <a:latin typeface="Arial"/>
                <a:ea typeface="Arial"/>
                <a:cs typeface="Arial"/>
              </a:defRPr>
            </a:pPr>
            <a:r>
              <a:rPr sz="4875" b="1">
                <a:solidFill>
                  <a:srgbClr val="A95D35"/>
                </a:solidFill>
                <a:latin typeface="Arial"/>
                <a:ea typeface="Arial"/>
                <a:cs typeface="Arial"/>
              </a:rPr>
              <a:t>12½ hours     93 minutes</a:t>
            </a:r>
          </a:p>
        </p:txBody>
      </p:sp>
      <p:sp>
        <p:nvSpPr>
          <p:cNvPr id="3" name="Rectangle 2">
            <a:extLst>
              <a:ext uri="{FF2B5EF4-FFF2-40B4-BE49-F238E27FC236}">
                <a16:creationId xmlns:a16="http://schemas.microsoft.com/office/drawing/2014/main" id="{23FB2BC3-60A6-4E16-8056-BBE6A0F80420}"/>
              </a:ext>
            </a:extLst>
          </p:cNvPr>
          <p:cNvSpPr>
            <a:spLocks noGrp="1"/>
          </p:cNvSpPr>
          <p:nvPr/>
        </p:nvSpPr>
        <p:spPr>
          <a:xfrm>
            <a:off x="666750" y="3581400"/>
            <a:ext cx="10382250" cy="2095500"/>
          </a:xfrm>
          <a:prstGeom prst="rect">
            <a:avLst/>
          </a:prstGeom>
          <a:noFill/>
          <a:ln w="0">
            <a:noFill/>
          </a:ln>
        </p:spPr>
        <p:txBody>
          <a:bodyPr lIns="0" tIns="0" rIns="0" bIns="0">
            <a:noAutofit/>
          </a:bodyPr>
          <a:lstStyle/>
          <a:p>
            <a:pPr>
              <a:buNone/>
              <a:defRPr sz="2175" b="0">
                <a:solidFill>
                  <a:srgbClr val="172A36"/>
                </a:solidFill>
                <a:latin typeface="Arial"/>
                <a:ea typeface="Arial"/>
                <a:cs typeface="Arial"/>
              </a:defRPr>
            </a:pPr>
            <a:r>
              <a:rPr sz="2175" b="0">
                <a:solidFill>
                  <a:srgbClr val="172A36"/>
                </a:solidFill>
                <a:latin typeface="Arial"/>
                <a:ea typeface="Arial"/>
                <a:cs typeface="Arial"/>
              </a:rPr>
              <a:t>Approximate Model T chassis assembly time</a:t>
            </a:r>
          </a:p>
          <a:p>
            <a:endParaRPr sz="2175" b="0">
              <a:solidFill>
                <a:srgbClr val="172A36"/>
              </a:solidFill>
              <a:latin typeface="Arial"/>
              <a:ea typeface="Arial"/>
              <a:cs typeface="Arial"/>
            </a:endParaRPr>
          </a:p>
          <a:p>
            <a:pPr>
              <a:buNone/>
              <a:defRPr sz="2175" b="0">
                <a:solidFill>
                  <a:srgbClr val="172A36"/>
                </a:solidFill>
                <a:latin typeface="Arial"/>
                <a:ea typeface="Arial"/>
                <a:cs typeface="Arial"/>
              </a:defRPr>
            </a:pPr>
            <a:r>
              <a:rPr sz="2175" b="0">
                <a:solidFill>
                  <a:srgbClr val="172A36"/>
                </a:solidFill>
                <a:latin typeface="Arial"/>
                <a:ea typeface="Arial"/>
                <a:cs typeface="Arial"/>
              </a:rPr>
              <a:t>After the moving-line experiments of 1913–1914</a:t>
            </a:r>
          </a:p>
          <a:p>
            <a:endParaRPr sz="2175" b="0">
              <a:solidFill>
                <a:srgbClr val="172A36"/>
              </a:solidFill>
              <a:latin typeface="Arial"/>
              <a:ea typeface="Arial"/>
              <a:cs typeface="Arial"/>
            </a:endParaRPr>
          </a:p>
          <a:p>
            <a:pPr>
              <a:buNone/>
              <a:defRPr sz="2175" b="0">
                <a:solidFill>
                  <a:srgbClr val="172A36"/>
                </a:solidFill>
                <a:latin typeface="Arial"/>
                <a:ea typeface="Arial"/>
                <a:cs typeface="Arial"/>
              </a:defRPr>
            </a:pPr>
            <a:r>
              <a:rPr sz="2175" b="0">
                <a:solidFill>
                  <a:srgbClr val="172A36"/>
                </a:solidFill>
                <a:latin typeface="Arial"/>
                <a:ea typeface="Arial"/>
                <a:cs typeface="Arial"/>
              </a:rPr>
              <a:t>About 88% less elapsed assembly time</a:t>
            </a:r>
          </a:p>
        </p:txBody>
      </p:sp>
      <p:sp>
        <p:nvSpPr>
          <p:cNvPr id="4" name="Rectangle 3">
            <a:extLst>
              <a:ext uri="{FF2B5EF4-FFF2-40B4-BE49-F238E27FC236}">
                <a16:creationId xmlns:a16="http://schemas.microsoft.com/office/drawing/2014/main" id="{F1A43EBD-4A8F-4EC5-8734-7488D1FFD835}"/>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93 minutes is assembly duration, not the gap between completed vehicles</a:t>
            </a:r>
          </a:p>
        </p:txBody>
      </p:sp>
      <p:sp>
        <p:nvSpPr>
          <p:cNvPr id="5" name="Rectangle 4">
            <a:extLst>
              <a:ext uri="{FF2B5EF4-FFF2-40B4-BE49-F238E27FC236}">
                <a16:creationId xmlns:a16="http://schemas.microsoft.com/office/drawing/2014/main" id="{8907420E-61D7-44E5-B33F-6FE7C2A32BE4}"/>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794A777E-95C8-4C93-ABBC-1230457C41A0}" type="slidenum">
              <a:rPr lang="en-US" sz="1000">
                <a:solidFill>
                  <a:srgbClr val="586A70"/>
                </a:solidFill>
              </a:rPr>
              <a:t>6</a:t>
            </a:fld>
          </a:p>
        </p:txBody>
      </p:sp>
    </p:spTree>
    <p:extLst>
      <p:ext uri="{BB962C8B-B14F-4D97-AF65-F5344CB8AC3E}">
        <p14:creationId xmlns:p14="http://schemas.microsoft.com/office/powerpoint/2010/main" val="9174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74974B-3C0D-4ADB-A457-26EB25E5C667}"/>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Efficiency expanded the market</a:t>
            </a:r>
          </a:p>
        </p:txBody>
      </p:sp>
      <p:sp>
        <p:nvSpPr>
          <p:cNvPr id="2" name="Rectangle 1">
            <a:extLst>
              <a:ext uri="{FF2B5EF4-FFF2-40B4-BE49-F238E27FC236}">
                <a16:creationId xmlns:a16="http://schemas.microsoft.com/office/drawing/2014/main" id="{3151F4FE-84CF-45A1-B030-3541580D142E}"/>
              </a:ext>
            </a:extLst>
          </p:cNvPr>
          <p:cNvSpPr>
            <a:spLocks noGrp="1"/>
          </p:cNvSpPr>
          <p:nvPr/>
        </p:nvSpPr>
        <p:spPr>
          <a:xfrm>
            <a:off x="609600" y="1857375"/>
            <a:ext cx="10287000" cy="1428750"/>
          </a:xfrm>
          <a:prstGeom prst="rect">
            <a:avLst/>
          </a:prstGeom>
          <a:noFill/>
          <a:ln w="0">
            <a:noFill/>
          </a:ln>
        </p:spPr>
        <p:txBody>
          <a:bodyPr lIns="0" tIns="0" rIns="0" bIns="0">
            <a:noAutofit/>
          </a:bodyPr>
          <a:lstStyle/>
          <a:p>
            <a:pPr>
              <a:buNone/>
              <a:defRPr sz="4875" b="1">
                <a:solidFill>
                  <a:srgbClr val="A95D35"/>
                </a:solidFill>
                <a:latin typeface="Arial"/>
                <a:ea typeface="Arial"/>
                <a:cs typeface="Arial"/>
              </a:defRPr>
            </a:pPr>
            <a:r>
              <a:rPr sz="4875" b="1">
                <a:solidFill>
                  <a:srgbClr val="A95D35"/>
                </a:solidFill>
                <a:latin typeface="Arial"/>
                <a:ea typeface="Arial"/>
                <a:cs typeface="Arial"/>
              </a:rPr>
              <a:t>$850          as low as $260</a:t>
            </a:r>
          </a:p>
        </p:txBody>
      </p:sp>
      <p:sp>
        <p:nvSpPr>
          <p:cNvPr id="3" name="Rectangle 2">
            <a:extLst>
              <a:ext uri="{FF2B5EF4-FFF2-40B4-BE49-F238E27FC236}">
                <a16:creationId xmlns:a16="http://schemas.microsoft.com/office/drawing/2014/main" id="{A38CF771-E74A-4286-92BC-7BBF2DA60987}"/>
              </a:ext>
            </a:extLst>
          </p:cNvPr>
          <p:cNvSpPr>
            <a:spLocks noGrp="1"/>
          </p:cNvSpPr>
          <p:nvPr/>
        </p:nvSpPr>
        <p:spPr>
          <a:xfrm>
            <a:off x="666750" y="3581400"/>
            <a:ext cx="10382250" cy="2095500"/>
          </a:xfrm>
          <a:prstGeom prst="rect">
            <a:avLst/>
          </a:prstGeom>
          <a:noFill/>
          <a:ln w="0">
            <a:noFill/>
          </a:ln>
        </p:spPr>
        <p:txBody>
          <a:bodyPr lIns="0" tIns="0" rIns="0" bIns="0">
            <a:noAutofit/>
          </a:bodyPr>
          <a:lstStyle/>
          <a:p>
            <a:pPr>
              <a:buNone/>
              <a:defRPr sz="2175" b="0">
                <a:solidFill>
                  <a:srgbClr val="172A36"/>
                </a:solidFill>
                <a:latin typeface="Arial"/>
                <a:ea typeface="Arial"/>
                <a:cs typeface="Arial"/>
              </a:defRPr>
            </a:pPr>
            <a:r>
              <a:rPr sz="2175" b="0">
                <a:solidFill>
                  <a:srgbClr val="172A36"/>
                </a:solidFill>
                <a:latin typeface="Arial"/>
                <a:ea typeface="Arial"/>
                <a:cs typeface="Arial"/>
              </a:rPr>
              <a:t>Model T prices over its production life, in nominal dollars</a:t>
            </a:r>
          </a:p>
          <a:p>
            <a:endParaRPr sz="2175" b="0">
              <a:solidFill>
                <a:srgbClr val="172A36"/>
              </a:solidFill>
              <a:latin typeface="Arial"/>
              <a:ea typeface="Arial"/>
              <a:cs typeface="Arial"/>
            </a:endParaRPr>
          </a:p>
          <a:p>
            <a:pPr>
              <a:buNone/>
              <a:defRPr sz="2175" b="0">
                <a:solidFill>
                  <a:srgbClr val="172A36"/>
                </a:solidFill>
                <a:latin typeface="Arial"/>
                <a:ea typeface="Arial"/>
                <a:cs typeface="Arial"/>
              </a:defRPr>
            </a:pPr>
            <a:r>
              <a:rPr sz="2175" b="0">
                <a:solidFill>
                  <a:srgbClr val="172A36"/>
                </a:solidFill>
                <a:latin typeface="Arial"/>
                <a:ea typeface="Arial"/>
                <a:cs typeface="Arial"/>
              </a:rPr>
              <a:t>More than 15 million Model Ts built and sold</a:t>
            </a:r>
          </a:p>
          <a:p>
            <a:endParaRPr sz="2175" b="0">
              <a:solidFill>
                <a:srgbClr val="172A36"/>
              </a:solidFill>
              <a:latin typeface="Arial"/>
              <a:ea typeface="Arial"/>
              <a:cs typeface="Arial"/>
            </a:endParaRPr>
          </a:p>
          <a:p>
            <a:pPr>
              <a:buNone/>
              <a:defRPr sz="2175" b="0">
                <a:solidFill>
                  <a:srgbClr val="172A36"/>
                </a:solidFill>
                <a:latin typeface="Arial"/>
                <a:ea typeface="Arial"/>
                <a:cs typeface="Arial"/>
              </a:defRPr>
            </a:pPr>
            <a:r>
              <a:rPr sz="2175" b="0">
                <a:solidFill>
                  <a:srgbClr val="172A36"/>
                </a:solidFill>
                <a:latin typeface="Arial"/>
                <a:ea typeface="Arial"/>
                <a:cs typeface="Arial"/>
              </a:rPr>
              <a:t>A broad market supported a strategy built around low cost.</a:t>
            </a:r>
          </a:p>
        </p:txBody>
      </p:sp>
      <p:sp>
        <p:nvSpPr>
          <p:cNvPr id="4" name="Rectangle 3">
            <a:extLst>
              <a:ext uri="{FF2B5EF4-FFF2-40B4-BE49-F238E27FC236}">
                <a16:creationId xmlns:a16="http://schemas.microsoft.com/office/drawing/2014/main" id="{B9B5365A-B1BE-45D0-A562-00155400323A}"/>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competitive strategy and cost leadership</a:t>
            </a:r>
          </a:p>
        </p:txBody>
      </p:sp>
      <p:sp>
        <p:nvSpPr>
          <p:cNvPr id="5" name="Rectangle 4">
            <a:extLst>
              <a:ext uri="{FF2B5EF4-FFF2-40B4-BE49-F238E27FC236}">
                <a16:creationId xmlns:a16="http://schemas.microsoft.com/office/drawing/2014/main" id="{75754E9C-ACCB-407C-B099-FBEF85AD306D}"/>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F55A104A-B7ED-4932-AFCA-19DD42D6217C}" type="slidenum">
              <a:rPr lang="en-US" sz="1000">
                <a:solidFill>
                  <a:srgbClr val="586A70"/>
                </a:solidFill>
              </a:rPr>
              <a:t>7</a:t>
            </a:fld>
          </a:p>
        </p:txBody>
      </p:sp>
    </p:spTree>
    <p:extLst>
      <p:ext uri="{BB962C8B-B14F-4D97-AF65-F5344CB8AC3E}">
        <p14:creationId xmlns:p14="http://schemas.microsoft.com/office/powerpoint/2010/main" val="815203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DBF4FB-8570-447B-9978-56DBD7A57429}"/>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Fordism as a management system</a:t>
            </a:r>
          </a:p>
        </p:txBody>
      </p:sp>
      <p:sp>
        <p:nvSpPr>
          <p:cNvPr id="2" name="Rectangle 1">
            <a:extLst>
              <a:ext uri="{FF2B5EF4-FFF2-40B4-BE49-F238E27FC236}">
                <a16:creationId xmlns:a16="http://schemas.microsoft.com/office/drawing/2014/main" id="{8A942F9A-7D52-48AF-9822-DC3D51CAF0DF}"/>
              </a:ext>
            </a:extLst>
          </p:cNvPr>
          <p:cNvSpPr>
            <a:spLocks noGrp="1"/>
          </p:cNvSpPr>
          <p:nvPr/>
        </p:nvSpPr>
        <p:spPr>
          <a:xfrm>
            <a:off x="666750" y="1809750"/>
            <a:ext cx="5143500" cy="619125"/>
          </a:xfrm>
          <a:prstGeom prst="rect">
            <a:avLst/>
          </a:prstGeom>
          <a:noFill/>
          <a:ln w="0">
            <a:noFill/>
          </a:ln>
        </p:spPr>
        <p:txBody>
          <a:bodyPr lIns="0" tIns="0" rIns="0" bIns="0">
            <a:noAutofit/>
          </a:bodyPr>
          <a:lstStyle/>
          <a:p>
            <a:pPr>
              <a:buNone/>
              <a:defRPr sz="2325" b="1">
                <a:solidFill>
                  <a:srgbClr val="A95D35"/>
                </a:solidFill>
                <a:latin typeface="Arial"/>
                <a:ea typeface="Arial"/>
                <a:cs typeface="Arial"/>
              </a:defRPr>
            </a:pPr>
            <a:r>
              <a:rPr sz="2325" b="1">
                <a:solidFill>
                  <a:srgbClr val="A95D35"/>
                </a:solidFill>
                <a:latin typeface="Arial"/>
                <a:ea typeface="Arial"/>
                <a:cs typeface="Arial"/>
              </a:rPr>
              <a:t>Reinforcing decisions</a:t>
            </a:r>
          </a:p>
        </p:txBody>
      </p:sp>
      <p:sp>
        <p:nvSpPr>
          <p:cNvPr id="3" name="Rectangle 2">
            <a:extLst>
              <a:ext uri="{FF2B5EF4-FFF2-40B4-BE49-F238E27FC236}">
                <a16:creationId xmlns:a16="http://schemas.microsoft.com/office/drawing/2014/main" id="{5E7EC10D-EDDF-415F-86CC-EFEE30EFE1F4}"/>
              </a:ext>
            </a:extLst>
          </p:cNvPr>
          <p:cNvSpPr>
            <a:spLocks noGrp="1"/>
          </p:cNvSpPr>
          <p:nvPr/>
        </p:nvSpPr>
        <p:spPr>
          <a:xfrm>
            <a:off x="666750" y="2638425"/>
            <a:ext cx="5048250" cy="30003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A standard product simplifies repeated tasks.</a:t>
            </a:r>
          </a:p>
          <a:p>
            <a:endParaRPr sz="2175" b="0">
              <a:solidFill>
                <a:srgbClr val="172A36"/>
              </a:solidFill>
              <a:latin typeface="Arial"/>
              <a:ea typeface="Arial"/>
              <a:cs typeface="Arial"/>
            </a:endParaRPr>
          </a:p>
          <a:p>
            <a:pPr algn="l">
              <a:buNone/>
              <a:defRPr sz="2100" b="0">
                <a:solidFill>
                  <a:srgbClr val="172A36"/>
                </a:solidFill>
                <a:latin typeface="Arial"/>
                <a:ea typeface="Arial"/>
                <a:cs typeface="Arial"/>
              </a:defRPr>
            </a:pPr>
            <a:r>
              <a:rPr sz="2100" b="0">
                <a:solidFill>
                  <a:srgbClr val="172A36"/>
                </a:solidFill>
                <a:latin typeface="Arial"/>
                <a:ea typeface="Arial"/>
                <a:cs typeface="Arial"/>
              </a:rPr>
              <a:t>High sales volume spreads factory costs across more units.</a:t>
            </a:r>
          </a:p>
        </p:txBody>
      </p:sp>
      <p:sp>
        <p:nvSpPr>
          <p:cNvPr id="4" name="Rectangle 3">
            <a:extLst>
              <a:ext uri="{FF2B5EF4-FFF2-40B4-BE49-F238E27FC236}">
                <a16:creationId xmlns:a16="http://schemas.microsoft.com/office/drawing/2014/main" id="{A9C13060-F0FC-4232-A3E5-BA197FDF140F}"/>
              </a:ext>
            </a:extLst>
          </p:cNvPr>
          <p:cNvSpPr>
            <a:spLocks noGrp="1"/>
          </p:cNvSpPr>
          <p:nvPr/>
        </p:nvSpPr>
        <p:spPr>
          <a:xfrm>
            <a:off x="6286500" y="1809750"/>
            <a:ext cx="5143500" cy="619125"/>
          </a:xfrm>
          <a:prstGeom prst="rect">
            <a:avLst/>
          </a:prstGeom>
          <a:noFill/>
          <a:ln w="0">
            <a:noFill/>
          </a:ln>
        </p:spPr>
        <p:txBody>
          <a:bodyPr lIns="0" tIns="0" rIns="0" bIns="0">
            <a:noAutofit/>
          </a:bodyPr>
          <a:lstStyle/>
          <a:p>
            <a:pPr>
              <a:buNone/>
              <a:defRPr sz="2325" b="1">
                <a:solidFill>
                  <a:srgbClr val="A95D35"/>
                </a:solidFill>
                <a:latin typeface="Arial"/>
                <a:ea typeface="Arial"/>
                <a:cs typeface="Arial"/>
              </a:defRPr>
            </a:pPr>
            <a:r>
              <a:rPr sz="2325" b="1">
                <a:solidFill>
                  <a:srgbClr val="A95D35"/>
                </a:solidFill>
                <a:latin typeface="Arial"/>
                <a:ea typeface="Arial"/>
                <a:cs typeface="Arial"/>
              </a:rPr>
              <a:t>The system depends on people</a:t>
            </a:r>
          </a:p>
        </p:txBody>
      </p:sp>
      <p:sp>
        <p:nvSpPr>
          <p:cNvPr id="5" name="Rectangle 4">
            <a:extLst>
              <a:ext uri="{FF2B5EF4-FFF2-40B4-BE49-F238E27FC236}">
                <a16:creationId xmlns:a16="http://schemas.microsoft.com/office/drawing/2014/main" id="{0DC1444F-8269-4533-AD03-DB3FB637EA6F}"/>
              </a:ext>
            </a:extLst>
          </p:cNvPr>
          <p:cNvSpPr>
            <a:spLocks noGrp="1"/>
          </p:cNvSpPr>
          <p:nvPr/>
        </p:nvSpPr>
        <p:spPr>
          <a:xfrm>
            <a:off x="6286500" y="2638425"/>
            <a:ext cx="5048250" cy="30003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Lower costs can support lower prices and wider demand.</a:t>
            </a:r>
          </a:p>
          <a:p>
            <a:endParaRPr sz="2175" b="0">
              <a:solidFill>
                <a:srgbClr val="172A36"/>
              </a:solidFill>
              <a:latin typeface="Arial"/>
              <a:ea typeface="Arial"/>
              <a:cs typeface="Arial"/>
            </a:endParaRPr>
          </a:p>
          <a:p>
            <a:pPr algn="l">
              <a:buNone/>
              <a:defRPr sz="2100" b="0">
                <a:solidFill>
                  <a:srgbClr val="172A36"/>
                </a:solidFill>
                <a:latin typeface="Arial"/>
                <a:ea typeface="Arial"/>
                <a:cs typeface="Arial"/>
              </a:defRPr>
            </a:pPr>
            <a:r>
              <a:rPr sz="2100" b="0">
                <a:solidFill>
                  <a:srgbClr val="172A36"/>
                </a:solidFill>
                <a:latin typeface="Arial"/>
                <a:ea typeface="Arial"/>
                <a:cs typeface="Arial"/>
              </a:rPr>
              <a:t>Turnover interrupts the flow. Changing tastes challenge standardization.</a:t>
            </a:r>
          </a:p>
        </p:txBody>
      </p:sp>
      <p:sp>
        <p:nvSpPr>
          <p:cNvPr id="6" name="Rectangle 5">
            <a:extLst>
              <a:ext uri="{FF2B5EF4-FFF2-40B4-BE49-F238E27FC236}">
                <a16:creationId xmlns:a16="http://schemas.microsoft.com/office/drawing/2014/main" id="{4F8902AC-8FE5-4967-ACF9-84DA4F0F00E3}"/>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systems thinking and organizational design</a:t>
            </a:r>
          </a:p>
        </p:txBody>
      </p:sp>
      <p:sp>
        <p:nvSpPr>
          <p:cNvPr id="7" name="Rectangle 6">
            <a:extLst>
              <a:ext uri="{FF2B5EF4-FFF2-40B4-BE49-F238E27FC236}">
                <a16:creationId xmlns:a16="http://schemas.microsoft.com/office/drawing/2014/main" id="{799B427D-6963-4D62-971F-428492AF43CE}"/>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36AD6155-6010-467F-9E77-3062A3CF7BFC}" type="slidenum">
              <a:rPr lang="en-US" sz="1000">
                <a:solidFill>
                  <a:srgbClr val="586A70"/>
                </a:solidFill>
              </a:rPr>
              <a:t>8</a:t>
            </a:fld>
          </a:p>
        </p:txBody>
      </p:sp>
    </p:spTree>
    <p:extLst>
      <p:ext uri="{BB962C8B-B14F-4D97-AF65-F5344CB8AC3E}">
        <p14:creationId xmlns:p14="http://schemas.microsoft.com/office/powerpoint/2010/main" val="1151697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914400"/>
          </a:xfrm>
          <a:prstGeom prst="rect">
            <a:avLst/>
          </a:prstGeom>
          <a:noFill/>
        </p:spPr>
        <p:txBody>
          <a:bodyPr wrap="square" lIns="109728" tIns="91440" rIns="109728">
            <a:spAutoFit/>
          </a:bodyPr>
          <a:lstStyle/>
          <a:p>
            <a:pPr>
              <a:spcAft>
                <a:spcPts val="1000"/>
              </a:spcAft>
              <a:defRPr sz="3100" b="1">
                <a:solidFill>
                  <a:srgbClr val="17303B"/>
                </a:solidFill>
                <a:latin typeface="Aptos"/>
              </a:defRPr>
            </a:pPr>
            <a:r>
              <a:t>Women at Ford: factory work and pay</a:t>
            </a:r>
          </a:p>
        </p:txBody>
      </p:sp>
      <p:sp>
        <p:nvSpPr>
          <p:cNvPr id="3" name="TextBox 2"/>
          <p:cNvSpPr txBox="1"/>
          <p:nvPr/>
        </p:nvSpPr>
        <p:spPr>
          <a:xfrm>
            <a:off x="640080" y="6080760"/>
            <a:ext cx="10789920" cy="329184"/>
          </a:xfrm>
          <a:prstGeom prst="rect">
            <a:avLst/>
          </a:prstGeom>
          <a:noFill/>
        </p:spPr>
        <p:txBody>
          <a:bodyPr wrap="square" lIns="109728" tIns="91440" rIns="109728" bIns="45720" anchor="t">
            <a:spAutoFit/>
          </a:bodyPr>
          <a:lstStyle/>
          <a:p>
            <a:pPr>
              <a:spcAft>
                <a:spcPts val="1000"/>
              </a:spcAft>
              <a:defRPr sz="1200" b="0">
                <a:solidFill>
                  <a:srgbClr val="B65B2C"/>
                </a:solidFill>
                <a:latin typeface="Aptos"/>
              </a:defRPr>
            </a:pPr>
            <a:r>
              <a:t>Job design and compensation shaped the experience of factory life.</a:t>
            </a:r>
          </a:p>
        </p:txBody>
      </p:sp>
      <p:sp>
        <p:nvSpPr>
          <p:cNvPr id="5" name="TextBox 4"/>
          <p:cNvSpPr txBox="1"/>
          <p:nvPr/>
        </p:nvSpPr>
        <p:spPr>
          <a:xfrm>
            <a:off x="11384280" y="6419088"/>
            <a:ext cx="457200" cy="274320"/>
          </a:xfrm>
          <a:prstGeom prst="rect">
            <a:avLst/>
          </a:prstGeom>
          <a:noFill/>
        </p:spPr>
        <p:txBody>
          <a:bodyPr wrap="square" lIns="109728" tIns="91440" rIns="109728">
            <a:spAutoFit/>
          </a:bodyPr>
          <a:lstStyle/>
          <a:p>
            <a:pPr>
              <a:spcAft>
                <a:spcPts val="1000"/>
              </a:spcAft>
              <a:defRPr sz="1000" b="0">
                <a:solidFill>
                  <a:srgbClr val="586A70"/>
                </a:solidFill>
                <a:latin typeface="Aptos"/>
              </a:defRPr>
            </a:pPr>
            <a:fld id="{4F77F090-287F-4E0F-8CEA-E07D99A99526}" type="slidenum">
              <a:rPr lang="en-US" sz="1000">
                <a:solidFill>
                  <a:srgbClr val="586A70"/>
                </a:solidFill>
              </a:rPr>
              <a:t>9</a:t>
            </a:fld>
          </a:p>
        </p:txBody>
      </p:sp>
      <p:sp>
        <p:nvSpPr>
          <p:cNvPr id="6" name="TextBox 5"/>
          <p:cNvSpPr txBox="1"/>
          <p:nvPr/>
        </p:nvSpPr>
        <p:spPr>
          <a:xfrm>
            <a:off x="731520" y="1737360"/>
            <a:ext cx="3566160" cy="548640"/>
          </a:xfrm>
          <a:prstGeom prst="rect">
            <a:avLst/>
          </a:prstGeom>
          <a:noFill/>
        </p:spPr>
        <p:txBody>
          <a:bodyPr wrap="square" lIns="109728" tIns="91440" rIns="109728">
            <a:spAutoFit/>
          </a:bodyPr>
          <a:lstStyle/>
          <a:p>
            <a:pPr>
              <a:spcAft>
                <a:spcPts val="1000"/>
              </a:spcAft>
              <a:defRPr sz="1900" b="1">
                <a:solidFill>
                  <a:srgbClr val="B65B2C"/>
                </a:solidFill>
                <a:latin typeface="Aptos"/>
              </a:defRPr>
            </a:pPr>
            <a:r>
              <a:t>WORK</a:t>
            </a:r>
          </a:p>
        </p:txBody>
      </p:sp>
      <p:sp>
        <p:nvSpPr>
          <p:cNvPr id="7" name="Rounded Rectangle 6"/>
          <p:cNvSpPr/>
          <p:nvPr/>
        </p:nvSpPr>
        <p:spPr>
          <a:xfrm>
            <a:off x="731520" y="2468880"/>
            <a:ext cx="3566160" cy="214884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ctr">
              <a:spcAft>
                <a:spcPts val="1000"/>
              </a:spcAft>
              <a:defRPr sz="2500" b="0">
                <a:solidFill>
                  <a:srgbClr val="17303B"/>
                </a:solidFill>
                <a:latin typeface="Aptos"/>
              </a:defRPr>
            </a:pPr>
            <a:r>
              <a:t>By circa 1913, women made magneto components at Highland Park.</a:t>
            </a:r>
          </a:p>
        </p:txBody>
      </p:sp>
      <p:sp>
        <p:nvSpPr>
          <p:cNvPr id="8" name="TextBox 7"/>
          <p:cNvSpPr txBox="1"/>
          <p:nvPr/>
        </p:nvSpPr>
        <p:spPr>
          <a:xfrm>
            <a:off x="4526280" y="1737360"/>
            <a:ext cx="3566160" cy="548640"/>
          </a:xfrm>
          <a:prstGeom prst="rect">
            <a:avLst/>
          </a:prstGeom>
          <a:noFill/>
        </p:spPr>
        <p:txBody>
          <a:bodyPr wrap="square" lIns="109728" tIns="91440" rIns="109728">
            <a:spAutoFit/>
          </a:bodyPr>
          <a:lstStyle/>
          <a:p>
            <a:pPr>
              <a:spcAft>
                <a:spcPts val="1000"/>
              </a:spcAft>
              <a:defRPr sz="1900" b="1">
                <a:solidFill>
                  <a:srgbClr val="B65B2C"/>
                </a:solidFill>
                <a:latin typeface="Aptos"/>
              </a:defRPr>
            </a:pPr>
            <a:r>
              <a:t>FACTORY LIFE</a:t>
            </a:r>
          </a:p>
        </p:txBody>
      </p:sp>
      <p:sp>
        <p:nvSpPr>
          <p:cNvPr id="9" name="Rounded Rectangle 8"/>
          <p:cNvSpPr/>
          <p:nvPr/>
        </p:nvSpPr>
        <p:spPr>
          <a:xfrm>
            <a:off x="4526280" y="2468880"/>
            <a:ext cx="3566160" cy="214884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ctr">
              <a:spcAft>
                <a:spcPts val="1000"/>
              </a:spcAft>
              <a:defRPr sz="2500" b="0">
                <a:solidFill>
                  <a:srgbClr val="17303B"/>
                </a:solidFill>
                <a:latin typeface="Aptos"/>
              </a:defRPr>
            </a:pPr>
            <a:r>
              <a:t>Specialized, repeatable tasks within a closely managed production system.</a:t>
            </a:r>
          </a:p>
        </p:txBody>
      </p:sp>
      <p:sp>
        <p:nvSpPr>
          <p:cNvPr id="10" name="TextBox 9"/>
          <p:cNvSpPr txBox="1"/>
          <p:nvPr/>
        </p:nvSpPr>
        <p:spPr>
          <a:xfrm>
            <a:off x="8321040" y="1737360"/>
            <a:ext cx="3566160" cy="548640"/>
          </a:xfrm>
          <a:prstGeom prst="rect">
            <a:avLst/>
          </a:prstGeom>
          <a:noFill/>
        </p:spPr>
        <p:txBody>
          <a:bodyPr wrap="square" lIns="109728" tIns="91440" rIns="109728">
            <a:spAutoFit/>
          </a:bodyPr>
          <a:lstStyle/>
          <a:p>
            <a:pPr>
              <a:spcAft>
                <a:spcPts val="1000"/>
              </a:spcAft>
              <a:defRPr sz="1900" b="1">
                <a:solidFill>
                  <a:srgbClr val="B65B2C"/>
                </a:solidFill>
                <a:latin typeface="Aptos"/>
              </a:defRPr>
            </a:pPr>
            <a:r>
              <a:t>PAY ACCESS</a:t>
            </a:r>
          </a:p>
        </p:txBody>
      </p:sp>
      <p:sp>
        <p:nvSpPr>
          <p:cNvPr id="11" name="Rounded Rectangle 10"/>
          <p:cNvSpPr/>
          <p:nvPr/>
        </p:nvSpPr>
        <p:spPr>
          <a:xfrm>
            <a:off x="8321040" y="2468880"/>
            <a:ext cx="3566160" cy="214884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ctr">
              <a:spcAft>
                <a:spcPts val="1000"/>
              </a:spcAft>
              <a:defRPr sz="2500" b="0">
                <a:solidFill>
                  <a:srgbClr val="17303B"/>
                </a:solidFill>
                <a:latin typeface="Aptos"/>
              </a:defRPr>
            </a:pPr>
            <a:r>
              <a:t>Early profit sharing was conditional. Broader pay access followed in 1916.</a:t>
            </a:r>
          </a:p>
        </p:txBody>
      </p:sp>
      <p:sp>
        <p:nvSpPr>
          <p:cNvPr id="12" name="TextBox 11"/>
          <p:cNvSpPr txBox="1"/>
          <p:nvPr/>
        </p:nvSpPr>
        <p:spPr>
          <a:xfrm>
            <a:off x="777240" y="5074920"/>
            <a:ext cx="10607040" cy="594360"/>
          </a:xfrm>
          <a:prstGeom prst="rect">
            <a:avLst/>
          </a:prstGeom>
          <a:noFill/>
        </p:spPr>
        <p:txBody>
          <a:bodyPr wrap="square" lIns="109728" tIns="91440" rIns="109728">
            <a:spAutoFit/>
          </a:bodyPr>
          <a:lstStyle/>
          <a:p>
            <a:pPr>
              <a:spcAft>
                <a:spcPts val="1000"/>
              </a:spcAft>
              <a:defRPr sz="2200" b="0">
                <a:solidFill>
                  <a:srgbClr val="17303B"/>
                </a:solidFill>
                <a:latin typeface="Aptos"/>
              </a:defRPr>
            </a:pPr>
            <a:r>
              <a:t>Women’s factory employment preceded World War II. Pay access was conditional.</a:t>
            </a:r>
          </a:p>
        </p:txBody>
      </p:sp>
    </p:spTree>
    <p:extLst>
      <p:ext uri="{BB962C8B-B14F-4D97-AF65-F5344CB8AC3E}">
        <p14:creationId xmlns:p14="http://schemas.microsoft.com/office/powerpoint/2010/main" val="2096857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914400"/>
          </a:xfrm>
          <a:prstGeom prst="rect">
            <a:avLst/>
          </a:prstGeom>
          <a:noFill/>
        </p:spPr>
        <p:txBody>
          <a:bodyPr wrap="square" lIns="109728" tIns="91440" rIns="109728">
            <a:spAutoFit/>
          </a:bodyPr>
          <a:lstStyle/>
          <a:p>
            <a:pPr>
              <a:spcAft>
                <a:spcPts val="1000"/>
              </a:spcAft>
              <a:defRPr sz="3100" b="1">
                <a:solidFill>
                  <a:srgbClr val="17303B"/>
                </a:solidFill>
                <a:latin typeface="Aptos"/>
              </a:defRPr>
            </a:pPr>
            <a:r>
              <a:t>How Ford managed women’s employment</a:t>
            </a:r>
          </a:p>
        </p:txBody>
      </p:sp>
      <p:sp>
        <p:nvSpPr>
          <p:cNvPr id="5" name="TextBox 4"/>
          <p:cNvSpPr txBox="1"/>
          <p:nvPr/>
        </p:nvSpPr>
        <p:spPr>
          <a:xfrm>
            <a:off x="11384280" y="6419088"/>
            <a:ext cx="457200" cy="274320"/>
          </a:xfrm>
          <a:prstGeom prst="rect">
            <a:avLst/>
          </a:prstGeom>
          <a:noFill/>
        </p:spPr>
        <p:txBody>
          <a:bodyPr wrap="square" lIns="109728" tIns="91440" rIns="109728">
            <a:spAutoFit/>
          </a:bodyPr>
          <a:lstStyle/>
          <a:p>
            <a:pPr>
              <a:spcAft>
                <a:spcPts val="1000"/>
              </a:spcAft>
              <a:defRPr sz="1000" b="0">
                <a:solidFill>
                  <a:srgbClr val="586A70"/>
                </a:solidFill>
                <a:latin typeface="Aptos"/>
              </a:defRPr>
            </a:pPr>
            <a:fld id="{084C5BC2-B32E-4B41-8628-260745D0579A}" type="slidenum">
              <a:rPr lang="en-US" sz="1000">
                <a:solidFill>
                  <a:srgbClr val="586A70"/>
                </a:solidFill>
              </a:rPr>
              <a:t>10</a:t>
            </a:fld>
          </a:p>
        </p:txBody>
      </p:sp>
      <p:sp>
        <p:nvSpPr>
          <p:cNvPr id="6" name="TextBox 5"/>
          <p:cNvSpPr txBox="1"/>
          <p:nvPr/>
        </p:nvSpPr>
        <p:spPr>
          <a:xfrm>
            <a:off x="731520" y="1691640"/>
            <a:ext cx="5394960" cy="594360"/>
          </a:xfrm>
          <a:prstGeom prst="rect">
            <a:avLst/>
          </a:prstGeom>
          <a:noFill/>
        </p:spPr>
        <p:txBody>
          <a:bodyPr wrap="square" lIns="109728" tIns="91440" rIns="109728">
            <a:spAutoFit/>
          </a:bodyPr>
          <a:lstStyle/>
          <a:p>
            <a:pPr>
              <a:spcAft>
                <a:spcPts val="1000"/>
              </a:spcAft>
              <a:defRPr sz="2300" b="1">
                <a:solidFill>
                  <a:srgbClr val="B65B2C"/>
                </a:solidFill>
                <a:latin typeface="Aptos"/>
              </a:defRPr>
            </a:pPr>
            <a:r>
              <a:t>ORGANIZE THE WORK</a:t>
            </a:r>
          </a:p>
        </p:txBody>
      </p:sp>
      <p:sp>
        <p:nvSpPr>
          <p:cNvPr id="7" name="Rounded Rectangle 6"/>
          <p:cNvSpPr/>
          <p:nvPr/>
        </p:nvSpPr>
        <p:spPr>
          <a:xfrm>
            <a:off x="731520" y="2423160"/>
            <a:ext cx="5303520" cy="164592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ctr">
              <a:spcAft>
                <a:spcPts val="1000"/>
              </a:spcAft>
              <a:defRPr sz="2500" b="0">
                <a:solidFill>
                  <a:srgbClr val="17303B"/>
                </a:solidFill>
                <a:latin typeface="Aptos"/>
              </a:defRPr>
            </a:pPr>
            <a:r>
              <a:t>Standardized tasks</a:t>
            </a:r>
          </a:p>
          <a:p>
            <a:pPr>
              <a:spcAft>
                <a:spcPts val="1000"/>
              </a:spcAft>
              <a:defRPr sz="2500" b="0">
                <a:solidFill>
                  <a:srgbClr val="17303B"/>
                </a:solidFill>
                <a:latin typeface="Aptos"/>
              </a:defRPr>
            </a:pPr>
            <a:r>
              <a:t>Company-defined jobs and rules</a:t>
            </a:r>
          </a:p>
        </p:txBody>
      </p:sp>
      <p:sp>
        <p:nvSpPr>
          <p:cNvPr id="8" name="TextBox 7"/>
          <p:cNvSpPr txBox="1"/>
          <p:nvPr/>
        </p:nvSpPr>
        <p:spPr>
          <a:xfrm>
            <a:off x="6446520" y="1691640"/>
            <a:ext cx="5394960" cy="594360"/>
          </a:xfrm>
          <a:prstGeom prst="rect">
            <a:avLst/>
          </a:prstGeom>
          <a:noFill/>
        </p:spPr>
        <p:txBody>
          <a:bodyPr wrap="square" lIns="109728" tIns="91440" rIns="109728">
            <a:spAutoFit/>
          </a:bodyPr>
          <a:lstStyle/>
          <a:p>
            <a:pPr>
              <a:spcAft>
                <a:spcPts val="1000"/>
              </a:spcAft>
              <a:defRPr sz="2300" b="1">
                <a:solidFill>
                  <a:srgbClr val="B65B2C"/>
                </a:solidFill>
                <a:latin typeface="Aptos"/>
              </a:defRPr>
            </a:pPr>
            <a:r>
              <a:t>REGULATE ACCESS</a:t>
            </a:r>
          </a:p>
        </p:txBody>
      </p:sp>
      <p:sp>
        <p:nvSpPr>
          <p:cNvPr id="9" name="Rounded Rectangle 8"/>
          <p:cNvSpPr/>
          <p:nvPr/>
        </p:nvSpPr>
        <p:spPr>
          <a:xfrm>
            <a:off x="6446520" y="2423160"/>
            <a:ext cx="5303520" cy="164592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ctr">
              <a:spcAft>
                <a:spcPts val="1000"/>
              </a:spcAft>
              <a:defRPr sz="2500" b="0">
                <a:solidFill>
                  <a:srgbClr val="17303B"/>
                </a:solidFill>
                <a:latin typeface="Aptos"/>
              </a:defRPr>
            </a:pPr>
            <a:r>
              <a:t>Family status shaped eligibility</a:t>
            </a:r>
          </a:p>
          <a:p>
            <a:pPr>
              <a:spcAft>
                <a:spcPts val="1000"/>
              </a:spcAft>
              <a:defRPr sz="2500" b="0">
                <a:solidFill>
                  <a:srgbClr val="17303B"/>
                </a:solidFill>
                <a:latin typeface="Aptos"/>
              </a:defRPr>
            </a:pPr>
            <a:r>
              <a:t>Ford reported 82 dismissals in 1919</a:t>
            </a:r>
          </a:p>
        </p:txBody>
      </p:sp>
      <p:sp>
        <p:nvSpPr>
          <p:cNvPr id="10" name="TextBox 9"/>
          <p:cNvSpPr txBox="1"/>
          <p:nvPr/>
        </p:nvSpPr>
        <p:spPr>
          <a:xfrm>
            <a:off x="777240" y="4434840"/>
            <a:ext cx="10652760" cy="1051560"/>
          </a:xfrm>
          <a:prstGeom prst="rect">
            <a:avLst/>
          </a:prstGeom>
          <a:noFill/>
        </p:spPr>
        <p:txBody>
          <a:bodyPr wrap="square" lIns="109728" tIns="91440" rIns="109728">
            <a:spAutoFit/>
          </a:bodyPr>
          <a:lstStyle/>
          <a:p>
            <a:pPr>
              <a:spcAft>
                <a:spcPts val="1000"/>
              </a:spcAft>
              <a:defRPr sz="2200" b="0">
                <a:solidFill>
                  <a:srgbClr val="17303B"/>
                </a:solidFill>
                <a:latin typeface="Aptos"/>
              </a:defRPr>
            </a:pPr>
            <a:r>
              <a:t>His account says the women were dismissed because their husbands worked.</a:t>
            </a:r>
          </a:p>
          <a:p>
            <a:pPr>
              <a:spcAft>
                <a:spcPts val="1000"/>
              </a:spcAft>
              <a:defRPr sz="2200" b="0">
                <a:solidFill>
                  <a:srgbClr val="17303B"/>
                </a:solidFill>
                <a:latin typeface="Aptos"/>
              </a:defRPr>
            </a:pPr>
            <a:r>
              <a:t>Later wartime hiring widened roles at Willow Run; it did not prove equal opportunity.</a:t>
            </a:r>
          </a:p>
        </p:txBody>
      </p:sp>
    </p:spTree>
    <p:extLst>
      <p:ext uri="{BB962C8B-B14F-4D97-AF65-F5344CB8AC3E}">
        <p14:creationId xmlns:p14="http://schemas.microsoft.com/office/powerpoint/2010/main" val="1930188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C67E375-D222-427B-9AEF-93428A4AFB10}"/>
              </a:ext>
            </a:extLst>
          </p:cNvPr>
          <p:cNvSpPr>
            <a:spLocks noGrp="1"/>
          </p:cNvSpPr>
          <p:nvPr/>
        </p:nvSpPr>
        <p:spPr>
          <a:xfrm>
            <a:off x="609600" y="457200"/>
            <a:ext cx="64770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The staffing problem</a:t>
            </a:r>
          </a:p>
        </p:txBody>
      </p:sp>
      <p:pic>
        <p:nvPicPr>
          <p:cNvPr id="11" name="Picture 10">
            <a:extLst>
              <a:ext uri="{FF2B5EF4-FFF2-40B4-BE49-F238E27FC236}">
                <a16:creationId xmlns:a16="http://schemas.microsoft.com/office/drawing/2014/main" id="{CA3DECE5-49AE-4C65-A2C1-F7C5003E6CDF}"/>
              </a:ext>
            </a:extLst>
          </p:cNvPr>
          <p:cNvPicPr>
            <a:picLocks noChangeAspect="1"/>
          </p:cNvPicPr>
          <p:nvPr/>
        </p:nvPicPr>
        <p:blipFill>
          <a:blip r:embed="rId3"/>
          <a:stretch/>
        </p:blipFill>
        <p:spPr>
          <a:xfrm>
            <a:off x="8058575" y="1714500"/>
            <a:ext cx="2504225" cy="4000500"/>
          </a:xfrm>
          <a:prstGeom prst="rect">
            <a:avLst/>
          </a:prstGeom>
        </p:spPr>
      </p:pic>
      <p:sp>
        <p:nvSpPr>
          <p:cNvPr id="3" name="Rectangle 2">
            <a:extLst>
              <a:ext uri="{FF2B5EF4-FFF2-40B4-BE49-F238E27FC236}">
                <a16:creationId xmlns:a16="http://schemas.microsoft.com/office/drawing/2014/main" id="{A2EE4D0D-6158-4BAA-B48A-7F92098B976D}"/>
              </a:ext>
            </a:extLst>
          </p:cNvPr>
          <p:cNvSpPr>
            <a:spLocks noGrp="1"/>
          </p:cNvSpPr>
          <p:nvPr/>
        </p:nvSpPr>
        <p:spPr>
          <a:xfrm>
            <a:off x="666750" y="1847850"/>
            <a:ext cx="5905500" cy="904875"/>
          </a:xfrm>
          <a:prstGeom prst="rect">
            <a:avLst/>
          </a:prstGeom>
          <a:noFill/>
          <a:ln w="0">
            <a:noFill/>
          </a:ln>
        </p:spPr>
        <p:txBody>
          <a:bodyPr lIns="0" tIns="0" rIns="0" bIns="0" anchor="t">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defRPr sz="2100" b="0">
                <a:solidFill>
                  <a:srgbClr val="172A36"/>
                </a:solidFill>
                <a:latin typeface="Arial"/>
                <a:ea typeface="Arial"/>
                <a:cs typeface="Arial"/>
              </a:defRPr>
            </a:pPr>
            <a:r>
              <a:rPr sz="2100" b="0">
                <a:solidFill>
                  <a:srgbClr val="172A36"/>
                </a:solidFill>
                <a:latin typeface="Arial"/>
                <a:ea typeface="Arial"/>
                <a:cs typeface="Arial"/>
              </a:rPr>
              <a:t>Line work reduced </a:t>
            </a:r>
            <a:r>
              <a:rPr lang="en-US"/>
              <a:t>worker freedom </a:t>
            </a:r>
            <a:r>
              <a:rPr sz="2100" b="0">
                <a:solidFill>
                  <a:srgbClr val="172A36"/>
                </a:solidFill>
                <a:latin typeface="Arial"/>
                <a:ea typeface="Arial"/>
                <a:cs typeface="Arial"/>
              </a:rPr>
              <a:t>while enforcing a relentless pace.</a:t>
            </a:r>
          </a:p>
        </p:txBody>
      </p:sp>
      <p:sp>
        <p:nvSpPr>
          <p:cNvPr id="4" name="Rectangle 3">
            <a:extLst>
              <a:ext uri="{FF2B5EF4-FFF2-40B4-BE49-F238E27FC236}">
                <a16:creationId xmlns:a16="http://schemas.microsoft.com/office/drawing/2014/main" id="{F464EABB-7F41-4B06-A712-90D65011433F}"/>
              </a:ext>
            </a:extLst>
          </p:cNvPr>
          <p:cNvSpPr>
            <a:spLocks noGrp="1"/>
          </p:cNvSpPr>
          <p:nvPr/>
        </p:nvSpPr>
        <p:spPr>
          <a:xfrm>
            <a:off x="666750" y="2943225"/>
            <a:ext cx="5905500" cy="9048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Workers leaving forced repeated recruitment and training.</a:t>
            </a:r>
          </a:p>
        </p:txBody>
      </p:sp>
      <p:sp>
        <p:nvSpPr>
          <p:cNvPr id="5" name="Rectangle 4">
            <a:extLst>
              <a:ext uri="{FF2B5EF4-FFF2-40B4-BE49-F238E27FC236}">
                <a16:creationId xmlns:a16="http://schemas.microsoft.com/office/drawing/2014/main" id="{207A6BE5-A2B4-49FB-8BA1-C9912D9A9C95}"/>
              </a:ext>
            </a:extLst>
          </p:cNvPr>
          <p:cNvSpPr>
            <a:spLocks noGrp="1"/>
          </p:cNvSpPr>
          <p:nvPr/>
        </p:nvSpPr>
        <p:spPr>
          <a:xfrm>
            <a:off x="666750" y="4038600"/>
            <a:ext cx="5905500" cy="9048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Retention became an operating problem as well as an HR problem.</a:t>
            </a:r>
          </a:p>
        </p:txBody>
      </p:sp>
      <p:sp>
        <p:nvSpPr>
          <p:cNvPr id="6" name="Rectangle 5">
            <a:extLst>
              <a:ext uri="{FF2B5EF4-FFF2-40B4-BE49-F238E27FC236}">
                <a16:creationId xmlns:a16="http://schemas.microsoft.com/office/drawing/2014/main" id="{94F02083-20EB-41BD-B1E9-D0B3563E7E69}"/>
              </a:ext>
            </a:extLst>
          </p:cNvPr>
          <p:cNvSpPr>
            <a:spLocks noGrp="1"/>
          </p:cNvSpPr>
          <p:nvPr/>
        </p:nvSpPr>
        <p:spPr>
          <a:xfrm>
            <a:off x="7048500" y="5772150"/>
            <a:ext cx="4524375" cy="1905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sz="1125" b="0">
                <a:solidFill>
                  <a:srgbClr val="55636A"/>
                </a:solidFill>
                <a:latin typeface="Arial"/>
                <a:ea typeface="Arial"/>
                <a:cs typeface="Arial"/>
              </a:rPr>
              <a:t>A worker’s wife complained to Ford in 1914</a:t>
            </a:r>
          </a:p>
        </p:txBody>
      </p:sp>
      <p:sp>
        <p:nvSpPr>
          <p:cNvPr id="7" name="Rectangle 6">
            <a:extLst>
              <a:ext uri="{FF2B5EF4-FFF2-40B4-BE49-F238E27FC236}">
                <a16:creationId xmlns:a16="http://schemas.microsoft.com/office/drawing/2014/main" id="{7B0346B6-D0A2-4045-A631-9616D37A1826}"/>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retention and job design</a:t>
            </a:r>
          </a:p>
        </p:txBody>
      </p:sp>
      <p:sp>
        <p:nvSpPr>
          <p:cNvPr id="8" name="Rectangle 7">
            <a:extLst>
              <a:ext uri="{FF2B5EF4-FFF2-40B4-BE49-F238E27FC236}">
                <a16:creationId xmlns:a16="http://schemas.microsoft.com/office/drawing/2014/main" id="{0C3AEC60-4687-4A3C-BB0D-D60D671CEE97}"/>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2FDD0912-6C74-4CF7-95E6-4E547D79FEC6}" type="slidenum">
              <a:rPr lang="en-US" sz="1000">
                <a:solidFill>
                  <a:srgbClr val="586A70"/>
                </a:solidFill>
              </a:rPr>
              <a:t>11</a:t>
            </a:fld>
          </a:p>
        </p:txBody>
      </p:sp>
    </p:spTree>
    <p:extLst>
      <p:ext uri="{BB962C8B-B14F-4D97-AF65-F5344CB8AC3E}">
        <p14:creationId xmlns:p14="http://schemas.microsoft.com/office/powerpoint/2010/main" val="2061274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960120"/>
          </a:xfrm>
          <a:prstGeom prst="rect">
            <a:avLst/>
          </a:prstGeom>
          <a:noFill/>
        </p:spPr>
        <p:txBody>
          <a:bodyPr wrap="square" lIns="128016" tIns="91440" rIns="128016">
            <a:spAutoFit/>
          </a:bodyPr>
          <a:lstStyle/>
          <a:p>
            <a:pPr>
              <a:spcAft>
                <a:spcPts val="800"/>
              </a:spcAft>
              <a:defRPr sz="3100" b="1">
                <a:solidFill>
                  <a:srgbClr val="17303B"/>
                </a:solidFill>
                <a:latin typeface="Aptos"/>
              </a:defRPr>
            </a:pPr>
            <a:r>
              <a:t>You manage the factory. Workers are leaving.</a:t>
            </a:r>
          </a:p>
        </p:txBody>
      </p:sp>
      <p:sp>
        <p:nvSpPr>
          <p:cNvPr id="3" name="TextBox 2"/>
          <p:cNvSpPr txBox="1"/>
          <p:nvPr/>
        </p:nvSpPr>
        <p:spPr>
          <a:xfrm>
            <a:off x="11384280" y="6419088"/>
            <a:ext cx="457200" cy="274320"/>
          </a:xfrm>
          <a:prstGeom prst="rect">
            <a:avLst/>
          </a:prstGeom>
          <a:noFill/>
        </p:spPr>
        <p:txBody>
          <a:bodyPr wrap="square" lIns="128016" tIns="91440" rIns="128016">
            <a:spAutoFit/>
          </a:bodyPr>
          <a:lstStyle/>
          <a:p>
            <a:pPr>
              <a:spcAft>
                <a:spcPts val="800"/>
              </a:spcAft>
              <a:defRPr sz="1000" b="0">
                <a:solidFill>
                  <a:srgbClr val="586A70"/>
                </a:solidFill>
                <a:latin typeface="Aptos"/>
              </a:defRPr>
            </a:pPr>
            <a:fld id="{D49173B6-059A-4FB8-8188-8DEFEE517EAC}" type="slidenum">
              <a:rPr lang="en-US" sz="1000">
                <a:solidFill>
                  <a:srgbClr val="586A70"/>
                </a:solidFill>
              </a:rPr>
              <a:t>12</a:t>
            </a:fld>
          </a:p>
        </p:txBody>
      </p:sp>
      <p:sp>
        <p:nvSpPr>
          <p:cNvPr id="4" name="TextBox 3"/>
          <p:cNvSpPr txBox="1"/>
          <p:nvPr/>
        </p:nvSpPr>
        <p:spPr>
          <a:xfrm>
            <a:off x="777240" y="1508760"/>
            <a:ext cx="10652760" cy="1451679"/>
          </a:xfrm>
          <a:prstGeom prst="rect">
            <a:avLst/>
          </a:prstGeom>
          <a:noFill/>
        </p:spPr>
        <p:txBody>
          <a:bodyPr wrap="square" lIns="128016" tIns="91440" rIns="128016" bIns="45720" anchor="t">
            <a:spAutoFit/>
          </a:bodyPr>
          <a:lstStyle/>
          <a:p>
            <a:pPr marL="342900" indent="-342900">
              <a:spcAft>
                <a:spcPts val="800"/>
              </a:spcAft>
              <a:buFont typeface="Arial"/>
              <a:buChar char="•"/>
              <a:defRPr sz="2400" b="0">
                <a:solidFill>
                  <a:srgbClr val="17303B"/>
                </a:solidFill>
                <a:latin typeface="Aptos"/>
              </a:defRPr>
            </a:pPr>
            <a:r>
              <a:t>Your employees work nine-hour days for about $2.34 per day.</a:t>
            </a:r>
            <a:endParaRPr lang="en-US"/>
          </a:p>
          <a:p>
            <a:pPr marL="342900" indent="-342900">
              <a:spcAft>
                <a:spcPts val="800"/>
              </a:spcAft>
              <a:buFont typeface="Arial"/>
              <a:buChar char="•"/>
              <a:defRPr sz="2400" b="0">
                <a:solidFill>
                  <a:srgbClr val="17303B"/>
                </a:solidFill>
                <a:latin typeface="Aptos"/>
              </a:defRPr>
            </a:pPr>
            <a:r>
              <a:t>The work is repetitive, physically demanding, and paced by the line.</a:t>
            </a:r>
          </a:p>
          <a:p>
            <a:pPr marL="342900" indent="-342900">
              <a:spcAft>
                <a:spcPts val="800"/>
              </a:spcAft>
              <a:buFont typeface="Arial"/>
              <a:buChar char="•"/>
              <a:defRPr sz="2400" b="0">
                <a:solidFill>
                  <a:srgbClr val="17303B"/>
                </a:solidFill>
                <a:latin typeface="Aptos"/>
              </a:defRPr>
            </a:pPr>
            <a:r>
              <a:t>Moving machinery creates safety risks. Workers are quitting.</a:t>
            </a:r>
          </a:p>
        </p:txBody>
      </p:sp>
      <p:sp>
        <p:nvSpPr>
          <p:cNvPr id="5" name="TextBox 4"/>
          <p:cNvSpPr txBox="1"/>
          <p:nvPr/>
        </p:nvSpPr>
        <p:spPr>
          <a:xfrm>
            <a:off x="777240" y="3063240"/>
            <a:ext cx="10652760" cy="640080"/>
          </a:xfrm>
          <a:prstGeom prst="rect">
            <a:avLst/>
          </a:prstGeom>
          <a:noFill/>
        </p:spPr>
        <p:txBody>
          <a:bodyPr wrap="square" lIns="128016" tIns="91440" rIns="128016">
            <a:spAutoFit/>
          </a:bodyPr>
          <a:lstStyle/>
          <a:p>
            <a:pPr>
              <a:spcAft>
                <a:spcPts val="800"/>
              </a:spcAft>
              <a:defRPr sz="2300" b="1">
                <a:solidFill>
                  <a:srgbClr val="B65B2C"/>
                </a:solidFill>
                <a:latin typeface="Aptos"/>
              </a:defRPr>
            </a:pPr>
            <a:r>
              <a:t>Every departure means recruiting and training another replacement.</a:t>
            </a:r>
          </a:p>
        </p:txBody>
      </p:sp>
      <p:sp>
        <p:nvSpPr>
          <p:cNvPr id="6" name="Rounded Rectangle 5"/>
          <p:cNvSpPr/>
          <p:nvPr/>
        </p:nvSpPr>
        <p:spPr>
          <a:xfrm>
            <a:off x="777240" y="3886200"/>
            <a:ext cx="10652760" cy="137160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28016" tIns="91440" rIns="128016" bIns="45720" rtlCol="0" anchor="ctr"/>
          <a:lstStyle/>
          <a:p>
            <a:pPr marL="342900" indent="-342900">
              <a:spcAft>
                <a:spcPts val="800"/>
              </a:spcAft>
              <a:buFont typeface="Arial"/>
              <a:buChar char="•"/>
              <a:defRPr sz="2500" b="0">
                <a:solidFill>
                  <a:srgbClr val="17303B"/>
                </a:solidFill>
                <a:latin typeface="Aptos"/>
              </a:defRPr>
            </a:pPr>
            <a:r>
              <a:t>In groups of four, agree on </a:t>
            </a:r>
            <a:r>
              <a:rPr lang="en-US"/>
              <a:t>at least one change</a:t>
            </a:r>
            <a:r>
              <a:t> you would make.</a:t>
            </a:r>
            <a:endParaRPr lang="en-US"/>
          </a:p>
          <a:p>
            <a:pPr marL="342900" indent="-342900">
              <a:spcAft>
                <a:spcPts val="800"/>
              </a:spcAft>
              <a:buFont typeface="Arial"/>
              <a:buChar char="•"/>
              <a:defRPr sz="2500" b="0">
                <a:solidFill>
                  <a:srgbClr val="17303B"/>
                </a:solidFill>
                <a:latin typeface="Aptos"/>
              </a:defRPr>
            </a:pPr>
            <a:r>
              <a:t>How would your plan help workers stay? What would they cost?</a:t>
            </a:r>
          </a:p>
          <a:p>
            <a:pPr marL="342900" indent="-342900">
              <a:spcAft>
                <a:spcPts val="800"/>
              </a:spcAft>
              <a:buFont typeface="Arial"/>
              <a:buChar char="•"/>
              <a:defRPr sz="2500" b="0">
                <a:solidFill>
                  <a:srgbClr val="17303B"/>
                </a:solidFill>
                <a:latin typeface="Aptos"/>
              </a:defRPr>
            </a:pPr>
            <a:r>
              <a:t>How would you tell whether your plan worked?</a:t>
            </a:r>
          </a:p>
        </p:txBody>
      </p:sp>
    </p:spTree>
    <p:extLst>
      <p:ext uri="{BB962C8B-B14F-4D97-AF65-F5344CB8AC3E}">
        <p14:creationId xmlns:p14="http://schemas.microsoft.com/office/powerpoint/2010/main" val="1189378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615553"/>
          </a:xfrm>
          <a:prstGeom prst="rect">
            <a:avLst/>
          </a:prstGeom>
          <a:noFill/>
        </p:spPr>
        <p:txBody>
          <a:bodyPr wrap="square" lIns="128016" tIns="91440" rIns="128016" bIns="45720" anchor="t">
            <a:spAutoFit/>
          </a:bodyPr>
          <a:lstStyle/>
          <a:p>
            <a:pPr>
              <a:spcAft>
                <a:spcPts val="800"/>
              </a:spcAft>
              <a:defRPr sz="3100" b="1">
                <a:solidFill>
                  <a:srgbClr val="17303B"/>
                </a:solidFill>
                <a:latin typeface="Aptos"/>
              </a:defRPr>
            </a:pPr>
            <a:r>
              <a:t>Ford</a:t>
            </a:r>
            <a:r>
              <a:rPr lang="en-US"/>
              <a:t>'s Announcement</a:t>
            </a:r>
            <a:r>
              <a:t> in January 1914</a:t>
            </a:r>
          </a:p>
        </p:txBody>
      </p:sp>
      <p:sp>
        <p:nvSpPr>
          <p:cNvPr id="3" name="TextBox 2"/>
          <p:cNvSpPr txBox="1"/>
          <p:nvPr/>
        </p:nvSpPr>
        <p:spPr>
          <a:xfrm>
            <a:off x="11384280" y="6419088"/>
            <a:ext cx="457200" cy="274320"/>
          </a:xfrm>
          <a:prstGeom prst="rect">
            <a:avLst/>
          </a:prstGeom>
          <a:noFill/>
        </p:spPr>
        <p:txBody>
          <a:bodyPr wrap="square" lIns="128016" tIns="91440" rIns="128016">
            <a:spAutoFit/>
          </a:bodyPr>
          <a:lstStyle/>
          <a:p>
            <a:pPr>
              <a:spcAft>
                <a:spcPts val="800"/>
              </a:spcAft>
              <a:defRPr sz="1000" b="0">
                <a:solidFill>
                  <a:srgbClr val="586A70"/>
                </a:solidFill>
                <a:latin typeface="Aptos"/>
              </a:defRPr>
            </a:pPr>
            <a:fld id="{9D47BCF3-2576-4BFD-BB97-6A2B98AB01D1}" type="slidenum">
              <a:rPr lang="en-US" sz="1000">
                <a:solidFill>
                  <a:srgbClr val="586A70"/>
                </a:solidFill>
              </a:rPr>
              <a:t>13</a:t>
            </a:fld>
          </a:p>
        </p:txBody>
      </p:sp>
      <p:sp>
        <p:nvSpPr>
          <p:cNvPr id="4" name="TextBox 3"/>
          <p:cNvSpPr txBox="1"/>
          <p:nvPr/>
        </p:nvSpPr>
        <p:spPr>
          <a:xfrm>
            <a:off x="822960" y="1463040"/>
            <a:ext cx="5074920" cy="502920"/>
          </a:xfrm>
          <a:prstGeom prst="rect">
            <a:avLst/>
          </a:prstGeom>
          <a:noFill/>
        </p:spPr>
        <p:txBody>
          <a:bodyPr wrap="square" lIns="128016" tIns="91440" rIns="128016">
            <a:spAutoFit/>
          </a:bodyPr>
          <a:lstStyle/>
          <a:p>
            <a:pPr>
              <a:spcAft>
                <a:spcPts val="800"/>
              </a:spcAft>
              <a:defRPr sz="2200" b="1">
                <a:solidFill>
                  <a:srgbClr val="B65B2C"/>
                </a:solidFill>
                <a:latin typeface="Aptos"/>
              </a:defRPr>
            </a:pPr>
            <a:r>
              <a:t>BEFORE</a:t>
            </a:r>
          </a:p>
        </p:txBody>
      </p:sp>
      <p:sp>
        <p:nvSpPr>
          <p:cNvPr id="5" name="TextBox 4"/>
          <p:cNvSpPr txBox="1"/>
          <p:nvPr/>
        </p:nvSpPr>
        <p:spPr>
          <a:xfrm>
            <a:off x="6309360" y="1463040"/>
            <a:ext cx="5074920" cy="502920"/>
          </a:xfrm>
          <a:prstGeom prst="rect">
            <a:avLst/>
          </a:prstGeom>
          <a:noFill/>
        </p:spPr>
        <p:txBody>
          <a:bodyPr wrap="square" lIns="128016" tIns="91440" rIns="128016">
            <a:spAutoFit/>
          </a:bodyPr>
          <a:lstStyle/>
          <a:p>
            <a:pPr>
              <a:spcAft>
                <a:spcPts val="800"/>
              </a:spcAft>
              <a:defRPr sz="2200" b="1">
                <a:solidFill>
                  <a:srgbClr val="B65B2C"/>
                </a:solidFill>
                <a:latin typeface="Aptos"/>
              </a:defRPr>
            </a:pPr>
            <a:r>
              <a:t>NEW PLAN</a:t>
            </a:r>
          </a:p>
        </p:txBody>
      </p:sp>
      <p:sp>
        <p:nvSpPr>
          <p:cNvPr id="6" name="Rounded Rectangle 5"/>
          <p:cNvSpPr/>
          <p:nvPr/>
        </p:nvSpPr>
        <p:spPr>
          <a:xfrm>
            <a:off x="822960" y="2103120"/>
            <a:ext cx="5074920" cy="150876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28016" tIns="91440" rIns="128016" bIns="45720" rtlCol="0" anchor="ctr"/>
          <a:lstStyle/>
          <a:p>
            <a:pPr marL="457200" indent="-457200">
              <a:spcAft>
                <a:spcPts val="800"/>
              </a:spcAft>
              <a:buFont typeface="Arial"/>
              <a:buChar char="•"/>
              <a:defRPr sz="2900" b="0">
                <a:solidFill>
                  <a:srgbClr val="17303B"/>
                </a:solidFill>
                <a:latin typeface="Aptos"/>
              </a:defRPr>
            </a:pPr>
            <a:r>
              <a:t>About $2.34 per day</a:t>
            </a:r>
            <a:endParaRPr lang="en-US"/>
          </a:p>
          <a:p>
            <a:pPr marL="457200" indent="-457200">
              <a:spcAft>
                <a:spcPts val="800"/>
              </a:spcAft>
              <a:buFont typeface="Arial"/>
              <a:buChar char="•"/>
              <a:defRPr sz="2900" b="0">
                <a:solidFill>
                  <a:srgbClr val="17303B"/>
                </a:solidFill>
                <a:latin typeface="Aptos"/>
              </a:defRPr>
            </a:pPr>
            <a:r>
              <a:t>9-hour workday</a:t>
            </a:r>
          </a:p>
        </p:txBody>
      </p:sp>
      <p:sp>
        <p:nvSpPr>
          <p:cNvPr id="7" name="Rounded Rectangle 6"/>
          <p:cNvSpPr/>
          <p:nvPr/>
        </p:nvSpPr>
        <p:spPr>
          <a:xfrm>
            <a:off x="6309360" y="2103120"/>
            <a:ext cx="5260772" cy="150876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28016" tIns="91440" rIns="128016" bIns="45720" rtlCol="0" anchor="ctr"/>
          <a:lstStyle/>
          <a:p>
            <a:pPr marL="457200" indent="-457200">
              <a:spcAft>
                <a:spcPts val="800"/>
              </a:spcAft>
              <a:buFont typeface="Arial"/>
              <a:buChar char="•"/>
              <a:defRPr sz="2700" b="0">
                <a:solidFill>
                  <a:srgbClr val="17303B"/>
                </a:solidFill>
                <a:latin typeface="Aptos"/>
              </a:defRPr>
            </a:pPr>
            <a:r>
              <a:t>$5 per day for eligible workers</a:t>
            </a:r>
            <a:endParaRPr lang="en-US"/>
          </a:p>
          <a:p>
            <a:pPr marL="457200" indent="-457200">
              <a:spcAft>
                <a:spcPts val="800"/>
              </a:spcAft>
              <a:buFont typeface="Arial"/>
              <a:buChar char="•"/>
              <a:defRPr sz="2700" b="0">
                <a:solidFill>
                  <a:srgbClr val="17303B"/>
                </a:solidFill>
                <a:latin typeface="Aptos"/>
              </a:defRPr>
            </a:pPr>
            <a:r>
              <a:t>8-hour workday</a:t>
            </a:r>
          </a:p>
        </p:txBody>
      </p:sp>
      <p:sp>
        <p:nvSpPr>
          <p:cNvPr id="8" name="TextBox 7"/>
          <p:cNvSpPr txBox="1"/>
          <p:nvPr/>
        </p:nvSpPr>
        <p:spPr>
          <a:xfrm>
            <a:off x="822960" y="3886200"/>
            <a:ext cx="10515600" cy="731520"/>
          </a:xfrm>
          <a:prstGeom prst="rect">
            <a:avLst/>
          </a:prstGeom>
          <a:noFill/>
        </p:spPr>
        <p:txBody>
          <a:bodyPr wrap="square" lIns="128016" tIns="91440" rIns="128016">
            <a:spAutoFit/>
          </a:bodyPr>
          <a:lstStyle/>
          <a:p>
            <a:pPr>
              <a:spcAft>
                <a:spcPts val="800"/>
              </a:spcAft>
              <a:defRPr sz="2400" b="1">
                <a:solidFill>
                  <a:srgbClr val="B65B2C"/>
                </a:solidFill>
                <a:latin typeface="Aptos"/>
              </a:defRPr>
            </a:pPr>
            <a:r>
              <a:t>$2.66 more per day • About 114% more • One hour less at work</a:t>
            </a:r>
          </a:p>
        </p:txBody>
      </p:sp>
      <p:sp>
        <p:nvSpPr>
          <p:cNvPr id="9" name="TextBox 8"/>
          <p:cNvSpPr txBox="1"/>
          <p:nvPr/>
        </p:nvSpPr>
        <p:spPr>
          <a:xfrm>
            <a:off x="822960" y="4800600"/>
            <a:ext cx="10515600" cy="640080"/>
          </a:xfrm>
          <a:prstGeom prst="rect">
            <a:avLst/>
          </a:prstGeom>
          <a:noFill/>
        </p:spPr>
        <p:txBody>
          <a:bodyPr wrap="square" lIns="128016" tIns="91440" rIns="128016">
            <a:spAutoFit/>
          </a:bodyPr>
          <a:lstStyle/>
          <a:p>
            <a:pPr>
              <a:spcAft>
                <a:spcPts val="800"/>
              </a:spcAft>
              <a:defRPr sz="2300" b="0">
                <a:solidFill>
                  <a:srgbClr val="17303B"/>
                </a:solidFill>
                <a:latin typeface="Aptos"/>
              </a:defRPr>
            </a:pPr>
            <a:r>
              <a:t>The initial $5 package included wages plus conditional profit sharing.</a:t>
            </a:r>
          </a:p>
        </p:txBody>
      </p:sp>
      <p:sp>
        <p:nvSpPr>
          <p:cNvPr id="10" name="TextBox 9"/>
          <p:cNvSpPr txBox="1"/>
          <p:nvPr/>
        </p:nvSpPr>
        <p:spPr>
          <a:xfrm>
            <a:off x="822960" y="5623560"/>
            <a:ext cx="10515600" cy="548640"/>
          </a:xfrm>
          <a:prstGeom prst="rect">
            <a:avLst/>
          </a:prstGeom>
          <a:noFill/>
        </p:spPr>
        <p:txBody>
          <a:bodyPr wrap="square" lIns="128016" tIns="91440" rIns="128016">
            <a:spAutoFit/>
          </a:bodyPr>
          <a:lstStyle/>
          <a:p>
            <a:pPr>
              <a:spcAft>
                <a:spcPts val="800"/>
              </a:spcAft>
              <a:defRPr sz="2300" b="0">
                <a:solidFill>
                  <a:srgbClr val="17303B"/>
                </a:solidFill>
                <a:latin typeface="Aptos"/>
              </a:defRPr>
            </a:pPr>
            <a:r>
              <a:t>How does this compare with your plan? What problems might remain?</a:t>
            </a:r>
          </a:p>
        </p:txBody>
      </p:sp>
    </p:spTree>
    <p:extLst>
      <p:ext uri="{BB962C8B-B14F-4D97-AF65-F5344CB8AC3E}">
        <p14:creationId xmlns:p14="http://schemas.microsoft.com/office/powerpoint/2010/main" val="632206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2A3B210-8686-4BF1-A336-9FA2AD6B5DB0}"/>
              </a:ext>
            </a:extLst>
          </p:cNvPr>
          <p:cNvSpPr>
            <a:spLocks noGrp="1"/>
          </p:cNvSpPr>
          <p:nvPr/>
        </p:nvSpPr>
        <p:spPr>
          <a:xfrm>
            <a:off x="609600" y="457200"/>
            <a:ext cx="64770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The $5 day, with conditions</a:t>
            </a:r>
          </a:p>
        </p:txBody>
      </p:sp>
      <p:pic>
        <p:nvPicPr>
          <p:cNvPr id="11" name="Picture 10">
            <a:extLst>
              <a:ext uri="{FF2B5EF4-FFF2-40B4-BE49-F238E27FC236}">
                <a16:creationId xmlns:a16="http://schemas.microsoft.com/office/drawing/2014/main" id="{A5795722-BA2B-4E14-9C0C-C2A4A11C0645}"/>
              </a:ext>
            </a:extLst>
          </p:cNvPr>
          <p:cNvPicPr>
            <a:picLocks noChangeAspect="1"/>
          </p:cNvPicPr>
          <p:nvPr/>
        </p:nvPicPr>
        <p:blipFill>
          <a:blip r:embed="rId3"/>
          <a:stretch/>
        </p:blipFill>
        <p:spPr>
          <a:xfrm>
            <a:off x="7723823" y="1714500"/>
            <a:ext cx="3173730" cy="4000500"/>
          </a:xfrm>
          <a:prstGeom prst="rect">
            <a:avLst/>
          </a:prstGeom>
        </p:spPr>
      </p:pic>
      <p:sp>
        <p:nvSpPr>
          <p:cNvPr id="3" name="Rectangle 2">
            <a:extLst>
              <a:ext uri="{FF2B5EF4-FFF2-40B4-BE49-F238E27FC236}">
                <a16:creationId xmlns:a16="http://schemas.microsoft.com/office/drawing/2014/main" id="{F81745F6-D94E-4485-8792-261A1218ABAE}"/>
              </a:ext>
            </a:extLst>
          </p:cNvPr>
          <p:cNvSpPr>
            <a:spLocks noGrp="1"/>
          </p:cNvSpPr>
          <p:nvPr/>
        </p:nvSpPr>
        <p:spPr>
          <a:xfrm>
            <a:off x="666750" y="1847850"/>
            <a:ext cx="5905500" cy="904875"/>
          </a:xfrm>
          <a:prstGeom prst="rect">
            <a:avLst/>
          </a:prstGeom>
          <a:noFill/>
          <a:ln w="0">
            <a:noFill/>
          </a:ln>
        </p:spPr>
        <p:txBody>
          <a:bodyPr lIns="0" tIns="0" rIns="0" bIns="0" anchor="t">
            <a:noAutofit/>
          </a:bodyPr>
          <a:lstStyle/>
          <a:p>
            <a:pPr>
              <a:defRPr sz="2175" b="0">
                <a:solidFill>
                  <a:srgbClr val="172A36"/>
                </a:solidFill>
                <a:latin typeface="Arial"/>
                <a:ea typeface="Arial"/>
                <a:cs typeface="Arial"/>
              </a:defRPr>
            </a:pPr>
            <a:r>
              <a:rPr lang="en-US" sz="2150" b="1" u="sng">
                <a:solidFill>
                  <a:srgbClr val="172A36"/>
                </a:solidFill>
                <a:latin typeface="Arial"/>
                <a:cs typeface="Arial"/>
              </a:rPr>
              <a:t>January 5, 1914</a:t>
            </a:r>
            <a:endParaRPr lang="en-US" sz="2150" b="1" u="sng"/>
          </a:p>
          <a:p>
            <a:pPr marL="342900" indent="-342900">
              <a:buFont typeface="Arial"/>
              <a:buChar char="•"/>
              <a:defRPr sz="2175" b="0">
                <a:solidFill>
                  <a:srgbClr val="172A36"/>
                </a:solidFill>
                <a:latin typeface="Arial"/>
                <a:ea typeface="Arial"/>
                <a:cs typeface="Arial"/>
              </a:defRPr>
            </a:pPr>
            <a:r>
              <a:rPr sz="2150" b="0">
                <a:solidFill>
                  <a:srgbClr val="172A36"/>
                </a:solidFill>
                <a:latin typeface="Arial"/>
                <a:ea typeface="Arial"/>
                <a:cs typeface="Arial"/>
              </a:rPr>
              <a:t>Ford and James Couzens </a:t>
            </a:r>
            <a:r>
              <a:rPr lang="en-US" sz="2150">
                <a:solidFill>
                  <a:srgbClr val="172A36"/>
                </a:solidFill>
                <a:latin typeface="Arial"/>
                <a:ea typeface="Arial"/>
                <a:cs typeface="Arial"/>
              </a:rPr>
              <a:t>(VP) </a:t>
            </a:r>
            <a:r>
              <a:rPr sz="2150" b="0">
                <a:solidFill>
                  <a:srgbClr val="172A36"/>
                </a:solidFill>
                <a:latin typeface="Arial"/>
                <a:ea typeface="Arial"/>
                <a:cs typeface="Arial"/>
              </a:rPr>
              <a:t>announced the plan.</a:t>
            </a:r>
          </a:p>
        </p:txBody>
      </p:sp>
      <p:sp>
        <p:nvSpPr>
          <p:cNvPr id="4" name="Rectangle 3">
            <a:extLst>
              <a:ext uri="{FF2B5EF4-FFF2-40B4-BE49-F238E27FC236}">
                <a16:creationId xmlns:a16="http://schemas.microsoft.com/office/drawing/2014/main" id="{144937CF-9588-4AC4-B716-53A9B1195B7E}"/>
              </a:ext>
            </a:extLst>
          </p:cNvPr>
          <p:cNvSpPr>
            <a:spLocks noGrp="1"/>
          </p:cNvSpPr>
          <p:nvPr/>
        </p:nvSpPr>
        <p:spPr>
          <a:xfrm>
            <a:off x="666750" y="3038475"/>
            <a:ext cx="5905500" cy="904875"/>
          </a:xfrm>
          <a:prstGeom prst="rect">
            <a:avLst/>
          </a:prstGeom>
          <a:noFill/>
          <a:ln w="0">
            <a:noFill/>
          </a:ln>
        </p:spPr>
        <p:txBody>
          <a:bodyPr lIns="0" tIns="0" rIns="0" bIns="0" anchor="t">
            <a:noAutofit/>
          </a:bodyPr>
          <a:lstStyle>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a:pPr marL="342900" indent="-342900" algn="l">
              <a:buFont typeface="Arial" panose="020B0604020202020204" pitchFamily="34" charset="0"/>
              <a:buChar char="•"/>
              <a:defRPr sz="2175" b="0">
                <a:solidFill>
                  <a:srgbClr val="172A36"/>
                </a:solidFill>
                <a:latin typeface="Arial"/>
                <a:ea typeface="Arial"/>
                <a:cs typeface="Arial"/>
              </a:defRPr>
            </a:pPr>
            <a:r>
              <a:rPr sz="2175" b="0">
                <a:solidFill>
                  <a:srgbClr val="172A36"/>
                </a:solidFill>
                <a:latin typeface="Arial"/>
                <a:ea typeface="Arial"/>
                <a:cs typeface="Arial"/>
              </a:rPr>
              <a:t>$5 for an 8-hour day</a:t>
            </a:r>
            <a:endParaRPr lang="en-US"/>
          </a:p>
          <a:p>
            <a:pPr marL="342900" indent="-342900" algn="l">
              <a:buFont typeface="Arial" panose="020B0604020202020204" pitchFamily="34" charset="0"/>
              <a:buChar char="•"/>
              <a:defRPr sz="2175" b="0">
                <a:solidFill>
                  <a:srgbClr val="172A36"/>
                </a:solidFill>
                <a:latin typeface="Arial"/>
                <a:ea typeface="Arial"/>
                <a:cs typeface="Arial"/>
              </a:defRPr>
            </a:pPr>
            <a:r>
              <a:rPr sz="2175" b="0">
                <a:solidFill>
                  <a:srgbClr val="172A36"/>
                </a:solidFill>
                <a:latin typeface="Arial"/>
                <a:ea typeface="Arial"/>
                <a:cs typeface="Arial"/>
              </a:rPr>
              <a:t>Previous rate: $2.34 for 9 hours</a:t>
            </a:r>
          </a:p>
        </p:txBody>
      </p:sp>
      <p:sp>
        <p:nvSpPr>
          <p:cNvPr id="5" name="Rectangle 4">
            <a:extLst>
              <a:ext uri="{FF2B5EF4-FFF2-40B4-BE49-F238E27FC236}">
                <a16:creationId xmlns:a16="http://schemas.microsoft.com/office/drawing/2014/main" id="{954D0D36-B660-4A43-9C2E-25B95C1C4C20}"/>
              </a:ext>
            </a:extLst>
          </p:cNvPr>
          <p:cNvSpPr>
            <a:spLocks noGrp="1"/>
          </p:cNvSpPr>
          <p:nvPr/>
        </p:nvSpPr>
        <p:spPr>
          <a:xfrm>
            <a:off x="666750" y="4229100"/>
            <a:ext cx="5905500" cy="9048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Ordinary wages + conditional profit sharing</a:t>
            </a:r>
          </a:p>
          <a:p>
            <a:pPr algn="l">
              <a:buNone/>
              <a:defRPr sz="2100" b="0">
                <a:solidFill>
                  <a:srgbClr val="172A36"/>
                </a:solidFill>
                <a:latin typeface="Arial"/>
                <a:ea typeface="Arial"/>
                <a:cs typeface="Arial"/>
              </a:defRPr>
            </a:pPr>
            <a:r>
              <a:rPr sz="2100" b="0">
                <a:solidFill>
                  <a:srgbClr val="172A36"/>
                </a:solidFill>
                <a:latin typeface="Arial"/>
                <a:ea typeface="Arial"/>
                <a:cs typeface="Arial"/>
              </a:rPr>
              <a:t>Eligibility rules limited access.</a:t>
            </a:r>
          </a:p>
        </p:txBody>
      </p:sp>
      <p:sp>
        <p:nvSpPr>
          <p:cNvPr id="6" name="Rectangle 5">
            <a:extLst>
              <a:ext uri="{FF2B5EF4-FFF2-40B4-BE49-F238E27FC236}">
                <a16:creationId xmlns:a16="http://schemas.microsoft.com/office/drawing/2014/main" id="{0EF50A20-6601-4954-8B15-A47A9D654180}"/>
              </a:ext>
            </a:extLst>
          </p:cNvPr>
          <p:cNvSpPr>
            <a:spLocks noGrp="1"/>
          </p:cNvSpPr>
          <p:nvPr/>
        </p:nvSpPr>
        <p:spPr>
          <a:xfrm>
            <a:off x="7048500" y="5772150"/>
            <a:ext cx="4524375" cy="1905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sz="1125" b="0">
                <a:solidFill>
                  <a:srgbClr val="55636A"/>
                </a:solidFill>
                <a:latin typeface="Arial"/>
                <a:ea typeface="Arial"/>
                <a:cs typeface="Arial"/>
              </a:rPr>
              <a:t>Contemporary coverage of the wage announcement</a:t>
            </a:r>
          </a:p>
        </p:txBody>
      </p:sp>
      <p:sp>
        <p:nvSpPr>
          <p:cNvPr id="7" name="Rectangle 6">
            <a:extLst>
              <a:ext uri="{FF2B5EF4-FFF2-40B4-BE49-F238E27FC236}">
                <a16:creationId xmlns:a16="http://schemas.microsoft.com/office/drawing/2014/main" id="{9DC95C62-B097-4CB5-A111-DD90EB1C103C}"/>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compensation and employee retention</a:t>
            </a:r>
          </a:p>
        </p:txBody>
      </p:sp>
      <p:sp>
        <p:nvSpPr>
          <p:cNvPr id="8" name="Rectangle 7">
            <a:extLst>
              <a:ext uri="{FF2B5EF4-FFF2-40B4-BE49-F238E27FC236}">
                <a16:creationId xmlns:a16="http://schemas.microsoft.com/office/drawing/2014/main" id="{1477660C-E000-4904-BC17-4B5DA1F1B39E}"/>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E3F38CCB-DB01-416D-9FEC-9C95E2FD0D2E}" type="slidenum">
              <a:rPr lang="en-US" sz="1000">
                <a:solidFill>
                  <a:srgbClr val="586A70"/>
                </a:solidFill>
              </a:rPr>
              <a:t>14</a:t>
            </a:fld>
          </a:p>
        </p:txBody>
      </p:sp>
    </p:spTree>
    <p:extLst>
      <p:ext uri="{BB962C8B-B14F-4D97-AF65-F5344CB8AC3E}">
        <p14:creationId xmlns:p14="http://schemas.microsoft.com/office/powerpoint/2010/main" val="115066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914400"/>
          </a:xfrm>
          <a:prstGeom prst="rect">
            <a:avLst/>
          </a:prstGeom>
          <a:noFill/>
        </p:spPr>
        <p:txBody>
          <a:bodyPr wrap="square" lIns="109728" tIns="91440" rIns="109728">
            <a:spAutoFit/>
          </a:bodyPr>
          <a:lstStyle/>
          <a:p>
            <a:pPr>
              <a:spcAft>
                <a:spcPts val="1000"/>
              </a:spcAft>
              <a:defRPr sz="3100" b="1">
                <a:solidFill>
                  <a:srgbClr val="17303B"/>
                </a:solidFill>
                <a:latin typeface="Aptos"/>
              </a:defRPr>
            </a:pPr>
            <a:r>
              <a:t>Two labor stories, separated by time</a:t>
            </a:r>
          </a:p>
        </p:txBody>
      </p:sp>
      <p:sp>
        <p:nvSpPr>
          <p:cNvPr id="5" name="TextBox 4"/>
          <p:cNvSpPr txBox="1"/>
          <p:nvPr/>
        </p:nvSpPr>
        <p:spPr>
          <a:xfrm>
            <a:off x="11384280" y="6419088"/>
            <a:ext cx="457200" cy="274320"/>
          </a:xfrm>
          <a:prstGeom prst="rect">
            <a:avLst/>
          </a:prstGeom>
          <a:noFill/>
        </p:spPr>
        <p:txBody>
          <a:bodyPr wrap="square" lIns="109728" tIns="91440" rIns="109728">
            <a:spAutoFit/>
          </a:bodyPr>
          <a:lstStyle/>
          <a:p>
            <a:pPr>
              <a:spcAft>
                <a:spcPts val="1000"/>
              </a:spcAft>
              <a:defRPr sz="1000" b="0">
                <a:solidFill>
                  <a:srgbClr val="586A70"/>
                </a:solidFill>
                <a:latin typeface="Aptos"/>
              </a:defRPr>
            </a:pPr>
            <a:fld id="{E8B6F812-5C20-4915-86F2-44E38E3B3A8C}" type="slidenum">
              <a:rPr lang="en-US" sz="1000">
                <a:solidFill>
                  <a:srgbClr val="586A70"/>
                </a:solidFill>
              </a:rPr>
              <a:t>15</a:t>
            </a:fld>
          </a:p>
        </p:txBody>
      </p:sp>
      <p:sp>
        <p:nvSpPr>
          <p:cNvPr id="6" name="TextBox 5"/>
          <p:cNvSpPr txBox="1"/>
          <p:nvPr/>
        </p:nvSpPr>
        <p:spPr>
          <a:xfrm>
            <a:off x="731520" y="1737360"/>
            <a:ext cx="3566160" cy="731520"/>
          </a:xfrm>
          <a:prstGeom prst="rect">
            <a:avLst/>
          </a:prstGeom>
          <a:noFill/>
        </p:spPr>
        <p:txBody>
          <a:bodyPr wrap="square" lIns="109728" tIns="91440" rIns="109728">
            <a:spAutoFit/>
          </a:bodyPr>
          <a:lstStyle/>
          <a:p>
            <a:pPr>
              <a:spcAft>
                <a:spcPts val="1000"/>
              </a:spcAft>
              <a:defRPr sz="2200" b="1">
                <a:solidFill>
                  <a:srgbClr val="B65B2C"/>
                </a:solidFill>
                <a:latin typeface="Aptos"/>
              </a:defRPr>
            </a:pPr>
            <a:r>
              <a:t>1913–1914</a:t>
            </a:r>
          </a:p>
        </p:txBody>
      </p:sp>
      <p:sp>
        <p:nvSpPr>
          <p:cNvPr id="7" name="Rounded Rectangle 6"/>
          <p:cNvSpPr/>
          <p:nvPr/>
        </p:nvSpPr>
        <p:spPr>
          <a:xfrm>
            <a:off x="731520" y="2697480"/>
            <a:ext cx="3520440" cy="173736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ctr">
              <a:spcAft>
                <a:spcPts val="1000"/>
              </a:spcAft>
              <a:defRPr sz="2500" b="0">
                <a:solidFill>
                  <a:srgbClr val="17303B"/>
                </a:solidFill>
                <a:latin typeface="Aptos"/>
              </a:defRPr>
            </a:pPr>
            <a:r>
              <a:t>Repetitive line work</a:t>
            </a:r>
          </a:p>
          <a:p>
            <a:pPr>
              <a:spcAft>
                <a:spcPts val="1000"/>
              </a:spcAft>
              <a:defRPr sz="2500" b="0">
                <a:solidFill>
                  <a:srgbClr val="17303B"/>
                </a:solidFill>
                <a:latin typeface="Aptos"/>
              </a:defRPr>
            </a:pPr>
            <a:r>
              <a:t>High worker turnover</a:t>
            </a:r>
          </a:p>
        </p:txBody>
      </p:sp>
      <p:sp>
        <p:nvSpPr>
          <p:cNvPr id="8" name="TextBox 7"/>
          <p:cNvSpPr txBox="1"/>
          <p:nvPr/>
        </p:nvSpPr>
        <p:spPr>
          <a:xfrm>
            <a:off x="4526280" y="1737360"/>
            <a:ext cx="3566160" cy="731520"/>
          </a:xfrm>
          <a:prstGeom prst="rect">
            <a:avLst/>
          </a:prstGeom>
          <a:noFill/>
        </p:spPr>
        <p:txBody>
          <a:bodyPr wrap="square" lIns="109728" tIns="91440" rIns="109728">
            <a:spAutoFit/>
          </a:bodyPr>
          <a:lstStyle/>
          <a:p>
            <a:pPr>
              <a:spcAft>
                <a:spcPts val="1000"/>
              </a:spcAft>
              <a:defRPr sz="2200" b="1">
                <a:solidFill>
                  <a:srgbClr val="B65B2C"/>
                </a:solidFill>
                <a:latin typeface="Aptos"/>
              </a:defRPr>
            </a:pPr>
            <a:r>
              <a:t>JANUARY 1914</a:t>
            </a:r>
          </a:p>
        </p:txBody>
      </p:sp>
      <p:sp>
        <p:nvSpPr>
          <p:cNvPr id="9" name="Rounded Rectangle 8"/>
          <p:cNvSpPr/>
          <p:nvPr/>
        </p:nvSpPr>
        <p:spPr>
          <a:xfrm>
            <a:off x="4526280" y="2697480"/>
            <a:ext cx="3520440" cy="173736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ctr">
              <a:spcAft>
                <a:spcPts val="1000"/>
              </a:spcAft>
              <a:defRPr sz="2500" b="0">
                <a:solidFill>
                  <a:srgbClr val="17303B"/>
                </a:solidFill>
                <a:latin typeface="Aptos"/>
              </a:defRPr>
            </a:pPr>
            <a:r>
              <a:t>$5 per eight-hour DAY</a:t>
            </a:r>
          </a:p>
          <a:p>
            <a:pPr>
              <a:spcAft>
                <a:spcPts val="1000"/>
              </a:spcAft>
              <a:defRPr sz="2500" b="0">
                <a:solidFill>
                  <a:srgbClr val="17303B"/>
                </a:solidFill>
                <a:latin typeface="Aptos"/>
              </a:defRPr>
            </a:pPr>
            <a:r>
              <a:t>Conditional pay package</a:t>
            </a:r>
          </a:p>
        </p:txBody>
      </p:sp>
      <p:sp>
        <p:nvSpPr>
          <p:cNvPr id="10" name="TextBox 9"/>
          <p:cNvSpPr txBox="1"/>
          <p:nvPr/>
        </p:nvSpPr>
        <p:spPr>
          <a:xfrm>
            <a:off x="8321040" y="1737360"/>
            <a:ext cx="3566160" cy="731520"/>
          </a:xfrm>
          <a:prstGeom prst="rect">
            <a:avLst/>
          </a:prstGeom>
          <a:noFill/>
        </p:spPr>
        <p:txBody>
          <a:bodyPr wrap="square" lIns="109728" tIns="91440" rIns="109728">
            <a:spAutoFit/>
          </a:bodyPr>
          <a:lstStyle/>
          <a:p>
            <a:pPr>
              <a:spcAft>
                <a:spcPts val="1000"/>
              </a:spcAft>
              <a:defRPr sz="2200" b="1">
                <a:solidFill>
                  <a:srgbClr val="B65B2C"/>
                </a:solidFill>
                <a:latin typeface="Aptos"/>
              </a:defRPr>
            </a:pPr>
            <a:r>
              <a:t>LATER: 1920s–1930s</a:t>
            </a:r>
          </a:p>
        </p:txBody>
      </p:sp>
      <p:sp>
        <p:nvSpPr>
          <p:cNvPr id="11" name="Rounded Rectangle 10"/>
          <p:cNvSpPr/>
          <p:nvPr/>
        </p:nvSpPr>
        <p:spPr>
          <a:xfrm>
            <a:off x="8321040" y="2697480"/>
            <a:ext cx="3520440" cy="173736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ctr">
              <a:spcAft>
                <a:spcPts val="1000"/>
              </a:spcAft>
              <a:defRPr sz="2500" b="0">
                <a:solidFill>
                  <a:srgbClr val="17303B"/>
                </a:solidFill>
                <a:latin typeface="Aptos"/>
              </a:defRPr>
            </a:pPr>
            <a:r>
              <a:t>Bennett’s enforcers</a:t>
            </a:r>
          </a:p>
          <a:p>
            <a:pPr>
              <a:spcAft>
                <a:spcPts val="1000"/>
              </a:spcAft>
              <a:defRPr sz="2500" b="0">
                <a:solidFill>
                  <a:srgbClr val="17303B"/>
                </a:solidFill>
                <a:latin typeface="Aptos"/>
              </a:defRPr>
            </a:pPr>
            <a:r>
              <a:t>Anti-union intimidation</a:t>
            </a:r>
          </a:p>
        </p:txBody>
      </p:sp>
    </p:spTree>
    <p:extLst>
      <p:ext uri="{BB962C8B-B14F-4D97-AF65-F5344CB8AC3E}">
        <p14:creationId xmlns:p14="http://schemas.microsoft.com/office/powerpoint/2010/main" val="672209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5387827-F73F-4E47-86BC-C52328D601B8}"/>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When employee welfare became control</a:t>
            </a:r>
          </a:p>
        </p:txBody>
      </p:sp>
      <p:sp>
        <p:nvSpPr>
          <p:cNvPr id="2" name="Rectangle 1">
            <a:extLst>
              <a:ext uri="{FF2B5EF4-FFF2-40B4-BE49-F238E27FC236}">
                <a16:creationId xmlns:a16="http://schemas.microsoft.com/office/drawing/2014/main" id="{ABBDF933-13E3-4690-9182-383A124D717B}"/>
              </a:ext>
            </a:extLst>
          </p:cNvPr>
          <p:cNvSpPr>
            <a:spLocks noGrp="1"/>
          </p:cNvSpPr>
          <p:nvPr/>
        </p:nvSpPr>
        <p:spPr>
          <a:xfrm>
            <a:off x="666750" y="1809750"/>
            <a:ext cx="5143500" cy="619125"/>
          </a:xfrm>
          <a:prstGeom prst="rect">
            <a:avLst/>
          </a:prstGeom>
          <a:noFill/>
          <a:ln w="0">
            <a:noFill/>
          </a:ln>
        </p:spPr>
        <p:txBody>
          <a:bodyPr lIns="0" tIns="0" rIns="0" bIns="0">
            <a:noAutofit/>
          </a:bodyPr>
          <a:lstStyle/>
          <a:p>
            <a:pPr>
              <a:buNone/>
              <a:defRPr sz="2325" b="1">
                <a:solidFill>
                  <a:srgbClr val="A95D35"/>
                </a:solidFill>
                <a:latin typeface="Arial"/>
                <a:ea typeface="Arial"/>
                <a:cs typeface="Arial"/>
              </a:defRPr>
            </a:pPr>
            <a:r>
              <a:rPr sz="2325" b="1">
                <a:solidFill>
                  <a:srgbClr val="A95D35"/>
                </a:solidFill>
                <a:latin typeface="Arial"/>
                <a:ea typeface="Arial"/>
                <a:cs typeface="Arial"/>
              </a:rPr>
              <a:t>Company support</a:t>
            </a:r>
          </a:p>
        </p:txBody>
      </p:sp>
      <p:sp>
        <p:nvSpPr>
          <p:cNvPr id="3" name="Rectangle 2">
            <a:extLst>
              <a:ext uri="{FF2B5EF4-FFF2-40B4-BE49-F238E27FC236}">
                <a16:creationId xmlns:a16="http://schemas.microsoft.com/office/drawing/2014/main" id="{D425E547-032A-453F-A125-C680237E9197}"/>
              </a:ext>
            </a:extLst>
          </p:cNvPr>
          <p:cNvSpPr>
            <a:spLocks noGrp="1"/>
          </p:cNvSpPr>
          <p:nvPr/>
        </p:nvSpPr>
        <p:spPr>
          <a:xfrm>
            <a:off x="666750" y="2638425"/>
            <a:ext cx="5048250" cy="30003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Health and household advice</a:t>
            </a:r>
          </a:p>
          <a:p>
            <a:pPr algn="l">
              <a:buNone/>
              <a:defRPr sz="2100" b="0">
                <a:solidFill>
                  <a:srgbClr val="172A36"/>
                </a:solidFill>
                <a:latin typeface="Arial"/>
                <a:ea typeface="Arial"/>
                <a:cs typeface="Arial"/>
              </a:defRPr>
            </a:pPr>
            <a:r>
              <a:rPr sz="2100" b="0">
                <a:solidFill>
                  <a:srgbClr val="172A36"/>
                </a:solidFill>
                <a:latin typeface="Arial"/>
                <a:ea typeface="Arial"/>
                <a:cs typeface="Arial"/>
              </a:rPr>
              <a:t>Financial and legal assistance</a:t>
            </a:r>
          </a:p>
          <a:p>
            <a:pPr algn="l">
              <a:buNone/>
              <a:defRPr sz="2100" b="0">
                <a:solidFill>
                  <a:srgbClr val="172A36"/>
                </a:solidFill>
                <a:latin typeface="Arial"/>
                <a:ea typeface="Arial"/>
                <a:cs typeface="Arial"/>
              </a:defRPr>
            </a:pPr>
            <a:r>
              <a:rPr sz="2100" b="0">
                <a:solidFill>
                  <a:srgbClr val="172A36"/>
                </a:solidFill>
                <a:latin typeface="Arial"/>
                <a:ea typeface="Arial"/>
                <a:cs typeface="Arial"/>
              </a:rPr>
              <a:t>English-language education</a:t>
            </a:r>
          </a:p>
        </p:txBody>
      </p:sp>
      <p:sp>
        <p:nvSpPr>
          <p:cNvPr id="4" name="Rectangle 3">
            <a:extLst>
              <a:ext uri="{FF2B5EF4-FFF2-40B4-BE49-F238E27FC236}">
                <a16:creationId xmlns:a16="http://schemas.microsoft.com/office/drawing/2014/main" id="{A3D1FBCE-07A0-45E7-B953-1691FDE36668}"/>
              </a:ext>
            </a:extLst>
          </p:cNvPr>
          <p:cNvSpPr>
            <a:spLocks noGrp="1"/>
          </p:cNvSpPr>
          <p:nvPr/>
        </p:nvSpPr>
        <p:spPr>
          <a:xfrm>
            <a:off x="6286500" y="1809750"/>
            <a:ext cx="5143500" cy="619125"/>
          </a:xfrm>
          <a:prstGeom prst="rect">
            <a:avLst/>
          </a:prstGeom>
          <a:noFill/>
          <a:ln w="0">
            <a:noFill/>
          </a:ln>
        </p:spPr>
        <p:txBody>
          <a:bodyPr lIns="0" tIns="0" rIns="0" bIns="0">
            <a:noAutofit/>
          </a:bodyPr>
          <a:lstStyle/>
          <a:p>
            <a:pPr>
              <a:buNone/>
              <a:defRPr sz="2325" b="1">
                <a:solidFill>
                  <a:srgbClr val="A95D35"/>
                </a:solidFill>
                <a:latin typeface="Arial"/>
                <a:ea typeface="Arial"/>
                <a:cs typeface="Arial"/>
              </a:defRPr>
            </a:pPr>
            <a:r>
              <a:rPr sz="2325" b="1">
                <a:solidFill>
                  <a:srgbClr val="A95D35"/>
                </a:solidFill>
                <a:latin typeface="Arial"/>
                <a:ea typeface="Arial"/>
                <a:cs typeface="Arial"/>
              </a:rPr>
              <a:t>Company intrusion</a:t>
            </a:r>
          </a:p>
        </p:txBody>
      </p:sp>
      <p:sp>
        <p:nvSpPr>
          <p:cNvPr id="5" name="Rectangle 4">
            <a:extLst>
              <a:ext uri="{FF2B5EF4-FFF2-40B4-BE49-F238E27FC236}">
                <a16:creationId xmlns:a16="http://schemas.microsoft.com/office/drawing/2014/main" id="{960164FA-BF24-4B50-AEA2-1359803D472D}"/>
              </a:ext>
            </a:extLst>
          </p:cNvPr>
          <p:cNvSpPr>
            <a:spLocks noGrp="1"/>
          </p:cNvSpPr>
          <p:nvPr/>
        </p:nvSpPr>
        <p:spPr>
          <a:xfrm>
            <a:off x="6286500" y="2638425"/>
            <a:ext cx="5048250" cy="30003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Unannounced home visits</a:t>
            </a:r>
          </a:p>
          <a:p>
            <a:pPr algn="l">
              <a:buNone/>
              <a:defRPr sz="2100" b="0">
                <a:solidFill>
                  <a:srgbClr val="172A36"/>
                </a:solidFill>
                <a:latin typeface="Arial"/>
                <a:ea typeface="Arial"/>
                <a:cs typeface="Arial"/>
              </a:defRPr>
            </a:pPr>
            <a:r>
              <a:rPr sz="2100" b="0">
                <a:solidFill>
                  <a:srgbClr val="172A36"/>
                </a:solidFill>
                <a:latin typeface="Arial"/>
                <a:ea typeface="Arial"/>
                <a:cs typeface="Arial"/>
              </a:rPr>
              <a:t>Checks on savings and family life</a:t>
            </a:r>
          </a:p>
          <a:p>
            <a:pPr algn="l">
              <a:buNone/>
              <a:defRPr sz="2100" b="0">
                <a:solidFill>
                  <a:srgbClr val="172A36"/>
                </a:solidFill>
                <a:latin typeface="Arial"/>
                <a:ea typeface="Arial"/>
                <a:cs typeface="Arial"/>
              </a:defRPr>
            </a:pPr>
            <a:r>
              <a:rPr sz="2100" b="0">
                <a:solidFill>
                  <a:srgbClr val="172A36"/>
                </a:solidFill>
                <a:latin typeface="Arial"/>
                <a:ea typeface="Arial"/>
                <a:cs typeface="Arial"/>
              </a:rPr>
              <a:t>Pay eligibility tied to conduct</a:t>
            </a:r>
          </a:p>
        </p:txBody>
      </p:sp>
      <p:sp>
        <p:nvSpPr>
          <p:cNvPr id="6" name="Rectangle 5">
            <a:extLst>
              <a:ext uri="{FF2B5EF4-FFF2-40B4-BE49-F238E27FC236}">
                <a16:creationId xmlns:a16="http://schemas.microsoft.com/office/drawing/2014/main" id="{4A6A35A1-124F-4EAB-A80A-EB3ADF3C1086}"/>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stakeholder interests, culture, and ethics</a:t>
            </a:r>
          </a:p>
        </p:txBody>
      </p:sp>
      <p:sp>
        <p:nvSpPr>
          <p:cNvPr id="7" name="Rectangle 6">
            <a:extLst>
              <a:ext uri="{FF2B5EF4-FFF2-40B4-BE49-F238E27FC236}">
                <a16:creationId xmlns:a16="http://schemas.microsoft.com/office/drawing/2014/main" id="{6B0C3878-4133-449F-AD96-4596014E08FA}"/>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0049BBFF-E2BD-4A2A-A589-5CF559290F62}" type="slidenum">
              <a:rPr lang="en-US" sz="1000">
                <a:solidFill>
                  <a:srgbClr val="586A70"/>
                </a:solidFill>
              </a:rPr>
              <a:t>16</a:t>
            </a:fld>
          </a:p>
        </p:txBody>
      </p:sp>
    </p:spTree>
    <p:extLst>
      <p:ext uri="{BB962C8B-B14F-4D97-AF65-F5344CB8AC3E}">
        <p14:creationId xmlns:p14="http://schemas.microsoft.com/office/powerpoint/2010/main" val="327364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0D8EE5C-AE9C-4CEE-BFAE-320E2C95625B}"/>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River Rouge and vertical integration</a:t>
            </a:r>
          </a:p>
        </p:txBody>
      </p:sp>
      <p:sp>
        <p:nvSpPr>
          <p:cNvPr id="2" name="Rectangle 1">
            <a:extLst>
              <a:ext uri="{FF2B5EF4-FFF2-40B4-BE49-F238E27FC236}">
                <a16:creationId xmlns:a16="http://schemas.microsoft.com/office/drawing/2014/main" id="{B646DA62-8182-4AF4-B1C2-1FB26ADDC362}"/>
              </a:ext>
            </a:extLst>
          </p:cNvPr>
          <p:cNvSpPr>
            <a:spLocks noGrp="1"/>
          </p:cNvSpPr>
          <p:nvPr/>
        </p:nvSpPr>
        <p:spPr>
          <a:xfrm>
            <a:off x="666750" y="1762125"/>
            <a:ext cx="10572750" cy="952500"/>
          </a:xfrm>
          <a:prstGeom prst="rect">
            <a:avLst/>
          </a:prstGeom>
          <a:noFill/>
          <a:ln w="0">
            <a:noFill/>
          </a:ln>
        </p:spPr>
        <p:txBody>
          <a:bodyPr lIns="0" tIns="0" rIns="0" bIns="0">
            <a:noAutofit/>
          </a:bodyPr>
          <a:lstStyle/>
          <a:p>
            <a:pPr>
              <a:buNone/>
              <a:defRPr sz="2400" b="0">
                <a:solidFill>
                  <a:srgbClr val="172A36"/>
                </a:solidFill>
                <a:latin typeface="Arial"/>
                <a:ea typeface="Arial"/>
                <a:cs typeface="Arial"/>
              </a:defRPr>
            </a:pPr>
            <a:r>
              <a:rPr sz="2400" b="0">
                <a:solidFill>
                  <a:srgbClr val="172A36"/>
                </a:solidFill>
                <a:latin typeface="Arial"/>
                <a:ea typeface="Arial"/>
                <a:cs typeface="Arial"/>
              </a:rPr>
              <a:t>Ford brought more stages of production under company control.</a:t>
            </a:r>
          </a:p>
        </p:txBody>
      </p:sp>
      <p:sp>
        <p:nvSpPr>
          <p:cNvPr id="3" name="Rectangle 2">
            <a:extLst>
              <a:ext uri="{FF2B5EF4-FFF2-40B4-BE49-F238E27FC236}">
                <a16:creationId xmlns:a16="http://schemas.microsoft.com/office/drawing/2014/main" id="{EBFC1E94-9999-4BF1-AE68-316048E8FE3D}"/>
              </a:ext>
            </a:extLst>
          </p:cNvPr>
          <p:cNvSpPr>
            <a:spLocks noGrp="1"/>
          </p:cNvSpPr>
          <p:nvPr/>
        </p:nvSpPr>
        <p:spPr>
          <a:xfrm>
            <a:off x="666750" y="2809875"/>
            <a:ext cx="10572750" cy="952500"/>
          </a:xfrm>
          <a:prstGeom prst="rect">
            <a:avLst/>
          </a:prstGeom>
          <a:noFill/>
          <a:ln w="0">
            <a:noFill/>
          </a:ln>
        </p:spPr>
        <p:txBody>
          <a:bodyPr lIns="0" tIns="0" rIns="0" bIns="0">
            <a:noAutofit/>
          </a:bodyPr>
          <a:lstStyle/>
          <a:p>
            <a:pPr>
              <a:buNone/>
              <a:defRPr sz="2400" b="0">
                <a:solidFill>
                  <a:srgbClr val="172A36"/>
                </a:solidFill>
                <a:latin typeface="Arial"/>
                <a:ea typeface="Arial"/>
                <a:cs typeface="Arial"/>
              </a:defRPr>
            </a:pPr>
            <a:r>
              <a:rPr sz="2400" b="0">
                <a:solidFill>
                  <a:srgbClr val="172A36"/>
                </a:solidFill>
                <a:latin typeface="Arial"/>
                <a:ea typeface="Arial"/>
                <a:cs typeface="Arial"/>
              </a:rPr>
              <a:t>At Rouge: ore docks, steelmaking, glassmaking, and vehicle assembly</a:t>
            </a:r>
          </a:p>
        </p:txBody>
      </p:sp>
      <p:sp>
        <p:nvSpPr>
          <p:cNvPr id="4" name="Rectangle 3">
            <a:extLst>
              <a:ext uri="{FF2B5EF4-FFF2-40B4-BE49-F238E27FC236}">
                <a16:creationId xmlns:a16="http://schemas.microsoft.com/office/drawing/2014/main" id="{F042F00D-3380-4892-9B9E-45CD120B91BC}"/>
              </a:ext>
            </a:extLst>
          </p:cNvPr>
          <p:cNvSpPr>
            <a:spLocks noGrp="1"/>
          </p:cNvSpPr>
          <p:nvPr/>
        </p:nvSpPr>
        <p:spPr>
          <a:xfrm>
            <a:off x="666750" y="3857625"/>
            <a:ext cx="10572750" cy="952500"/>
          </a:xfrm>
          <a:prstGeom prst="rect">
            <a:avLst/>
          </a:prstGeom>
          <a:noFill/>
          <a:ln w="0">
            <a:noFill/>
          </a:ln>
        </p:spPr>
        <p:txBody>
          <a:bodyPr lIns="0" tIns="0" rIns="0" bIns="0">
            <a:noAutofit/>
          </a:bodyPr>
          <a:lstStyle/>
          <a:p>
            <a:pPr>
              <a:buNone/>
              <a:defRPr sz="2400" b="0">
                <a:solidFill>
                  <a:srgbClr val="172A36"/>
                </a:solidFill>
                <a:latin typeface="Arial"/>
                <a:ea typeface="Arial"/>
                <a:cs typeface="Arial"/>
              </a:defRPr>
            </a:pPr>
            <a:r>
              <a:rPr sz="2400" b="0">
                <a:solidFill>
                  <a:srgbClr val="172A36"/>
                </a:solidFill>
                <a:latin typeface="Arial"/>
                <a:ea typeface="Arial"/>
                <a:cs typeface="Arial"/>
              </a:rPr>
              <a:t>The complex achieved “ore to assembly” with the Model A in 1927.</a:t>
            </a:r>
          </a:p>
        </p:txBody>
      </p:sp>
      <p:sp>
        <p:nvSpPr>
          <p:cNvPr id="5" name="Rectangle 4">
            <a:extLst>
              <a:ext uri="{FF2B5EF4-FFF2-40B4-BE49-F238E27FC236}">
                <a16:creationId xmlns:a16="http://schemas.microsoft.com/office/drawing/2014/main" id="{3393E27F-C759-4148-AA3B-7DE9FB1C400B}"/>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vertical integration as a growth strategy</a:t>
            </a:r>
          </a:p>
        </p:txBody>
      </p:sp>
      <p:sp>
        <p:nvSpPr>
          <p:cNvPr id="6" name="Rectangle 5">
            <a:extLst>
              <a:ext uri="{FF2B5EF4-FFF2-40B4-BE49-F238E27FC236}">
                <a16:creationId xmlns:a16="http://schemas.microsoft.com/office/drawing/2014/main" id="{10E8FF42-5A00-4594-BBC9-97ACFB46D2D1}"/>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5B58E6B1-2D6E-410D-A0BF-C0123A2945D1}" type="slidenum">
              <a:rPr lang="en-US" sz="1000">
                <a:solidFill>
                  <a:srgbClr val="586A70"/>
                </a:solidFill>
              </a:rPr>
              <a:t>17</a:t>
            </a:fld>
          </a:p>
        </p:txBody>
      </p:sp>
    </p:spTree>
    <p:extLst>
      <p:ext uri="{BB962C8B-B14F-4D97-AF65-F5344CB8AC3E}">
        <p14:creationId xmlns:p14="http://schemas.microsoft.com/office/powerpoint/2010/main" val="2092796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FFEBB9-EA21-4B89-8C4F-4D3BEBF186C3}"/>
              </a:ext>
            </a:extLst>
          </p:cNvPr>
          <p:cNvSpPr>
            <a:spLocks noGrp="1"/>
          </p:cNvSpPr>
          <p:nvPr/>
        </p:nvSpPr>
        <p:spPr>
          <a:xfrm>
            <a:off x="609600" y="457200"/>
            <a:ext cx="64770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The innovator resisted change</a:t>
            </a:r>
          </a:p>
        </p:txBody>
      </p:sp>
      <p:pic>
        <p:nvPicPr>
          <p:cNvPr id="11" name="Picture 10">
            <a:extLst>
              <a:ext uri="{FF2B5EF4-FFF2-40B4-BE49-F238E27FC236}">
                <a16:creationId xmlns:a16="http://schemas.microsoft.com/office/drawing/2014/main" id="{EF64BF95-31CA-405E-959C-A3CF66573E68}"/>
              </a:ext>
            </a:extLst>
          </p:cNvPr>
          <p:cNvPicPr>
            <a:picLocks noChangeAspect="1"/>
          </p:cNvPicPr>
          <p:nvPr/>
        </p:nvPicPr>
        <p:blipFill>
          <a:blip r:embed="rId3"/>
          <a:stretch/>
        </p:blipFill>
        <p:spPr>
          <a:xfrm>
            <a:off x="7048500" y="1884263"/>
            <a:ext cx="4524375" cy="3660973"/>
          </a:xfrm>
          <a:prstGeom prst="rect">
            <a:avLst/>
          </a:prstGeom>
        </p:spPr>
      </p:pic>
      <p:sp>
        <p:nvSpPr>
          <p:cNvPr id="3" name="Rectangle 2">
            <a:extLst>
              <a:ext uri="{FF2B5EF4-FFF2-40B4-BE49-F238E27FC236}">
                <a16:creationId xmlns:a16="http://schemas.microsoft.com/office/drawing/2014/main" id="{C8F9AA52-03EA-4CF5-BE0A-41F70A1B56C5}"/>
              </a:ext>
            </a:extLst>
          </p:cNvPr>
          <p:cNvSpPr>
            <a:spLocks noGrp="1"/>
          </p:cNvSpPr>
          <p:nvPr/>
        </p:nvSpPr>
        <p:spPr>
          <a:xfrm>
            <a:off x="666750" y="1847850"/>
            <a:ext cx="5905500" cy="9048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Buyers wanted more comfort, styling, and choice.</a:t>
            </a:r>
          </a:p>
        </p:txBody>
      </p:sp>
      <p:sp>
        <p:nvSpPr>
          <p:cNvPr id="4" name="Rectangle 3">
            <a:extLst>
              <a:ext uri="{FF2B5EF4-FFF2-40B4-BE49-F238E27FC236}">
                <a16:creationId xmlns:a16="http://schemas.microsoft.com/office/drawing/2014/main" id="{626CE590-178D-4726-A3FC-31A4B0AACDDB}"/>
              </a:ext>
            </a:extLst>
          </p:cNvPr>
          <p:cNvSpPr>
            <a:spLocks noGrp="1"/>
          </p:cNvSpPr>
          <p:nvPr/>
        </p:nvSpPr>
        <p:spPr>
          <a:xfrm>
            <a:off x="666750" y="2990850"/>
            <a:ext cx="5905500" cy="9048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Commitment to the Model T delayed adaptation to the market.</a:t>
            </a:r>
          </a:p>
        </p:txBody>
      </p:sp>
      <p:sp>
        <p:nvSpPr>
          <p:cNvPr id="5" name="Rectangle 4">
            <a:extLst>
              <a:ext uri="{FF2B5EF4-FFF2-40B4-BE49-F238E27FC236}">
                <a16:creationId xmlns:a16="http://schemas.microsoft.com/office/drawing/2014/main" id="{FEEB0438-29E5-4D47-83EE-8FDA3FDBCCC0}"/>
              </a:ext>
            </a:extLst>
          </p:cNvPr>
          <p:cNvSpPr>
            <a:spLocks noGrp="1"/>
          </p:cNvSpPr>
          <p:nvPr/>
        </p:nvSpPr>
        <p:spPr>
          <a:xfrm>
            <a:off x="666750" y="4133850"/>
            <a:ext cx="5905500" cy="9048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The Model A arrived in 1927 after Ford shut down to retool.</a:t>
            </a:r>
          </a:p>
        </p:txBody>
      </p:sp>
      <p:sp>
        <p:nvSpPr>
          <p:cNvPr id="6" name="Rectangle 5">
            <a:extLst>
              <a:ext uri="{FF2B5EF4-FFF2-40B4-BE49-F238E27FC236}">
                <a16:creationId xmlns:a16="http://schemas.microsoft.com/office/drawing/2014/main" id="{B94725B4-6CFE-4045-883D-EFCE87FF5ED5}"/>
              </a:ext>
            </a:extLst>
          </p:cNvPr>
          <p:cNvSpPr>
            <a:spLocks noGrp="1"/>
          </p:cNvSpPr>
          <p:nvPr/>
        </p:nvSpPr>
        <p:spPr>
          <a:xfrm>
            <a:off x="7048500" y="5772150"/>
            <a:ext cx="4524375" cy="1905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sz="1125" b="0">
                <a:solidFill>
                  <a:srgbClr val="55636A"/>
                </a:solidFill>
                <a:latin typeface="Arial"/>
                <a:ea typeface="Arial"/>
                <a:cs typeface="Arial"/>
              </a:rPr>
              <a:t>Edsel and Henry Ford with a Model A, 1928</a:t>
            </a:r>
          </a:p>
        </p:txBody>
      </p:sp>
      <p:sp>
        <p:nvSpPr>
          <p:cNvPr id="7" name="Rectangle 6">
            <a:extLst>
              <a:ext uri="{FF2B5EF4-FFF2-40B4-BE49-F238E27FC236}">
                <a16:creationId xmlns:a16="http://schemas.microsoft.com/office/drawing/2014/main" id="{A2FF3233-559F-4669-8369-EAAAB16C14F7}"/>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environmental scanning and resistance to change</a:t>
            </a:r>
          </a:p>
        </p:txBody>
      </p:sp>
      <p:sp>
        <p:nvSpPr>
          <p:cNvPr id="8" name="Rectangle 7">
            <a:extLst>
              <a:ext uri="{FF2B5EF4-FFF2-40B4-BE49-F238E27FC236}">
                <a16:creationId xmlns:a16="http://schemas.microsoft.com/office/drawing/2014/main" id="{2D4AD548-B20D-4F96-B405-B501E43330F2}"/>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B4CD546F-6A00-4002-AB76-B70A94BFC1A0}" type="slidenum">
              <a:rPr lang="en-US" sz="1000">
                <a:solidFill>
                  <a:srgbClr val="586A70"/>
                </a:solidFill>
              </a:rPr>
              <a:t>18</a:t>
            </a:fld>
          </a:p>
        </p:txBody>
      </p:sp>
    </p:spTree>
    <p:extLst>
      <p:ext uri="{BB962C8B-B14F-4D97-AF65-F5344CB8AC3E}">
        <p14:creationId xmlns:p14="http://schemas.microsoft.com/office/powerpoint/2010/main" val="594382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C3CE0A-5052-49B6-8A11-4F057228CE15}"/>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Labor relations and worker voice</a:t>
            </a:r>
          </a:p>
        </p:txBody>
      </p:sp>
      <p:sp>
        <p:nvSpPr>
          <p:cNvPr id="2" name="Rectangle 1">
            <a:extLst>
              <a:ext uri="{FF2B5EF4-FFF2-40B4-BE49-F238E27FC236}">
                <a16:creationId xmlns:a16="http://schemas.microsoft.com/office/drawing/2014/main" id="{BEDBF06C-4D82-44AE-B7F6-A89BC9D751C2}"/>
              </a:ext>
            </a:extLst>
          </p:cNvPr>
          <p:cNvSpPr>
            <a:spLocks noGrp="1"/>
          </p:cNvSpPr>
          <p:nvPr/>
        </p:nvSpPr>
        <p:spPr>
          <a:xfrm>
            <a:off x="666750" y="1762125"/>
            <a:ext cx="10572750" cy="952500"/>
          </a:xfrm>
          <a:prstGeom prst="rect">
            <a:avLst/>
          </a:prstGeom>
          <a:noFill/>
          <a:ln w="0">
            <a:noFill/>
          </a:ln>
        </p:spPr>
        <p:txBody>
          <a:bodyPr lIns="0" tIns="0" rIns="0" bIns="0">
            <a:noAutofit/>
          </a:bodyPr>
          <a:lstStyle/>
          <a:p>
            <a:pPr>
              <a:buNone/>
              <a:defRPr sz="2400" b="0">
                <a:solidFill>
                  <a:srgbClr val="172A36"/>
                </a:solidFill>
                <a:latin typeface="Arial"/>
                <a:ea typeface="Arial"/>
                <a:cs typeface="Arial"/>
              </a:defRPr>
            </a:pPr>
            <a:r>
              <a:rPr sz="2400" b="0">
                <a:solidFill>
                  <a:srgbClr val="172A36"/>
                </a:solidFill>
                <a:latin typeface="Arial"/>
                <a:ea typeface="Arial"/>
                <a:cs typeface="Arial"/>
              </a:rPr>
              <a:t>1937: Ford security personnel attacked union organizers at the Battle of the Overpass.</a:t>
            </a:r>
          </a:p>
        </p:txBody>
      </p:sp>
      <p:sp>
        <p:nvSpPr>
          <p:cNvPr id="3" name="Rectangle 2">
            <a:extLst>
              <a:ext uri="{FF2B5EF4-FFF2-40B4-BE49-F238E27FC236}">
                <a16:creationId xmlns:a16="http://schemas.microsoft.com/office/drawing/2014/main" id="{2D04FD28-B185-4323-A53E-E9C524DC11F9}"/>
              </a:ext>
            </a:extLst>
          </p:cNvPr>
          <p:cNvSpPr>
            <a:spLocks noGrp="1"/>
          </p:cNvSpPr>
          <p:nvPr/>
        </p:nvSpPr>
        <p:spPr>
          <a:xfrm>
            <a:off x="666750" y="2809875"/>
            <a:ext cx="10572750" cy="952500"/>
          </a:xfrm>
          <a:prstGeom prst="rect">
            <a:avLst/>
          </a:prstGeom>
          <a:noFill/>
          <a:ln w="0">
            <a:noFill/>
          </a:ln>
        </p:spPr>
        <p:txBody>
          <a:bodyPr lIns="0" tIns="0" rIns="0" bIns="0">
            <a:noAutofit/>
          </a:bodyPr>
          <a:lstStyle/>
          <a:p>
            <a:pPr>
              <a:buNone/>
              <a:defRPr sz="2400" b="0">
                <a:solidFill>
                  <a:srgbClr val="172A36"/>
                </a:solidFill>
                <a:latin typeface="Arial"/>
                <a:ea typeface="Arial"/>
                <a:cs typeface="Arial"/>
              </a:defRPr>
            </a:pPr>
            <a:r>
              <a:rPr sz="2400" b="0">
                <a:solidFill>
                  <a:srgbClr val="172A36"/>
                </a:solidFill>
                <a:latin typeface="Arial"/>
                <a:ea typeface="Arial"/>
                <a:cs typeface="Arial"/>
              </a:rPr>
              <a:t>1941: Ford accepted union representation.</a:t>
            </a:r>
          </a:p>
        </p:txBody>
      </p:sp>
      <p:sp>
        <p:nvSpPr>
          <p:cNvPr id="4" name="Rectangle 3">
            <a:extLst>
              <a:ext uri="{FF2B5EF4-FFF2-40B4-BE49-F238E27FC236}">
                <a16:creationId xmlns:a16="http://schemas.microsoft.com/office/drawing/2014/main" id="{79D9DF02-373E-41A4-82B5-D39AE938A5AB}"/>
              </a:ext>
            </a:extLst>
          </p:cNvPr>
          <p:cNvSpPr>
            <a:spLocks noGrp="1"/>
          </p:cNvSpPr>
          <p:nvPr/>
        </p:nvSpPr>
        <p:spPr>
          <a:xfrm>
            <a:off x="666750" y="3857625"/>
            <a:ext cx="10572750" cy="952500"/>
          </a:xfrm>
          <a:prstGeom prst="rect">
            <a:avLst/>
          </a:prstGeom>
          <a:noFill/>
          <a:ln w="0">
            <a:noFill/>
          </a:ln>
        </p:spPr>
        <p:txBody>
          <a:bodyPr lIns="0" tIns="0" rIns="0" bIns="0">
            <a:noAutofit/>
          </a:bodyPr>
          <a:lstStyle/>
          <a:p>
            <a:pPr>
              <a:buNone/>
              <a:defRPr sz="2400" b="0">
                <a:solidFill>
                  <a:srgbClr val="172A36"/>
                </a:solidFill>
                <a:latin typeface="Arial"/>
                <a:ea typeface="Arial"/>
                <a:cs typeface="Arial"/>
              </a:defRPr>
            </a:pPr>
            <a:r>
              <a:rPr sz="2400" b="0">
                <a:solidFill>
                  <a:srgbClr val="172A36"/>
                </a:solidFill>
                <a:latin typeface="Arial"/>
                <a:ea typeface="Arial"/>
                <a:cs typeface="Arial"/>
              </a:rPr>
              <a:t>High pay did not settle questions of power, dignity, or employee voice.</a:t>
            </a:r>
          </a:p>
        </p:txBody>
      </p:sp>
      <p:sp>
        <p:nvSpPr>
          <p:cNvPr id="5" name="Rectangle 4">
            <a:extLst>
              <a:ext uri="{FF2B5EF4-FFF2-40B4-BE49-F238E27FC236}">
                <a16:creationId xmlns:a16="http://schemas.microsoft.com/office/drawing/2014/main" id="{796AE8BB-EEB8-431A-B344-A67AA34EDAAC}"/>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stakeholders and ethical leadership</a:t>
            </a:r>
          </a:p>
        </p:txBody>
      </p:sp>
      <p:sp>
        <p:nvSpPr>
          <p:cNvPr id="6" name="Rectangle 5">
            <a:extLst>
              <a:ext uri="{FF2B5EF4-FFF2-40B4-BE49-F238E27FC236}">
                <a16:creationId xmlns:a16="http://schemas.microsoft.com/office/drawing/2014/main" id="{1C3CE7B8-7E90-4CFC-A769-FC983317EF10}"/>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F6B48DAB-4EB9-4CAA-A71E-6C03910E2F20}" type="slidenum">
              <a:rPr lang="en-US" sz="1000">
                <a:solidFill>
                  <a:srgbClr val="586A70"/>
                </a:solidFill>
              </a:rPr>
              <a:t>19</a:t>
            </a:fld>
          </a:p>
        </p:txBody>
      </p:sp>
    </p:spTree>
    <p:extLst>
      <p:ext uri="{BB962C8B-B14F-4D97-AF65-F5344CB8AC3E}">
        <p14:creationId xmlns:p14="http://schemas.microsoft.com/office/powerpoint/2010/main" val="1733993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CA96CB6-3B49-4477-94D4-83E59175CBDB}"/>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A balanced evaluation of Ford</a:t>
            </a:r>
          </a:p>
        </p:txBody>
      </p:sp>
      <p:sp>
        <p:nvSpPr>
          <p:cNvPr id="2" name="Rectangle 1">
            <a:extLst>
              <a:ext uri="{FF2B5EF4-FFF2-40B4-BE49-F238E27FC236}">
                <a16:creationId xmlns:a16="http://schemas.microsoft.com/office/drawing/2014/main" id="{C4887213-BD36-45A6-A1C6-6992294EA200}"/>
              </a:ext>
            </a:extLst>
          </p:cNvPr>
          <p:cNvSpPr>
            <a:spLocks noGrp="1"/>
          </p:cNvSpPr>
          <p:nvPr/>
        </p:nvSpPr>
        <p:spPr>
          <a:xfrm>
            <a:off x="666750" y="1809750"/>
            <a:ext cx="5143500" cy="619125"/>
          </a:xfrm>
          <a:prstGeom prst="rect">
            <a:avLst/>
          </a:prstGeom>
          <a:noFill/>
          <a:ln w="0">
            <a:noFill/>
          </a:ln>
        </p:spPr>
        <p:txBody>
          <a:bodyPr lIns="0" tIns="0" rIns="0" bIns="0">
            <a:noAutofit/>
          </a:bodyPr>
          <a:lstStyle/>
          <a:p>
            <a:pPr>
              <a:buNone/>
              <a:defRPr sz="2325" b="1">
                <a:solidFill>
                  <a:srgbClr val="A95D35"/>
                </a:solidFill>
                <a:latin typeface="Arial"/>
                <a:ea typeface="Arial"/>
                <a:cs typeface="Arial"/>
              </a:defRPr>
            </a:pPr>
            <a:r>
              <a:rPr sz="2325" b="1">
                <a:solidFill>
                  <a:srgbClr val="A95D35"/>
                </a:solidFill>
                <a:latin typeface="Arial"/>
                <a:ea typeface="Arial"/>
                <a:cs typeface="Arial"/>
              </a:rPr>
              <a:t>Contributions</a:t>
            </a:r>
          </a:p>
        </p:txBody>
      </p:sp>
      <p:sp>
        <p:nvSpPr>
          <p:cNvPr id="3" name="Rectangle 2">
            <a:extLst>
              <a:ext uri="{FF2B5EF4-FFF2-40B4-BE49-F238E27FC236}">
                <a16:creationId xmlns:a16="http://schemas.microsoft.com/office/drawing/2014/main" id="{52FD7697-C718-4AEA-BF01-32D9599740F9}"/>
              </a:ext>
            </a:extLst>
          </p:cNvPr>
          <p:cNvSpPr>
            <a:spLocks noGrp="1"/>
          </p:cNvSpPr>
          <p:nvPr/>
        </p:nvSpPr>
        <p:spPr>
          <a:xfrm>
            <a:off x="666750" y="2638425"/>
            <a:ext cx="5048250" cy="30003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Mass production expanded access</a:t>
            </a:r>
          </a:p>
          <a:p>
            <a:pPr algn="l">
              <a:buNone/>
              <a:defRPr sz="2100" b="0">
                <a:solidFill>
                  <a:srgbClr val="172A36"/>
                </a:solidFill>
                <a:latin typeface="Arial"/>
                <a:ea typeface="Arial"/>
                <a:cs typeface="Arial"/>
              </a:defRPr>
            </a:pPr>
            <a:r>
              <a:rPr sz="2100" b="0">
                <a:solidFill>
                  <a:srgbClr val="172A36"/>
                </a:solidFill>
                <a:latin typeface="Arial"/>
                <a:ea typeface="Arial"/>
                <a:cs typeface="Arial"/>
              </a:rPr>
              <a:t>Product and process choices reinforced each other</a:t>
            </a:r>
          </a:p>
          <a:p>
            <a:pPr algn="l">
              <a:buNone/>
              <a:defRPr sz="2100" b="0">
                <a:solidFill>
                  <a:srgbClr val="172A36"/>
                </a:solidFill>
                <a:latin typeface="Arial"/>
                <a:ea typeface="Arial"/>
                <a:cs typeface="Arial"/>
              </a:defRPr>
            </a:pPr>
            <a:r>
              <a:rPr sz="2100" b="0">
                <a:solidFill>
                  <a:srgbClr val="172A36"/>
                </a:solidFill>
                <a:latin typeface="Arial"/>
                <a:ea typeface="Arial"/>
                <a:cs typeface="Arial"/>
              </a:rPr>
              <a:t>Pay helped support staffing</a:t>
            </a:r>
          </a:p>
        </p:txBody>
      </p:sp>
      <p:sp>
        <p:nvSpPr>
          <p:cNvPr id="4" name="Rectangle 3">
            <a:extLst>
              <a:ext uri="{FF2B5EF4-FFF2-40B4-BE49-F238E27FC236}">
                <a16:creationId xmlns:a16="http://schemas.microsoft.com/office/drawing/2014/main" id="{85D81303-4906-46BD-B625-53405CC633E5}"/>
              </a:ext>
            </a:extLst>
          </p:cNvPr>
          <p:cNvSpPr>
            <a:spLocks noGrp="1"/>
          </p:cNvSpPr>
          <p:nvPr/>
        </p:nvSpPr>
        <p:spPr>
          <a:xfrm>
            <a:off x="6286500" y="1809750"/>
            <a:ext cx="5143500" cy="619125"/>
          </a:xfrm>
          <a:prstGeom prst="rect">
            <a:avLst/>
          </a:prstGeom>
          <a:noFill/>
          <a:ln w="0">
            <a:noFill/>
          </a:ln>
        </p:spPr>
        <p:txBody>
          <a:bodyPr lIns="0" tIns="0" rIns="0" bIns="0">
            <a:noAutofit/>
          </a:bodyPr>
          <a:lstStyle/>
          <a:p>
            <a:pPr>
              <a:buNone/>
              <a:defRPr sz="2325" b="1">
                <a:solidFill>
                  <a:srgbClr val="A95D35"/>
                </a:solidFill>
                <a:latin typeface="Arial"/>
                <a:ea typeface="Arial"/>
                <a:cs typeface="Arial"/>
              </a:defRPr>
            </a:pPr>
            <a:r>
              <a:rPr sz="2325" b="1">
                <a:solidFill>
                  <a:srgbClr val="A95D35"/>
                </a:solidFill>
                <a:latin typeface="Arial"/>
                <a:ea typeface="Arial"/>
                <a:cs typeface="Arial"/>
              </a:rPr>
              <a:t>Limits and failures</a:t>
            </a:r>
          </a:p>
        </p:txBody>
      </p:sp>
      <p:sp>
        <p:nvSpPr>
          <p:cNvPr id="5" name="Rectangle 4">
            <a:extLst>
              <a:ext uri="{FF2B5EF4-FFF2-40B4-BE49-F238E27FC236}">
                <a16:creationId xmlns:a16="http://schemas.microsoft.com/office/drawing/2014/main" id="{E2BDDF58-C2EA-4D4D-88B5-BB3999E1D7B1}"/>
              </a:ext>
            </a:extLst>
          </p:cNvPr>
          <p:cNvSpPr>
            <a:spLocks noGrp="1"/>
          </p:cNvSpPr>
          <p:nvPr/>
        </p:nvSpPr>
        <p:spPr>
          <a:xfrm>
            <a:off x="6286500" y="2638425"/>
            <a:ext cx="5048250" cy="30003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Control invaded private life</a:t>
            </a:r>
          </a:p>
          <a:p>
            <a:pPr algn="l">
              <a:buNone/>
              <a:defRPr sz="2100" b="0">
                <a:solidFill>
                  <a:srgbClr val="172A36"/>
                </a:solidFill>
                <a:latin typeface="Arial"/>
                <a:ea typeface="Arial"/>
                <a:cs typeface="Arial"/>
              </a:defRPr>
            </a:pPr>
            <a:r>
              <a:rPr sz="2100" b="0">
                <a:solidFill>
                  <a:srgbClr val="172A36"/>
                </a:solidFill>
                <a:latin typeface="Arial"/>
                <a:ea typeface="Arial"/>
                <a:cs typeface="Arial"/>
              </a:rPr>
              <a:t>Gender rules restricted opportunity</a:t>
            </a:r>
          </a:p>
          <a:p>
            <a:pPr algn="l">
              <a:buNone/>
              <a:defRPr sz="2100" b="0">
                <a:solidFill>
                  <a:srgbClr val="172A36"/>
                </a:solidFill>
                <a:latin typeface="Arial"/>
                <a:ea typeface="Arial"/>
                <a:cs typeface="Arial"/>
              </a:defRPr>
            </a:pPr>
            <a:r>
              <a:rPr sz="2100" b="0">
                <a:solidFill>
                  <a:srgbClr val="172A36"/>
                </a:solidFill>
                <a:latin typeface="Arial"/>
                <a:ea typeface="Arial"/>
                <a:cs typeface="Arial"/>
              </a:rPr>
              <a:t>Rigidity, coercion, and antisemitism</a:t>
            </a:r>
          </a:p>
        </p:txBody>
      </p:sp>
      <p:sp>
        <p:nvSpPr>
          <p:cNvPr id="6" name="Rectangle 5">
            <a:extLst>
              <a:ext uri="{FF2B5EF4-FFF2-40B4-BE49-F238E27FC236}">
                <a16:creationId xmlns:a16="http://schemas.microsoft.com/office/drawing/2014/main" id="{12AA2B77-683C-4B14-9CDF-63B840315E80}"/>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efficiency, effectiveness, and ethical responsibility</a:t>
            </a:r>
          </a:p>
        </p:txBody>
      </p:sp>
      <p:sp>
        <p:nvSpPr>
          <p:cNvPr id="7" name="Rectangle 6">
            <a:extLst>
              <a:ext uri="{FF2B5EF4-FFF2-40B4-BE49-F238E27FC236}">
                <a16:creationId xmlns:a16="http://schemas.microsoft.com/office/drawing/2014/main" id="{998F2A3A-0C3C-40EC-B230-9601E0C1B3C5}"/>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8B8A2B23-8225-477D-86FD-61AF75547A51}" type="slidenum">
              <a:rPr lang="en-US" sz="1000">
                <a:solidFill>
                  <a:srgbClr val="586A70"/>
                </a:solidFill>
              </a:rPr>
              <a:t>20</a:t>
            </a:fld>
          </a:p>
        </p:txBody>
      </p:sp>
    </p:spTree>
    <p:extLst>
      <p:ext uri="{BB962C8B-B14F-4D97-AF65-F5344CB8AC3E}">
        <p14:creationId xmlns:p14="http://schemas.microsoft.com/office/powerpoint/2010/main" val="604524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BDDA134-2785-4A8A-A2C5-766BD6F1FBA2}"/>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Where we still see related ideas</a:t>
            </a:r>
          </a:p>
        </p:txBody>
      </p:sp>
      <p:sp>
        <p:nvSpPr>
          <p:cNvPr id="2" name="Rectangle 1">
            <a:extLst>
              <a:ext uri="{FF2B5EF4-FFF2-40B4-BE49-F238E27FC236}">
                <a16:creationId xmlns:a16="http://schemas.microsoft.com/office/drawing/2014/main" id="{2EC71B3A-3D55-4E8D-A055-5D2C314B180D}"/>
              </a:ext>
            </a:extLst>
          </p:cNvPr>
          <p:cNvSpPr>
            <a:spLocks noGrp="1"/>
          </p:cNvSpPr>
          <p:nvPr/>
        </p:nvSpPr>
        <p:spPr>
          <a:xfrm>
            <a:off x="666750" y="1809750"/>
            <a:ext cx="5143500" cy="619125"/>
          </a:xfrm>
          <a:prstGeom prst="rect">
            <a:avLst/>
          </a:prstGeom>
          <a:noFill/>
          <a:ln w="0">
            <a:noFill/>
          </a:ln>
        </p:spPr>
        <p:txBody>
          <a:bodyPr lIns="0" tIns="0" rIns="0" bIns="0">
            <a:noAutofit/>
          </a:bodyPr>
          <a:lstStyle/>
          <a:p>
            <a:pPr>
              <a:buNone/>
              <a:defRPr sz="2325" b="1">
                <a:solidFill>
                  <a:srgbClr val="A95D35"/>
                </a:solidFill>
                <a:latin typeface="Arial"/>
                <a:ea typeface="Arial"/>
                <a:cs typeface="Arial"/>
              </a:defRPr>
            </a:pPr>
            <a:r>
              <a:rPr sz="2325" b="1">
                <a:solidFill>
                  <a:srgbClr val="A95D35"/>
                </a:solidFill>
                <a:latin typeface="Arial"/>
                <a:ea typeface="Arial"/>
                <a:cs typeface="Arial"/>
              </a:rPr>
              <a:t>Manufacturing</a:t>
            </a:r>
          </a:p>
        </p:txBody>
      </p:sp>
      <p:sp>
        <p:nvSpPr>
          <p:cNvPr id="3" name="Rectangle 2">
            <a:extLst>
              <a:ext uri="{FF2B5EF4-FFF2-40B4-BE49-F238E27FC236}">
                <a16:creationId xmlns:a16="http://schemas.microsoft.com/office/drawing/2014/main" id="{E180806A-EF0A-4A89-9453-0DA9F31CE7EA}"/>
              </a:ext>
            </a:extLst>
          </p:cNvPr>
          <p:cNvSpPr>
            <a:spLocks noGrp="1"/>
          </p:cNvSpPr>
          <p:nvPr/>
        </p:nvSpPr>
        <p:spPr>
          <a:xfrm>
            <a:off x="666750" y="2638425"/>
            <a:ext cx="5048250" cy="30003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Standard work and coordinated flow remain central.</a:t>
            </a:r>
          </a:p>
          <a:p>
            <a:endParaRPr sz="2175" b="0">
              <a:solidFill>
                <a:srgbClr val="172A36"/>
              </a:solidFill>
              <a:latin typeface="Arial"/>
              <a:ea typeface="Arial"/>
              <a:cs typeface="Arial"/>
            </a:endParaRPr>
          </a:p>
          <a:p>
            <a:pPr algn="l">
              <a:buNone/>
              <a:defRPr sz="2100" b="0">
                <a:solidFill>
                  <a:srgbClr val="172A36"/>
                </a:solidFill>
                <a:latin typeface="Arial"/>
                <a:ea typeface="Arial"/>
                <a:cs typeface="Arial"/>
              </a:defRPr>
            </a:pPr>
            <a:r>
              <a:rPr sz="2100" b="0">
                <a:solidFill>
                  <a:srgbClr val="172A36"/>
                </a:solidFill>
                <a:latin typeface="Arial"/>
                <a:ea typeface="Arial"/>
                <a:cs typeface="Arial"/>
              </a:rPr>
              <a:t>Toyota adds pull production and stopping to address defects.</a:t>
            </a:r>
          </a:p>
        </p:txBody>
      </p:sp>
      <p:sp>
        <p:nvSpPr>
          <p:cNvPr id="4" name="Rectangle 3">
            <a:extLst>
              <a:ext uri="{FF2B5EF4-FFF2-40B4-BE49-F238E27FC236}">
                <a16:creationId xmlns:a16="http://schemas.microsoft.com/office/drawing/2014/main" id="{F1A9033D-A2FE-435F-A800-7424799FC780}"/>
              </a:ext>
            </a:extLst>
          </p:cNvPr>
          <p:cNvSpPr>
            <a:spLocks noGrp="1"/>
          </p:cNvSpPr>
          <p:nvPr/>
        </p:nvSpPr>
        <p:spPr>
          <a:xfrm>
            <a:off x="6286500" y="1809750"/>
            <a:ext cx="5143500" cy="619125"/>
          </a:xfrm>
          <a:prstGeom prst="rect">
            <a:avLst/>
          </a:prstGeom>
          <a:noFill/>
          <a:ln w="0">
            <a:noFill/>
          </a:ln>
        </p:spPr>
        <p:txBody>
          <a:bodyPr lIns="0" tIns="0" rIns="0" bIns="0">
            <a:noAutofit/>
          </a:bodyPr>
          <a:lstStyle/>
          <a:p>
            <a:pPr>
              <a:buNone/>
              <a:defRPr sz="2325" b="1">
                <a:solidFill>
                  <a:srgbClr val="A95D35"/>
                </a:solidFill>
                <a:latin typeface="Arial"/>
                <a:ea typeface="Arial"/>
                <a:cs typeface="Arial"/>
              </a:defRPr>
            </a:pPr>
            <a:r>
              <a:rPr sz="2325" b="1">
                <a:solidFill>
                  <a:srgbClr val="A95D35"/>
                </a:solidFill>
                <a:latin typeface="Arial"/>
                <a:ea typeface="Arial"/>
                <a:cs typeface="Arial"/>
              </a:rPr>
              <a:t>Services and logistics</a:t>
            </a:r>
          </a:p>
        </p:txBody>
      </p:sp>
      <p:sp>
        <p:nvSpPr>
          <p:cNvPr id="5" name="Rectangle 4">
            <a:extLst>
              <a:ext uri="{FF2B5EF4-FFF2-40B4-BE49-F238E27FC236}">
                <a16:creationId xmlns:a16="http://schemas.microsoft.com/office/drawing/2014/main" id="{CBCEC124-01C8-44A1-955E-983B33FD8AE4}"/>
              </a:ext>
            </a:extLst>
          </p:cNvPr>
          <p:cNvSpPr>
            <a:spLocks noGrp="1"/>
          </p:cNvSpPr>
          <p:nvPr/>
        </p:nvSpPr>
        <p:spPr>
          <a:xfrm>
            <a:off x="6286500" y="2638425"/>
            <a:ext cx="5048250" cy="3000375"/>
          </a:xfrm>
          <a:prstGeom prst="rect">
            <a:avLst/>
          </a:prstGeom>
          <a:noFill/>
          <a:ln w="0">
            <a:noFill/>
          </a:ln>
        </p:spPr>
        <p:txBody>
          <a:bodyPr lIns="0" tIns="0" rIns="0" bIns="0">
            <a:noAutofit/>
          </a:bodyPr>
          <a:lstStyle>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a:pPr algn="l">
              <a:buNone/>
              <a:defRPr sz="2100" b="0">
                <a:solidFill>
                  <a:srgbClr val="172A36"/>
                </a:solidFill>
                <a:latin typeface="Arial"/>
                <a:ea typeface="Arial"/>
                <a:cs typeface="Arial"/>
              </a:defRPr>
            </a:pPr>
            <a:r>
              <a:rPr sz="2100" b="0">
                <a:solidFill>
                  <a:srgbClr val="172A36"/>
                </a:solidFill>
                <a:latin typeface="Arial"/>
                <a:ea typeface="Arial"/>
                <a:cs typeface="Arial"/>
              </a:rPr>
              <a:t>Kitchens and fulfillment centers also divide work into stations.</a:t>
            </a:r>
          </a:p>
          <a:p>
            <a:endParaRPr sz="2175" b="0">
              <a:solidFill>
                <a:srgbClr val="172A36"/>
              </a:solidFill>
              <a:latin typeface="Arial"/>
              <a:ea typeface="Arial"/>
              <a:cs typeface="Arial"/>
            </a:endParaRPr>
          </a:p>
          <a:p>
            <a:pPr algn="l">
              <a:buNone/>
              <a:defRPr sz="2100" b="0">
                <a:solidFill>
                  <a:srgbClr val="172A36"/>
                </a:solidFill>
                <a:latin typeface="Arial"/>
                <a:ea typeface="Arial"/>
                <a:cs typeface="Arial"/>
              </a:defRPr>
            </a:pPr>
            <a:r>
              <a:rPr sz="2100" b="0">
                <a:solidFill>
                  <a:srgbClr val="172A36"/>
                </a:solidFill>
                <a:latin typeface="Arial"/>
                <a:ea typeface="Arial"/>
                <a:cs typeface="Arial"/>
              </a:rPr>
              <a:t>These are comparisons of methods, not claims of direct descent.</a:t>
            </a:r>
          </a:p>
        </p:txBody>
      </p:sp>
      <p:sp>
        <p:nvSpPr>
          <p:cNvPr id="6" name="Rectangle 5">
            <a:extLst>
              <a:ext uri="{FF2B5EF4-FFF2-40B4-BE49-F238E27FC236}">
                <a16:creationId xmlns:a16="http://schemas.microsoft.com/office/drawing/2014/main" id="{47152219-72DF-4CA4-A099-2F3B2F71E995}"/>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organizational design and continuous improvement</a:t>
            </a:r>
          </a:p>
        </p:txBody>
      </p:sp>
      <p:sp>
        <p:nvSpPr>
          <p:cNvPr id="7" name="Rectangle 6">
            <a:extLst>
              <a:ext uri="{FF2B5EF4-FFF2-40B4-BE49-F238E27FC236}">
                <a16:creationId xmlns:a16="http://schemas.microsoft.com/office/drawing/2014/main" id="{36CD5A27-5635-4E14-BE20-4777E953F0B7}"/>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96BA8105-2E4B-4B3B-919A-C8583831AE79}" type="slidenum">
              <a:rPr lang="en-US" sz="1000">
                <a:solidFill>
                  <a:srgbClr val="586A70"/>
                </a:solidFill>
              </a:rPr>
              <a:t>21</a:t>
            </a:fld>
          </a:p>
        </p:txBody>
      </p:sp>
    </p:spTree>
    <p:extLst>
      <p:ext uri="{BB962C8B-B14F-4D97-AF65-F5344CB8AC3E}">
        <p14:creationId xmlns:p14="http://schemas.microsoft.com/office/powerpoint/2010/main" val="977409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BB72698-20A5-4D46-909A-E96960487ACD}"/>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One company, four management functions</a:t>
            </a:r>
          </a:p>
        </p:txBody>
      </p:sp>
      <p:sp>
        <p:nvSpPr>
          <p:cNvPr id="2" name="Rectangle 1">
            <a:extLst>
              <a:ext uri="{FF2B5EF4-FFF2-40B4-BE49-F238E27FC236}">
                <a16:creationId xmlns:a16="http://schemas.microsoft.com/office/drawing/2014/main" id="{8382BDD0-49D3-4271-9437-4FF204249B66}"/>
              </a:ext>
            </a:extLst>
          </p:cNvPr>
          <p:cNvSpPr>
            <a:spLocks noGrp="1"/>
          </p:cNvSpPr>
          <p:nvPr/>
        </p:nvSpPr>
        <p:spPr>
          <a:xfrm>
            <a:off x="666750" y="1762125"/>
            <a:ext cx="10572750" cy="819150"/>
          </a:xfrm>
          <a:prstGeom prst="rect">
            <a:avLst/>
          </a:prstGeom>
          <a:noFill/>
          <a:ln w="0">
            <a:noFill/>
          </a:ln>
        </p:spPr>
        <p:txBody>
          <a:bodyPr lIns="0" tIns="0" rIns="0" bIns="0">
            <a:noAutofit/>
          </a:bodyPr>
          <a:lstStyle>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a:pPr algn="l">
              <a:buNone/>
              <a:defRPr sz="2175" b="0">
                <a:solidFill>
                  <a:srgbClr val="172A36"/>
                </a:solidFill>
                <a:latin typeface="Arial"/>
                <a:ea typeface="Arial"/>
                <a:cs typeface="Arial"/>
              </a:defRPr>
            </a:pPr>
            <a:r>
              <a:rPr sz="2175" b="0">
                <a:solidFill>
                  <a:srgbClr val="172A36"/>
                </a:solidFill>
                <a:latin typeface="Arial"/>
                <a:ea typeface="Arial"/>
                <a:cs typeface="Arial"/>
              </a:rPr>
              <a:t>Planning: align affordability with demand, then revisit assumptions</a:t>
            </a:r>
          </a:p>
        </p:txBody>
      </p:sp>
      <p:sp>
        <p:nvSpPr>
          <p:cNvPr id="3" name="Rectangle 2">
            <a:extLst>
              <a:ext uri="{FF2B5EF4-FFF2-40B4-BE49-F238E27FC236}">
                <a16:creationId xmlns:a16="http://schemas.microsoft.com/office/drawing/2014/main" id="{8C54DF09-E1DB-49B8-BEE9-CE1CC935FB51}"/>
              </a:ext>
            </a:extLst>
          </p:cNvPr>
          <p:cNvSpPr>
            <a:spLocks noGrp="1"/>
          </p:cNvSpPr>
          <p:nvPr/>
        </p:nvSpPr>
        <p:spPr>
          <a:xfrm>
            <a:off x="666750" y="2676525"/>
            <a:ext cx="10572750" cy="819150"/>
          </a:xfrm>
          <a:prstGeom prst="rect">
            <a:avLst/>
          </a:prstGeom>
          <a:noFill/>
          <a:ln w="0">
            <a:noFill/>
          </a:ln>
        </p:spPr>
        <p:txBody>
          <a:bodyPr lIns="0" tIns="0" rIns="0" bIns="0">
            <a:noAutofit/>
          </a:bodyPr>
          <a:lstStyle>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a:pPr algn="l">
              <a:buNone/>
              <a:defRPr sz="2175" b="0">
                <a:solidFill>
                  <a:srgbClr val="172A36"/>
                </a:solidFill>
                <a:latin typeface="Arial"/>
                <a:ea typeface="Arial"/>
                <a:cs typeface="Arial"/>
              </a:defRPr>
            </a:pPr>
            <a:r>
              <a:rPr sz="2175" b="0">
                <a:solidFill>
                  <a:srgbClr val="172A36"/>
                </a:solidFill>
                <a:latin typeface="Arial"/>
                <a:ea typeface="Arial"/>
                <a:cs typeface="Arial"/>
              </a:rPr>
              <a:t>Organizing: specialize jobs while coordinating the whole flow</a:t>
            </a:r>
          </a:p>
        </p:txBody>
      </p:sp>
      <p:sp>
        <p:nvSpPr>
          <p:cNvPr id="4" name="Rectangle 3">
            <a:extLst>
              <a:ext uri="{FF2B5EF4-FFF2-40B4-BE49-F238E27FC236}">
                <a16:creationId xmlns:a16="http://schemas.microsoft.com/office/drawing/2014/main" id="{FFF503B5-E633-44BF-AB7D-9B3F0BEF8223}"/>
              </a:ext>
            </a:extLst>
          </p:cNvPr>
          <p:cNvSpPr>
            <a:spLocks noGrp="1"/>
          </p:cNvSpPr>
          <p:nvPr/>
        </p:nvSpPr>
        <p:spPr>
          <a:xfrm>
            <a:off x="666750" y="3590925"/>
            <a:ext cx="10572750" cy="819150"/>
          </a:xfrm>
          <a:prstGeom prst="rect">
            <a:avLst/>
          </a:prstGeom>
          <a:noFill/>
          <a:ln w="0">
            <a:noFill/>
          </a:ln>
        </p:spPr>
        <p:txBody>
          <a:bodyPr lIns="0" tIns="0" rIns="0" bIns="0">
            <a:noAutofit/>
          </a:bodyPr>
          <a:lstStyle>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a:pPr algn="l">
              <a:buNone/>
              <a:defRPr sz="2175" b="0">
                <a:solidFill>
                  <a:srgbClr val="172A36"/>
                </a:solidFill>
                <a:latin typeface="Arial"/>
                <a:ea typeface="Arial"/>
                <a:cs typeface="Arial"/>
              </a:defRPr>
            </a:pPr>
            <a:r>
              <a:rPr sz="2175" b="0">
                <a:solidFill>
                  <a:srgbClr val="172A36"/>
                </a:solidFill>
                <a:latin typeface="Arial"/>
                <a:ea typeface="Arial"/>
                <a:cs typeface="Arial"/>
              </a:rPr>
              <a:t>Leading: combine fair incentives with employee voice</a:t>
            </a:r>
          </a:p>
        </p:txBody>
      </p:sp>
      <p:sp>
        <p:nvSpPr>
          <p:cNvPr id="5" name="Rectangle 4">
            <a:extLst>
              <a:ext uri="{FF2B5EF4-FFF2-40B4-BE49-F238E27FC236}">
                <a16:creationId xmlns:a16="http://schemas.microsoft.com/office/drawing/2014/main" id="{38E9448A-4445-462D-BD30-4A957C5B05EE}"/>
              </a:ext>
            </a:extLst>
          </p:cNvPr>
          <p:cNvSpPr>
            <a:spLocks noGrp="1"/>
          </p:cNvSpPr>
          <p:nvPr/>
        </p:nvSpPr>
        <p:spPr>
          <a:xfrm>
            <a:off x="666750" y="4505325"/>
            <a:ext cx="10572750" cy="819150"/>
          </a:xfrm>
          <a:prstGeom prst="rect">
            <a:avLst/>
          </a:prstGeom>
          <a:noFill/>
          <a:ln w="0">
            <a:noFill/>
          </a:ln>
        </p:spPr>
        <p:txBody>
          <a:bodyPr lIns="0" tIns="0" rIns="0" bIns="0">
            <a:noAutofit/>
          </a:bodyPr>
          <a:lstStyle>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a:pPr algn="l">
              <a:buNone/>
              <a:defRPr sz="2175" b="0">
                <a:solidFill>
                  <a:srgbClr val="172A36"/>
                </a:solidFill>
                <a:latin typeface="Arial"/>
                <a:ea typeface="Arial"/>
                <a:cs typeface="Arial"/>
              </a:defRPr>
            </a:pPr>
            <a:r>
              <a:rPr sz="2175" b="0">
                <a:solidFill>
                  <a:srgbClr val="172A36"/>
                </a:solidFill>
                <a:latin typeface="Arial"/>
                <a:ea typeface="Arial"/>
                <a:cs typeface="Arial"/>
              </a:rPr>
              <a:t>Controlling: track output, quality, turnover, and ethical boundaries</a:t>
            </a:r>
          </a:p>
        </p:txBody>
      </p:sp>
      <p:sp>
        <p:nvSpPr>
          <p:cNvPr id="6" name="Rectangle 5">
            <a:extLst>
              <a:ext uri="{FF2B5EF4-FFF2-40B4-BE49-F238E27FC236}">
                <a16:creationId xmlns:a16="http://schemas.microsoft.com/office/drawing/2014/main" id="{3CAF89C8-7084-4E9A-9D30-A567D467C5BF}"/>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planning, organizing, leading, and controlling</a:t>
            </a:r>
          </a:p>
        </p:txBody>
      </p:sp>
      <p:sp>
        <p:nvSpPr>
          <p:cNvPr id="7" name="Rectangle 6">
            <a:extLst>
              <a:ext uri="{FF2B5EF4-FFF2-40B4-BE49-F238E27FC236}">
                <a16:creationId xmlns:a16="http://schemas.microsoft.com/office/drawing/2014/main" id="{A7F73F54-7F24-4AA2-89A2-F28C0C3BBD12}"/>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5B0B24B3-BE9D-46C4-848E-E7F680AFF576}" type="slidenum">
              <a:rPr lang="en-US" sz="1000">
                <a:solidFill>
                  <a:srgbClr val="586A70"/>
                </a:solidFill>
              </a:rPr>
              <a:t>22</a:t>
            </a:fld>
          </a:p>
        </p:txBody>
      </p:sp>
    </p:spTree>
    <p:extLst>
      <p:ext uri="{BB962C8B-B14F-4D97-AF65-F5344CB8AC3E}">
        <p14:creationId xmlns:p14="http://schemas.microsoft.com/office/powerpoint/2010/main" val="1697042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72A36"/>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A50884-DAE8-4879-8437-D0DE052CD378}"/>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F4F1EA"/>
                </a:solidFill>
                <a:latin typeface="Arial"/>
                <a:ea typeface="Arial"/>
                <a:cs typeface="Arial"/>
              </a:defRPr>
            </a:pPr>
            <a:r>
              <a:rPr sz="3225" b="1">
                <a:solidFill>
                  <a:srgbClr val="F4F1EA"/>
                </a:solidFill>
                <a:latin typeface="Arial"/>
                <a:ea typeface="Arial"/>
                <a:cs typeface="Arial"/>
              </a:rPr>
              <a:t>What Ford changed about management</a:t>
            </a:r>
          </a:p>
        </p:txBody>
      </p:sp>
      <p:sp>
        <p:nvSpPr>
          <p:cNvPr id="2" name="Rectangle 1">
            <a:extLst>
              <a:ext uri="{FF2B5EF4-FFF2-40B4-BE49-F238E27FC236}">
                <a16:creationId xmlns:a16="http://schemas.microsoft.com/office/drawing/2014/main" id="{67597374-9ABF-4956-843E-F66ECEE8EAE0}"/>
              </a:ext>
            </a:extLst>
          </p:cNvPr>
          <p:cNvSpPr>
            <a:spLocks noGrp="1"/>
          </p:cNvSpPr>
          <p:nvPr/>
        </p:nvSpPr>
        <p:spPr>
          <a:xfrm>
            <a:off x="666750" y="1762125"/>
            <a:ext cx="10572750" cy="952500"/>
          </a:xfrm>
          <a:prstGeom prst="rect">
            <a:avLst/>
          </a:prstGeom>
          <a:noFill/>
          <a:ln w="0">
            <a:noFill/>
          </a:ln>
        </p:spPr>
        <p:txBody>
          <a:bodyPr lIns="0" tIns="0" rIns="0" bIns="0">
            <a:noAutofit/>
          </a:bodyPr>
          <a:lstStyle>
            <a:defPPr algn="l">
              <a:defRPr sz="2325">
                <a:solidFill>
                  <a:srgbClr val="F4F1EA"/>
                </a:solidFill>
                <a:latin typeface="Arial"/>
                <a:ea typeface="Arial"/>
                <a:cs typeface="Arial"/>
              </a:defRPr>
            </a:defPPr>
            <a:lvl1pPr algn="l">
              <a:defRPr sz="2325">
                <a:solidFill>
                  <a:srgbClr val="F4F1EA"/>
                </a:solidFill>
                <a:latin typeface="Arial"/>
                <a:ea typeface="Arial"/>
                <a:cs typeface="Arial"/>
              </a:defRPr>
            </a:lvl1pPr>
            <a:lvl2pPr algn="l">
              <a:defRPr sz="2325">
                <a:solidFill>
                  <a:srgbClr val="F4F1EA"/>
                </a:solidFill>
                <a:latin typeface="Arial"/>
                <a:ea typeface="Arial"/>
                <a:cs typeface="Arial"/>
              </a:defRPr>
            </a:lvl2pPr>
            <a:lvl3pPr algn="l">
              <a:defRPr sz="2325">
                <a:solidFill>
                  <a:srgbClr val="F4F1EA"/>
                </a:solidFill>
                <a:latin typeface="Arial"/>
                <a:ea typeface="Arial"/>
                <a:cs typeface="Arial"/>
              </a:defRPr>
            </a:lvl3pPr>
            <a:lvl4pPr algn="l">
              <a:defRPr sz="2325">
                <a:solidFill>
                  <a:srgbClr val="F4F1EA"/>
                </a:solidFill>
                <a:latin typeface="Arial"/>
                <a:ea typeface="Arial"/>
                <a:cs typeface="Arial"/>
              </a:defRPr>
            </a:lvl4pPr>
            <a:lvl5pPr algn="l">
              <a:defRPr sz="2325">
                <a:solidFill>
                  <a:srgbClr val="F4F1EA"/>
                </a:solidFill>
                <a:latin typeface="Arial"/>
                <a:ea typeface="Arial"/>
                <a:cs typeface="Arial"/>
              </a:defRPr>
            </a:lvl5pPr>
            <a:lvl6pPr algn="l">
              <a:defRPr sz="2325">
                <a:solidFill>
                  <a:srgbClr val="F4F1EA"/>
                </a:solidFill>
                <a:latin typeface="Arial"/>
                <a:ea typeface="Arial"/>
                <a:cs typeface="Arial"/>
              </a:defRPr>
            </a:lvl6pPr>
            <a:lvl7pPr algn="l">
              <a:defRPr sz="2325">
                <a:solidFill>
                  <a:srgbClr val="F4F1EA"/>
                </a:solidFill>
                <a:latin typeface="Arial"/>
                <a:ea typeface="Arial"/>
                <a:cs typeface="Arial"/>
              </a:defRPr>
            </a:lvl7pPr>
            <a:lvl8pPr algn="l">
              <a:defRPr sz="2325">
                <a:solidFill>
                  <a:srgbClr val="F4F1EA"/>
                </a:solidFill>
                <a:latin typeface="Arial"/>
                <a:ea typeface="Arial"/>
                <a:cs typeface="Arial"/>
              </a:defRPr>
            </a:lvl8pPr>
            <a:lvl9pPr algn="l">
              <a:defRPr sz="2325">
                <a:solidFill>
                  <a:srgbClr val="F4F1EA"/>
                </a:solidFill>
                <a:latin typeface="Arial"/>
                <a:ea typeface="Arial"/>
                <a:cs typeface="Arial"/>
              </a:defRPr>
            </a:lvl9pPr>
          </a:lstStyle>
          <a:p>
            <a:pPr algn="l">
              <a:buNone/>
              <a:defRPr sz="2325" b="0">
                <a:solidFill>
                  <a:srgbClr val="F4F1EA"/>
                </a:solidFill>
                <a:latin typeface="Arial"/>
                <a:ea typeface="Arial"/>
                <a:cs typeface="Arial"/>
              </a:defRPr>
            </a:pPr>
            <a:r>
              <a:rPr sz="2325" b="0">
                <a:solidFill>
                  <a:srgbClr val="F4F1EA"/>
                </a:solidFill>
                <a:latin typeface="Arial"/>
                <a:ea typeface="Arial"/>
                <a:cs typeface="Arial"/>
              </a:rPr>
              <a:t>Ford made product design, production, and staffing one management problem.</a:t>
            </a:r>
          </a:p>
        </p:txBody>
      </p:sp>
      <p:sp>
        <p:nvSpPr>
          <p:cNvPr id="3" name="Rectangle 2">
            <a:extLst>
              <a:ext uri="{FF2B5EF4-FFF2-40B4-BE49-F238E27FC236}">
                <a16:creationId xmlns:a16="http://schemas.microsoft.com/office/drawing/2014/main" id="{61673A68-2DE4-416D-AB86-CAC70A2CEA3D}"/>
              </a:ext>
            </a:extLst>
          </p:cNvPr>
          <p:cNvSpPr>
            <a:spLocks noGrp="1"/>
          </p:cNvSpPr>
          <p:nvPr/>
        </p:nvSpPr>
        <p:spPr>
          <a:xfrm>
            <a:off x="666750" y="2809875"/>
            <a:ext cx="10572750" cy="952500"/>
          </a:xfrm>
          <a:prstGeom prst="rect">
            <a:avLst/>
          </a:prstGeom>
          <a:noFill/>
          <a:ln w="0">
            <a:noFill/>
          </a:ln>
        </p:spPr>
        <p:txBody>
          <a:bodyPr lIns="0" tIns="0" rIns="0" bIns="0">
            <a:noAutofit/>
          </a:bodyPr>
          <a:lstStyle>
            <a:defPPr algn="l">
              <a:defRPr sz="2325">
                <a:solidFill>
                  <a:srgbClr val="F4F1EA"/>
                </a:solidFill>
                <a:latin typeface="Arial"/>
                <a:ea typeface="Arial"/>
                <a:cs typeface="Arial"/>
              </a:defRPr>
            </a:defPPr>
            <a:lvl1pPr algn="l">
              <a:defRPr sz="2325">
                <a:solidFill>
                  <a:srgbClr val="F4F1EA"/>
                </a:solidFill>
                <a:latin typeface="Arial"/>
                <a:ea typeface="Arial"/>
                <a:cs typeface="Arial"/>
              </a:defRPr>
            </a:lvl1pPr>
            <a:lvl2pPr algn="l">
              <a:defRPr sz="2325">
                <a:solidFill>
                  <a:srgbClr val="F4F1EA"/>
                </a:solidFill>
                <a:latin typeface="Arial"/>
                <a:ea typeface="Arial"/>
                <a:cs typeface="Arial"/>
              </a:defRPr>
            </a:lvl2pPr>
            <a:lvl3pPr algn="l">
              <a:defRPr sz="2325">
                <a:solidFill>
                  <a:srgbClr val="F4F1EA"/>
                </a:solidFill>
                <a:latin typeface="Arial"/>
                <a:ea typeface="Arial"/>
                <a:cs typeface="Arial"/>
              </a:defRPr>
            </a:lvl3pPr>
            <a:lvl4pPr algn="l">
              <a:defRPr sz="2325">
                <a:solidFill>
                  <a:srgbClr val="F4F1EA"/>
                </a:solidFill>
                <a:latin typeface="Arial"/>
                <a:ea typeface="Arial"/>
                <a:cs typeface="Arial"/>
              </a:defRPr>
            </a:lvl4pPr>
            <a:lvl5pPr algn="l">
              <a:defRPr sz="2325">
                <a:solidFill>
                  <a:srgbClr val="F4F1EA"/>
                </a:solidFill>
                <a:latin typeface="Arial"/>
                <a:ea typeface="Arial"/>
                <a:cs typeface="Arial"/>
              </a:defRPr>
            </a:lvl5pPr>
            <a:lvl6pPr algn="l">
              <a:defRPr sz="2325">
                <a:solidFill>
                  <a:srgbClr val="F4F1EA"/>
                </a:solidFill>
                <a:latin typeface="Arial"/>
                <a:ea typeface="Arial"/>
                <a:cs typeface="Arial"/>
              </a:defRPr>
            </a:lvl6pPr>
            <a:lvl7pPr algn="l">
              <a:defRPr sz="2325">
                <a:solidFill>
                  <a:srgbClr val="F4F1EA"/>
                </a:solidFill>
                <a:latin typeface="Arial"/>
                <a:ea typeface="Arial"/>
                <a:cs typeface="Arial"/>
              </a:defRPr>
            </a:lvl7pPr>
            <a:lvl8pPr algn="l">
              <a:defRPr sz="2325">
                <a:solidFill>
                  <a:srgbClr val="F4F1EA"/>
                </a:solidFill>
                <a:latin typeface="Arial"/>
                <a:ea typeface="Arial"/>
                <a:cs typeface="Arial"/>
              </a:defRPr>
            </a:lvl8pPr>
            <a:lvl9pPr algn="l">
              <a:defRPr sz="2325">
                <a:solidFill>
                  <a:srgbClr val="F4F1EA"/>
                </a:solidFill>
                <a:latin typeface="Arial"/>
                <a:ea typeface="Arial"/>
                <a:cs typeface="Arial"/>
              </a:defRPr>
            </a:lvl9pPr>
          </a:lstStyle>
          <a:p>
            <a:pPr algn="l">
              <a:buNone/>
              <a:defRPr sz="2325" b="0">
                <a:solidFill>
                  <a:srgbClr val="F4F1EA"/>
                </a:solidFill>
                <a:latin typeface="Arial"/>
                <a:ea typeface="Arial"/>
                <a:cs typeface="Arial"/>
              </a:defRPr>
            </a:pPr>
            <a:r>
              <a:rPr sz="2325" b="0">
                <a:solidFill>
                  <a:srgbClr val="F4F1EA"/>
                </a:solidFill>
                <a:latin typeface="Arial"/>
                <a:ea typeface="Arial"/>
                <a:cs typeface="Arial"/>
              </a:rPr>
              <a:t>High pay could support retention while leaving monotony and exclusion unresolved.</a:t>
            </a:r>
          </a:p>
        </p:txBody>
      </p:sp>
      <p:sp>
        <p:nvSpPr>
          <p:cNvPr id="4" name="Rectangle 3">
            <a:extLst>
              <a:ext uri="{FF2B5EF4-FFF2-40B4-BE49-F238E27FC236}">
                <a16:creationId xmlns:a16="http://schemas.microsoft.com/office/drawing/2014/main" id="{C475EE1B-3FD4-4EC2-A24A-91657EB60E93}"/>
              </a:ext>
            </a:extLst>
          </p:cNvPr>
          <p:cNvSpPr>
            <a:spLocks noGrp="1"/>
          </p:cNvSpPr>
          <p:nvPr/>
        </p:nvSpPr>
        <p:spPr>
          <a:xfrm>
            <a:off x="666750" y="3857625"/>
            <a:ext cx="10572750" cy="952500"/>
          </a:xfrm>
          <a:prstGeom prst="rect">
            <a:avLst/>
          </a:prstGeom>
          <a:noFill/>
          <a:ln w="0">
            <a:noFill/>
          </a:ln>
        </p:spPr>
        <p:txBody>
          <a:bodyPr lIns="0" tIns="0" rIns="0" bIns="0">
            <a:noAutofit/>
          </a:bodyPr>
          <a:lstStyle>
            <a:defPPr algn="l">
              <a:defRPr sz="2325">
                <a:solidFill>
                  <a:srgbClr val="F4F1EA"/>
                </a:solidFill>
                <a:latin typeface="Arial"/>
                <a:ea typeface="Arial"/>
                <a:cs typeface="Arial"/>
              </a:defRPr>
            </a:defPPr>
            <a:lvl1pPr algn="l">
              <a:defRPr sz="2325">
                <a:solidFill>
                  <a:srgbClr val="F4F1EA"/>
                </a:solidFill>
                <a:latin typeface="Arial"/>
                <a:ea typeface="Arial"/>
                <a:cs typeface="Arial"/>
              </a:defRPr>
            </a:lvl1pPr>
            <a:lvl2pPr algn="l">
              <a:defRPr sz="2325">
                <a:solidFill>
                  <a:srgbClr val="F4F1EA"/>
                </a:solidFill>
                <a:latin typeface="Arial"/>
                <a:ea typeface="Arial"/>
                <a:cs typeface="Arial"/>
              </a:defRPr>
            </a:lvl2pPr>
            <a:lvl3pPr algn="l">
              <a:defRPr sz="2325">
                <a:solidFill>
                  <a:srgbClr val="F4F1EA"/>
                </a:solidFill>
                <a:latin typeface="Arial"/>
                <a:ea typeface="Arial"/>
                <a:cs typeface="Arial"/>
              </a:defRPr>
            </a:lvl3pPr>
            <a:lvl4pPr algn="l">
              <a:defRPr sz="2325">
                <a:solidFill>
                  <a:srgbClr val="F4F1EA"/>
                </a:solidFill>
                <a:latin typeface="Arial"/>
                <a:ea typeface="Arial"/>
                <a:cs typeface="Arial"/>
              </a:defRPr>
            </a:lvl4pPr>
            <a:lvl5pPr algn="l">
              <a:defRPr sz="2325">
                <a:solidFill>
                  <a:srgbClr val="F4F1EA"/>
                </a:solidFill>
                <a:latin typeface="Arial"/>
                <a:ea typeface="Arial"/>
                <a:cs typeface="Arial"/>
              </a:defRPr>
            </a:lvl5pPr>
            <a:lvl6pPr algn="l">
              <a:defRPr sz="2325">
                <a:solidFill>
                  <a:srgbClr val="F4F1EA"/>
                </a:solidFill>
                <a:latin typeface="Arial"/>
                <a:ea typeface="Arial"/>
                <a:cs typeface="Arial"/>
              </a:defRPr>
            </a:lvl6pPr>
            <a:lvl7pPr algn="l">
              <a:defRPr sz="2325">
                <a:solidFill>
                  <a:srgbClr val="F4F1EA"/>
                </a:solidFill>
                <a:latin typeface="Arial"/>
                <a:ea typeface="Arial"/>
                <a:cs typeface="Arial"/>
              </a:defRPr>
            </a:lvl7pPr>
            <a:lvl8pPr algn="l">
              <a:defRPr sz="2325">
                <a:solidFill>
                  <a:srgbClr val="F4F1EA"/>
                </a:solidFill>
                <a:latin typeface="Arial"/>
                <a:ea typeface="Arial"/>
                <a:cs typeface="Arial"/>
              </a:defRPr>
            </a:lvl8pPr>
            <a:lvl9pPr algn="l">
              <a:defRPr sz="2325">
                <a:solidFill>
                  <a:srgbClr val="F4F1EA"/>
                </a:solidFill>
                <a:latin typeface="Arial"/>
                <a:ea typeface="Arial"/>
                <a:cs typeface="Arial"/>
              </a:defRPr>
            </a:lvl9pPr>
          </a:lstStyle>
          <a:p>
            <a:pPr algn="l">
              <a:buNone/>
              <a:defRPr sz="2325" b="0">
                <a:solidFill>
                  <a:srgbClr val="F4F1EA"/>
                </a:solidFill>
                <a:latin typeface="Arial"/>
                <a:ea typeface="Arial"/>
                <a:cs typeface="Arial"/>
              </a:defRPr>
            </a:pPr>
            <a:r>
              <a:rPr sz="2325" b="0">
                <a:solidFill>
                  <a:srgbClr val="F4F1EA"/>
                </a:solidFill>
                <a:latin typeface="Arial"/>
                <a:ea typeface="Arial"/>
                <a:cs typeface="Arial"/>
              </a:rPr>
              <a:t>His legacy asks managers to pursue efficiency with adaptation and accountability.</a:t>
            </a:r>
          </a:p>
        </p:txBody>
      </p:sp>
      <p:sp>
        <p:nvSpPr>
          <p:cNvPr id="5" name="Rectangle 4">
            <a:extLst>
              <a:ext uri="{FF2B5EF4-FFF2-40B4-BE49-F238E27FC236}">
                <a16:creationId xmlns:a16="http://schemas.microsoft.com/office/drawing/2014/main" id="{53BCDF8F-A799-455A-87EE-57B2349F2C8B}"/>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C2C9CB"/>
                </a:solidFill>
                <a:latin typeface="Arial"/>
                <a:ea typeface="Arial"/>
                <a:cs typeface="Arial"/>
              </a:defRPr>
            </a:pPr>
            <a:fld id="{57E3D3AB-1D84-49FB-96EF-9E3637BE77FE}" type="slidenum">
              <a:rPr lang="en-US" sz="1000">
                <a:solidFill>
                  <a:srgbClr val="586A70"/>
                </a:solidFill>
              </a:rPr>
              <a:t>23</a:t>
            </a:fld>
          </a:p>
        </p:txBody>
      </p:sp>
    </p:spTree>
    <p:extLst>
      <p:ext uri="{BB962C8B-B14F-4D97-AF65-F5344CB8AC3E}">
        <p14:creationId xmlns:p14="http://schemas.microsoft.com/office/powerpoint/2010/main" val="82989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8FA70DE-2997-4939-BF44-0774B9853717}"/>
              </a:ext>
            </a:extLst>
          </p:cNvPr>
          <p:cNvSpPr>
            <a:spLocks noGrp="1"/>
          </p:cNvSpPr>
          <p:nvPr/>
        </p:nvSpPr>
        <p:spPr>
          <a:xfrm>
            <a:off x="609600" y="457200"/>
            <a:ext cx="10953750" cy="666750"/>
          </a:xfrm>
          <a:prstGeom prst="rect">
            <a:avLst/>
          </a:prstGeom>
          <a:noFill/>
          <a:ln w="0">
            <a:noFill/>
          </a:ln>
        </p:spPr>
        <p:txBody>
          <a:bodyPr lIns="0" tIns="0" rIns="0" bIns="0">
            <a:noAutofit/>
          </a:bodyPr>
          <a:lstStyle/>
          <a:p>
            <a:pPr>
              <a:buNone/>
              <a:defRPr sz="3000" b="1">
                <a:solidFill>
                  <a:srgbClr val="172A36"/>
                </a:solidFill>
                <a:latin typeface="Arial"/>
                <a:ea typeface="Arial"/>
                <a:cs typeface="Arial"/>
              </a:defRPr>
            </a:pPr>
            <a:r>
              <a:rPr sz="3000" b="1">
                <a:solidFill>
                  <a:srgbClr val="172A36"/>
                </a:solidFill>
                <a:latin typeface="Arial"/>
                <a:ea typeface="Arial"/>
                <a:cs typeface="Arial"/>
              </a:rPr>
              <a:t>References: production and strategy</a:t>
            </a:r>
          </a:p>
        </p:txBody>
      </p:sp>
      <p:sp>
        <p:nvSpPr>
          <p:cNvPr id="2" name="Rectangle 1">
            <a:extLst>
              <a:ext uri="{FF2B5EF4-FFF2-40B4-BE49-F238E27FC236}">
                <a16:creationId xmlns:a16="http://schemas.microsoft.com/office/drawing/2014/main" id="{8C8B6524-D7EC-40E1-BF43-83C08465AEFD}"/>
              </a:ext>
            </a:extLst>
          </p:cNvPr>
          <p:cNvSpPr>
            <a:spLocks noGrp="1"/>
          </p:cNvSpPr>
          <p:nvPr/>
        </p:nvSpPr>
        <p:spPr>
          <a:xfrm>
            <a:off x="666750" y="141922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[A] The Henry Ford, “Henry Ford” biography and interview transcript</a:t>
            </a:r>
          </a:p>
        </p:txBody>
      </p:sp>
      <p:sp>
        <p:nvSpPr>
          <p:cNvPr id="3" name="Rectangle 2">
            <a:extLst>
              <a:ext uri="{FF2B5EF4-FFF2-40B4-BE49-F238E27FC236}">
                <a16:creationId xmlns:a16="http://schemas.microsoft.com/office/drawing/2014/main" id="{147B227D-9150-49DC-922F-FAD7CE4E88F5}"/>
              </a:ext>
            </a:extLst>
          </p:cNvPr>
          <p:cNvSpPr>
            <a:spLocks noGrp="1"/>
          </p:cNvSpPr>
          <p:nvPr/>
        </p:nvSpPr>
        <p:spPr>
          <a:xfrm>
            <a:off x="666750" y="175260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3"/>
              </a:rPr>
              <a:t>https://www.thehenryford.org/collections/explore/videos/henry-ford</a:t>
            </a:r>
          </a:p>
        </p:txBody>
      </p:sp>
      <p:sp>
        <p:nvSpPr>
          <p:cNvPr id="4" name="Rectangle 3">
            <a:extLst>
              <a:ext uri="{FF2B5EF4-FFF2-40B4-BE49-F238E27FC236}">
                <a16:creationId xmlns:a16="http://schemas.microsoft.com/office/drawing/2014/main" id="{77E7EB32-C53F-4E00-9A2A-A0F53E7BA496}"/>
              </a:ext>
            </a:extLst>
          </p:cNvPr>
          <p:cNvSpPr>
            <a:spLocks noGrp="1"/>
          </p:cNvSpPr>
          <p:nvPr/>
        </p:nvSpPr>
        <p:spPr>
          <a:xfrm>
            <a:off x="666750" y="216217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[B] Library of Congress, “Ford Implements the Moving Assembly Line”</a:t>
            </a:r>
          </a:p>
        </p:txBody>
      </p:sp>
      <p:sp>
        <p:nvSpPr>
          <p:cNvPr id="5" name="Rectangle 4">
            <a:extLst>
              <a:ext uri="{FF2B5EF4-FFF2-40B4-BE49-F238E27FC236}">
                <a16:creationId xmlns:a16="http://schemas.microsoft.com/office/drawing/2014/main" id="{9ADC7496-F931-4B34-84AB-CBD5B7ECF747}"/>
              </a:ext>
            </a:extLst>
          </p:cNvPr>
          <p:cNvSpPr>
            <a:spLocks noGrp="1"/>
          </p:cNvSpPr>
          <p:nvPr/>
        </p:nvSpPr>
        <p:spPr>
          <a:xfrm>
            <a:off x="666750" y="249555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4"/>
              </a:rPr>
              <a:t>https://guides.loc.gov/this-month-in-business-history/october/ford</a:t>
            </a:r>
          </a:p>
        </p:txBody>
      </p:sp>
      <p:sp>
        <p:nvSpPr>
          <p:cNvPr id="6" name="Rectangle 5">
            <a:extLst>
              <a:ext uri="{FF2B5EF4-FFF2-40B4-BE49-F238E27FC236}">
                <a16:creationId xmlns:a16="http://schemas.microsoft.com/office/drawing/2014/main" id="{8CA58206-E27B-4BCC-A430-2055EC968A5D}"/>
              </a:ext>
            </a:extLst>
          </p:cNvPr>
          <p:cNvSpPr>
            <a:spLocks noGrp="1"/>
          </p:cNvSpPr>
          <p:nvPr/>
        </p:nvSpPr>
        <p:spPr>
          <a:xfrm>
            <a:off x="666750" y="290512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[C] Ford Motor Company, “The Model T” (2020)</a:t>
            </a:r>
          </a:p>
        </p:txBody>
      </p:sp>
      <p:sp>
        <p:nvSpPr>
          <p:cNvPr id="7" name="Rectangle 6">
            <a:extLst>
              <a:ext uri="{FF2B5EF4-FFF2-40B4-BE49-F238E27FC236}">
                <a16:creationId xmlns:a16="http://schemas.microsoft.com/office/drawing/2014/main" id="{59A49D1E-D45D-4143-A039-A9F1706D1117}"/>
              </a:ext>
            </a:extLst>
          </p:cNvPr>
          <p:cNvSpPr>
            <a:spLocks noGrp="1"/>
          </p:cNvSpPr>
          <p:nvPr/>
        </p:nvSpPr>
        <p:spPr>
          <a:xfrm>
            <a:off x="666750" y="323850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5"/>
              </a:rPr>
              <a:t>https://corporate.ford.com/articles/history/the-model-t/</a:t>
            </a:r>
          </a:p>
        </p:txBody>
      </p:sp>
      <p:sp>
        <p:nvSpPr>
          <p:cNvPr id="8" name="Rectangle 7">
            <a:extLst>
              <a:ext uri="{FF2B5EF4-FFF2-40B4-BE49-F238E27FC236}">
                <a16:creationId xmlns:a16="http://schemas.microsoft.com/office/drawing/2014/main" id="{5A4FF3A0-CB38-4312-9B17-47776D90F842}"/>
              </a:ext>
            </a:extLst>
          </p:cNvPr>
          <p:cNvSpPr>
            <a:spLocks noGrp="1"/>
          </p:cNvSpPr>
          <p:nvPr/>
        </p:nvSpPr>
        <p:spPr>
          <a:xfrm>
            <a:off x="666750" y="364807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[F] The Henry Ford, “Ford Rouge Factory” research guide</a:t>
            </a:r>
          </a:p>
        </p:txBody>
      </p:sp>
      <p:sp>
        <p:nvSpPr>
          <p:cNvPr id="9" name="Rectangle 8">
            <a:extLst>
              <a:ext uri="{FF2B5EF4-FFF2-40B4-BE49-F238E27FC236}">
                <a16:creationId xmlns:a16="http://schemas.microsoft.com/office/drawing/2014/main" id="{84D8F836-AB1C-4842-8F14-E6AFF8B4394E}"/>
              </a:ext>
            </a:extLst>
          </p:cNvPr>
          <p:cNvSpPr>
            <a:spLocks noGrp="1"/>
          </p:cNvSpPr>
          <p:nvPr/>
        </p:nvSpPr>
        <p:spPr>
          <a:xfrm>
            <a:off x="666750" y="398145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6"/>
              </a:rPr>
              <a:t>https://askus.thehenryford.org/K12/faq/405833</a:t>
            </a:r>
          </a:p>
        </p:txBody>
      </p:sp>
      <p:sp>
        <p:nvSpPr>
          <p:cNvPr id="10" name="Rectangle 9">
            <a:extLst>
              <a:ext uri="{FF2B5EF4-FFF2-40B4-BE49-F238E27FC236}">
                <a16:creationId xmlns:a16="http://schemas.microsoft.com/office/drawing/2014/main" id="{46597C9A-E053-4724-9D25-D0A86C6244A3}"/>
              </a:ext>
            </a:extLst>
          </p:cNvPr>
          <p:cNvSpPr>
            <a:spLocks noGrp="1"/>
          </p:cNvSpPr>
          <p:nvPr/>
        </p:nvSpPr>
        <p:spPr>
          <a:xfrm>
            <a:off x="666750" y="439102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[G] Bob Casey, “Henry Ford: Case Study of an Innovator” (2021)</a:t>
            </a:r>
          </a:p>
        </p:txBody>
      </p:sp>
      <p:sp>
        <p:nvSpPr>
          <p:cNvPr id="11" name="Rectangle 10">
            <a:extLst>
              <a:ext uri="{FF2B5EF4-FFF2-40B4-BE49-F238E27FC236}">
                <a16:creationId xmlns:a16="http://schemas.microsoft.com/office/drawing/2014/main" id="{FE0A59F2-419B-4B2D-81CC-66C4320EBA3F}"/>
              </a:ext>
            </a:extLst>
          </p:cNvPr>
          <p:cNvSpPr>
            <a:spLocks noGrp="1"/>
          </p:cNvSpPr>
          <p:nvPr/>
        </p:nvSpPr>
        <p:spPr>
          <a:xfrm>
            <a:off x="666750" y="472440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7"/>
              </a:rPr>
              <a:t>https://www.thehenryford.org/collections/explore/articles/henry-ford-case-study-of-an-innovator</a:t>
            </a:r>
          </a:p>
        </p:txBody>
      </p:sp>
      <p:sp>
        <p:nvSpPr>
          <p:cNvPr id="12" name="Rectangle 11">
            <a:extLst>
              <a:ext uri="{FF2B5EF4-FFF2-40B4-BE49-F238E27FC236}">
                <a16:creationId xmlns:a16="http://schemas.microsoft.com/office/drawing/2014/main" id="{53A1D4D6-02EF-4B70-B35A-0D8FF2D8EFB5}"/>
              </a:ext>
            </a:extLst>
          </p:cNvPr>
          <p:cNvSpPr>
            <a:spLocks noGrp="1"/>
          </p:cNvSpPr>
          <p:nvPr/>
        </p:nvSpPr>
        <p:spPr>
          <a:xfrm>
            <a:off x="666750" y="513397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[L] The Henry Ford, authenticated Henry Ford quotations, Edison recollections</a:t>
            </a:r>
          </a:p>
        </p:txBody>
      </p:sp>
      <p:sp>
        <p:nvSpPr>
          <p:cNvPr id="13" name="Rectangle 12">
            <a:extLst>
              <a:ext uri="{FF2B5EF4-FFF2-40B4-BE49-F238E27FC236}">
                <a16:creationId xmlns:a16="http://schemas.microsoft.com/office/drawing/2014/main" id="{86A728B0-83CA-4646-AEC8-C2920442194F}"/>
              </a:ext>
            </a:extLst>
          </p:cNvPr>
          <p:cNvSpPr>
            <a:spLocks noGrp="1"/>
          </p:cNvSpPr>
          <p:nvPr/>
        </p:nvSpPr>
        <p:spPr>
          <a:xfrm>
            <a:off x="666750" y="546735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8"/>
              </a:rPr>
              <a:t>https://www.thehenryford.org/collections/explore/popular-research-topics/henry-ford-quotations</a:t>
            </a:r>
          </a:p>
        </p:txBody>
      </p:sp>
      <p:sp>
        <p:nvSpPr>
          <p:cNvPr id="14" name="Rectangle 13">
            <a:extLst>
              <a:ext uri="{FF2B5EF4-FFF2-40B4-BE49-F238E27FC236}">
                <a16:creationId xmlns:a16="http://schemas.microsoft.com/office/drawing/2014/main" id="{CE994970-1060-4908-879F-23B7C3726D83}"/>
              </a:ext>
            </a:extLst>
          </p:cNvPr>
          <p:cNvSpPr>
            <a:spLocks noGrp="1"/>
          </p:cNvSpPr>
          <p:nvPr/>
        </p:nvSpPr>
        <p:spPr>
          <a:xfrm>
            <a:off x="666750" y="6238875"/>
            <a:ext cx="10668000" cy="333375"/>
          </a:xfrm>
          <a:prstGeom prst="rect">
            <a:avLst/>
          </a:prstGeom>
          <a:noFill/>
          <a:ln w="0">
            <a:noFill/>
          </a:ln>
        </p:spPr>
        <p:txBody>
          <a:bodyPr lIns="0" tIns="0" rIns="0" bIns="0">
            <a:noAutofit/>
          </a:bodyPr>
          <a:lstStyle/>
          <a:p>
            <a:pPr>
              <a:buNone/>
              <a:defRPr sz="1275" b="0">
                <a:solidFill>
                  <a:srgbClr val="55636A"/>
                </a:solidFill>
                <a:latin typeface="Arial"/>
                <a:ea typeface="Arial"/>
                <a:cs typeface="Arial"/>
              </a:defRPr>
            </a:pPr>
            <a:r>
              <a:rPr sz="1275" b="0">
                <a:solidFill>
                  <a:srgbClr val="55636A"/>
                </a:solidFill>
                <a:latin typeface="Arial"/>
                <a:ea typeface="Arial"/>
                <a:cs typeface="Arial"/>
              </a:rPr>
              <a:t>Sources carried over from the supplied revision; live links not reverified. Full citations also appear in the relevant slide notes.</a:t>
            </a:r>
          </a:p>
        </p:txBody>
      </p:sp>
      <p:sp>
        <p:nvSpPr>
          <p:cNvPr id="16" name="TextBox 15"/>
          <p:cNvSpPr txBox="1"/>
          <p:nvPr/>
        </p:nvSpPr>
        <p:spPr>
          <a:xfrm>
            <a:off x="11430000" y="6419088"/>
            <a:ext cx="457200" cy="256032"/>
          </a:xfrm>
          <a:prstGeom prst="rect">
            <a:avLst/>
          </a:prstGeom>
          <a:noFill/>
        </p:spPr>
        <p:txBody>
          <a:bodyPr wrap="square">
            <a:spAutoFit/>
          </a:bodyPr>
          <a:lstStyle/>
          <a:p>
            <a:pPr>
              <a:spcAft>
                <a:spcPts val="1400"/>
              </a:spcAft>
              <a:defRPr sz="1000" b="0">
                <a:solidFill>
                  <a:srgbClr val="586A70"/>
                </a:solidFill>
                <a:latin typeface="Arial"/>
              </a:defRPr>
            </a:pPr>
            <a:fld id="{CA8F3FD5-680F-4049-89F6-2809974DC25F}" type="slidenum">
              <a:rPr lang="en-US" sz="1000">
                <a:solidFill>
                  <a:srgbClr val="586A70"/>
                </a:solidFill>
              </a:rPr>
              <a:t>25</a:t>
            </a:fld>
          </a:p>
        </p:txBody>
      </p:sp>
    </p:spTree>
    <p:extLst>
      <p:ext uri="{BB962C8B-B14F-4D97-AF65-F5344CB8AC3E}">
        <p14:creationId xmlns:p14="http://schemas.microsoft.com/office/powerpoint/2010/main" val="587671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3CE63B6-E21F-45C6-85F8-4A2504F579AF}"/>
              </a:ext>
            </a:extLst>
          </p:cNvPr>
          <p:cNvSpPr>
            <a:spLocks noGrp="1"/>
          </p:cNvSpPr>
          <p:nvPr/>
        </p:nvSpPr>
        <p:spPr>
          <a:xfrm>
            <a:off x="609600" y="457200"/>
            <a:ext cx="10953750" cy="666750"/>
          </a:xfrm>
          <a:prstGeom prst="rect">
            <a:avLst/>
          </a:prstGeom>
          <a:noFill/>
          <a:ln w="0">
            <a:noFill/>
          </a:ln>
        </p:spPr>
        <p:txBody>
          <a:bodyPr lIns="0" tIns="0" rIns="0" bIns="0">
            <a:noAutofit/>
          </a:bodyPr>
          <a:lstStyle/>
          <a:p>
            <a:pPr>
              <a:buNone/>
              <a:defRPr sz="3000" b="1">
                <a:solidFill>
                  <a:srgbClr val="172A36"/>
                </a:solidFill>
                <a:latin typeface="Arial"/>
                <a:ea typeface="Arial"/>
                <a:cs typeface="Arial"/>
              </a:defRPr>
            </a:pPr>
            <a:r>
              <a:rPr sz="3000" b="1">
                <a:solidFill>
                  <a:srgbClr val="172A36"/>
                </a:solidFill>
                <a:latin typeface="Arial"/>
                <a:ea typeface="Arial"/>
                <a:cs typeface="Arial"/>
              </a:rPr>
              <a:t>References: employees and legacy</a:t>
            </a:r>
          </a:p>
        </p:txBody>
      </p:sp>
      <p:sp>
        <p:nvSpPr>
          <p:cNvPr id="2" name="Rectangle 1">
            <a:extLst>
              <a:ext uri="{FF2B5EF4-FFF2-40B4-BE49-F238E27FC236}">
                <a16:creationId xmlns:a16="http://schemas.microsoft.com/office/drawing/2014/main" id="{8E758E81-1C1C-431B-9D16-AFF8AB152AD5}"/>
              </a:ext>
            </a:extLst>
          </p:cNvPr>
          <p:cNvSpPr>
            <a:spLocks noGrp="1"/>
          </p:cNvSpPr>
          <p:nvPr/>
        </p:nvSpPr>
        <p:spPr>
          <a:xfrm>
            <a:off x="666750" y="141922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[D] Matt Anderson, “Ford’s Five-Dollar Day,” The Henry Ford (2014)</a:t>
            </a:r>
          </a:p>
        </p:txBody>
      </p:sp>
      <p:sp>
        <p:nvSpPr>
          <p:cNvPr id="3" name="Rectangle 2">
            <a:extLst>
              <a:ext uri="{FF2B5EF4-FFF2-40B4-BE49-F238E27FC236}">
                <a16:creationId xmlns:a16="http://schemas.microsoft.com/office/drawing/2014/main" id="{DA6034E0-EE1F-4968-A59C-F4B723E15294}"/>
              </a:ext>
            </a:extLst>
          </p:cNvPr>
          <p:cNvSpPr>
            <a:spLocks noGrp="1"/>
          </p:cNvSpPr>
          <p:nvPr/>
        </p:nvSpPr>
        <p:spPr>
          <a:xfrm>
            <a:off x="666750" y="175260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3"/>
              </a:rPr>
              <a:t>https://www.thehenryford.org/collections/explore/articles/fords-five-dollar-day</a:t>
            </a:r>
          </a:p>
        </p:txBody>
      </p:sp>
      <p:sp>
        <p:nvSpPr>
          <p:cNvPr id="4" name="Rectangle 3">
            <a:extLst>
              <a:ext uri="{FF2B5EF4-FFF2-40B4-BE49-F238E27FC236}">
                <a16:creationId xmlns:a16="http://schemas.microsoft.com/office/drawing/2014/main" id="{A614B4FF-E9EE-4AAB-AA28-A3C1915C2B5C}"/>
              </a:ext>
            </a:extLst>
          </p:cNvPr>
          <p:cNvSpPr>
            <a:spLocks noGrp="1"/>
          </p:cNvSpPr>
          <p:nvPr/>
        </p:nvSpPr>
        <p:spPr>
          <a:xfrm>
            <a:off x="666750" y="216217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[E] The Henry Ford, “Henry Ford: Sociological Department”</a:t>
            </a:r>
          </a:p>
        </p:txBody>
      </p:sp>
      <p:sp>
        <p:nvSpPr>
          <p:cNvPr id="5" name="Rectangle 4">
            <a:extLst>
              <a:ext uri="{FF2B5EF4-FFF2-40B4-BE49-F238E27FC236}">
                <a16:creationId xmlns:a16="http://schemas.microsoft.com/office/drawing/2014/main" id="{BD7D39F0-83A7-4100-990A-E48E2013DC40}"/>
              </a:ext>
            </a:extLst>
          </p:cNvPr>
          <p:cNvSpPr>
            <a:spLocks noGrp="1"/>
          </p:cNvSpPr>
          <p:nvPr/>
        </p:nvSpPr>
        <p:spPr>
          <a:xfrm>
            <a:off x="666750" y="249555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4"/>
              </a:rPr>
              <a:t>https://www.thehenryford.org/collections/explore/sets/detail/henry-ford-sociological-department</a:t>
            </a:r>
          </a:p>
        </p:txBody>
      </p:sp>
      <p:sp>
        <p:nvSpPr>
          <p:cNvPr id="6" name="Rectangle 5">
            <a:extLst>
              <a:ext uri="{FF2B5EF4-FFF2-40B4-BE49-F238E27FC236}">
                <a16:creationId xmlns:a16="http://schemas.microsoft.com/office/drawing/2014/main" id="{953819C7-9691-46EA-A756-32C756ED78ED}"/>
              </a:ext>
            </a:extLst>
          </p:cNvPr>
          <p:cNvSpPr>
            <a:spLocks noGrp="1"/>
          </p:cNvSpPr>
          <p:nvPr/>
        </p:nvSpPr>
        <p:spPr>
          <a:xfrm>
            <a:off x="666750" y="290512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[H] U.S. Holocaust Memorial Museum, “Antisemitism and Henry Ford’s ‘The International Jew’”</a:t>
            </a:r>
          </a:p>
        </p:txBody>
      </p:sp>
      <p:sp>
        <p:nvSpPr>
          <p:cNvPr id="7" name="Rectangle 6">
            <a:extLst>
              <a:ext uri="{FF2B5EF4-FFF2-40B4-BE49-F238E27FC236}">
                <a16:creationId xmlns:a16="http://schemas.microsoft.com/office/drawing/2014/main" id="{CA8378BE-DD4F-4569-AA64-32FCFD893A64}"/>
              </a:ext>
            </a:extLst>
          </p:cNvPr>
          <p:cNvSpPr>
            <a:spLocks noGrp="1"/>
          </p:cNvSpPr>
          <p:nvPr/>
        </p:nvSpPr>
        <p:spPr>
          <a:xfrm>
            <a:off x="666750" y="323850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5"/>
              </a:rPr>
              <a:t>https://encyclopedia.ushmm.org/content/en/article/antisemitism-and-henry-fords-international-jew</a:t>
            </a:r>
          </a:p>
        </p:txBody>
      </p:sp>
      <p:sp>
        <p:nvSpPr>
          <p:cNvPr id="8" name="Rectangle 7">
            <a:extLst>
              <a:ext uri="{FF2B5EF4-FFF2-40B4-BE49-F238E27FC236}">
                <a16:creationId xmlns:a16="http://schemas.microsoft.com/office/drawing/2014/main" id="{E0DB038E-A1F7-4AD0-8C73-2EE4E82966E0}"/>
              </a:ext>
            </a:extLst>
          </p:cNvPr>
          <p:cNvSpPr>
            <a:spLocks noGrp="1"/>
          </p:cNvSpPr>
          <p:nvPr/>
        </p:nvSpPr>
        <p:spPr>
          <a:xfrm>
            <a:off x="666750" y="364807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[I] Michigan Supreme Court Learning Center, “Right of Assembly: Battle of the Overpass”</a:t>
            </a:r>
          </a:p>
        </p:txBody>
      </p:sp>
      <p:sp>
        <p:nvSpPr>
          <p:cNvPr id="9" name="Rectangle 8">
            <a:extLst>
              <a:ext uri="{FF2B5EF4-FFF2-40B4-BE49-F238E27FC236}">
                <a16:creationId xmlns:a16="http://schemas.microsoft.com/office/drawing/2014/main" id="{8FE4EC0B-648C-49F9-A0E8-5FB3E9E67A17}"/>
              </a:ext>
            </a:extLst>
          </p:cNvPr>
          <p:cNvSpPr>
            <a:spLocks noGrp="1"/>
          </p:cNvSpPr>
          <p:nvPr/>
        </p:nvSpPr>
        <p:spPr>
          <a:xfrm>
            <a:off x="666750" y="398145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6"/>
              </a:rPr>
              <a:t>https://www.courts.michigan.gov/49b296/siteassets/msc-learning-center/scrapbook-fordbattleoverpass1937.pdf</a:t>
            </a:r>
          </a:p>
        </p:txBody>
      </p:sp>
      <p:sp>
        <p:nvSpPr>
          <p:cNvPr id="10" name="Rectangle 9">
            <a:extLst>
              <a:ext uri="{FF2B5EF4-FFF2-40B4-BE49-F238E27FC236}">
                <a16:creationId xmlns:a16="http://schemas.microsoft.com/office/drawing/2014/main" id="{B23B48C5-17A4-48B5-B3F6-09292A06BCA4}"/>
              </a:ext>
            </a:extLst>
          </p:cNvPr>
          <p:cNvSpPr>
            <a:spLocks noGrp="1"/>
          </p:cNvSpPr>
          <p:nvPr/>
        </p:nvSpPr>
        <p:spPr>
          <a:xfrm>
            <a:off x="666750" y="439102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[J] Toyota Motor Corporation, “Toyota Production System”</a:t>
            </a:r>
          </a:p>
        </p:txBody>
      </p:sp>
      <p:sp>
        <p:nvSpPr>
          <p:cNvPr id="11" name="Rectangle 10">
            <a:extLst>
              <a:ext uri="{FF2B5EF4-FFF2-40B4-BE49-F238E27FC236}">
                <a16:creationId xmlns:a16="http://schemas.microsoft.com/office/drawing/2014/main" id="{E1AB450E-FAAD-404B-9320-A7C52AFCBC08}"/>
              </a:ext>
            </a:extLst>
          </p:cNvPr>
          <p:cNvSpPr>
            <a:spLocks noGrp="1"/>
          </p:cNvSpPr>
          <p:nvPr/>
        </p:nvSpPr>
        <p:spPr>
          <a:xfrm>
            <a:off x="666750" y="472440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7"/>
              </a:rPr>
              <a:t>https://global.toyota/en/company/plant-tours/production-system/</a:t>
            </a:r>
          </a:p>
        </p:txBody>
      </p:sp>
      <p:sp>
        <p:nvSpPr>
          <p:cNvPr id="12" name="Rectangle 11">
            <a:extLst>
              <a:ext uri="{FF2B5EF4-FFF2-40B4-BE49-F238E27FC236}">
                <a16:creationId xmlns:a16="http://schemas.microsoft.com/office/drawing/2014/main" id="{6816746D-C687-43B6-BED9-4FAC1727EE1E}"/>
              </a:ext>
            </a:extLst>
          </p:cNvPr>
          <p:cNvSpPr>
            <a:spLocks noGrp="1"/>
          </p:cNvSpPr>
          <p:nvPr/>
        </p:nvSpPr>
        <p:spPr>
          <a:xfrm>
            <a:off x="666750" y="5133975"/>
            <a:ext cx="10572750" cy="333375"/>
          </a:xfrm>
          <a:prstGeom prst="rect">
            <a:avLst/>
          </a:prstGeom>
          <a:noFill/>
          <a:ln w="0">
            <a:noFill/>
          </a:ln>
        </p:spPr>
        <p:txBody>
          <a:bodyPr lIns="0" tIns="0" rIns="0" bIns="0">
            <a:noAutofit/>
          </a:bodyPr>
          <a:lstStyle/>
          <a:p>
            <a:pPr>
              <a:buNone/>
              <a:defRPr sz="1575" b="1">
                <a:solidFill>
                  <a:srgbClr val="172A36"/>
                </a:solidFill>
                <a:latin typeface="Arial"/>
                <a:ea typeface="Arial"/>
                <a:cs typeface="Arial"/>
              </a:defRPr>
            </a:pPr>
            <a:r>
              <a:rPr sz="1575" b="1">
                <a:solidFill>
                  <a:srgbClr val="172A36"/>
                </a:solidFill>
                <a:latin typeface="Arial"/>
                <a:ea typeface="Arial"/>
                <a:cs typeface="Arial"/>
              </a:rPr>
              <a:t>[M] The Henry Ford, “Henry Ford and Anti-Semitism”</a:t>
            </a:r>
          </a:p>
        </p:txBody>
      </p:sp>
      <p:sp>
        <p:nvSpPr>
          <p:cNvPr id="13" name="Rectangle 12">
            <a:extLst>
              <a:ext uri="{FF2B5EF4-FFF2-40B4-BE49-F238E27FC236}">
                <a16:creationId xmlns:a16="http://schemas.microsoft.com/office/drawing/2014/main" id="{C2477CE8-4042-4E90-9928-266F5BB04C06}"/>
              </a:ext>
            </a:extLst>
          </p:cNvPr>
          <p:cNvSpPr>
            <a:spLocks noGrp="1"/>
          </p:cNvSpPr>
          <p:nvPr/>
        </p:nvSpPr>
        <p:spPr>
          <a:xfrm>
            <a:off x="666750" y="5467350"/>
            <a:ext cx="10572750" cy="30480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r>
              <a:rPr>
                <a:hlinkClick r:id="rId8"/>
              </a:rPr>
              <a:t>https://www.thehenryford.org/collections/explore/popular-research-topics/henry-ford-and-anti-semitism</a:t>
            </a:r>
          </a:p>
        </p:txBody>
      </p:sp>
      <p:sp>
        <p:nvSpPr>
          <p:cNvPr id="14" name="Rectangle 13">
            <a:extLst>
              <a:ext uri="{FF2B5EF4-FFF2-40B4-BE49-F238E27FC236}">
                <a16:creationId xmlns:a16="http://schemas.microsoft.com/office/drawing/2014/main" id="{5B6B3133-D4EA-428E-A63E-AD69407C1A3A}"/>
              </a:ext>
            </a:extLst>
          </p:cNvPr>
          <p:cNvSpPr>
            <a:spLocks noGrp="1"/>
          </p:cNvSpPr>
          <p:nvPr/>
        </p:nvSpPr>
        <p:spPr>
          <a:xfrm>
            <a:off x="666750" y="6238875"/>
            <a:ext cx="10668000" cy="333375"/>
          </a:xfrm>
          <a:prstGeom prst="rect">
            <a:avLst/>
          </a:prstGeom>
          <a:noFill/>
          <a:ln w="0">
            <a:noFill/>
          </a:ln>
        </p:spPr>
        <p:txBody>
          <a:bodyPr lIns="0" tIns="0" rIns="0" bIns="0">
            <a:noAutofit/>
          </a:bodyPr>
          <a:lstStyle/>
          <a:p>
            <a:pPr>
              <a:buNone/>
              <a:defRPr sz="1275" b="0">
                <a:solidFill>
                  <a:srgbClr val="55636A"/>
                </a:solidFill>
                <a:latin typeface="Arial"/>
                <a:ea typeface="Arial"/>
                <a:cs typeface="Arial"/>
              </a:defRPr>
            </a:pPr>
            <a:r>
              <a:rPr sz="1275" b="0">
                <a:solidFill>
                  <a:srgbClr val="55636A"/>
                </a:solidFill>
                <a:latin typeface="Arial"/>
                <a:ea typeface="Arial"/>
                <a:cs typeface="Arial"/>
              </a:rPr>
              <a:t>Sources carried over from the supplied revision; live links not reverified. Full citations also appear in the relevant slide notes.</a:t>
            </a:r>
          </a:p>
        </p:txBody>
      </p:sp>
      <p:sp>
        <p:nvSpPr>
          <p:cNvPr id="16" name="TextBox 15"/>
          <p:cNvSpPr txBox="1"/>
          <p:nvPr/>
        </p:nvSpPr>
        <p:spPr>
          <a:xfrm>
            <a:off x="11430000" y="6419088"/>
            <a:ext cx="457200" cy="256032"/>
          </a:xfrm>
          <a:prstGeom prst="rect">
            <a:avLst/>
          </a:prstGeom>
          <a:noFill/>
        </p:spPr>
        <p:txBody>
          <a:bodyPr wrap="square">
            <a:spAutoFit/>
          </a:bodyPr>
          <a:lstStyle/>
          <a:p>
            <a:pPr>
              <a:spcAft>
                <a:spcPts val="1400"/>
              </a:spcAft>
              <a:defRPr sz="1000" b="0">
                <a:solidFill>
                  <a:srgbClr val="586A70"/>
                </a:solidFill>
                <a:latin typeface="Arial"/>
              </a:defRPr>
            </a:pPr>
            <a:fld id="{D37D17D4-F7E7-4BFA-989B-814ACE01248C}" type="slidenum">
              <a:rPr lang="en-US" sz="1000">
                <a:solidFill>
                  <a:srgbClr val="586A70"/>
                </a:solidFill>
              </a:rPr>
              <a:t>26</a:t>
            </a:fld>
          </a:p>
        </p:txBody>
      </p:sp>
    </p:spTree>
    <p:extLst>
      <p:ext uri="{BB962C8B-B14F-4D97-AF65-F5344CB8AC3E}">
        <p14:creationId xmlns:p14="http://schemas.microsoft.com/office/powerpoint/2010/main" val="717955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D959898-A0ED-4D0A-99B7-40938AEA5D49}"/>
              </a:ext>
            </a:extLst>
          </p:cNvPr>
          <p:cNvSpPr>
            <a:spLocks noGrp="1"/>
          </p:cNvSpPr>
          <p:nvPr/>
        </p:nvSpPr>
        <p:spPr>
          <a:xfrm>
            <a:off x="609600" y="457200"/>
            <a:ext cx="10858500" cy="1066800"/>
          </a:xfrm>
          <a:prstGeom prst="rect">
            <a:avLst/>
          </a:prstGeom>
          <a:noFill/>
          <a:ln w="0">
            <a:noFill/>
          </a:ln>
        </p:spPr>
        <p:txBody>
          <a:bodyPr lIns="0" tIns="0" rIns="0" bIns="0"/>
          <a:lstStyle>
            <a:defPPr>
              <a:defRPr sz="3225" b="1">
                <a:solidFill>
                  <a:srgbClr val="172A36"/>
                </a:solidFill>
                <a:latin typeface="Arial"/>
                <a:ea typeface="Arial"/>
                <a:cs typeface="Arial"/>
              </a:defRPr>
            </a:defPPr>
            <a:lvl1pPr>
              <a:defRPr sz="3225" b="1">
                <a:solidFill>
                  <a:srgbClr val="172A36"/>
                </a:solidFill>
                <a:latin typeface="Arial"/>
                <a:ea typeface="Arial"/>
                <a:cs typeface="Arial"/>
              </a:defRPr>
            </a:lvl1pPr>
            <a:lvl2pPr>
              <a:defRPr sz="3225" b="1">
                <a:solidFill>
                  <a:srgbClr val="172A36"/>
                </a:solidFill>
                <a:latin typeface="Arial"/>
                <a:ea typeface="Arial"/>
                <a:cs typeface="Arial"/>
              </a:defRPr>
            </a:lvl2pPr>
            <a:lvl3pPr>
              <a:defRPr sz="3225" b="1">
                <a:solidFill>
                  <a:srgbClr val="172A36"/>
                </a:solidFill>
                <a:latin typeface="Arial"/>
                <a:ea typeface="Arial"/>
                <a:cs typeface="Arial"/>
              </a:defRPr>
            </a:lvl3pPr>
            <a:lvl4pPr>
              <a:defRPr sz="3225" b="1">
                <a:solidFill>
                  <a:srgbClr val="172A36"/>
                </a:solidFill>
                <a:latin typeface="Arial"/>
                <a:ea typeface="Arial"/>
                <a:cs typeface="Arial"/>
              </a:defRPr>
            </a:lvl4pPr>
            <a:lvl5pPr>
              <a:defRPr sz="3225" b="1">
                <a:solidFill>
                  <a:srgbClr val="172A36"/>
                </a:solidFill>
                <a:latin typeface="Arial"/>
                <a:ea typeface="Arial"/>
                <a:cs typeface="Arial"/>
              </a:defRPr>
            </a:lvl5pPr>
            <a:lvl6pPr>
              <a:defRPr sz="3225" b="1">
                <a:solidFill>
                  <a:srgbClr val="172A36"/>
                </a:solidFill>
                <a:latin typeface="Arial"/>
                <a:ea typeface="Arial"/>
                <a:cs typeface="Arial"/>
              </a:defRPr>
            </a:lvl6pPr>
            <a:lvl7pPr>
              <a:defRPr sz="3225" b="1">
                <a:solidFill>
                  <a:srgbClr val="172A36"/>
                </a:solidFill>
                <a:latin typeface="Arial"/>
                <a:ea typeface="Arial"/>
                <a:cs typeface="Arial"/>
              </a:defRPr>
            </a:lvl7pPr>
            <a:lvl8pPr>
              <a:defRPr sz="3225" b="1">
                <a:solidFill>
                  <a:srgbClr val="172A36"/>
                </a:solidFill>
                <a:latin typeface="Arial"/>
                <a:ea typeface="Arial"/>
                <a:cs typeface="Arial"/>
              </a:defRPr>
            </a:lvl8pPr>
            <a:lvl9pPr>
              <a:defRPr sz="3225" b="1">
                <a:solidFill>
                  <a:srgbClr val="172A36"/>
                </a:solidFill>
                <a:latin typeface="Arial"/>
                <a:ea typeface="Arial"/>
                <a:cs typeface="Arial"/>
              </a:defRPr>
            </a:lvl9pPr>
          </a:lstStyle>
          <a:p>
            <a:pPr>
              <a:defRPr sz="3225" b="1">
                <a:solidFill>
                  <a:srgbClr val="172A36"/>
                </a:solidFill>
                <a:latin typeface="Arial"/>
                <a:ea typeface="Arial"/>
                <a:cs typeface="Arial"/>
              </a:defRPr>
            </a:pPr>
            <a:r>
              <a:rPr sz="3225" b="1">
                <a:solidFill>
                  <a:srgbClr val="172A36"/>
                </a:solidFill>
                <a:latin typeface="Arial"/>
                <a:ea typeface="Arial"/>
                <a:cs typeface="Arial"/>
              </a:rPr>
              <a:t>References: women and the fact check</a:t>
            </a:r>
          </a:p>
        </p:txBody>
      </p:sp>
      <p:sp>
        <p:nvSpPr>
          <p:cNvPr id="2" name="Rectangle 1">
            <a:extLst>
              <a:ext uri="{FF2B5EF4-FFF2-40B4-BE49-F238E27FC236}">
                <a16:creationId xmlns:a16="http://schemas.microsoft.com/office/drawing/2014/main" id="{8E27E6CA-2203-48A7-AC35-C2D4827F90E8}"/>
              </a:ext>
            </a:extLst>
          </p:cNvPr>
          <p:cNvSpPr>
            <a:spLocks noGrp="1"/>
          </p:cNvSpPr>
          <p:nvPr/>
        </p:nvSpPr>
        <p:spPr>
          <a:xfrm>
            <a:off x="666750" y="1762125"/>
            <a:ext cx="10572750" cy="1123950"/>
          </a:xfrm>
          <a:prstGeom prst="rect">
            <a:avLst/>
          </a:prstGeom>
          <a:noFill/>
          <a:ln w="0">
            <a:noFill/>
          </a:ln>
        </p:spPr>
        <p:txBody>
          <a:bodyPr lIns="0" tIns="0" rIns="0" bIns="0"/>
          <a:lstStyle>
            <a:defPPr>
              <a:defRPr sz="1800" b="0">
                <a:solidFill>
                  <a:srgbClr val="172A36"/>
                </a:solidFill>
                <a:latin typeface="Arial"/>
                <a:ea typeface="Arial"/>
                <a:cs typeface="Arial"/>
              </a:defRPr>
            </a:defPPr>
            <a:lvl1pPr>
              <a:defRPr sz="1800" b="0">
                <a:solidFill>
                  <a:srgbClr val="172A36"/>
                </a:solidFill>
                <a:latin typeface="Arial"/>
                <a:ea typeface="Arial"/>
                <a:cs typeface="Arial"/>
              </a:defRPr>
            </a:lvl1pPr>
            <a:lvl2pPr>
              <a:defRPr sz="1800" b="0">
                <a:solidFill>
                  <a:srgbClr val="172A36"/>
                </a:solidFill>
                <a:latin typeface="Arial"/>
                <a:ea typeface="Arial"/>
                <a:cs typeface="Arial"/>
              </a:defRPr>
            </a:lvl2pPr>
            <a:lvl3pPr>
              <a:defRPr sz="1800" b="0">
                <a:solidFill>
                  <a:srgbClr val="172A36"/>
                </a:solidFill>
                <a:latin typeface="Arial"/>
                <a:ea typeface="Arial"/>
                <a:cs typeface="Arial"/>
              </a:defRPr>
            </a:lvl3pPr>
            <a:lvl4pPr>
              <a:defRPr sz="1800" b="0">
                <a:solidFill>
                  <a:srgbClr val="172A36"/>
                </a:solidFill>
                <a:latin typeface="Arial"/>
                <a:ea typeface="Arial"/>
                <a:cs typeface="Arial"/>
              </a:defRPr>
            </a:lvl4pPr>
            <a:lvl5pPr>
              <a:defRPr sz="1800" b="0">
                <a:solidFill>
                  <a:srgbClr val="172A36"/>
                </a:solidFill>
                <a:latin typeface="Arial"/>
                <a:ea typeface="Arial"/>
                <a:cs typeface="Arial"/>
              </a:defRPr>
            </a:lvl5pPr>
            <a:lvl6pPr>
              <a:defRPr sz="1800" b="0">
                <a:solidFill>
                  <a:srgbClr val="172A36"/>
                </a:solidFill>
                <a:latin typeface="Arial"/>
                <a:ea typeface="Arial"/>
                <a:cs typeface="Arial"/>
              </a:defRPr>
            </a:lvl6pPr>
            <a:lvl7pPr>
              <a:defRPr sz="1800" b="0">
                <a:solidFill>
                  <a:srgbClr val="172A36"/>
                </a:solidFill>
                <a:latin typeface="Arial"/>
                <a:ea typeface="Arial"/>
                <a:cs typeface="Arial"/>
              </a:defRPr>
            </a:lvl7pPr>
            <a:lvl8pPr>
              <a:defRPr sz="1800" b="0">
                <a:solidFill>
                  <a:srgbClr val="172A36"/>
                </a:solidFill>
                <a:latin typeface="Arial"/>
                <a:ea typeface="Arial"/>
                <a:cs typeface="Arial"/>
              </a:defRPr>
            </a:lvl8pPr>
            <a:lvl9pPr>
              <a:defRPr sz="1800" b="0">
                <a:solidFill>
                  <a:srgbClr val="172A36"/>
                </a:solidFill>
                <a:latin typeface="Arial"/>
                <a:ea typeface="Arial"/>
                <a:cs typeface="Arial"/>
              </a:defRPr>
            </a:lvl9pPr>
          </a:lstStyle>
          <a:p>
            <a:pPr>
              <a:defRPr sz="1800" b="0">
                <a:solidFill>
                  <a:srgbClr val="172A36"/>
                </a:solidFill>
                <a:latin typeface="Arial"/>
                <a:ea typeface="Arial"/>
                <a:cs typeface="Arial"/>
              </a:defRPr>
            </a:pPr>
            <a:r>
              <a:rPr sz="1800" b="0">
                <a:solidFill>
                  <a:srgbClr val="172A36"/>
                </a:solidFill>
                <a:latin typeface="Arial"/>
                <a:ea typeface="Arial"/>
                <a:cs typeface="Arial"/>
              </a:rPr>
              <a:t>[N] Detroit Historical Society, “Bennett, Harry”
[O] The Henry Ford, women assembling magnetos, circa 1913 (THF99642)</a:t>
            </a:r>
          </a:p>
        </p:txBody>
      </p:sp>
      <p:sp>
        <p:nvSpPr>
          <p:cNvPr id="3" name="Rectangle 2">
            <a:extLst>
              <a:ext uri="{FF2B5EF4-FFF2-40B4-BE49-F238E27FC236}">
                <a16:creationId xmlns:a16="http://schemas.microsoft.com/office/drawing/2014/main" id="{FA91C1B0-2DAF-4F92-9E4B-6ECACDF49950}"/>
              </a:ext>
            </a:extLst>
          </p:cNvPr>
          <p:cNvSpPr>
            <a:spLocks noGrp="1"/>
          </p:cNvSpPr>
          <p:nvPr/>
        </p:nvSpPr>
        <p:spPr>
          <a:xfrm>
            <a:off x="666750" y="3019425"/>
            <a:ext cx="10572750" cy="1123950"/>
          </a:xfrm>
          <a:prstGeom prst="rect">
            <a:avLst/>
          </a:prstGeom>
          <a:noFill/>
          <a:ln w="0">
            <a:noFill/>
          </a:ln>
        </p:spPr>
        <p:txBody>
          <a:bodyPr lIns="0" tIns="0" rIns="0" bIns="0"/>
          <a:lstStyle>
            <a:defPPr>
              <a:defRPr sz="1800" b="0">
                <a:solidFill>
                  <a:srgbClr val="172A36"/>
                </a:solidFill>
                <a:latin typeface="Arial"/>
                <a:ea typeface="Arial"/>
                <a:cs typeface="Arial"/>
              </a:defRPr>
            </a:defPPr>
            <a:lvl1pPr>
              <a:defRPr sz="1800" b="0">
                <a:solidFill>
                  <a:srgbClr val="172A36"/>
                </a:solidFill>
                <a:latin typeface="Arial"/>
                <a:ea typeface="Arial"/>
                <a:cs typeface="Arial"/>
              </a:defRPr>
            </a:lvl1pPr>
            <a:lvl2pPr>
              <a:defRPr sz="1800" b="0">
                <a:solidFill>
                  <a:srgbClr val="172A36"/>
                </a:solidFill>
                <a:latin typeface="Arial"/>
                <a:ea typeface="Arial"/>
                <a:cs typeface="Arial"/>
              </a:defRPr>
            </a:lvl2pPr>
            <a:lvl3pPr>
              <a:defRPr sz="1800" b="0">
                <a:solidFill>
                  <a:srgbClr val="172A36"/>
                </a:solidFill>
                <a:latin typeface="Arial"/>
                <a:ea typeface="Arial"/>
                <a:cs typeface="Arial"/>
              </a:defRPr>
            </a:lvl3pPr>
            <a:lvl4pPr>
              <a:defRPr sz="1800" b="0">
                <a:solidFill>
                  <a:srgbClr val="172A36"/>
                </a:solidFill>
                <a:latin typeface="Arial"/>
                <a:ea typeface="Arial"/>
                <a:cs typeface="Arial"/>
              </a:defRPr>
            </a:lvl4pPr>
            <a:lvl5pPr>
              <a:defRPr sz="1800" b="0">
                <a:solidFill>
                  <a:srgbClr val="172A36"/>
                </a:solidFill>
                <a:latin typeface="Arial"/>
                <a:ea typeface="Arial"/>
                <a:cs typeface="Arial"/>
              </a:defRPr>
            </a:lvl5pPr>
            <a:lvl6pPr>
              <a:defRPr sz="1800" b="0">
                <a:solidFill>
                  <a:srgbClr val="172A36"/>
                </a:solidFill>
                <a:latin typeface="Arial"/>
                <a:ea typeface="Arial"/>
                <a:cs typeface="Arial"/>
              </a:defRPr>
            </a:lvl6pPr>
            <a:lvl7pPr>
              <a:defRPr sz="1800" b="0">
                <a:solidFill>
                  <a:srgbClr val="172A36"/>
                </a:solidFill>
                <a:latin typeface="Arial"/>
                <a:ea typeface="Arial"/>
                <a:cs typeface="Arial"/>
              </a:defRPr>
            </a:lvl7pPr>
            <a:lvl8pPr>
              <a:defRPr sz="1800" b="0">
                <a:solidFill>
                  <a:srgbClr val="172A36"/>
                </a:solidFill>
                <a:latin typeface="Arial"/>
                <a:ea typeface="Arial"/>
                <a:cs typeface="Arial"/>
              </a:defRPr>
            </a:lvl8pPr>
            <a:lvl9pPr>
              <a:defRPr sz="1800" b="0">
                <a:solidFill>
                  <a:srgbClr val="172A36"/>
                </a:solidFill>
                <a:latin typeface="Arial"/>
                <a:ea typeface="Arial"/>
                <a:cs typeface="Arial"/>
              </a:defRPr>
            </a:lvl9pPr>
          </a:lstStyle>
          <a:p>
            <a:pPr>
              <a:defRPr sz="1800" b="0">
                <a:solidFill>
                  <a:srgbClr val="172A36"/>
                </a:solidFill>
                <a:latin typeface="Arial"/>
                <a:ea typeface="Arial"/>
                <a:cs typeface="Arial"/>
              </a:defRPr>
            </a:pPr>
            <a:r>
              <a:rPr sz="1800" b="0">
                <a:solidFill>
                  <a:srgbClr val="172A36"/>
                </a:solidFill>
                <a:latin typeface="Arial"/>
                <a:ea typeface="Arial"/>
                <a:cs typeface="Arial"/>
              </a:rPr>
              <a:t>[P] Ford &amp; Crowther, My Life and Work (1922), chapters VII–VIII
[Q] The New York Times, “For Every Woman, $5 a Day” (Oct. 26, 1916)</a:t>
            </a:r>
          </a:p>
        </p:txBody>
      </p:sp>
      <p:sp>
        <p:nvSpPr>
          <p:cNvPr id="4" name="Rectangle 3">
            <a:extLst>
              <a:ext uri="{FF2B5EF4-FFF2-40B4-BE49-F238E27FC236}">
                <a16:creationId xmlns:a16="http://schemas.microsoft.com/office/drawing/2014/main" id="{D992FAFB-6AB7-4D2E-8BAF-38201FAD6208}"/>
              </a:ext>
            </a:extLst>
          </p:cNvPr>
          <p:cNvSpPr>
            <a:spLocks noGrp="1"/>
          </p:cNvSpPr>
          <p:nvPr/>
        </p:nvSpPr>
        <p:spPr>
          <a:xfrm>
            <a:off x="666750" y="4276725"/>
            <a:ext cx="10572750" cy="1123950"/>
          </a:xfrm>
          <a:prstGeom prst="rect">
            <a:avLst/>
          </a:prstGeom>
          <a:noFill/>
          <a:ln w="0">
            <a:noFill/>
          </a:ln>
        </p:spPr>
        <p:txBody>
          <a:bodyPr lIns="0" tIns="0" rIns="0" bIns="0"/>
          <a:lstStyle>
            <a:defPPr>
              <a:defRPr sz="1800" b="0">
                <a:solidFill>
                  <a:srgbClr val="172A36"/>
                </a:solidFill>
                <a:latin typeface="Arial"/>
                <a:ea typeface="Arial"/>
                <a:cs typeface="Arial"/>
              </a:defRPr>
            </a:defPPr>
            <a:lvl1pPr>
              <a:defRPr sz="1800" b="0">
                <a:solidFill>
                  <a:srgbClr val="172A36"/>
                </a:solidFill>
                <a:latin typeface="Arial"/>
                <a:ea typeface="Arial"/>
                <a:cs typeface="Arial"/>
              </a:defRPr>
            </a:lvl1pPr>
            <a:lvl2pPr>
              <a:defRPr sz="1800" b="0">
                <a:solidFill>
                  <a:srgbClr val="172A36"/>
                </a:solidFill>
                <a:latin typeface="Arial"/>
                <a:ea typeface="Arial"/>
                <a:cs typeface="Arial"/>
              </a:defRPr>
            </a:lvl2pPr>
            <a:lvl3pPr>
              <a:defRPr sz="1800" b="0">
                <a:solidFill>
                  <a:srgbClr val="172A36"/>
                </a:solidFill>
                <a:latin typeface="Arial"/>
                <a:ea typeface="Arial"/>
                <a:cs typeface="Arial"/>
              </a:defRPr>
            </a:lvl3pPr>
            <a:lvl4pPr>
              <a:defRPr sz="1800" b="0">
                <a:solidFill>
                  <a:srgbClr val="172A36"/>
                </a:solidFill>
                <a:latin typeface="Arial"/>
                <a:ea typeface="Arial"/>
                <a:cs typeface="Arial"/>
              </a:defRPr>
            </a:lvl4pPr>
            <a:lvl5pPr>
              <a:defRPr sz="1800" b="0">
                <a:solidFill>
                  <a:srgbClr val="172A36"/>
                </a:solidFill>
                <a:latin typeface="Arial"/>
                <a:ea typeface="Arial"/>
                <a:cs typeface="Arial"/>
              </a:defRPr>
            </a:lvl5pPr>
            <a:lvl6pPr>
              <a:defRPr sz="1800" b="0">
                <a:solidFill>
                  <a:srgbClr val="172A36"/>
                </a:solidFill>
                <a:latin typeface="Arial"/>
                <a:ea typeface="Arial"/>
                <a:cs typeface="Arial"/>
              </a:defRPr>
            </a:lvl6pPr>
            <a:lvl7pPr>
              <a:defRPr sz="1800" b="0">
                <a:solidFill>
                  <a:srgbClr val="172A36"/>
                </a:solidFill>
                <a:latin typeface="Arial"/>
                <a:ea typeface="Arial"/>
                <a:cs typeface="Arial"/>
              </a:defRPr>
            </a:lvl7pPr>
            <a:lvl8pPr>
              <a:defRPr sz="1800" b="0">
                <a:solidFill>
                  <a:srgbClr val="172A36"/>
                </a:solidFill>
                <a:latin typeface="Arial"/>
                <a:ea typeface="Arial"/>
                <a:cs typeface="Arial"/>
              </a:defRPr>
            </a:lvl8pPr>
            <a:lvl9pPr>
              <a:defRPr sz="1800" b="0">
                <a:solidFill>
                  <a:srgbClr val="172A36"/>
                </a:solidFill>
                <a:latin typeface="Arial"/>
                <a:ea typeface="Arial"/>
                <a:cs typeface="Arial"/>
              </a:defRPr>
            </a:lvl9pPr>
          </a:lstStyle>
          <a:p>
            <a:pPr>
              <a:defRPr sz="1800" b="0">
                <a:solidFill>
                  <a:srgbClr val="172A36"/>
                </a:solidFill>
                <a:latin typeface="Arial"/>
                <a:ea typeface="Arial"/>
                <a:cs typeface="Arial"/>
              </a:defRPr>
            </a:pPr>
            <a:r>
              <a:rPr sz="1800" b="0">
                <a:solidFill>
                  <a:srgbClr val="172A36"/>
                </a:solidFill>
                <a:latin typeface="Arial"/>
                <a:ea typeface="Arial"/>
                <a:cs typeface="Arial"/>
              </a:rPr>
              <a:t>[R] The Henry Ford, K–12 Research Guide: Rosie the Riveter
Full URLs and source limitations appear in these slide notes.</a:t>
            </a:r>
          </a:p>
        </p:txBody>
      </p:sp>
      <p:sp>
        <p:nvSpPr>
          <p:cNvPr id="5" name="Rectangle 4">
            <a:extLst>
              <a:ext uri="{FF2B5EF4-FFF2-40B4-BE49-F238E27FC236}">
                <a16:creationId xmlns:a16="http://schemas.microsoft.com/office/drawing/2014/main" id="{ADB0036E-B427-4F2B-821B-512504A44761}"/>
              </a:ext>
            </a:extLst>
          </p:cNvPr>
          <p:cNvSpPr>
            <a:spLocks noGrp="1"/>
          </p:cNvSpPr>
          <p:nvPr/>
        </p:nvSpPr>
        <p:spPr>
          <a:xfrm>
            <a:off x="666750" y="6096000"/>
            <a:ext cx="10715625" cy="238125"/>
          </a:xfrm>
          <a:prstGeom prst="rect">
            <a:avLst/>
          </a:prstGeom>
          <a:noFill/>
          <a:ln w="0">
            <a:noFill/>
          </a:ln>
        </p:spPr>
        <p:txBody>
          <a:bodyPr lIns="0" tIns="0" rIns="0" bIns="0"/>
          <a:lstStyle>
            <a:defPPr>
              <a:defRPr sz="1350" b="0">
                <a:solidFill>
                  <a:srgbClr val="A95D35"/>
                </a:solidFill>
                <a:latin typeface="Arial"/>
                <a:ea typeface="Arial"/>
                <a:cs typeface="Arial"/>
              </a:defRPr>
            </a:defPPr>
            <a:lvl1pPr>
              <a:defRPr sz="1350" b="0">
                <a:solidFill>
                  <a:srgbClr val="A95D35"/>
                </a:solidFill>
                <a:latin typeface="Arial"/>
                <a:ea typeface="Arial"/>
                <a:cs typeface="Arial"/>
              </a:defRPr>
            </a:lvl1pPr>
            <a:lvl2pPr>
              <a:defRPr sz="1350" b="0">
                <a:solidFill>
                  <a:srgbClr val="A95D35"/>
                </a:solidFill>
                <a:latin typeface="Arial"/>
                <a:ea typeface="Arial"/>
                <a:cs typeface="Arial"/>
              </a:defRPr>
            </a:lvl2pPr>
            <a:lvl3pPr>
              <a:defRPr sz="1350" b="0">
                <a:solidFill>
                  <a:srgbClr val="A95D35"/>
                </a:solidFill>
                <a:latin typeface="Arial"/>
                <a:ea typeface="Arial"/>
                <a:cs typeface="Arial"/>
              </a:defRPr>
            </a:lvl3pPr>
            <a:lvl4pPr>
              <a:defRPr sz="1350" b="0">
                <a:solidFill>
                  <a:srgbClr val="A95D35"/>
                </a:solidFill>
                <a:latin typeface="Arial"/>
                <a:ea typeface="Arial"/>
                <a:cs typeface="Arial"/>
              </a:defRPr>
            </a:lvl4pPr>
            <a:lvl5pPr>
              <a:defRPr sz="1350" b="0">
                <a:solidFill>
                  <a:srgbClr val="A95D35"/>
                </a:solidFill>
                <a:latin typeface="Arial"/>
                <a:ea typeface="Arial"/>
                <a:cs typeface="Arial"/>
              </a:defRPr>
            </a:lvl5pPr>
            <a:lvl6pPr>
              <a:defRPr sz="1350" b="0">
                <a:solidFill>
                  <a:srgbClr val="A95D35"/>
                </a:solidFill>
                <a:latin typeface="Arial"/>
                <a:ea typeface="Arial"/>
                <a:cs typeface="Arial"/>
              </a:defRPr>
            </a:lvl6pPr>
            <a:lvl7pPr>
              <a:defRPr sz="1350" b="0">
                <a:solidFill>
                  <a:srgbClr val="A95D35"/>
                </a:solidFill>
                <a:latin typeface="Arial"/>
                <a:ea typeface="Arial"/>
                <a:cs typeface="Arial"/>
              </a:defRPr>
            </a:lvl7pPr>
            <a:lvl8pPr>
              <a:defRPr sz="1350" b="0">
                <a:solidFill>
                  <a:srgbClr val="A95D35"/>
                </a:solidFill>
                <a:latin typeface="Arial"/>
                <a:ea typeface="Arial"/>
                <a:cs typeface="Arial"/>
              </a:defRPr>
            </a:lvl8pPr>
            <a:lvl9pPr>
              <a:defRPr sz="1350" b="0">
                <a:solidFill>
                  <a:srgbClr val="A95D35"/>
                </a:solidFill>
                <a:latin typeface="Arial"/>
                <a:ea typeface="Arial"/>
                <a:cs typeface="Arial"/>
              </a:defRPr>
            </a:lvl9pPr>
          </a:lstStyle>
          <a:p>
            <a:pPr>
              <a:defRPr sz="1350" b="0">
                <a:solidFill>
                  <a:srgbClr val="A95D35"/>
                </a:solidFill>
                <a:latin typeface="Arial"/>
                <a:ea typeface="Arial"/>
                <a:cs typeface="Arial"/>
              </a:defRPr>
            </a:pPr>
            <a:r>
              <a:rPr sz="1350" b="0">
                <a:solidFill>
                  <a:srgbClr val="A95D35"/>
                </a:solidFill>
                <a:latin typeface="Arial"/>
                <a:ea typeface="Arial"/>
                <a:cs typeface="Arial"/>
              </a:rPr>
              <a:t>Primary accounts reflect their authors’ views; distinguish them from independent evidence.</a:t>
            </a:r>
          </a:p>
        </p:txBody>
      </p:sp>
      <p:sp>
        <p:nvSpPr>
          <p:cNvPr id="6" name="Rectangle 5">
            <a:extLst>
              <a:ext uri="{FF2B5EF4-FFF2-40B4-BE49-F238E27FC236}">
                <a16:creationId xmlns:a16="http://schemas.microsoft.com/office/drawing/2014/main" id="{5FE75406-CA5F-4843-B175-EFDB1E470B8C}"/>
              </a:ext>
            </a:extLst>
          </p:cNvPr>
          <p:cNvSpPr>
            <a:spLocks noGrp="1"/>
          </p:cNvSpPr>
          <p:nvPr/>
        </p:nvSpPr>
        <p:spPr>
          <a:xfrm>
            <a:off x="666750" y="6429375"/>
            <a:ext cx="9525000" cy="209550"/>
          </a:xfrm>
          <a:prstGeom prst="rect">
            <a:avLst/>
          </a:prstGeom>
          <a:noFill/>
          <a:ln w="0">
            <a:noFill/>
          </a:ln>
        </p:spPr>
        <p:txBody>
          <a:bodyPr lIns="0" tIns="0" rIns="0" bIns="0"/>
          <a:lstStyle>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a:pPr>
              <a:defRPr sz="1125" b="0">
                <a:solidFill>
                  <a:srgbClr val="55636A"/>
                </a:solidFill>
                <a:latin typeface="Arial"/>
                <a:ea typeface="Arial"/>
                <a:cs typeface="Arial"/>
              </a:defRPr>
            </a:pPr>
            <a:r>
              <a:rPr sz="1125" b="0">
                <a:solidFill>
                  <a:srgbClr val="55636A"/>
                </a:solidFill>
                <a:latin typeface="Arial"/>
                <a:ea typeface="Arial"/>
                <a:cs typeface="Arial"/>
              </a:rPr>
              <a:t>Source access dates carried over from the supplied revision; live links not reverified.</a:t>
            </a:r>
          </a:p>
        </p:txBody>
      </p:sp>
      <p:sp>
        <p:nvSpPr>
          <p:cNvPr id="7" name="Rectangle 6">
            <a:extLst>
              <a:ext uri="{FF2B5EF4-FFF2-40B4-BE49-F238E27FC236}">
                <a16:creationId xmlns:a16="http://schemas.microsoft.com/office/drawing/2014/main" id="{D71C5110-8272-40C1-B5F3-D5DCFCB59759}"/>
              </a:ext>
            </a:extLst>
          </p:cNvPr>
          <p:cNvSpPr>
            <a:spLocks noGrp="1"/>
          </p:cNvSpPr>
          <p:nvPr/>
        </p:nvSpPr>
        <p:spPr>
          <a:xfrm>
            <a:off x="11430000" y="6429375"/>
            <a:ext cx="428625" cy="209550"/>
          </a:xfrm>
          <a:prstGeom prst="rect">
            <a:avLst/>
          </a:prstGeom>
          <a:noFill/>
          <a:ln w="0">
            <a:noFill/>
          </a:ln>
        </p:spPr>
        <p:txBody>
          <a:bodyPr lIns="0" tIns="0" rIns="0" bIns="0"/>
          <a:lstStyle>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a:pPr>
              <a:defRPr sz="1125" b="0">
                <a:solidFill>
                  <a:srgbClr val="55636A"/>
                </a:solidFill>
                <a:latin typeface="Arial"/>
                <a:ea typeface="Arial"/>
                <a:cs typeface="Arial"/>
              </a:defRPr>
            </a:pPr>
            <a:fld id="{FDADB941-F821-44C2-B064-AF5276655203}" type="slidenum">
              <a:rPr lang="en-US" sz="1000">
                <a:solidFill>
                  <a:srgbClr val="586A70"/>
                </a:solidFill>
              </a:rPr>
              <a:t>27</a:t>
            </a:fld>
          </a:p>
        </p:txBody>
      </p:sp>
    </p:spTree>
    <p:extLst>
      <p:ext uri="{BB962C8B-B14F-4D97-AF65-F5344CB8AC3E}">
        <p14:creationId xmlns:p14="http://schemas.microsoft.com/office/powerpoint/2010/main" val="1526965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3BEC89E-4903-4DE7-B989-D101965DFC34}"/>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buNone/>
              <a:defRPr sz="3225" b="1">
                <a:solidFill>
                  <a:srgbClr val="172A36"/>
                </a:solidFill>
                <a:latin typeface="Arial"/>
                <a:ea typeface="Arial"/>
                <a:cs typeface="Arial"/>
              </a:defRPr>
            </a:pPr>
            <a:r>
              <a:rPr sz="3225" b="1">
                <a:solidFill>
                  <a:srgbClr val="172A36"/>
                </a:solidFill>
                <a:latin typeface="Arial"/>
                <a:ea typeface="Arial"/>
                <a:cs typeface="Arial"/>
              </a:rPr>
              <a:t>Course materials and visual credits</a:t>
            </a:r>
          </a:p>
        </p:txBody>
      </p:sp>
      <p:sp>
        <p:nvSpPr>
          <p:cNvPr id="2" name="Rectangle 1">
            <a:extLst>
              <a:ext uri="{FF2B5EF4-FFF2-40B4-BE49-F238E27FC236}">
                <a16:creationId xmlns:a16="http://schemas.microsoft.com/office/drawing/2014/main" id="{2B15E13B-B077-4DB8-858F-321A16B01ADB}"/>
              </a:ext>
            </a:extLst>
          </p:cNvPr>
          <p:cNvSpPr>
            <a:spLocks noGrp="1"/>
          </p:cNvSpPr>
          <p:nvPr/>
        </p:nvSpPr>
        <p:spPr>
          <a:xfrm>
            <a:off x="666750" y="1762125"/>
            <a:ext cx="10572750" cy="1143000"/>
          </a:xfrm>
          <a:prstGeom prst="rect">
            <a:avLst/>
          </a:prstGeom>
          <a:noFill/>
          <a:ln w="0">
            <a:noFill/>
          </a:ln>
        </p:spPr>
        <p:txBody>
          <a:bodyPr lIns="0" tIns="0" rIns="0" bIns="0">
            <a:noAutofit/>
          </a:bodyPr>
          <a:lstStyle/>
          <a:p>
            <a:pPr>
              <a:buNone/>
              <a:defRPr sz="2025" b="0">
                <a:solidFill>
                  <a:srgbClr val="172A36"/>
                </a:solidFill>
                <a:latin typeface="Arial"/>
                <a:ea typeface="Arial"/>
                <a:cs typeface="Arial"/>
              </a:defRPr>
            </a:pPr>
            <a:r>
              <a:rPr sz="2025" b="0">
                <a:solidFill>
                  <a:srgbClr val="172A36"/>
                </a:solidFill>
                <a:latin typeface="Arial"/>
                <a:ea typeface="Arial"/>
                <a:cs typeface="Arial"/>
              </a:rPr>
              <a:t>Fundamentals of Management, 11th ed.</a:t>
            </a:r>
          </a:p>
          <a:p>
            <a:pPr>
              <a:buNone/>
              <a:defRPr sz="2025" b="0">
                <a:solidFill>
                  <a:srgbClr val="172A36"/>
                </a:solidFill>
                <a:latin typeface="Arial"/>
                <a:ea typeface="Arial"/>
                <a:cs typeface="Arial"/>
              </a:defRPr>
            </a:pPr>
            <a:r>
              <a:rPr sz="2025" b="0">
                <a:solidFill>
                  <a:srgbClr val="172A36"/>
                </a:solidFill>
                <a:latin typeface="Arial"/>
                <a:ea typeface="Arial"/>
                <a:cs typeface="Arial"/>
              </a:rPr>
              <a:t>Uploaded Pearson chapter slides 1–6, 8, and 9 (2020)</a:t>
            </a:r>
          </a:p>
        </p:txBody>
      </p:sp>
      <p:sp>
        <p:nvSpPr>
          <p:cNvPr id="3" name="Rectangle 2">
            <a:extLst>
              <a:ext uri="{FF2B5EF4-FFF2-40B4-BE49-F238E27FC236}">
                <a16:creationId xmlns:a16="http://schemas.microsoft.com/office/drawing/2014/main" id="{64F2E96B-01CC-4412-89BD-E6E66F026FE9}"/>
              </a:ext>
            </a:extLst>
          </p:cNvPr>
          <p:cNvSpPr>
            <a:spLocks noGrp="1"/>
          </p:cNvSpPr>
          <p:nvPr/>
        </p:nvSpPr>
        <p:spPr>
          <a:xfrm>
            <a:off x="666750" y="3124200"/>
            <a:ext cx="10572750" cy="1143000"/>
          </a:xfrm>
          <a:prstGeom prst="rect">
            <a:avLst/>
          </a:prstGeom>
          <a:noFill/>
          <a:ln w="0">
            <a:noFill/>
          </a:ln>
        </p:spPr>
        <p:txBody>
          <a:bodyPr lIns="0" tIns="0" rIns="0" bIns="0">
            <a:noAutofit/>
          </a:bodyPr>
          <a:lstStyle/>
          <a:p>
            <a:pPr>
              <a:buNone/>
              <a:defRPr sz="2025" b="0">
                <a:solidFill>
                  <a:srgbClr val="172A36"/>
                </a:solidFill>
                <a:latin typeface="Arial"/>
                <a:ea typeface="Arial"/>
                <a:cs typeface="Arial"/>
              </a:defRPr>
            </a:pPr>
            <a:r>
              <a:rPr sz="2025" b="0">
                <a:solidFill>
                  <a:srgbClr val="172A36"/>
                </a:solidFill>
                <a:latin typeface="Arial"/>
                <a:ea typeface="Arial"/>
                <a:cs typeface="Arial"/>
              </a:rPr>
              <a:t>History Module-1.pdf</a:t>
            </a:r>
          </a:p>
          <a:p>
            <a:pPr>
              <a:buNone/>
              <a:defRPr sz="2025" b="0">
                <a:solidFill>
                  <a:srgbClr val="172A36"/>
                </a:solidFill>
                <a:latin typeface="Arial"/>
                <a:ea typeface="Arial"/>
                <a:cs typeface="Arial"/>
              </a:defRPr>
            </a:pPr>
            <a:r>
              <a:rPr sz="2025" b="0">
                <a:solidFill>
                  <a:srgbClr val="172A36"/>
                </a:solidFill>
                <a:latin typeface="Arial"/>
                <a:ea typeface="Arial"/>
                <a:cs typeface="Arial"/>
              </a:rPr>
              <a:t>Uploaded Prentice Hall management-history module (2005)</a:t>
            </a:r>
          </a:p>
        </p:txBody>
      </p:sp>
      <p:sp>
        <p:nvSpPr>
          <p:cNvPr id="4" name="Rectangle 3">
            <a:extLst>
              <a:ext uri="{FF2B5EF4-FFF2-40B4-BE49-F238E27FC236}">
                <a16:creationId xmlns:a16="http://schemas.microsoft.com/office/drawing/2014/main" id="{D64D27FE-A1DE-4938-9D55-C7FF34CBA4A8}"/>
              </a:ext>
            </a:extLst>
          </p:cNvPr>
          <p:cNvSpPr>
            <a:spLocks noGrp="1"/>
          </p:cNvSpPr>
          <p:nvPr/>
        </p:nvSpPr>
        <p:spPr>
          <a:xfrm>
            <a:off x="666750" y="4486275"/>
            <a:ext cx="10572750" cy="1143000"/>
          </a:xfrm>
          <a:prstGeom prst="rect">
            <a:avLst/>
          </a:prstGeom>
          <a:noFill/>
          <a:ln w="0">
            <a:noFill/>
          </a:ln>
        </p:spPr>
        <p:txBody>
          <a:bodyPr lIns="0" tIns="0" rIns="0" bIns="0">
            <a:noAutofit/>
          </a:bodyPr>
          <a:lstStyle/>
          <a:p>
            <a:pPr>
              <a:buNone/>
              <a:defRPr sz="2025" b="0">
                <a:solidFill>
                  <a:srgbClr val="172A36"/>
                </a:solidFill>
                <a:latin typeface="Arial"/>
                <a:ea typeface="Arial"/>
                <a:cs typeface="Arial"/>
              </a:defRPr>
            </a:pPr>
            <a:r>
              <a:rPr sz="2025" b="0">
                <a:solidFill>
                  <a:srgbClr val="172A36"/>
                </a:solidFill>
                <a:latin typeface="Arial"/>
                <a:ea typeface="Arial"/>
                <a:cs typeface="Arial"/>
              </a:rPr>
              <a:t>The Henry Ford digital collections</a:t>
            </a:r>
          </a:p>
          <a:p>
            <a:pPr>
              <a:buNone/>
              <a:defRPr sz="2025" b="0">
                <a:solidFill>
                  <a:srgbClr val="172A36"/>
                </a:solidFill>
                <a:latin typeface="Arial"/>
                <a:ea typeface="Arial"/>
                <a:cs typeface="Arial"/>
              </a:defRPr>
            </a:pPr>
            <a:r>
              <a:rPr sz="2025" b="0">
                <a:solidFill>
                  <a:srgbClr val="172A36"/>
                </a:solidFill>
                <a:latin typeface="Arial"/>
                <a:ea typeface="Arial"/>
                <a:cs typeface="Arial"/>
              </a:rPr>
              <a:t>Historical photographs and documents identified in slide notes</a:t>
            </a:r>
          </a:p>
        </p:txBody>
      </p:sp>
      <p:sp>
        <p:nvSpPr>
          <p:cNvPr id="5" name="Rectangle 4">
            <a:extLst>
              <a:ext uri="{FF2B5EF4-FFF2-40B4-BE49-F238E27FC236}">
                <a16:creationId xmlns:a16="http://schemas.microsoft.com/office/drawing/2014/main" id="{F20B6C5F-3010-4536-B6DD-1FE99F24AB42}"/>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buNone/>
              <a:defRPr sz="1125" b="0">
                <a:solidFill>
                  <a:srgbClr val="55636A"/>
                </a:solidFill>
                <a:latin typeface="Arial"/>
                <a:ea typeface="Arial"/>
                <a:cs typeface="Arial"/>
              </a:defRPr>
            </a:pPr>
            <a:fld id="{D9173A2E-0111-49B5-9C25-3F16F188D3C6}" type="slidenum">
              <a:rPr lang="en-US" sz="1000">
                <a:solidFill>
                  <a:srgbClr val="586A70"/>
                </a:solidFill>
              </a:rPr>
              <a:t>28</a:t>
            </a:fld>
          </a:p>
        </p:txBody>
      </p:sp>
    </p:spTree>
    <p:extLst>
      <p:ext uri="{BB962C8B-B14F-4D97-AF65-F5344CB8AC3E}">
        <p14:creationId xmlns:p14="http://schemas.microsoft.com/office/powerpoint/2010/main" val="1144555163"/>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1E9"/>
        </a:solidFill>
        <a:effectLst/>
      </p:bgPr>
    </p:bg>
    <p:spTree>
      <p:nvGrpSpPr>
        <p:cNvPr id="1" name=""/>
        <p:cNvGrpSpPr/>
        <p:nvPr/>
      </p:nvGrpSpPr>
      <p:grpSpPr/>
      <p:sp>
        <p:nvSpPr>
          <p:cNvPr id="2" name="TextBox 1"/>
          <p:cNvSpPr txBox="1"/>
          <p:nvPr/>
        </p:nvSpPr>
        <p:spPr>
          <a:xfrm>
            <a:off x="685800" y="548640"/>
            <a:ext cx="10789920" cy="914400"/>
          </a:xfrm>
          <a:prstGeom prst="rect">
            <a:avLst/>
          </a:prstGeom>
          <a:noFill/>
        </p:spPr>
        <p:txBody>
          <a:bodyPr wrap="square">
            <a:spAutoFit/>
          </a:bodyPr>
          <a:lstStyle/>
          <a:p>
            <a:pPr>
              <a:spcAft>
                <a:spcPts val="1400"/>
              </a:spcAft>
              <a:defRPr sz="3200" b="1">
                <a:solidFill>
                  <a:srgbClr val="17303B"/>
                </a:solidFill>
                <a:latin typeface="Arial"/>
              </a:defRPr>
            </a:pPr>
            <a:r>
              <a:t>Questions and discussion</a:t>
            </a:r>
          </a:p>
        </p:txBody>
      </p:sp>
      <p:sp>
        <p:nvSpPr>
          <p:cNvPr id="3" name="TextBox 2"/>
          <p:cNvSpPr txBox="1"/>
          <p:nvPr/>
        </p:nvSpPr>
        <p:spPr>
          <a:xfrm>
            <a:off x="777240" y="1828800"/>
            <a:ext cx="10607040" cy="1097280"/>
          </a:xfrm>
          <a:prstGeom prst="rect">
            <a:avLst/>
          </a:prstGeom>
          <a:noFill/>
        </p:spPr>
        <p:txBody>
          <a:bodyPr wrap="square">
            <a:spAutoFit/>
          </a:bodyPr>
          <a:lstStyle/>
          <a:p>
            <a:pPr>
              <a:spcAft>
                <a:spcPts val="1400"/>
              </a:spcAft>
              <a:defRPr sz="3000" b="1">
                <a:solidFill>
                  <a:srgbClr val="B65B2C"/>
                </a:solidFill>
                <a:latin typeface="Arial"/>
              </a:defRPr>
            </a:pPr>
            <a:r>
              <a:t>Would you change your factory plan now?</a:t>
            </a:r>
          </a:p>
        </p:txBody>
      </p:sp>
      <p:sp>
        <p:nvSpPr>
          <p:cNvPr id="4" name="TextBox 3"/>
          <p:cNvSpPr txBox="1"/>
          <p:nvPr/>
        </p:nvSpPr>
        <p:spPr>
          <a:xfrm>
            <a:off x="777240" y="3200400"/>
            <a:ext cx="10607040" cy="1463040"/>
          </a:xfrm>
          <a:prstGeom prst="rect">
            <a:avLst/>
          </a:prstGeom>
          <a:noFill/>
        </p:spPr>
        <p:txBody>
          <a:bodyPr wrap="square">
            <a:spAutoFit/>
          </a:bodyPr>
          <a:lstStyle/>
          <a:p>
            <a:pPr>
              <a:spcAft>
                <a:spcPts val="1400"/>
              </a:spcAft>
              <a:defRPr sz="2700" b="0">
                <a:solidFill>
                  <a:srgbClr val="17303B"/>
                </a:solidFill>
                <a:latin typeface="Arial"/>
              </a:defRPr>
            </a:pPr>
            <a:r>
              <a:t>Which Ford practice would you keep?</a:t>
            </a:r>
          </a:p>
          <a:p>
            <a:pPr>
              <a:spcAft>
                <a:spcPts val="1400"/>
              </a:spcAft>
              <a:defRPr sz="2700" b="0">
                <a:solidFill>
                  <a:srgbClr val="17303B"/>
                </a:solidFill>
                <a:latin typeface="Arial"/>
              </a:defRPr>
            </a:pPr>
            <a:r>
              <a:t>Which would you change—and why?</a:t>
            </a:r>
          </a:p>
        </p:txBody>
      </p:sp>
      <p:sp>
        <p:nvSpPr>
          <p:cNvPr id="5" name="TextBox 4"/>
          <p:cNvSpPr txBox="1"/>
          <p:nvPr/>
        </p:nvSpPr>
        <p:spPr>
          <a:xfrm>
            <a:off x="11430000" y="6419088"/>
            <a:ext cx="457200" cy="256032"/>
          </a:xfrm>
          <a:prstGeom prst="rect">
            <a:avLst/>
          </a:prstGeom>
          <a:noFill/>
        </p:spPr>
        <p:txBody>
          <a:bodyPr wrap="square">
            <a:spAutoFit/>
          </a:bodyPr>
          <a:lstStyle/>
          <a:p>
            <a:pPr>
              <a:spcAft>
                <a:spcPts val="1400"/>
              </a:spcAft>
              <a:defRPr sz="1000" b="0">
                <a:solidFill>
                  <a:srgbClr val="586A70"/>
                </a:solidFill>
                <a:latin typeface="Arial"/>
              </a:defRPr>
            </a:pPr>
            <a:fld id="{0BB1C44B-1640-4114-A457-C3F4ED399EA8}" type="slidenum">
              <a:rPr lang="en-US" sz="1000">
                <a:solidFill>
                  <a:srgbClr val="586A70"/>
                </a:solidFill>
              </a:rPr>
              <a:t>24</a:t>
            </a:fld>
          </a:p>
        </p:txBody>
      </p:sp>
    </p:spTree>
  </p:cSld>
  <p:clrMapOvr>
    <a:masterClrMapping/>
  </p:clrMapOvr>
</p:sld>
</file>

<file path=ppt/theme/theme1.xml><?xml version="1.0" encoding="utf-8"?>
<a:theme xmlns:a="http://schemas.openxmlformats.org/drawingml/2006/main" name="Henry Ford">
  <a:themeElements>
    <a:clrScheme name="Henry Ford">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Henry For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Henry Ford">
  <a:themeElements>
    <a:clrScheme name="Henry Ford">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Henry For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4A51A2AD56F6B46BBF98B7687847DB9" ma:contentTypeVersion="6" ma:contentTypeDescription="Create a new document." ma:contentTypeScope="" ma:versionID="346c972c5d8f8c456903dfeffb1084e3">
  <xsd:schema xmlns:xsd="http://www.w3.org/2001/XMLSchema" xmlns:xs="http://www.w3.org/2001/XMLSchema" xmlns:p="http://schemas.microsoft.com/office/2006/metadata/properties" xmlns:ns3="3f86a5e5-1de2-4cc7-bfcc-ba4e40d6d086" targetNamespace="http://schemas.microsoft.com/office/2006/metadata/properties" ma:root="true" ma:fieldsID="1b03c1bb475161999ddf5e217a9cd368" ns3:_="">
    <xsd:import namespace="3f86a5e5-1de2-4cc7-bfcc-ba4e40d6d086"/>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86a5e5-1de2-4cc7-bfcc-ba4e40d6d08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3f86a5e5-1de2-4cc7-bfcc-ba4e40d6d086" xsi:nil="true"/>
  </documentManagement>
</p:properties>
</file>

<file path=customXml/itemProps1.xml><?xml version="1.0" encoding="utf-8"?>
<ds:datastoreItem xmlns:ds="http://schemas.openxmlformats.org/officeDocument/2006/customXml" ds:itemID="{49CE4A5A-9342-4B1E-8AC4-A382FB387ECF}">
  <ds:schemaRefs>
    <ds:schemaRef ds:uri="http://schemas.microsoft.com/sharepoint/v3/contenttype/forms"/>
  </ds:schemaRefs>
</ds:datastoreItem>
</file>

<file path=customXml/itemProps2.xml><?xml version="1.0" encoding="utf-8"?>
<ds:datastoreItem xmlns:ds="http://schemas.openxmlformats.org/officeDocument/2006/customXml" ds:itemID="{531B9760-3914-4C2E-9E4B-9FD54CBCA750}">
  <ds:schemaRefs>
    <ds:schemaRef ds:uri="3f86a5e5-1de2-4cc7-bfcc-ba4e40d6d0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E61377D-3E64-4D7E-B0FD-D0BD42886969}">
  <ds:schemaRefs>
    <ds:schemaRef ds:uri="http://schemas.microsoft.com/office/infopath/2007/PartnerControls"/>
    <ds:schemaRef ds:uri="http://schemas.microsoft.com/office/2006/documentManagement/types"/>
    <ds:schemaRef ds:uri="http://purl.org/dc/elements/1.1/"/>
    <ds:schemaRef ds:uri="http://schemas.openxmlformats.org/package/2006/metadata/core-properties"/>
    <ds:schemaRef ds:uri="http://purl.org/dc/terms/"/>
    <ds:schemaRef ds:uri="http://purl.org/dc/dcmitype/"/>
    <ds:schemaRef ds:uri="3f86a5e5-1de2-4cc7-bfcc-ba4e40d6d086"/>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bd964dbf-6c58-44f2-b82c-e15b56b67dfa}" enabled="0" method="" siteId="{bd964dbf-6c58-44f2-b82c-e15b56b67dfa}" removed="1"/>
</clbl:labelList>
</file>

<file path=docProps/app.xml><?xml version="1.0" encoding="utf-8"?>
<Properties xmlns="http://schemas.openxmlformats.org/officeDocument/2006/extended-properties" xmlns:vt="http://schemas.openxmlformats.org/officeDocument/2006/docPropsVTypes">
  <TotalTime>0</TotalTime>
  <Words>8179</Words>
  <Application>Microsoft Office PowerPoint</Application>
  <PresentationFormat>Widescreen</PresentationFormat>
  <Paragraphs>790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Henry Ford</vt:lpstr>
      <vt:lpstr>Henry Ford</vt:lpstr>
      <vt:lpstr>The management question</vt:lpstr>
      <vt:lpstr>The mechanic behind the manager</vt:lpstr>
      <vt:lpstr>Ford’s influences and collaborators</vt:lpstr>
      <vt:lpstr>The production system</vt:lpstr>
      <vt:lpstr>Assembly time fell dramatically</vt:lpstr>
      <vt:lpstr>Efficiency expanded the market</vt:lpstr>
      <vt:lpstr>Fordism as a management system</vt:lpstr>
      <vt:lpstr>Women at Ford: factory work and pay</vt:lpstr>
      <vt:lpstr>How Ford managed women’s employment</vt:lpstr>
      <vt:lpstr>The staffing problem</vt:lpstr>
      <vt:lpstr>You manage the factory. Workers are leaving.</vt:lpstr>
      <vt:lpstr>Ford's Announcement in January 1914</vt:lpstr>
      <vt:lpstr>The $5 day, with conditions</vt:lpstr>
      <vt:lpstr>Two labor stories, separated by time</vt:lpstr>
      <vt:lpstr>When employee welfare became control</vt:lpstr>
      <vt:lpstr>River Rouge and vertical integration</vt:lpstr>
      <vt:lpstr>The innovator resisted change</vt:lpstr>
      <vt:lpstr>Labor relations and worker voice</vt:lpstr>
      <vt:lpstr>A balanced evaluation of Ford</vt:lpstr>
      <vt:lpstr>Where we still see related ideas</vt:lpstr>
      <vt:lpstr>One company, four management functions</vt:lpstr>
      <vt:lpstr>What Ford changed about management</vt:lpstr>
      <vt:lpstr>Questions and discussion</vt:lpstr>
      <vt:lpstr>References: production and strategy</vt:lpstr>
      <vt:lpstr>References: employees and legacy</vt:lpstr>
      <vt:lpstr>References: women and the fact check</vt:lpstr>
      <vt:lpstr>Course materials and visual credits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Henry Ford: Management Innovator</dc:title>
  <dc:subject>MGT 210, Section T01</dc:subject>
  <dc:creator>Andy Johnson &amp; Slade McClain</dc:creator>
  <dc:description/>
  <cp:lastModifiedBy>Andy Johnson &amp; Slade McClain</cp:lastModifiedBy>
  <cp:revision>1</cp:revision>
  <dcterms:created xsi:type="dcterms:W3CDTF">2026-10-20T01:03:57Z</dcterms:created>
  <dcterms:modified xsi:type="dcterms:W3CDTF">2026-10-20T11:53:05Z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0x010100A4A51A2AD56F6B46BBF98B7687847DB9</vt:lpwstr>
  </property>
</Properties>
</file>