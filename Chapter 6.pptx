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6" r:id="rId5"/>
  </p:sldMasterIdLst>
  <p:notesMasterIdLst>
    <p:notesMasterId r:id="rId42"/>
  </p:notesMasterIdLst>
  <p:handoutMasterIdLst>
    <p:handoutMasterId r:id="rId43"/>
  </p:handoutMasterIdLst>
  <p:sldIdLst>
    <p:sldId id="697" r:id="rId6"/>
    <p:sldId id="426" r:id="rId7"/>
    <p:sldId id="427" r:id="rId8"/>
    <p:sldId id="690" r:id="rId9"/>
    <p:sldId id="429" r:id="rId10"/>
    <p:sldId id="430" r:id="rId11"/>
    <p:sldId id="460" r:id="rId12"/>
    <p:sldId id="432" r:id="rId13"/>
    <p:sldId id="688" r:id="rId14"/>
    <p:sldId id="434" r:id="rId15"/>
    <p:sldId id="698" r:id="rId16"/>
    <p:sldId id="461" r:id="rId17"/>
    <p:sldId id="437" r:id="rId18"/>
    <p:sldId id="438" r:id="rId19"/>
    <p:sldId id="439" r:id="rId20"/>
    <p:sldId id="440" r:id="rId21"/>
    <p:sldId id="699" r:id="rId22"/>
    <p:sldId id="700" r:id="rId23"/>
    <p:sldId id="701" r:id="rId24"/>
    <p:sldId id="462" r:id="rId25"/>
    <p:sldId id="702" r:id="rId26"/>
    <p:sldId id="703" r:id="rId27"/>
    <p:sldId id="447" r:id="rId28"/>
    <p:sldId id="463" r:id="rId29"/>
    <p:sldId id="704" r:id="rId30"/>
    <p:sldId id="705" r:id="rId31"/>
    <p:sldId id="451" r:id="rId32"/>
    <p:sldId id="452" r:id="rId33"/>
    <p:sldId id="706" r:id="rId34"/>
    <p:sldId id="454" r:id="rId35"/>
    <p:sldId id="466" r:id="rId36"/>
    <p:sldId id="456" r:id="rId37"/>
    <p:sldId id="459" r:id="rId38"/>
    <p:sldId id="707" r:id="rId39"/>
    <p:sldId id="458" r:id="rId40"/>
    <p:sldId id="68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82" userDrawn="1">
          <p15:clr>
            <a:srgbClr val="A4A3A4"/>
          </p15:clr>
        </p15:guide>
        <p15:guide id="4" orient="horz" pos="799" userDrawn="1">
          <p15:clr>
            <a:srgbClr val="A4A3A4"/>
          </p15:clr>
        </p15:guide>
        <p15:guide id="6" orient="horz" pos="4110" userDrawn="1">
          <p15:clr>
            <a:srgbClr val="A4A3A4"/>
          </p15:clr>
        </p15:guide>
        <p15:guide id="8" pos="295">
          <p15:clr>
            <a:srgbClr val="A4A3A4"/>
          </p15:clr>
        </p15:guide>
        <p15:guide id="9" pos="551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laser" initials="l" lastIdx="1" clrIdx="1"/>
  <p:cmAuthor id="3" name="Darathie Renganathan, Integra-PDY, IN" initials="DRII" lastIdx="3" clrIdx="2"/>
  <p:cmAuthor id="4" name="veronica bashian" initials="vb" lastIdx="4" clrIdx="3"/>
  <p:cmAuthor id="5" name="Manoj Kumar Mishra, Integra-PDY, IN" initials="MKMII" lastIdx="4"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7" autoAdjust="0"/>
    <p:restoredTop sz="75691" autoAdjust="0"/>
  </p:normalViewPr>
  <p:slideViewPr>
    <p:cSldViewPr>
      <p:cViewPr varScale="1">
        <p:scale>
          <a:sx n="65" d="100"/>
          <a:sy n="65" d="100"/>
        </p:scale>
        <p:origin x="1987" y="43"/>
      </p:cViewPr>
      <p:guideLst>
        <p:guide orient="horz" pos="2160"/>
        <p:guide pos="2880"/>
        <p:guide orient="horz" pos="482"/>
        <p:guide orient="horz" pos="799"/>
        <p:guide orient="horz" pos="4110"/>
        <p:guide pos="295"/>
        <p:guide pos="5511"/>
      </p:guideLst>
    </p:cSldViewPr>
  </p:slideViewPr>
  <p:outlineViewPr>
    <p:cViewPr>
      <p:scale>
        <a:sx n="33" d="100"/>
        <a:sy n="33" d="100"/>
      </p:scale>
      <p:origin x="0" y="-5100"/>
    </p:cViewPr>
  </p:outlineViewPr>
  <p:notesTextViewPr>
    <p:cViewPr>
      <p:scale>
        <a:sx n="1" d="1"/>
        <a:sy n="1" d="1"/>
      </p:scale>
      <p:origin x="0" y="0"/>
    </p:cViewPr>
  </p:notesTextViewPr>
  <p:sorterViewPr>
    <p:cViewPr>
      <p:scale>
        <a:sx n="100" d="100"/>
        <a:sy n="100" d="100"/>
      </p:scale>
      <p:origin x="0" y="-4854"/>
    </p:cViewPr>
  </p:sorterViewPr>
  <p:notesViewPr>
    <p:cSldViewPr>
      <p:cViewPr varScale="1">
        <p:scale>
          <a:sx n="54" d="100"/>
          <a:sy n="54" d="100"/>
        </p:scale>
        <p:origin x="179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53873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391129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323519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endParaRPr lang="en-US" sz="1200" noProof="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2906888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852620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7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132995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105763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347849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232696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7666044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904034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1783101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43569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57724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14152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4096644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40966444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9342872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635495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36</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9" name="TextBox 8"/>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178399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429119"/>
            <a:ext cx="918000" cy="279915"/>
          </a:xfrm>
          <a:prstGeom prst="rect">
            <a:avLst/>
          </a:prstGeom>
        </p:spPr>
      </p:pic>
    </p:spTree>
    <p:extLst>
      <p:ext uri="{BB962C8B-B14F-4D97-AF65-F5344CB8AC3E}">
        <p14:creationId xmlns:p14="http://schemas.microsoft.com/office/powerpoint/2010/main" val="223603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055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8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828800"/>
          </a:xfrm>
        </p:spPr>
        <p:txBody>
          <a:bodyPr/>
          <a:lstStyle>
            <a:lvl1pPr marL="0" indent="0">
              <a:buClr>
                <a:srgbClr val="007FA3"/>
              </a:buClr>
              <a:buSzPct val="100000"/>
              <a:buNone/>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Content Placeholder 3"/>
          <p:cNvSpPr>
            <a:spLocks noGrp="1"/>
          </p:cNvSpPr>
          <p:nvPr>
            <p:ph sz="quarter" idx="13"/>
          </p:nvPr>
        </p:nvSpPr>
        <p:spPr>
          <a:xfrm>
            <a:off x="468313" y="4292600"/>
            <a:ext cx="8064500" cy="1728788"/>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55175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5582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14D1C52B-A1AE-4E39-8413-0438C9A2C781}"/>
              </a:ext>
            </a:extLst>
          </p:cNvPr>
          <p:cNvSpPr>
            <a:spLocks noGrp="1"/>
          </p:cNvSpPr>
          <p:nvPr>
            <p:ph sz="quarter" idx="13"/>
          </p:nvPr>
        </p:nvSpPr>
        <p:spPr>
          <a:xfrm>
            <a:off x="684213" y="1773238"/>
            <a:ext cx="1655762"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403E7B12-6FF8-46EF-A606-573F7C609430}"/>
              </a:ext>
            </a:extLst>
          </p:cNvPr>
          <p:cNvSpPr>
            <a:spLocks noGrp="1"/>
          </p:cNvSpPr>
          <p:nvPr>
            <p:ph sz="quarter" idx="14"/>
          </p:nvPr>
        </p:nvSpPr>
        <p:spPr>
          <a:xfrm>
            <a:off x="2627313" y="1916113"/>
            <a:ext cx="1728787"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6685D1B3-9E53-487C-8DA8-3E7D258214CA}"/>
              </a:ext>
            </a:extLst>
          </p:cNvPr>
          <p:cNvSpPr>
            <a:spLocks noGrp="1"/>
          </p:cNvSpPr>
          <p:nvPr>
            <p:ph sz="quarter" idx="15"/>
          </p:nvPr>
        </p:nvSpPr>
        <p:spPr>
          <a:xfrm>
            <a:off x="4572000" y="1989138"/>
            <a:ext cx="936625" cy="234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0CDDCC6C-0040-4A49-B0D0-1968CA9C23DA}"/>
              </a:ext>
            </a:extLst>
          </p:cNvPr>
          <p:cNvSpPr>
            <a:spLocks noGrp="1"/>
          </p:cNvSpPr>
          <p:nvPr>
            <p:ph sz="quarter" idx="16"/>
          </p:nvPr>
        </p:nvSpPr>
        <p:spPr>
          <a:xfrm>
            <a:off x="5724525" y="1989138"/>
            <a:ext cx="12239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A3F8CC94-4C8C-4D98-8781-76AC29DD7498}"/>
              </a:ext>
            </a:extLst>
          </p:cNvPr>
          <p:cNvSpPr>
            <a:spLocks noGrp="1"/>
          </p:cNvSpPr>
          <p:nvPr>
            <p:ph sz="quarter" idx="17"/>
          </p:nvPr>
        </p:nvSpPr>
        <p:spPr>
          <a:xfrm>
            <a:off x="827088" y="2708275"/>
            <a:ext cx="1081087" cy="360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EA121518-8B6E-440C-A695-4E8C7E98E8FD}"/>
              </a:ext>
            </a:extLst>
          </p:cNvPr>
          <p:cNvSpPr>
            <a:spLocks noGrp="1"/>
          </p:cNvSpPr>
          <p:nvPr>
            <p:ph type="pic" sz="quarter" idx="18"/>
          </p:nvPr>
        </p:nvSpPr>
        <p:spPr>
          <a:xfrm>
            <a:off x="827088" y="3429000"/>
            <a:ext cx="1008062" cy="360363"/>
          </a:xfrm>
        </p:spPr>
        <p:txBody>
          <a:bodyPr/>
          <a:lstStyle/>
          <a:p>
            <a:endParaRPr lang="en-US"/>
          </a:p>
        </p:txBody>
      </p:sp>
      <p:sp>
        <p:nvSpPr>
          <p:cNvPr id="20" name="Picture Placeholder 19">
            <a:extLst>
              <a:ext uri="{FF2B5EF4-FFF2-40B4-BE49-F238E27FC236}">
                <a16:creationId xmlns:a16="http://schemas.microsoft.com/office/drawing/2014/main" id="{72D7B386-189F-477D-B27C-1F05C4C34BDC}"/>
              </a:ext>
            </a:extLst>
          </p:cNvPr>
          <p:cNvSpPr>
            <a:spLocks noGrp="1"/>
          </p:cNvSpPr>
          <p:nvPr>
            <p:ph type="pic" sz="quarter" idx="19"/>
          </p:nvPr>
        </p:nvSpPr>
        <p:spPr>
          <a:xfrm>
            <a:off x="2124075" y="3429000"/>
            <a:ext cx="1008063" cy="360363"/>
          </a:xfrm>
        </p:spPr>
        <p:txBody>
          <a:bodyPr/>
          <a:lstStyle/>
          <a:p>
            <a:endParaRPr lang="en-US"/>
          </a:p>
        </p:txBody>
      </p:sp>
      <p:sp>
        <p:nvSpPr>
          <p:cNvPr id="22" name="Picture Placeholder 21">
            <a:extLst>
              <a:ext uri="{FF2B5EF4-FFF2-40B4-BE49-F238E27FC236}">
                <a16:creationId xmlns:a16="http://schemas.microsoft.com/office/drawing/2014/main" id="{4EA174D5-A535-44B9-8526-71E14D6D77A3}"/>
              </a:ext>
            </a:extLst>
          </p:cNvPr>
          <p:cNvSpPr>
            <a:spLocks noGrp="1"/>
          </p:cNvSpPr>
          <p:nvPr>
            <p:ph type="pic" sz="quarter" idx="20"/>
          </p:nvPr>
        </p:nvSpPr>
        <p:spPr>
          <a:xfrm>
            <a:off x="3348038" y="3429000"/>
            <a:ext cx="1223962" cy="360363"/>
          </a:xfrm>
        </p:spPr>
        <p:txBody>
          <a:bodyPr/>
          <a:lstStyle/>
          <a:p>
            <a:endParaRPr lang="en-US"/>
          </a:p>
        </p:txBody>
      </p:sp>
      <p:sp>
        <p:nvSpPr>
          <p:cNvPr id="24" name="Picture Placeholder 23">
            <a:extLst>
              <a:ext uri="{FF2B5EF4-FFF2-40B4-BE49-F238E27FC236}">
                <a16:creationId xmlns:a16="http://schemas.microsoft.com/office/drawing/2014/main" id="{47159C74-6BB9-4C20-AB3C-986559E286DD}"/>
              </a:ext>
            </a:extLst>
          </p:cNvPr>
          <p:cNvSpPr>
            <a:spLocks noGrp="1"/>
          </p:cNvSpPr>
          <p:nvPr>
            <p:ph type="pic" sz="quarter" idx="21"/>
          </p:nvPr>
        </p:nvSpPr>
        <p:spPr>
          <a:xfrm>
            <a:off x="4859338" y="3429000"/>
            <a:ext cx="649287" cy="360363"/>
          </a:xfrm>
        </p:spPr>
        <p:txBody>
          <a:bodyPr/>
          <a:lstStyle/>
          <a:p>
            <a:endParaRPr lang="en-US"/>
          </a:p>
        </p:txBody>
      </p:sp>
      <p:sp>
        <p:nvSpPr>
          <p:cNvPr id="26" name="Picture Placeholder 25">
            <a:extLst>
              <a:ext uri="{FF2B5EF4-FFF2-40B4-BE49-F238E27FC236}">
                <a16:creationId xmlns:a16="http://schemas.microsoft.com/office/drawing/2014/main" id="{DC5AC073-D2B1-42B1-AD51-8DD7FE8E0A48}"/>
              </a:ext>
            </a:extLst>
          </p:cNvPr>
          <p:cNvSpPr>
            <a:spLocks noGrp="1"/>
          </p:cNvSpPr>
          <p:nvPr>
            <p:ph type="pic" sz="quarter" idx="22"/>
          </p:nvPr>
        </p:nvSpPr>
        <p:spPr>
          <a:xfrm>
            <a:off x="5724525" y="3500438"/>
            <a:ext cx="1295400" cy="360362"/>
          </a:xfrm>
        </p:spPr>
        <p:txBody>
          <a:bodyPr/>
          <a:lstStyle/>
          <a:p>
            <a:endParaRPr lang="en-US"/>
          </a:p>
        </p:txBody>
      </p:sp>
      <p:sp>
        <p:nvSpPr>
          <p:cNvPr id="28" name="Picture Placeholder 27">
            <a:extLst>
              <a:ext uri="{FF2B5EF4-FFF2-40B4-BE49-F238E27FC236}">
                <a16:creationId xmlns:a16="http://schemas.microsoft.com/office/drawing/2014/main" id="{F07C0AE7-2D75-4F3E-ABB4-1D0143A71A98}"/>
              </a:ext>
            </a:extLst>
          </p:cNvPr>
          <p:cNvSpPr>
            <a:spLocks noGrp="1"/>
          </p:cNvSpPr>
          <p:nvPr>
            <p:ph type="pic" sz="quarter" idx="23"/>
          </p:nvPr>
        </p:nvSpPr>
        <p:spPr>
          <a:xfrm>
            <a:off x="827088" y="4076700"/>
            <a:ext cx="792162" cy="236538"/>
          </a:xfrm>
        </p:spPr>
        <p:txBody>
          <a:bodyPr/>
          <a:lstStyle/>
          <a:p>
            <a:endParaRPr lang="en-US"/>
          </a:p>
        </p:txBody>
      </p:sp>
      <p:sp>
        <p:nvSpPr>
          <p:cNvPr id="30" name="Picture Placeholder 29">
            <a:extLst>
              <a:ext uri="{FF2B5EF4-FFF2-40B4-BE49-F238E27FC236}">
                <a16:creationId xmlns:a16="http://schemas.microsoft.com/office/drawing/2014/main" id="{871B93B0-EF51-45C4-BB96-894CF81389AB}"/>
              </a:ext>
            </a:extLst>
          </p:cNvPr>
          <p:cNvSpPr>
            <a:spLocks noGrp="1"/>
          </p:cNvSpPr>
          <p:nvPr>
            <p:ph type="pic" sz="quarter" idx="24"/>
          </p:nvPr>
        </p:nvSpPr>
        <p:spPr>
          <a:xfrm>
            <a:off x="1908175" y="4149725"/>
            <a:ext cx="1008063" cy="360363"/>
          </a:xfrm>
        </p:spPr>
        <p:txBody>
          <a:bodyPr/>
          <a:lstStyle/>
          <a:p>
            <a:endParaRPr lang="en-US"/>
          </a:p>
        </p:txBody>
      </p:sp>
      <p:sp>
        <p:nvSpPr>
          <p:cNvPr id="32" name="Picture Placeholder 31">
            <a:extLst>
              <a:ext uri="{FF2B5EF4-FFF2-40B4-BE49-F238E27FC236}">
                <a16:creationId xmlns:a16="http://schemas.microsoft.com/office/drawing/2014/main" id="{2BF80DD9-CEE2-4B46-9EF4-45674EFD5355}"/>
              </a:ext>
            </a:extLst>
          </p:cNvPr>
          <p:cNvSpPr>
            <a:spLocks noGrp="1"/>
          </p:cNvSpPr>
          <p:nvPr>
            <p:ph type="pic" sz="quarter" idx="25"/>
          </p:nvPr>
        </p:nvSpPr>
        <p:spPr>
          <a:xfrm>
            <a:off x="3132138" y="4149725"/>
            <a:ext cx="792162" cy="360363"/>
          </a:xfrm>
        </p:spPr>
        <p:txBody>
          <a:bodyPr/>
          <a:lstStyle/>
          <a:p>
            <a:endParaRPr lang="en-US"/>
          </a:p>
        </p:txBody>
      </p:sp>
      <p:sp>
        <p:nvSpPr>
          <p:cNvPr id="34" name="Picture Placeholder 33">
            <a:extLst>
              <a:ext uri="{FF2B5EF4-FFF2-40B4-BE49-F238E27FC236}">
                <a16:creationId xmlns:a16="http://schemas.microsoft.com/office/drawing/2014/main" id="{717DBA72-4D69-4091-A464-5E2222D3D7B4}"/>
              </a:ext>
            </a:extLst>
          </p:cNvPr>
          <p:cNvSpPr>
            <a:spLocks noGrp="1"/>
          </p:cNvSpPr>
          <p:nvPr>
            <p:ph type="pic" sz="quarter" idx="26"/>
          </p:nvPr>
        </p:nvSpPr>
        <p:spPr>
          <a:xfrm>
            <a:off x="4140200" y="4313238"/>
            <a:ext cx="1223963" cy="293687"/>
          </a:xfrm>
        </p:spPr>
        <p:txBody>
          <a:bodyPr/>
          <a:lstStyle/>
          <a:p>
            <a:endParaRPr lang="en-US"/>
          </a:p>
        </p:txBody>
      </p:sp>
    </p:spTree>
    <p:extLst>
      <p:ext uri="{BB962C8B-B14F-4D97-AF65-F5344CB8AC3E}">
        <p14:creationId xmlns:p14="http://schemas.microsoft.com/office/powerpoint/2010/main" val="425843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962682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82467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38932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3139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951073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grpSp>
        <p:nvGrpSpPr>
          <p:cNvPr id="2" name="Group 4"/>
          <p:cNvGrpSpPr>
            <a:grpSpLocks noChangeAspect="1"/>
          </p:cNvGrpSpPr>
          <p:nvPr userDrawn="1"/>
        </p:nvGrpSpPr>
        <p:grpSpPr bwMode="auto">
          <a:xfrm>
            <a:off x="57755" y="6407126"/>
            <a:ext cx="1611690" cy="417560"/>
            <a:chOff x="21" y="4059"/>
            <a:chExt cx="1046" cy="271"/>
          </a:xfrm>
        </p:grpSpPr>
        <p:sp>
          <p:nvSpPr>
            <p:cNvPr id="3" name="AutoShape 3"/>
            <p:cNvSpPr>
              <a:spLocks noChangeAspect="1" noChangeArrowheads="1" noTextEdit="1"/>
            </p:cNvSpPr>
            <p:nvPr userDrawn="1"/>
          </p:nvSpPr>
          <p:spPr bwMode="auto">
            <a:xfrm>
              <a:off x="21" y="4059"/>
              <a:ext cx="1046"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sp>
          <p:nvSpPr>
            <p:cNvPr id="6" name="Freeform 5"/>
            <p:cNvSpPr>
              <a:spLocks noEditPoints="1"/>
            </p:cNvSpPr>
            <p:nvPr userDrawn="1"/>
          </p:nvSpPr>
          <p:spPr bwMode="auto">
            <a:xfrm>
              <a:off x="125" y="4168"/>
              <a:ext cx="838" cy="51"/>
            </a:xfrm>
            <a:custGeom>
              <a:avLst/>
              <a:gdLst>
                <a:gd name="T0" fmla="*/ 1055 w 21137"/>
                <a:gd name="T1" fmla="*/ 1285 h 1300"/>
                <a:gd name="T2" fmla="*/ 0 w 21137"/>
                <a:gd name="T3" fmla="*/ 1285 h 1300"/>
                <a:gd name="T4" fmla="*/ 417 w 21137"/>
                <a:gd name="T5" fmla="*/ 748 h 1300"/>
                <a:gd name="T6" fmla="*/ 1860 w 21137"/>
                <a:gd name="T7" fmla="*/ 1119 h 1300"/>
                <a:gd name="T8" fmla="*/ 1678 w 21137"/>
                <a:gd name="T9" fmla="*/ 16 h 1300"/>
                <a:gd name="T10" fmla="*/ 4021 w 21137"/>
                <a:gd name="T11" fmla="*/ 1290 h 1300"/>
                <a:gd name="T12" fmla="*/ 2636 w 21137"/>
                <a:gd name="T13" fmla="*/ 16 h 1300"/>
                <a:gd name="T14" fmla="*/ 3693 w 21137"/>
                <a:gd name="T15" fmla="*/ 16 h 1300"/>
                <a:gd name="T16" fmla="*/ 5470 w 21137"/>
                <a:gd name="T17" fmla="*/ 9 h 1300"/>
                <a:gd name="T18" fmla="*/ 5143 w 21137"/>
                <a:gd name="T19" fmla="*/ 909 h 1300"/>
                <a:gd name="T20" fmla="*/ 5610 w 21137"/>
                <a:gd name="T21" fmla="*/ 748 h 1300"/>
                <a:gd name="T22" fmla="*/ 7109 w 21137"/>
                <a:gd name="T23" fmla="*/ 16 h 1300"/>
                <a:gd name="T24" fmla="*/ 6675 w 21137"/>
                <a:gd name="T25" fmla="*/ 1285 h 1300"/>
                <a:gd name="T26" fmla="*/ 6765 w 21137"/>
                <a:gd name="T27" fmla="*/ 453 h 1300"/>
                <a:gd name="T28" fmla="*/ 7796 w 21137"/>
                <a:gd name="T29" fmla="*/ 514 h 1300"/>
                <a:gd name="T30" fmla="*/ 8407 w 21137"/>
                <a:gd name="T31" fmla="*/ 89 h 1300"/>
                <a:gd name="T32" fmla="*/ 7908 w 21137"/>
                <a:gd name="T33" fmla="*/ 309 h 1300"/>
                <a:gd name="T34" fmla="*/ 8457 w 21137"/>
                <a:gd name="T35" fmla="*/ 956 h 1300"/>
                <a:gd name="T36" fmla="*/ 7746 w 21137"/>
                <a:gd name="T37" fmla="*/ 953 h 1300"/>
                <a:gd name="T38" fmla="*/ 8119 w 21137"/>
                <a:gd name="T39" fmla="*/ 754 h 1300"/>
                <a:gd name="T40" fmla="*/ 10671 w 21137"/>
                <a:gd name="T41" fmla="*/ 1119 h 1300"/>
                <a:gd name="T42" fmla="*/ 11202 w 21137"/>
                <a:gd name="T43" fmla="*/ 16 h 1300"/>
                <a:gd name="T44" fmla="*/ 11383 w 21137"/>
                <a:gd name="T45" fmla="*/ 565 h 1300"/>
                <a:gd name="T46" fmla="*/ 11383 w 21137"/>
                <a:gd name="T47" fmla="*/ 1122 h 1300"/>
                <a:gd name="T48" fmla="*/ 11202 w 21137"/>
                <a:gd name="T49" fmla="*/ 16 h 1300"/>
                <a:gd name="T50" fmla="*/ 13458 w 21137"/>
                <a:gd name="T51" fmla="*/ 1285 h 1300"/>
                <a:gd name="T52" fmla="*/ 12402 w 21137"/>
                <a:gd name="T53" fmla="*/ 1285 h 1300"/>
                <a:gd name="T54" fmla="*/ 12819 w 21137"/>
                <a:gd name="T55" fmla="*/ 748 h 1300"/>
                <a:gd name="T56" fmla="*/ 14478 w 21137"/>
                <a:gd name="T57" fmla="*/ 16 h 1300"/>
                <a:gd name="T58" fmla="*/ 14682 w 21137"/>
                <a:gd name="T59" fmla="*/ 682 h 1300"/>
                <a:gd name="T60" fmla="*/ 15138 w 21137"/>
                <a:gd name="T61" fmla="*/ 1285 h 1300"/>
                <a:gd name="T62" fmla="*/ 14820 w 21137"/>
                <a:gd name="T63" fmla="*/ 1136 h 1300"/>
                <a:gd name="T64" fmla="*/ 14516 w 21137"/>
                <a:gd name="T65" fmla="*/ 754 h 1300"/>
                <a:gd name="T66" fmla="*/ 14160 w 21137"/>
                <a:gd name="T67" fmla="*/ 1285 h 1300"/>
                <a:gd name="T68" fmla="*/ 14411 w 21137"/>
                <a:gd name="T69" fmla="*/ 572 h 1300"/>
                <a:gd name="T70" fmla="*/ 14677 w 21137"/>
                <a:gd name="T71" fmla="*/ 260 h 1300"/>
                <a:gd name="T72" fmla="*/ 16830 w 21137"/>
                <a:gd name="T73" fmla="*/ 16 h 1300"/>
                <a:gd name="T74" fmla="*/ 15827 w 21137"/>
                <a:gd name="T75" fmla="*/ 1285 h 1300"/>
                <a:gd name="T76" fmla="*/ 16658 w 21137"/>
                <a:gd name="T77" fmla="*/ 1002 h 1300"/>
                <a:gd name="T78" fmla="*/ 17658 w 21137"/>
                <a:gd name="T79" fmla="*/ 1285 h 1300"/>
                <a:gd name="T80" fmla="*/ 19493 w 21137"/>
                <a:gd name="T81" fmla="*/ 16 h 1300"/>
                <a:gd name="T82" fmla="*/ 18488 w 21137"/>
                <a:gd name="T83" fmla="*/ 1285 h 1300"/>
                <a:gd name="T84" fmla="*/ 19320 w 21137"/>
                <a:gd name="T85" fmla="*/ 1002 h 1300"/>
                <a:gd name="T86" fmla="*/ 21137 w 21137"/>
                <a:gd name="T87" fmla="*/ 1198 h 1300"/>
                <a:gd name="T88" fmla="*/ 20176 w 21137"/>
                <a:gd name="T89" fmla="*/ 189 h 1300"/>
                <a:gd name="T90" fmla="*/ 21112 w 21137"/>
                <a:gd name="T91" fmla="*/ 293 h 1300"/>
                <a:gd name="T92" fmla="*/ 20311 w 21137"/>
                <a:gd name="T93" fmla="*/ 1004 h 1300"/>
                <a:gd name="T94" fmla="*/ 20956 w 21137"/>
                <a:gd name="T95" fmla="*/ 821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137" h="1300">
                  <a:moveTo>
                    <a:pt x="545" y="9"/>
                  </a:moveTo>
                  <a:cubicBezTo>
                    <a:pt x="672" y="9"/>
                    <a:pt x="672" y="9"/>
                    <a:pt x="672" y="9"/>
                  </a:cubicBezTo>
                  <a:cubicBezTo>
                    <a:pt x="1241" y="1285"/>
                    <a:pt x="1241" y="1285"/>
                    <a:pt x="1241" y="1285"/>
                  </a:cubicBezTo>
                  <a:cubicBezTo>
                    <a:pt x="1055" y="1285"/>
                    <a:pt x="1055" y="1285"/>
                    <a:pt x="1055" y="1285"/>
                  </a:cubicBezTo>
                  <a:cubicBezTo>
                    <a:pt x="886" y="909"/>
                    <a:pt x="886" y="909"/>
                    <a:pt x="886" y="909"/>
                  </a:cubicBezTo>
                  <a:cubicBezTo>
                    <a:pt x="345" y="909"/>
                    <a:pt x="345" y="909"/>
                    <a:pt x="345" y="909"/>
                  </a:cubicBezTo>
                  <a:cubicBezTo>
                    <a:pt x="186" y="1285"/>
                    <a:pt x="186" y="1285"/>
                    <a:pt x="186" y="1285"/>
                  </a:cubicBezTo>
                  <a:cubicBezTo>
                    <a:pt x="0" y="1285"/>
                    <a:pt x="0" y="1285"/>
                    <a:pt x="0" y="1285"/>
                  </a:cubicBezTo>
                  <a:lnTo>
                    <a:pt x="545" y="9"/>
                  </a:lnTo>
                  <a:close/>
                  <a:moveTo>
                    <a:pt x="812" y="748"/>
                  </a:moveTo>
                  <a:cubicBezTo>
                    <a:pt x="607" y="287"/>
                    <a:pt x="607" y="287"/>
                    <a:pt x="607" y="287"/>
                  </a:cubicBezTo>
                  <a:cubicBezTo>
                    <a:pt x="417" y="748"/>
                    <a:pt x="417" y="748"/>
                    <a:pt x="417" y="748"/>
                  </a:cubicBezTo>
                  <a:lnTo>
                    <a:pt x="812" y="748"/>
                  </a:lnTo>
                  <a:close/>
                  <a:moveTo>
                    <a:pt x="1678" y="16"/>
                  </a:moveTo>
                  <a:cubicBezTo>
                    <a:pt x="1860" y="16"/>
                    <a:pt x="1860" y="16"/>
                    <a:pt x="1860" y="16"/>
                  </a:cubicBezTo>
                  <a:cubicBezTo>
                    <a:pt x="1860" y="1119"/>
                    <a:pt x="1860" y="1119"/>
                    <a:pt x="1860" y="1119"/>
                  </a:cubicBezTo>
                  <a:cubicBezTo>
                    <a:pt x="2431" y="1119"/>
                    <a:pt x="2431" y="1119"/>
                    <a:pt x="2431" y="1119"/>
                  </a:cubicBezTo>
                  <a:cubicBezTo>
                    <a:pt x="2431" y="1285"/>
                    <a:pt x="2431" y="1285"/>
                    <a:pt x="2431" y="1285"/>
                  </a:cubicBezTo>
                  <a:cubicBezTo>
                    <a:pt x="1678" y="1285"/>
                    <a:pt x="1678" y="1285"/>
                    <a:pt x="1678" y="1285"/>
                  </a:cubicBezTo>
                  <a:lnTo>
                    <a:pt x="1678" y="16"/>
                  </a:lnTo>
                  <a:close/>
                  <a:moveTo>
                    <a:pt x="4392" y="16"/>
                  </a:moveTo>
                  <a:cubicBezTo>
                    <a:pt x="4573" y="16"/>
                    <a:pt x="4573" y="16"/>
                    <a:pt x="4573" y="16"/>
                  </a:cubicBezTo>
                  <a:cubicBezTo>
                    <a:pt x="4061" y="1290"/>
                    <a:pt x="4061" y="1290"/>
                    <a:pt x="4061" y="1290"/>
                  </a:cubicBezTo>
                  <a:cubicBezTo>
                    <a:pt x="4021" y="1290"/>
                    <a:pt x="4021" y="1290"/>
                    <a:pt x="4021" y="1290"/>
                  </a:cubicBezTo>
                  <a:cubicBezTo>
                    <a:pt x="3606" y="258"/>
                    <a:pt x="3606" y="258"/>
                    <a:pt x="3606" y="258"/>
                  </a:cubicBezTo>
                  <a:cubicBezTo>
                    <a:pt x="3187" y="1290"/>
                    <a:pt x="3187" y="1290"/>
                    <a:pt x="3187" y="1290"/>
                  </a:cubicBezTo>
                  <a:cubicBezTo>
                    <a:pt x="3147" y="1290"/>
                    <a:pt x="3147" y="1290"/>
                    <a:pt x="3147" y="1290"/>
                  </a:cubicBezTo>
                  <a:cubicBezTo>
                    <a:pt x="2636" y="16"/>
                    <a:pt x="2636" y="16"/>
                    <a:pt x="2636" y="16"/>
                  </a:cubicBezTo>
                  <a:cubicBezTo>
                    <a:pt x="2819" y="16"/>
                    <a:pt x="2819" y="16"/>
                    <a:pt x="2819" y="16"/>
                  </a:cubicBezTo>
                  <a:cubicBezTo>
                    <a:pt x="3168" y="891"/>
                    <a:pt x="3168" y="891"/>
                    <a:pt x="3168" y="891"/>
                  </a:cubicBezTo>
                  <a:cubicBezTo>
                    <a:pt x="3521" y="16"/>
                    <a:pt x="3521" y="16"/>
                    <a:pt x="3521" y="16"/>
                  </a:cubicBezTo>
                  <a:cubicBezTo>
                    <a:pt x="3693" y="16"/>
                    <a:pt x="3693" y="16"/>
                    <a:pt x="3693" y="16"/>
                  </a:cubicBezTo>
                  <a:cubicBezTo>
                    <a:pt x="4047" y="891"/>
                    <a:pt x="4047" y="891"/>
                    <a:pt x="4047" y="891"/>
                  </a:cubicBezTo>
                  <a:lnTo>
                    <a:pt x="4392" y="16"/>
                  </a:lnTo>
                  <a:close/>
                  <a:moveTo>
                    <a:pt x="5343" y="9"/>
                  </a:moveTo>
                  <a:cubicBezTo>
                    <a:pt x="5470" y="9"/>
                    <a:pt x="5470" y="9"/>
                    <a:pt x="5470" y="9"/>
                  </a:cubicBezTo>
                  <a:cubicBezTo>
                    <a:pt x="6039" y="1285"/>
                    <a:pt x="6039" y="1285"/>
                    <a:pt x="6039" y="1285"/>
                  </a:cubicBezTo>
                  <a:cubicBezTo>
                    <a:pt x="5853" y="1285"/>
                    <a:pt x="5853" y="1285"/>
                    <a:pt x="5853" y="1285"/>
                  </a:cubicBezTo>
                  <a:cubicBezTo>
                    <a:pt x="5685" y="909"/>
                    <a:pt x="5685" y="909"/>
                    <a:pt x="5685" y="909"/>
                  </a:cubicBezTo>
                  <a:cubicBezTo>
                    <a:pt x="5143" y="909"/>
                    <a:pt x="5143" y="909"/>
                    <a:pt x="5143" y="909"/>
                  </a:cubicBezTo>
                  <a:cubicBezTo>
                    <a:pt x="4984" y="1285"/>
                    <a:pt x="4984" y="1285"/>
                    <a:pt x="4984" y="1285"/>
                  </a:cubicBezTo>
                  <a:cubicBezTo>
                    <a:pt x="4798" y="1285"/>
                    <a:pt x="4798" y="1285"/>
                    <a:pt x="4798" y="1285"/>
                  </a:cubicBezTo>
                  <a:lnTo>
                    <a:pt x="5343" y="9"/>
                  </a:lnTo>
                  <a:close/>
                  <a:moveTo>
                    <a:pt x="5610" y="748"/>
                  </a:moveTo>
                  <a:cubicBezTo>
                    <a:pt x="5405" y="287"/>
                    <a:pt x="5405" y="287"/>
                    <a:pt x="5405" y="287"/>
                  </a:cubicBezTo>
                  <a:cubicBezTo>
                    <a:pt x="5215" y="748"/>
                    <a:pt x="5215" y="748"/>
                    <a:pt x="5215" y="748"/>
                  </a:cubicBezTo>
                  <a:lnTo>
                    <a:pt x="5610" y="748"/>
                  </a:lnTo>
                  <a:close/>
                  <a:moveTo>
                    <a:pt x="7109" y="16"/>
                  </a:moveTo>
                  <a:cubicBezTo>
                    <a:pt x="7330" y="16"/>
                    <a:pt x="7330" y="16"/>
                    <a:pt x="7330" y="16"/>
                  </a:cubicBezTo>
                  <a:cubicBezTo>
                    <a:pt x="6861" y="614"/>
                    <a:pt x="6861" y="614"/>
                    <a:pt x="6861" y="614"/>
                  </a:cubicBezTo>
                  <a:cubicBezTo>
                    <a:pt x="6861" y="1285"/>
                    <a:pt x="6861" y="1285"/>
                    <a:pt x="6861" y="1285"/>
                  </a:cubicBezTo>
                  <a:cubicBezTo>
                    <a:pt x="6675" y="1285"/>
                    <a:pt x="6675" y="1285"/>
                    <a:pt x="6675" y="1285"/>
                  </a:cubicBezTo>
                  <a:cubicBezTo>
                    <a:pt x="6675" y="614"/>
                    <a:pt x="6675" y="614"/>
                    <a:pt x="6675" y="614"/>
                  </a:cubicBezTo>
                  <a:cubicBezTo>
                    <a:pt x="6206" y="16"/>
                    <a:pt x="6206" y="16"/>
                    <a:pt x="6206" y="16"/>
                  </a:cubicBezTo>
                  <a:cubicBezTo>
                    <a:pt x="6426" y="16"/>
                    <a:pt x="6426" y="16"/>
                    <a:pt x="6426" y="16"/>
                  </a:cubicBezTo>
                  <a:cubicBezTo>
                    <a:pt x="6765" y="453"/>
                    <a:pt x="6765" y="453"/>
                    <a:pt x="6765" y="453"/>
                  </a:cubicBezTo>
                  <a:lnTo>
                    <a:pt x="7109" y="16"/>
                  </a:lnTo>
                  <a:close/>
                  <a:moveTo>
                    <a:pt x="8119" y="754"/>
                  </a:moveTo>
                  <a:cubicBezTo>
                    <a:pt x="7981" y="670"/>
                    <a:pt x="7981" y="670"/>
                    <a:pt x="7981" y="670"/>
                  </a:cubicBezTo>
                  <a:cubicBezTo>
                    <a:pt x="7894" y="617"/>
                    <a:pt x="7833" y="565"/>
                    <a:pt x="7796" y="514"/>
                  </a:cubicBezTo>
                  <a:cubicBezTo>
                    <a:pt x="7759" y="463"/>
                    <a:pt x="7741" y="404"/>
                    <a:pt x="7741" y="337"/>
                  </a:cubicBezTo>
                  <a:cubicBezTo>
                    <a:pt x="7741" y="236"/>
                    <a:pt x="7776" y="157"/>
                    <a:pt x="7845" y="93"/>
                  </a:cubicBezTo>
                  <a:cubicBezTo>
                    <a:pt x="7914" y="31"/>
                    <a:pt x="8005" y="0"/>
                    <a:pt x="8115" y="0"/>
                  </a:cubicBezTo>
                  <a:cubicBezTo>
                    <a:pt x="8221" y="0"/>
                    <a:pt x="8318" y="30"/>
                    <a:pt x="8407" y="89"/>
                  </a:cubicBezTo>
                  <a:cubicBezTo>
                    <a:pt x="8407" y="295"/>
                    <a:pt x="8407" y="295"/>
                    <a:pt x="8407" y="295"/>
                  </a:cubicBezTo>
                  <a:cubicBezTo>
                    <a:pt x="8315" y="208"/>
                    <a:pt x="8217" y="164"/>
                    <a:pt x="8112" y="164"/>
                  </a:cubicBezTo>
                  <a:cubicBezTo>
                    <a:pt x="8052" y="164"/>
                    <a:pt x="8004" y="177"/>
                    <a:pt x="7965" y="204"/>
                  </a:cubicBezTo>
                  <a:cubicBezTo>
                    <a:pt x="7927" y="232"/>
                    <a:pt x="7908" y="267"/>
                    <a:pt x="7908" y="309"/>
                  </a:cubicBezTo>
                  <a:cubicBezTo>
                    <a:pt x="7908" y="348"/>
                    <a:pt x="7922" y="384"/>
                    <a:pt x="7950" y="416"/>
                  </a:cubicBezTo>
                  <a:cubicBezTo>
                    <a:pt x="7979" y="450"/>
                    <a:pt x="8023" y="485"/>
                    <a:pt x="8086" y="521"/>
                  </a:cubicBezTo>
                  <a:cubicBezTo>
                    <a:pt x="8224" y="603"/>
                    <a:pt x="8224" y="603"/>
                    <a:pt x="8224" y="603"/>
                  </a:cubicBezTo>
                  <a:cubicBezTo>
                    <a:pt x="8379" y="696"/>
                    <a:pt x="8457" y="813"/>
                    <a:pt x="8457" y="956"/>
                  </a:cubicBezTo>
                  <a:cubicBezTo>
                    <a:pt x="8457" y="1057"/>
                    <a:pt x="8423" y="1141"/>
                    <a:pt x="8355" y="1204"/>
                  </a:cubicBezTo>
                  <a:cubicBezTo>
                    <a:pt x="8287" y="1268"/>
                    <a:pt x="8198" y="1300"/>
                    <a:pt x="8089" y="1300"/>
                  </a:cubicBezTo>
                  <a:cubicBezTo>
                    <a:pt x="7964" y="1300"/>
                    <a:pt x="7849" y="1261"/>
                    <a:pt x="7746" y="1185"/>
                  </a:cubicBezTo>
                  <a:cubicBezTo>
                    <a:pt x="7746" y="953"/>
                    <a:pt x="7746" y="953"/>
                    <a:pt x="7746" y="953"/>
                  </a:cubicBezTo>
                  <a:cubicBezTo>
                    <a:pt x="7845" y="1077"/>
                    <a:pt x="7958" y="1140"/>
                    <a:pt x="8087" y="1140"/>
                  </a:cubicBezTo>
                  <a:cubicBezTo>
                    <a:pt x="8144" y="1140"/>
                    <a:pt x="8192" y="1124"/>
                    <a:pt x="8229" y="1092"/>
                  </a:cubicBezTo>
                  <a:cubicBezTo>
                    <a:pt x="8267" y="1061"/>
                    <a:pt x="8286" y="1021"/>
                    <a:pt x="8286" y="973"/>
                  </a:cubicBezTo>
                  <a:cubicBezTo>
                    <a:pt x="8286" y="896"/>
                    <a:pt x="8230" y="823"/>
                    <a:pt x="8119" y="754"/>
                  </a:cubicBezTo>
                  <a:moveTo>
                    <a:pt x="9917" y="16"/>
                  </a:moveTo>
                  <a:cubicBezTo>
                    <a:pt x="10099" y="16"/>
                    <a:pt x="10099" y="16"/>
                    <a:pt x="10099" y="16"/>
                  </a:cubicBezTo>
                  <a:cubicBezTo>
                    <a:pt x="10099" y="1119"/>
                    <a:pt x="10099" y="1119"/>
                    <a:pt x="10099" y="1119"/>
                  </a:cubicBezTo>
                  <a:cubicBezTo>
                    <a:pt x="10671" y="1119"/>
                    <a:pt x="10671" y="1119"/>
                    <a:pt x="10671" y="1119"/>
                  </a:cubicBezTo>
                  <a:cubicBezTo>
                    <a:pt x="10671" y="1285"/>
                    <a:pt x="10671" y="1285"/>
                    <a:pt x="10671" y="1285"/>
                  </a:cubicBezTo>
                  <a:cubicBezTo>
                    <a:pt x="9917" y="1285"/>
                    <a:pt x="9917" y="1285"/>
                    <a:pt x="9917" y="1285"/>
                  </a:cubicBezTo>
                  <a:lnTo>
                    <a:pt x="9917" y="16"/>
                  </a:lnTo>
                  <a:close/>
                  <a:moveTo>
                    <a:pt x="11202" y="16"/>
                  </a:moveTo>
                  <a:cubicBezTo>
                    <a:pt x="11921" y="16"/>
                    <a:pt x="11921" y="16"/>
                    <a:pt x="11921" y="16"/>
                  </a:cubicBezTo>
                  <a:cubicBezTo>
                    <a:pt x="11921" y="177"/>
                    <a:pt x="11921" y="177"/>
                    <a:pt x="11921" y="177"/>
                  </a:cubicBezTo>
                  <a:cubicBezTo>
                    <a:pt x="11383" y="177"/>
                    <a:pt x="11383" y="177"/>
                    <a:pt x="11383" y="177"/>
                  </a:cubicBezTo>
                  <a:cubicBezTo>
                    <a:pt x="11383" y="565"/>
                    <a:pt x="11383" y="565"/>
                    <a:pt x="11383" y="565"/>
                  </a:cubicBezTo>
                  <a:cubicBezTo>
                    <a:pt x="11903" y="565"/>
                    <a:pt x="11903" y="565"/>
                    <a:pt x="11903" y="565"/>
                  </a:cubicBezTo>
                  <a:cubicBezTo>
                    <a:pt x="11903" y="727"/>
                    <a:pt x="11903" y="727"/>
                    <a:pt x="11903" y="727"/>
                  </a:cubicBezTo>
                  <a:cubicBezTo>
                    <a:pt x="11383" y="727"/>
                    <a:pt x="11383" y="727"/>
                    <a:pt x="11383" y="727"/>
                  </a:cubicBezTo>
                  <a:cubicBezTo>
                    <a:pt x="11383" y="1122"/>
                    <a:pt x="11383" y="1122"/>
                    <a:pt x="11383" y="1122"/>
                  </a:cubicBezTo>
                  <a:cubicBezTo>
                    <a:pt x="11939" y="1122"/>
                    <a:pt x="11939" y="1122"/>
                    <a:pt x="11939" y="1122"/>
                  </a:cubicBezTo>
                  <a:cubicBezTo>
                    <a:pt x="11939" y="1283"/>
                    <a:pt x="11939" y="1283"/>
                    <a:pt x="11939" y="1283"/>
                  </a:cubicBezTo>
                  <a:cubicBezTo>
                    <a:pt x="11202" y="1283"/>
                    <a:pt x="11202" y="1283"/>
                    <a:pt x="11202" y="1283"/>
                  </a:cubicBezTo>
                  <a:lnTo>
                    <a:pt x="11202" y="16"/>
                  </a:lnTo>
                  <a:close/>
                  <a:moveTo>
                    <a:pt x="12946" y="9"/>
                  </a:moveTo>
                  <a:cubicBezTo>
                    <a:pt x="13075" y="9"/>
                    <a:pt x="13075" y="9"/>
                    <a:pt x="13075" y="9"/>
                  </a:cubicBezTo>
                  <a:cubicBezTo>
                    <a:pt x="13643" y="1285"/>
                    <a:pt x="13643" y="1285"/>
                    <a:pt x="13643" y="1285"/>
                  </a:cubicBezTo>
                  <a:cubicBezTo>
                    <a:pt x="13458" y="1285"/>
                    <a:pt x="13458" y="1285"/>
                    <a:pt x="13458" y="1285"/>
                  </a:cubicBezTo>
                  <a:cubicBezTo>
                    <a:pt x="13288" y="909"/>
                    <a:pt x="13288" y="909"/>
                    <a:pt x="13288" y="909"/>
                  </a:cubicBezTo>
                  <a:cubicBezTo>
                    <a:pt x="12746" y="909"/>
                    <a:pt x="12746" y="909"/>
                    <a:pt x="12746" y="909"/>
                  </a:cubicBezTo>
                  <a:cubicBezTo>
                    <a:pt x="12588" y="1285"/>
                    <a:pt x="12588" y="1285"/>
                    <a:pt x="12588" y="1285"/>
                  </a:cubicBezTo>
                  <a:cubicBezTo>
                    <a:pt x="12402" y="1285"/>
                    <a:pt x="12402" y="1285"/>
                    <a:pt x="12402" y="1285"/>
                  </a:cubicBezTo>
                  <a:lnTo>
                    <a:pt x="12946" y="9"/>
                  </a:lnTo>
                  <a:close/>
                  <a:moveTo>
                    <a:pt x="13214" y="748"/>
                  </a:moveTo>
                  <a:cubicBezTo>
                    <a:pt x="13009" y="287"/>
                    <a:pt x="13009" y="287"/>
                    <a:pt x="13009" y="287"/>
                  </a:cubicBezTo>
                  <a:cubicBezTo>
                    <a:pt x="12819" y="748"/>
                    <a:pt x="12819" y="748"/>
                    <a:pt x="12819" y="748"/>
                  </a:cubicBezTo>
                  <a:lnTo>
                    <a:pt x="13214" y="748"/>
                  </a:lnTo>
                  <a:close/>
                  <a:moveTo>
                    <a:pt x="14160" y="1285"/>
                  </a:moveTo>
                  <a:cubicBezTo>
                    <a:pt x="14160" y="16"/>
                    <a:pt x="14160" y="16"/>
                    <a:pt x="14160" y="16"/>
                  </a:cubicBezTo>
                  <a:cubicBezTo>
                    <a:pt x="14478" y="16"/>
                    <a:pt x="14478" y="16"/>
                    <a:pt x="14478" y="16"/>
                  </a:cubicBezTo>
                  <a:cubicBezTo>
                    <a:pt x="14606" y="16"/>
                    <a:pt x="14708" y="48"/>
                    <a:pt x="14784" y="112"/>
                  </a:cubicBezTo>
                  <a:cubicBezTo>
                    <a:pt x="14859" y="175"/>
                    <a:pt x="14896" y="261"/>
                    <a:pt x="14896" y="369"/>
                  </a:cubicBezTo>
                  <a:cubicBezTo>
                    <a:pt x="14896" y="444"/>
                    <a:pt x="14878" y="507"/>
                    <a:pt x="14841" y="560"/>
                  </a:cubicBezTo>
                  <a:cubicBezTo>
                    <a:pt x="14804" y="616"/>
                    <a:pt x="14751" y="655"/>
                    <a:pt x="14682" y="682"/>
                  </a:cubicBezTo>
                  <a:cubicBezTo>
                    <a:pt x="14723" y="708"/>
                    <a:pt x="14762" y="745"/>
                    <a:pt x="14801" y="791"/>
                  </a:cubicBezTo>
                  <a:cubicBezTo>
                    <a:pt x="14840" y="837"/>
                    <a:pt x="14895" y="917"/>
                    <a:pt x="14964" y="1031"/>
                  </a:cubicBezTo>
                  <a:cubicBezTo>
                    <a:pt x="15008" y="1103"/>
                    <a:pt x="15045" y="1158"/>
                    <a:pt x="15071" y="1195"/>
                  </a:cubicBezTo>
                  <a:cubicBezTo>
                    <a:pt x="15138" y="1285"/>
                    <a:pt x="15138" y="1285"/>
                    <a:pt x="15138" y="1285"/>
                  </a:cubicBezTo>
                  <a:cubicBezTo>
                    <a:pt x="14922" y="1285"/>
                    <a:pt x="14922" y="1285"/>
                    <a:pt x="14922" y="1285"/>
                  </a:cubicBezTo>
                  <a:cubicBezTo>
                    <a:pt x="14867" y="1201"/>
                    <a:pt x="14867" y="1201"/>
                    <a:pt x="14867" y="1201"/>
                  </a:cubicBezTo>
                  <a:cubicBezTo>
                    <a:pt x="14865" y="1199"/>
                    <a:pt x="14861" y="1193"/>
                    <a:pt x="14856" y="1186"/>
                  </a:cubicBezTo>
                  <a:cubicBezTo>
                    <a:pt x="14820" y="1136"/>
                    <a:pt x="14820" y="1136"/>
                    <a:pt x="14820" y="1136"/>
                  </a:cubicBezTo>
                  <a:cubicBezTo>
                    <a:pt x="14764" y="1043"/>
                    <a:pt x="14764" y="1043"/>
                    <a:pt x="14764" y="1043"/>
                  </a:cubicBezTo>
                  <a:cubicBezTo>
                    <a:pt x="14704" y="944"/>
                    <a:pt x="14704" y="944"/>
                    <a:pt x="14704" y="944"/>
                  </a:cubicBezTo>
                  <a:cubicBezTo>
                    <a:pt x="14666" y="893"/>
                    <a:pt x="14631" y="851"/>
                    <a:pt x="14600" y="820"/>
                  </a:cubicBezTo>
                  <a:cubicBezTo>
                    <a:pt x="14569" y="788"/>
                    <a:pt x="14541" y="767"/>
                    <a:pt x="14516" y="754"/>
                  </a:cubicBezTo>
                  <a:cubicBezTo>
                    <a:pt x="14490" y="740"/>
                    <a:pt x="14449" y="733"/>
                    <a:pt x="14389" y="733"/>
                  </a:cubicBezTo>
                  <a:cubicBezTo>
                    <a:pt x="14342" y="733"/>
                    <a:pt x="14342" y="733"/>
                    <a:pt x="14342" y="733"/>
                  </a:cubicBezTo>
                  <a:cubicBezTo>
                    <a:pt x="14342" y="1285"/>
                    <a:pt x="14342" y="1285"/>
                    <a:pt x="14342" y="1285"/>
                  </a:cubicBezTo>
                  <a:lnTo>
                    <a:pt x="14160" y="1285"/>
                  </a:lnTo>
                  <a:close/>
                  <a:moveTo>
                    <a:pt x="14396" y="170"/>
                  </a:moveTo>
                  <a:cubicBezTo>
                    <a:pt x="14342" y="170"/>
                    <a:pt x="14342" y="170"/>
                    <a:pt x="14342" y="170"/>
                  </a:cubicBezTo>
                  <a:cubicBezTo>
                    <a:pt x="14342" y="572"/>
                    <a:pt x="14342" y="572"/>
                    <a:pt x="14342" y="572"/>
                  </a:cubicBezTo>
                  <a:cubicBezTo>
                    <a:pt x="14411" y="572"/>
                    <a:pt x="14411" y="572"/>
                    <a:pt x="14411" y="572"/>
                  </a:cubicBezTo>
                  <a:cubicBezTo>
                    <a:pt x="14503" y="572"/>
                    <a:pt x="14566" y="564"/>
                    <a:pt x="14600" y="548"/>
                  </a:cubicBezTo>
                  <a:cubicBezTo>
                    <a:pt x="14634" y="531"/>
                    <a:pt x="14661" y="508"/>
                    <a:pt x="14680" y="476"/>
                  </a:cubicBezTo>
                  <a:cubicBezTo>
                    <a:pt x="14699" y="445"/>
                    <a:pt x="14709" y="408"/>
                    <a:pt x="14709" y="368"/>
                  </a:cubicBezTo>
                  <a:cubicBezTo>
                    <a:pt x="14709" y="327"/>
                    <a:pt x="14698" y="292"/>
                    <a:pt x="14677" y="260"/>
                  </a:cubicBezTo>
                  <a:cubicBezTo>
                    <a:pt x="14655" y="227"/>
                    <a:pt x="14626" y="204"/>
                    <a:pt x="14587" y="191"/>
                  </a:cubicBezTo>
                  <a:cubicBezTo>
                    <a:pt x="14548" y="177"/>
                    <a:pt x="14485" y="170"/>
                    <a:pt x="14396" y="170"/>
                  </a:cubicBezTo>
                  <a:moveTo>
                    <a:pt x="16658" y="16"/>
                  </a:moveTo>
                  <a:cubicBezTo>
                    <a:pt x="16830" y="16"/>
                    <a:pt x="16830" y="16"/>
                    <a:pt x="16830" y="16"/>
                  </a:cubicBezTo>
                  <a:cubicBezTo>
                    <a:pt x="16830" y="1285"/>
                    <a:pt x="16830" y="1285"/>
                    <a:pt x="16830" y="1285"/>
                  </a:cubicBezTo>
                  <a:cubicBezTo>
                    <a:pt x="16675" y="1285"/>
                    <a:pt x="16675" y="1285"/>
                    <a:pt x="16675" y="1285"/>
                  </a:cubicBezTo>
                  <a:cubicBezTo>
                    <a:pt x="15827" y="308"/>
                    <a:pt x="15827" y="308"/>
                    <a:pt x="15827" y="308"/>
                  </a:cubicBezTo>
                  <a:cubicBezTo>
                    <a:pt x="15827" y="1285"/>
                    <a:pt x="15827" y="1285"/>
                    <a:pt x="15827" y="1285"/>
                  </a:cubicBezTo>
                  <a:cubicBezTo>
                    <a:pt x="15656" y="1285"/>
                    <a:pt x="15656" y="1285"/>
                    <a:pt x="15656" y="1285"/>
                  </a:cubicBezTo>
                  <a:cubicBezTo>
                    <a:pt x="15656" y="16"/>
                    <a:pt x="15656" y="16"/>
                    <a:pt x="15656" y="16"/>
                  </a:cubicBezTo>
                  <a:cubicBezTo>
                    <a:pt x="15803" y="16"/>
                    <a:pt x="15803" y="16"/>
                    <a:pt x="15803" y="16"/>
                  </a:cubicBezTo>
                  <a:cubicBezTo>
                    <a:pt x="16658" y="1002"/>
                    <a:pt x="16658" y="1002"/>
                    <a:pt x="16658" y="1002"/>
                  </a:cubicBezTo>
                  <a:lnTo>
                    <a:pt x="16658" y="16"/>
                  </a:lnTo>
                  <a:close/>
                  <a:moveTo>
                    <a:pt x="17477" y="16"/>
                  </a:moveTo>
                  <a:cubicBezTo>
                    <a:pt x="17658" y="16"/>
                    <a:pt x="17658" y="16"/>
                    <a:pt x="17658" y="16"/>
                  </a:cubicBezTo>
                  <a:cubicBezTo>
                    <a:pt x="17658" y="1285"/>
                    <a:pt x="17658" y="1285"/>
                    <a:pt x="17658" y="1285"/>
                  </a:cubicBezTo>
                  <a:cubicBezTo>
                    <a:pt x="17477" y="1285"/>
                    <a:pt x="17477" y="1285"/>
                    <a:pt x="17477" y="1285"/>
                  </a:cubicBezTo>
                  <a:lnTo>
                    <a:pt x="17477" y="16"/>
                  </a:lnTo>
                  <a:close/>
                  <a:moveTo>
                    <a:pt x="19320" y="16"/>
                  </a:moveTo>
                  <a:cubicBezTo>
                    <a:pt x="19493" y="16"/>
                    <a:pt x="19493" y="16"/>
                    <a:pt x="19493" y="16"/>
                  </a:cubicBezTo>
                  <a:cubicBezTo>
                    <a:pt x="19493" y="1285"/>
                    <a:pt x="19493" y="1285"/>
                    <a:pt x="19493" y="1285"/>
                  </a:cubicBezTo>
                  <a:cubicBezTo>
                    <a:pt x="19337" y="1285"/>
                    <a:pt x="19337" y="1285"/>
                    <a:pt x="19337" y="1285"/>
                  </a:cubicBezTo>
                  <a:cubicBezTo>
                    <a:pt x="18488" y="308"/>
                    <a:pt x="18488" y="308"/>
                    <a:pt x="18488" y="308"/>
                  </a:cubicBezTo>
                  <a:cubicBezTo>
                    <a:pt x="18488" y="1285"/>
                    <a:pt x="18488" y="1285"/>
                    <a:pt x="18488" y="1285"/>
                  </a:cubicBezTo>
                  <a:cubicBezTo>
                    <a:pt x="18317" y="1285"/>
                    <a:pt x="18317" y="1285"/>
                    <a:pt x="18317" y="1285"/>
                  </a:cubicBezTo>
                  <a:cubicBezTo>
                    <a:pt x="18317" y="16"/>
                    <a:pt x="18317" y="16"/>
                    <a:pt x="18317" y="16"/>
                  </a:cubicBezTo>
                  <a:cubicBezTo>
                    <a:pt x="18464" y="16"/>
                    <a:pt x="18464" y="16"/>
                    <a:pt x="18464" y="16"/>
                  </a:cubicBezTo>
                  <a:cubicBezTo>
                    <a:pt x="19320" y="1002"/>
                    <a:pt x="19320" y="1002"/>
                    <a:pt x="19320" y="1002"/>
                  </a:cubicBezTo>
                  <a:lnTo>
                    <a:pt x="19320" y="16"/>
                  </a:lnTo>
                  <a:close/>
                  <a:moveTo>
                    <a:pt x="20712" y="659"/>
                  </a:moveTo>
                  <a:cubicBezTo>
                    <a:pt x="21137" y="659"/>
                    <a:pt x="21137" y="659"/>
                    <a:pt x="21137" y="659"/>
                  </a:cubicBezTo>
                  <a:cubicBezTo>
                    <a:pt x="21137" y="1198"/>
                    <a:pt x="21137" y="1198"/>
                    <a:pt x="21137" y="1198"/>
                  </a:cubicBezTo>
                  <a:cubicBezTo>
                    <a:pt x="20981" y="1266"/>
                    <a:pt x="20826" y="1300"/>
                    <a:pt x="20673" y="1300"/>
                  </a:cubicBezTo>
                  <a:cubicBezTo>
                    <a:pt x="20463" y="1300"/>
                    <a:pt x="20294" y="1239"/>
                    <a:pt x="20169" y="1115"/>
                  </a:cubicBezTo>
                  <a:cubicBezTo>
                    <a:pt x="20043" y="994"/>
                    <a:pt x="19980" y="842"/>
                    <a:pt x="19980" y="662"/>
                  </a:cubicBezTo>
                  <a:cubicBezTo>
                    <a:pt x="19980" y="473"/>
                    <a:pt x="20045" y="314"/>
                    <a:pt x="20176" y="189"/>
                  </a:cubicBezTo>
                  <a:cubicBezTo>
                    <a:pt x="20306" y="63"/>
                    <a:pt x="20469" y="0"/>
                    <a:pt x="20666" y="0"/>
                  </a:cubicBezTo>
                  <a:cubicBezTo>
                    <a:pt x="20736" y="0"/>
                    <a:pt x="20804" y="8"/>
                    <a:pt x="20869" y="22"/>
                  </a:cubicBezTo>
                  <a:cubicBezTo>
                    <a:pt x="20933" y="39"/>
                    <a:pt x="21014" y="66"/>
                    <a:pt x="21112" y="109"/>
                  </a:cubicBezTo>
                  <a:cubicBezTo>
                    <a:pt x="21112" y="293"/>
                    <a:pt x="21112" y="293"/>
                    <a:pt x="21112" y="293"/>
                  </a:cubicBezTo>
                  <a:cubicBezTo>
                    <a:pt x="20961" y="205"/>
                    <a:pt x="20811" y="161"/>
                    <a:pt x="20661" y="161"/>
                  </a:cubicBezTo>
                  <a:cubicBezTo>
                    <a:pt x="20523" y="161"/>
                    <a:pt x="20407" y="209"/>
                    <a:pt x="20311" y="303"/>
                  </a:cubicBezTo>
                  <a:cubicBezTo>
                    <a:pt x="20215" y="397"/>
                    <a:pt x="20169" y="514"/>
                    <a:pt x="20169" y="651"/>
                  </a:cubicBezTo>
                  <a:cubicBezTo>
                    <a:pt x="20169" y="795"/>
                    <a:pt x="20215" y="913"/>
                    <a:pt x="20311" y="1004"/>
                  </a:cubicBezTo>
                  <a:cubicBezTo>
                    <a:pt x="20407" y="1096"/>
                    <a:pt x="20528" y="1142"/>
                    <a:pt x="20678" y="1142"/>
                  </a:cubicBezTo>
                  <a:cubicBezTo>
                    <a:pt x="20750" y="1142"/>
                    <a:pt x="20838" y="1125"/>
                    <a:pt x="20939" y="1092"/>
                  </a:cubicBezTo>
                  <a:cubicBezTo>
                    <a:pt x="20956" y="1087"/>
                    <a:pt x="20956" y="1087"/>
                    <a:pt x="20956" y="1087"/>
                  </a:cubicBezTo>
                  <a:cubicBezTo>
                    <a:pt x="20956" y="821"/>
                    <a:pt x="20956" y="821"/>
                    <a:pt x="20956" y="821"/>
                  </a:cubicBezTo>
                  <a:cubicBezTo>
                    <a:pt x="20712" y="821"/>
                    <a:pt x="20712" y="821"/>
                    <a:pt x="20712" y="821"/>
                  </a:cubicBezTo>
                  <a:lnTo>
                    <a:pt x="20712" y="6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gr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755" y="6211761"/>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39734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4"/>
          </p:nvPr>
        </p:nvSpPr>
        <p:spPr>
          <a:xfrm>
            <a:off x="468313" y="5013175"/>
            <a:ext cx="8280400" cy="1295549"/>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endParaRPr lang="en-IN" dirty="0"/>
          </a:p>
        </p:txBody>
      </p:sp>
    </p:spTree>
    <p:extLst>
      <p:ext uri="{BB962C8B-B14F-4D97-AF65-F5344CB8AC3E}">
        <p14:creationId xmlns:p14="http://schemas.microsoft.com/office/powerpoint/2010/main" val="3526922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0" indent="0">
              <a:buClr>
                <a:srgbClr val="007FA3"/>
              </a:buClr>
              <a:buSzPct val="100000"/>
              <a:buNone/>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
        <p:nvSpPr>
          <p:cNvPr id="9" name="Content Placeholder 8"/>
          <p:cNvSpPr>
            <a:spLocks noGrp="1"/>
          </p:cNvSpPr>
          <p:nvPr>
            <p:ph sz="quarter" idx="14"/>
          </p:nvPr>
        </p:nvSpPr>
        <p:spPr>
          <a:xfrm>
            <a:off x="468313" y="5013175"/>
            <a:ext cx="8280400" cy="1295549"/>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1538622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282604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6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A86D8D65-0761-4EEF-9A51-BE3E5DD33334}"/>
              </a:ext>
            </a:extLst>
          </p:cNvPr>
          <p:cNvSpPr>
            <a:spLocks noGrp="1"/>
          </p:cNvSpPr>
          <p:nvPr>
            <p:ph sz="quarter" idx="13"/>
          </p:nvPr>
        </p:nvSpPr>
        <p:spPr>
          <a:xfrm>
            <a:off x="457200" y="1628775"/>
            <a:ext cx="1377950"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ADDB751-03D9-4D09-8F65-E090FE16F27B}"/>
              </a:ext>
            </a:extLst>
          </p:cNvPr>
          <p:cNvSpPr>
            <a:spLocks noGrp="1"/>
          </p:cNvSpPr>
          <p:nvPr>
            <p:ph sz="quarter" idx="14"/>
          </p:nvPr>
        </p:nvSpPr>
        <p:spPr>
          <a:xfrm>
            <a:off x="1979613" y="1700213"/>
            <a:ext cx="9366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59862159-C00A-42F8-96E6-40D81FE03BA3}"/>
              </a:ext>
            </a:extLst>
          </p:cNvPr>
          <p:cNvSpPr>
            <a:spLocks noGrp="1"/>
          </p:cNvSpPr>
          <p:nvPr>
            <p:ph sz="quarter" idx="15"/>
          </p:nvPr>
        </p:nvSpPr>
        <p:spPr>
          <a:xfrm>
            <a:off x="3203575" y="1844675"/>
            <a:ext cx="936625"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1DBE703D-B82C-4A93-8EDA-6BC2DFA55520}"/>
              </a:ext>
            </a:extLst>
          </p:cNvPr>
          <p:cNvSpPr>
            <a:spLocks noGrp="1"/>
          </p:cNvSpPr>
          <p:nvPr>
            <p:ph sz="quarter" idx="16"/>
          </p:nvPr>
        </p:nvSpPr>
        <p:spPr>
          <a:xfrm>
            <a:off x="4356100" y="1844675"/>
            <a:ext cx="1295400"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8F542A31-08B2-48B9-B7D7-36E42AB9B4AC}"/>
              </a:ext>
            </a:extLst>
          </p:cNvPr>
          <p:cNvSpPr>
            <a:spLocks noGrp="1"/>
          </p:cNvSpPr>
          <p:nvPr>
            <p:ph sz="quarter" idx="17"/>
          </p:nvPr>
        </p:nvSpPr>
        <p:spPr>
          <a:xfrm>
            <a:off x="5795963" y="1916113"/>
            <a:ext cx="1223962" cy="144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BB1F85E7-1F14-422D-9FB2-7D3CE62AC469}"/>
              </a:ext>
            </a:extLst>
          </p:cNvPr>
          <p:cNvSpPr>
            <a:spLocks noGrp="1"/>
          </p:cNvSpPr>
          <p:nvPr>
            <p:ph sz="quarter" idx="18"/>
          </p:nvPr>
        </p:nvSpPr>
        <p:spPr>
          <a:xfrm>
            <a:off x="539750" y="2636838"/>
            <a:ext cx="10080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A4FD5757-7391-4BED-B248-ED8013CFD6EC}"/>
              </a:ext>
            </a:extLst>
          </p:cNvPr>
          <p:cNvSpPr>
            <a:spLocks noGrp="1"/>
          </p:cNvSpPr>
          <p:nvPr>
            <p:ph sz="quarter" idx="19"/>
          </p:nvPr>
        </p:nvSpPr>
        <p:spPr>
          <a:xfrm>
            <a:off x="1835150" y="2708275"/>
            <a:ext cx="18002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21FCFA6E-9512-4D49-B23F-BE25DA91CCE5}"/>
              </a:ext>
            </a:extLst>
          </p:cNvPr>
          <p:cNvSpPr>
            <a:spLocks noGrp="1"/>
          </p:cNvSpPr>
          <p:nvPr>
            <p:ph sz="quarter" idx="20"/>
          </p:nvPr>
        </p:nvSpPr>
        <p:spPr>
          <a:xfrm>
            <a:off x="3851275" y="2708275"/>
            <a:ext cx="7207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FBFF441-24D0-4000-ABD5-279FDBCBA848}"/>
              </a:ext>
            </a:extLst>
          </p:cNvPr>
          <p:cNvSpPr>
            <a:spLocks noGrp="1"/>
          </p:cNvSpPr>
          <p:nvPr>
            <p:ph sz="quarter" idx="21"/>
          </p:nvPr>
        </p:nvSpPr>
        <p:spPr>
          <a:xfrm>
            <a:off x="4859338" y="2852738"/>
            <a:ext cx="936625"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D17254F4-E158-428C-AF99-BB5E3AF645C4}"/>
              </a:ext>
            </a:extLst>
          </p:cNvPr>
          <p:cNvSpPr>
            <a:spLocks noGrp="1"/>
          </p:cNvSpPr>
          <p:nvPr>
            <p:ph sz="quarter" idx="22"/>
          </p:nvPr>
        </p:nvSpPr>
        <p:spPr>
          <a:xfrm>
            <a:off x="6011863" y="2997200"/>
            <a:ext cx="1223962" cy="257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0947FA81-4A5F-4211-B32D-72FB9143E3B6}"/>
              </a:ext>
            </a:extLst>
          </p:cNvPr>
          <p:cNvSpPr>
            <a:spLocks noGrp="1"/>
          </p:cNvSpPr>
          <p:nvPr>
            <p:ph sz="quarter" idx="23"/>
          </p:nvPr>
        </p:nvSpPr>
        <p:spPr>
          <a:xfrm>
            <a:off x="457200" y="3429000"/>
            <a:ext cx="1235075" cy="576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B151B7FF-CCEF-48EF-A939-81B6724F74A7}"/>
              </a:ext>
            </a:extLst>
          </p:cNvPr>
          <p:cNvSpPr>
            <a:spLocks noGrp="1"/>
          </p:cNvSpPr>
          <p:nvPr>
            <p:ph sz="quarter" idx="24"/>
          </p:nvPr>
        </p:nvSpPr>
        <p:spPr>
          <a:xfrm>
            <a:off x="1835150" y="3573463"/>
            <a:ext cx="1008063" cy="287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5BAE6649-E23E-4091-8262-89B3F8FEAD24}"/>
              </a:ext>
            </a:extLst>
          </p:cNvPr>
          <p:cNvSpPr>
            <a:spLocks noGrp="1"/>
          </p:cNvSpPr>
          <p:nvPr>
            <p:ph sz="quarter" idx="25"/>
          </p:nvPr>
        </p:nvSpPr>
        <p:spPr>
          <a:xfrm>
            <a:off x="3059113" y="3573463"/>
            <a:ext cx="1008062"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F1756D1-89F4-4A22-AEE4-EDF664434B44}"/>
              </a:ext>
            </a:extLst>
          </p:cNvPr>
          <p:cNvSpPr>
            <a:spLocks noGrp="1"/>
          </p:cNvSpPr>
          <p:nvPr>
            <p:ph sz="quarter" idx="26"/>
          </p:nvPr>
        </p:nvSpPr>
        <p:spPr>
          <a:xfrm>
            <a:off x="4356100" y="3716338"/>
            <a:ext cx="1077913"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B35734F6-A281-454B-ABAD-36D6FE6729C9}"/>
              </a:ext>
            </a:extLst>
          </p:cNvPr>
          <p:cNvSpPr>
            <a:spLocks noGrp="1"/>
          </p:cNvSpPr>
          <p:nvPr>
            <p:ph sz="quarter" idx="27"/>
          </p:nvPr>
        </p:nvSpPr>
        <p:spPr>
          <a:xfrm>
            <a:off x="5795963" y="3860800"/>
            <a:ext cx="1223962" cy="41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CAC0ACA8-F91A-4698-9F23-2644812432E0}"/>
              </a:ext>
            </a:extLst>
          </p:cNvPr>
          <p:cNvSpPr>
            <a:spLocks noGrp="1"/>
          </p:cNvSpPr>
          <p:nvPr>
            <p:ph sz="quarter" idx="28"/>
          </p:nvPr>
        </p:nvSpPr>
        <p:spPr>
          <a:xfrm>
            <a:off x="539750" y="4271963"/>
            <a:ext cx="1377950" cy="62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B6169D4C-61F2-4379-89B2-DCF5AEF3ABE7}"/>
              </a:ext>
            </a:extLst>
          </p:cNvPr>
          <p:cNvSpPr>
            <a:spLocks noGrp="1"/>
          </p:cNvSpPr>
          <p:nvPr>
            <p:ph sz="quarter" idx="29"/>
          </p:nvPr>
        </p:nvSpPr>
        <p:spPr>
          <a:xfrm>
            <a:off x="2268538" y="4437063"/>
            <a:ext cx="1295400" cy="67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Picture Placeholder 41">
            <a:extLst>
              <a:ext uri="{FF2B5EF4-FFF2-40B4-BE49-F238E27FC236}">
                <a16:creationId xmlns:a16="http://schemas.microsoft.com/office/drawing/2014/main" id="{7D307D5D-6564-4A14-9605-D945EAEB26C4}"/>
              </a:ext>
            </a:extLst>
          </p:cNvPr>
          <p:cNvSpPr>
            <a:spLocks noGrp="1"/>
          </p:cNvSpPr>
          <p:nvPr>
            <p:ph type="pic" sz="quarter" idx="30"/>
          </p:nvPr>
        </p:nvSpPr>
        <p:spPr>
          <a:xfrm>
            <a:off x="3924300" y="4652963"/>
            <a:ext cx="1368425" cy="460375"/>
          </a:xfrm>
        </p:spPr>
        <p:txBody>
          <a:bodyPr/>
          <a:lstStyle/>
          <a:p>
            <a:endParaRPr lang="en-US"/>
          </a:p>
        </p:txBody>
      </p:sp>
      <p:sp>
        <p:nvSpPr>
          <p:cNvPr id="44" name="Picture Placeholder 43">
            <a:extLst>
              <a:ext uri="{FF2B5EF4-FFF2-40B4-BE49-F238E27FC236}">
                <a16:creationId xmlns:a16="http://schemas.microsoft.com/office/drawing/2014/main" id="{A5355258-4F4E-4030-9FFA-2D603A8F7C0C}"/>
              </a:ext>
            </a:extLst>
          </p:cNvPr>
          <p:cNvSpPr>
            <a:spLocks noGrp="1"/>
          </p:cNvSpPr>
          <p:nvPr>
            <p:ph type="pic" sz="quarter" idx="31"/>
          </p:nvPr>
        </p:nvSpPr>
        <p:spPr>
          <a:xfrm>
            <a:off x="5580063" y="4797425"/>
            <a:ext cx="1079500" cy="411163"/>
          </a:xfrm>
        </p:spPr>
        <p:txBody>
          <a:bodyPr/>
          <a:lstStyle/>
          <a:p>
            <a:endParaRPr lang="en-US"/>
          </a:p>
        </p:txBody>
      </p:sp>
      <p:sp>
        <p:nvSpPr>
          <p:cNvPr id="46" name="Picture Placeholder 45">
            <a:extLst>
              <a:ext uri="{FF2B5EF4-FFF2-40B4-BE49-F238E27FC236}">
                <a16:creationId xmlns:a16="http://schemas.microsoft.com/office/drawing/2014/main" id="{B0363641-3460-4012-A273-F08B5C0482B5}"/>
              </a:ext>
            </a:extLst>
          </p:cNvPr>
          <p:cNvSpPr>
            <a:spLocks noGrp="1"/>
          </p:cNvSpPr>
          <p:nvPr>
            <p:ph type="pic" sz="quarter" idx="32"/>
          </p:nvPr>
        </p:nvSpPr>
        <p:spPr>
          <a:xfrm>
            <a:off x="4356100" y="5516563"/>
            <a:ext cx="1077913" cy="287337"/>
          </a:xfrm>
        </p:spPr>
        <p:txBody>
          <a:bodyPr/>
          <a:lstStyle/>
          <a:p>
            <a:endParaRPr lang="en-US"/>
          </a:p>
        </p:txBody>
      </p:sp>
      <p:sp>
        <p:nvSpPr>
          <p:cNvPr id="48" name="Picture Placeholder 47">
            <a:extLst>
              <a:ext uri="{FF2B5EF4-FFF2-40B4-BE49-F238E27FC236}">
                <a16:creationId xmlns:a16="http://schemas.microsoft.com/office/drawing/2014/main" id="{90B152CE-3AF3-4BD6-8956-A4576FFC2849}"/>
              </a:ext>
            </a:extLst>
          </p:cNvPr>
          <p:cNvSpPr>
            <a:spLocks noGrp="1"/>
          </p:cNvSpPr>
          <p:nvPr>
            <p:ph type="pic" sz="quarter" idx="33"/>
          </p:nvPr>
        </p:nvSpPr>
        <p:spPr>
          <a:xfrm>
            <a:off x="5795963" y="5589588"/>
            <a:ext cx="720725" cy="411162"/>
          </a:xfrm>
        </p:spPr>
        <p:txBody>
          <a:bodyPr/>
          <a:lstStyle/>
          <a:p>
            <a:endParaRPr lang="en-US"/>
          </a:p>
        </p:txBody>
      </p:sp>
    </p:spTree>
    <p:extLst>
      <p:ext uri="{BB962C8B-B14F-4D97-AF65-F5344CB8AC3E}">
        <p14:creationId xmlns:p14="http://schemas.microsoft.com/office/powerpoint/2010/main" val="16134885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2780985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7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1637560062"/>
      </p:ext>
    </p:extLst>
  </p:cSld>
  <p:clrMapOvr>
    <a:masterClrMapping/>
  </p:clrMapOvr>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22882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9" name="Text Placeholder 1">
            <a:extLst>
              <a:ext uri="{FF2B5EF4-FFF2-40B4-BE49-F238E27FC236}">
                <a16:creationId xmlns:a16="http://schemas.microsoft.com/office/drawing/2014/main" id="{B90BF7CC-C13E-4975-9A72-17609AD86A49}"/>
              </a:ext>
            </a:extLst>
          </p:cNvPr>
          <p:cNvSpPr txBox="1">
            <a:spLocks/>
          </p:cNvSpPr>
          <p:nvPr userDrawn="1"/>
        </p:nvSpPr>
        <p:spPr>
          <a:xfrm>
            <a:off x="2667600" y="6519600"/>
            <a:ext cx="6094800" cy="221018"/>
          </a:xfrm>
          <a:prstGeom prst="rect">
            <a:avLst/>
          </a:prstGeom>
        </p:spPr>
        <p:txBody>
          <a:bodyPr wrap="square" lIns="0" tIns="18000" rIns="0" bIns="18000">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101600" indent="0" algn="r">
              <a:buFont typeface="Arial" panose="020B0604020202020204" pitchFamily="34" charset="0"/>
              <a:buNone/>
            </a:pPr>
            <a:r>
              <a:rPr lang="en-US" altLang="en-US" sz="1200" dirty="0">
                <a:latin typeface="Verdana"/>
                <a:ea typeface="Verdana" panose="020B0604030504040204" pitchFamily="34" charset="0"/>
                <a:cs typeface="Verdana" panose="020B0604030504040204" pitchFamily="34" charset="0"/>
              </a:rPr>
              <a:t>Copyright © 2020, </a:t>
            </a:r>
            <a:r>
              <a:rPr lang="en-US" altLang="en-US" sz="1200" dirty="0">
                <a:solidFill>
                  <a:schemeClr val="tx1"/>
                </a:solidFill>
                <a:latin typeface="Verdana"/>
                <a:ea typeface="Verdana" panose="020B0604030504040204" pitchFamily="34" charset="0"/>
                <a:cs typeface="Verdana" panose="020B0604030504040204" pitchFamily="34" charset="0"/>
              </a:rPr>
              <a:t>2017, 2015 </a:t>
            </a:r>
            <a:r>
              <a:rPr lang="en-US" altLang="en-US" sz="1200" dirty="0">
                <a:latin typeface="Verdana"/>
                <a:ea typeface="Verdana" panose="020B0604030504040204" pitchFamily="34" charset="0"/>
                <a:cs typeface="Verdana" panose="020B0604030504040204" pitchFamily="34" charset="0"/>
              </a:rPr>
              <a:t>Pearson Education, Inc. All Rights Reserved</a:t>
            </a:r>
          </a:p>
        </p:txBody>
      </p:sp>
      <p:pic>
        <p:nvPicPr>
          <p:cNvPr id="10" name="Picture Placeholder 29" descr="Pearson Logo">
            <a:extLst>
              <a:ext uri="{FF2B5EF4-FFF2-40B4-BE49-F238E27FC236}">
                <a16:creationId xmlns:a16="http://schemas.microsoft.com/office/drawing/2014/main" id="{8109C991-1C0C-4742-AF69-C9616CFDA0CE}"/>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Tree>
    <p:extLst>
      <p:ext uri="{BB962C8B-B14F-4D97-AF65-F5344CB8AC3E}">
        <p14:creationId xmlns:p14="http://schemas.microsoft.com/office/powerpoint/2010/main" val="28485671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5" r:id="rId5"/>
    <p:sldLayoutId id="2147483666" r:id="rId6"/>
    <p:sldLayoutId id="2147483683" r:id="rId7"/>
    <p:sldLayoutId id="2147483667" r:id="rId8"/>
    <p:sldLayoutId id="2147483668" r:id="rId9"/>
    <p:sldLayoutId id="2147483669" r:id="rId10"/>
    <p:sldLayoutId id="2147483670" r:id="rId11"/>
    <p:sldLayoutId id="2147483671" r:id="rId12"/>
    <p:sldLayoutId id="2147483657" r:id="rId13"/>
    <p:sldLayoutId id="2147483656" r:id="rId14"/>
    <p:sldLayoutId id="2147483650" r:id="rId15"/>
    <p:sldLayoutId id="2147483659" r:id="rId16"/>
    <p:sldLayoutId id="2147483672" r:id="rId17"/>
    <p:sldLayoutId id="2147483673" r:id="rId18"/>
    <p:sldLayoutId id="2147483674" r:id="rId19"/>
    <p:sldLayoutId id="2147483658" r:id="rId20"/>
    <p:sldLayoutId id="2147483660" r:id="rId21"/>
    <p:sldLayoutId id="2147483654" r:id="rId22"/>
    <p:sldLayoutId id="2147483655" r:id="rId23"/>
    <p:sldLayoutId id="2147483681" r:id="rId24"/>
    <p:sldLayoutId id="2147483682" r:id="rId25"/>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45485311"/>
      </p:ext>
    </p:extLst>
  </p:cSld>
  <p:clrMap bg1="lt1" tx1="dk1" bg2="dk2" tx2="lt2" accent1="accent1" accent2="accent2" accent3="accent3" accent4="accent4" accent5="accent5" accent6="accent6" hlink="hlink" folHlink="folHlink"/>
  <p:sldLayoutIdLst>
    <p:sldLayoutId id="2147483677" r:id="rId1"/>
    <p:sldLayoutId id="2147483680" r:id="rId2"/>
    <p:sldLayoutId id="214748367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oleObject" Target="../embeddings/oleObject1.bin"/><Relationship Id="rId7"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9.jpg"/><Relationship Id="rId11" Type="http://schemas.openxmlformats.org/officeDocument/2006/relationships/image" Target="../media/image14.jpg"/><Relationship Id="rId5" Type="http://schemas.openxmlformats.org/officeDocument/2006/relationships/image" Target="../media/image8.jpg"/><Relationship Id="rId10" Type="http://schemas.openxmlformats.org/officeDocument/2006/relationships/image" Target="../media/image13.jpg"/><Relationship Id="rId4" Type="http://schemas.openxmlformats.org/officeDocument/2006/relationships/image" Target="../media/image7.wmf"/><Relationship Id="rId9"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0.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4250" cy="590349"/>
          </a:xfrm>
        </p:spPr>
        <p:txBody>
          <a:bodyPr wrap="square" lIns="0" tIns="18000" rIns="0" bIns="18000">
            <a:spAutoFit/>
          </a:bodyPr>
          <a:lstStyle/>
          <a:p>
            <a:r>
              <a:rPr lang="en-US" sz="3600" dirty="0">
                <a:latin typeface="+mj-lt"/>
              </a:rPr>
              <a:t>Fundamentals of Management</a:t>
            </a:r>
            <a:endParaRPr lang="en-US" sz="2800" dirty="0"/>
          </a:p>
        </p:txBody>
      </p:sp>
      <p:sp>
        <p:nvSpPr>
          <p:cNvPr id="3" name="Text Placeholder 2"/>
          <p:cNvSpPr>
            <a:spLocks noGrp="1"/>
          </p:cNvSpPr>
          <p:nvPr>
            <p:ph type="body" sz="quarter" idx="13"/>
          </p:nvPr>
        </p:nvSpPr>
        <p:spPr>
          <a:xfrm>
            <a:off x="468000" y="1008979"/>
            <a:ext cx="8274250" cy="344128"/>
          </a:xfrm>
        </p:spPr>
        <p:txBody>
          <a:bodyPr wrap="square" lIns="0" tIns="18000" rIns="0" bIns="18000" anchor="ctr">
            <a:spAutoFit/>
          </a:bodyPr>
          <a:lstStyle/>
          <a:p>
            <a:r>
              <a:rPr lang="en-US" dirty="0">
                <a:latin typeface="Arial" panose="020B0604020202020204" pitchFamily="34" charset="0"/>
                <a:cs typeface="Arial" panose="020B0604020202020204" pitchFamily="34" charset="0"/>
              </a:rPr>
              <a:t>Eleventh Edition</a:t>
            </a:r>
          </a:p>
        </p:txBody>
      </p:sp>
      <p:pic>
        <p:nvPicPr>
          <p:cNvPr id="9" name="Picture Placeholder 8" descr="Front Cover: Fundamentals of Management Eleventh Edition by Robbins, Coulter and DeCenzo.">
            <a:extLst>
              <a:ext uri="{FF2B5EF4-FFF2-40B4-BE49-F238E27FC236}">
                <a16:creationId xmlns:a16="http://schemas.microsoft.com/office/drawing/2014/main" id="{AC243915-3F84-4C0C-BAAC-E22CD4EC1B80}"/>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3083" r="3083"/>
          <a:stretch>
            <a:fillRect/>
          </a:stretch>
        </p:blipFill>
        <p:spPr>
          <a:xfrm>
            <a:off x="467544" y="1685925"/>
            <a:ext cx="3260725" cy="4440238"/>
          </a:xfrm>
        </p:spPr>
      </p:pic>
      <p:sp>
        <p:nvSpPr>
          <p:cNvPr id="4" name="Text Placeholder 3"/>
          <p:cNvSpPr>
            <a:spLocks noGrp="1"/>
          </p:cNvSpPr>
          <p:nvPr>
            <p:ph type="body" sz="quarter" idx="14"/>
          </p:nvPr>
        </p:nvSpPr>
        <p:spPr>
          <a:xfrm>
            <a:off x="4576812" y="2888099"/>
            <a:ext cx="4171901" cy="498016"/>
          </a:xfrm>
        </p:spPr>
        <p:txBody>
          <a:bodyPr wrap="square" lIns="0" tIns="18000" rIns="0" bIns="18000">
            <a:spAutoFit/>
          </a:bodyPr>
          <a:lstStyle/>
          <a:p>
            <a:r>
              <a:rPr lang="en-US" dirty="0">
                <a:latin typeface="Arial" panose="020B0604020202020204" pitchFamily="34" charset="0"/>
                <a:cs typeface="Arial" panose="020B0604020202020204" pitchFamily="34" charset="0"/>
              </a:rPr>
              <a:t>Chapter 6</a:t>
            </a:r>
          </a:p>
        </p:txBody>
      </p:sp>
      <p:sp>
        <p:nvSpPr>
          <p:cNvPr id="5" name="Text Placeholder 4"/>
          <p:cNvSpPr>
            <a:spLocks noGrp="1"/>
          </p:cNvSpPr>
          <p:nvPr>
            <p:ph type="body" sz="quarter" idx="15"/>
          </p:nvPr>
        </p:nvSpPr>
        <p:spPr>
          <a:xfrm>
            <a:off x="4580142" y="3528119"/>
            <a:ext cx="4168571" cy="713460"/>
          </a:xfrm>
        </p:spPr>
        <p:txBody>
          <a:bodyPr wrap="square" lIns="0" tIns="18000" rIns="0" bIns="18000">
            <a:spAutoFit/>
          </a:bodyPr>
          <a:lstStyle/>
          <a:p>
            <a:r>
              <a:rPr lang="en-US" altLang="en-US" dirty="0">
                <a:latin typeface="Arial" panose="020B0604020202020204" pitchFamily="34" charset="0"/>
                <a:ea typeface="Malgun Gothic" pitchFamily="34" charset="-127"/>
                <a:cs typeface="Arial" panose="020B0604020202020204" pitchFamily="34" charset="0"/>
              </a:rPr>
              <a:t>Managing Change and </a:t>
            </a:r>
          </a:p>
          <a:p>
            <a:r>
              <a:rPr lang="en-US" altLang="en-US" dirty="0">
                <a:latin typeface="Arial" panose="020B0604020202020204" pitchFamily="34" charset="0"/>
                <a:ea typeface="Malgun Gothic" pitchFamily="34" charset="-127"/>
                <a:cs typeface="Arial" panose="020B0604020202020204" pitchFamily="34" charset="0"/>
              </a:rPr>
              <a:t>Innovation</a:t>
            </a:r>
            <a:endParaRPr lang="en-US" dirty="0">
              <a:latin typeface="Arial" panose="020B0604020202020204" pitchFamily="34" charset="0"/>
              <a:cs typeface="Arial" panose="020B0604020202020204" pitchFamily="34" charset="0"/>
            </a:endParaRPr>
          </a:p>
        </p:txBody>
      </p:sp>
      <p:pic>
        <p:nvPicPr>
          <p:cNvPr id="30" name="Picture Placeholder 29" descr="Pearson Logo">
            <a:extLst>
              <a:ext uri="{FF2B5EF4-FFF2-40B4-BE49-F238E27FC236}">
                <a16:creationId xmlns:a16="http://schemas.microsoft.com/office/drawing/2014/main" id="{55E920AB-A07A-4031-92B0-F06A28CEC914}"/>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
        <p:nvSpPr>
          <p:cNvPr id="11" name="Text Placeholder 6"/>
          <p:cNvSpPr>
            <a:spLocks noGrp="1"/>
          </p:cNvSpPr>
          <p:nvPr>
            <p:ph type="body" sz="quarter" idx="16"/>
          </p:nvPr>
        </p:nvSpPr>
        <p:spPr>
          <a:xfrm>
            <a:off x="2668200" y="6519600"/>
            <a:ext cx="6094800" cy="221018"/>
          </a:xfrm>
        </p:spPr>
        <p:txBody>
          <a:bodyPr lIns="0" tIns="18000" rIns="0" bIns="18000" anchor="t" anchorCtr="0">
            <a:spAutoFit/>
          </a:bodyPr>
          <a:lstStyle/>
          <a:p>
            <a:pPr marL="0" indent="0" algn="r">
              <a:buClrTx/>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528272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dirty="0">
                <a:latin typeface="+mj-lt"/>
              </a:rPr>
              <a:t>Learning Objectives</a:t>
            </a:r>
            <a:endParaRPr lang="en-US" sz="3600" dirty="0">
              <a:latin typeface="+mj-lt"/>
            </a:endParaRPr>
          </a:p>
        </p:txBody>
      </p:sp>
      <p:sp>
        <p:nvSpPr>
          <p:cNvPr id="5" name="Content Placeholder 4"/>
          <p:cNvSpPr>
            <a:spLocks noGrp="1"/>
          </p:cNvSpPr>
          <p:nvPr>
            <p:ph idx="1"/>
          </p:nvPr>
        </p:nvSpPr>
        <p:spPr>
          <a:xfrm>
            <a:off x="467999" y="1274400"/>
            <a:ext cx="8280713" cy="3724096"/>
          </a:xfrm>
        </p:spPr>
        <p:txBody>
          <a:bodyPr wrap="square" tIns="18000" bIns="18000">
            <a:spAutoFit/>
          </a:bodyPr>
          <a:lstStyle/>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6.1	</a:t>
            </a:r>
            <a:r>
              <a:rPr lang="en-US" altLang="en-US" sz="2400" b="1" dirty="0">
                <a:latin typeface="Arial" panose="020B0604020202020204" pitchFamily="34" charset="0"/>
                <a:ea typeface="ＭＳ Ｐゴシック" pitchFamily="34" charset="-128"/>
                <a:cs typeface="Arial" panose="020B0604020202020204" pitchFamily="34" charset="0"/>
              </a:rPr>
              <a:t>Define </a:t>
            </a:r>
            <a:r>
              <a:rPr lang="en-US" altLang="en-US" sz="2400" i="1" dirty="0">
                <a:latin typeface="Arial" panose="020B0604020202020204" pitchFamily="34" charset="0"/>
                <a:ea typeface="ＭＳ Ｐゴシック" pitchFamily="34" charset="-128"/>
                <a:cs typeface="Arial" panose="020B0604020202020204" pitchFamily="34" charset="0"/>
              </a:rPr>
              <a:t>organizational change </a:t>
            </a:r>
            <a:r>
              <a:rPr lang="en-US" altLang="en-US" sz="2400" dirty="0">
                <a:latin typeface="Arial" panose="020B0604020202020204" pitchFamily="34" charset="0"/>
                <a:ea typeface="ＭＳ Ｐゴシック" pitchFamily="34" charset="-128"/>
                <a:cs typeface="Arial" panose="020B0604020202020204" pitchFamily="34" charset="0"/>
              </a:rPr>
              <a:t>and compare and contrast views on the change process.</a:t>
            </a:r>
          </a:p>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6.2	</a:t>
            </a:r>
            <a:r>
              <a:rPr lang="en-US" altLang="en-US" sz="2400" b="1" dirty="0">
                <a:latin typeface="Arial" panose="020B0604020202020204" pitchFamily="34" charset="0"/>
                <a:ea typeface="ＭＳ Ｐゴシック" pitchFamily="34" charset="-128"/>
                <a:cs typeface="Arial" panose="020B0604020202020204" pitchFamily="34" charset="0"/>
              </a:rPr>
              <a:t>Explain </a:t>
            </a:r>
            <a:r>
              <a:rPr lang="en-US" altLang="en-US" sz="2400" dirty="0">
                <a:latin typeface="Arial" panose="020B0604020202020204" pitchFamily="34" charset="0"/>
                <a:ea typeface="ＭＳ Ｐゴシック" pitchFamily="34" charset="-128"/>
                <a:cs typeface="Arial" panose="020B0604020202020204" pitchFamily="34" charset="0"/>
              </a:rPr>
              <a:t>how to manage resistance to change.</a:t>
            </a:r>
          </a:p>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6.3	</a:t>
            </a:r>
            <a:r>
              <a:rPr lang="en-US" altLang="en-US" sz="2400" b="1" dirty="0">
                <a:latin typeface="Arial" panose="020B0604020202020204" pitchFamily="34" charset="0"/>
                <a:ea typeface="ＭＳ Ｐゴシック" pitchFamily="34" charset="-128"/>
                <a:cs typeface="Arial" panose="020B0604020202020204" pitchFamily="34" charset="0"/>
              </a:rPr>
              <a:t>Describe </a:t>
            </a:r>
            <a:r>
              <a:rPr lang="en-US" altLang="en-US" sz="2400" dirty="0">
                <a:latin typeface="Arial" panose="020B0604020202020204" pitchFamily="34" charset="0"/>
                <a:ea typeface="ＭＳ Ｐゴシック" pitchFamily="34" charset="-128"/>
                <a:cs typeface="Arial" panose="020B0604020202020204" pitchFamily="34" charset="0"/>
              </a:rPr>
              <a:t>what managers need to know about employee stress.</a:t>
            </a:r>
          </a:p>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6.4	</a:t>
            </a:r>
            <a:r>
              <a:rPr lang="en-US" altLang="en-US" sz="2400" b="1" dirty="0">
                <a:latin typeface="Arial" panose="020B0604020202020204" pitchFamily="34" charset="0"/>
                <a:ea typeface="ＭＳ Ｐゴシック" pitchFamily="34" charset="-128"/>
                <a:cs typeface="Arial" panose="020B0604020202020204" pitchFamily="34" charset="0"/>
              </a:rPr>
              <a:t>Discuss </a:t>
            </a:r>
            <a:r>
              <a:rPr lang="en-US" altLang="en-US" sz="2400" dirty="0">
                <a:latin typeface="Arial" panose="020B0604020202020204" pitchFamily="34" charset="0"/>
                <a:ea typeface="ＭＳ Ｐゴシック" pitchFamily="34" charset="-128"/>
                <a:cs typeface="Arial" panose="020B0604020202020204" pitchFamily="34" charset="0"/>
              </a:rPr>
              <a:t>techniques for stimulating innovation.</a:t>
            </a:r>
          </a:p>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6.5	</a:t>
            </a:r>
            <a:r>
              <a:rPr lang="en-US" altLang="en-US" sz="2400" b="1" dirty="0">
                <a:latin typeface="Arial" panose="020B0604020202020204" pitchFamily="34" charset="0"/>
                <a:ea typeface="ＭＳ Ｐゴシック" pitchFamily="34" charset="-128"/>
                <a:cs typeface="Arial" panose="020B0604020202020204" pitchFamily="34" charset="0"/>
              </a:rPr>
              <a:t>Explain </a:t>
            </a:r>
            <a:r>
              <a:rPr lang="en-US" altLang="en-US" sz="2400" dirty="0">
                <a:latin typeface="Arial" panose="020B0604020202020204" pitchFamily="34" charset="0"/>
                <a:ea typeface="ＭＳ Ｐゴシック" pitchFamily="34" charset="-128"/>
                <a:cs typeface="Arial" panose="020B0604020202020204" pitchFamily="34" charset="0"/>
              </a:rPr>
              <a:t>what disruptive innovation is and why managing it is important.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6634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Learning Objective 6.1</a:t>
            </a:r>
            <a:endParaRPr lang="en-US" dirty="0">
              <a:solidFill>
                <a:schemeClr val="bg2"/>
              </a:solidFill>
              <a:latin typeface="+mj-lt"/>
            </a:endParaRPr>
          </a:p>
        </p:txBody>
      </p:sp>
      <p:sp>
        <p:nvSpPr>
          <p:cNvPr id="3" name="Content Placeholder 2"/>
          <p:cNvSpPr>
            <a:spLocks noGrp="1"/>
          </p:cNvSpPr>
          <p:nvPr>
            <p:ph idx="1"/>
          </p:nvPr>
        </p:nvSpPr>
        <p:spPr>
          <a:xfrm>
            <a:off x="467999" y="1274400"/>
            <a:ext cx="8280713" cy="775015"/>
          </a:xfrm>
        </p:spPr>
        <p:txBody>
          <a:bodyPr wrap="square" tIns="18000" bIns="18000">
            <a:spAutoFit/>
          </a:bodyPr>
          <a:lstStyle/>
          <a:p>
            <a:pPr marL="271463" indent="-271463">
              <a:buSzPct val="100000"/>
            </a:pPr>
            <a:r>
              <a:rPr lang="en-US" altLang="en-US" sz="2400" dirty="0">
                <a:latin typeface="Arial" panose="020B0604020202020204" pitchFamily="34" charset="0"/>
                <a:cs typeface="Arial" panose="020B0604020202020204" pitchFamily="34" charset="0"/>
              </a:rPr>
              <a:t>Define </a:t>
            </a:r>
            <a:r>
              <a:rPr lang="en-US" altLang="en-US" sz="2400" i="1" dirty="0">
                <a:latin typeface="Arial" panose="020B0604020202020204" pitchFamily="34" charset="0"/>
                <a:cs typeface="Arial" panose="020B0604020202020204" pitchFamily="34" charset="0"/>
              </a:rPr>
              <a:t>organizational change</a:t>
            </a:r>
            <a:r>
              <a:rPr lang="en-US" altLang="en-US" sz="2400" dirty="0">
                <a:latin typeface="Arial" panose="020B0604020202020204" pitchFamily="34" charset="0"/>
                <a:cs typeface="Arial" panose="020B0604020202020204" pitchFamily="34" charset="0"/>
              </a:rPr>
              <a:t> and compare and contrast views on the change process.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7038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91512"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What Is Organizational Change?</a:t>
            </a:r>
            <a:endParaRPr lang="en-US" sz="2800" dirty="0">
              <a:latin typeface="+mj-lt"/>
              <a:cs typeface="Arial" panose="020B0604020202020204" pitchFamily="34" charset="0"/>
            </a:endParaRPr>
          </a:p>
        </p:txBody>
      </p:sp>
      <p:sp>
        <p:nvSpPr>
          <p:cNvPr id="9" name="Content Placeholder 8">
            <a:extLst>
              <a:ext uri="{FF2B5EF4-FFF2-40B4-BE49-F238E27FC236}">
                <a16:creationId xmlns:a16="http://schemas.microsoft.com/office/drawing/2014/main" id="{6F51F6A7-291A-458D-AC3B-7ADDFBE9E113}"/>
              </a:ext>
            </a:extLst>
          </p:cNvPr>
          <p:cNvSpPr>
            <a:spLocks noGrp="1"/>
          </p:cNvSpPr>
          <p:nvPr>
            <p:ph sz="quarter" idx="13"/>
          </p:nvPr>
        </p:nvSpPr>
        <p:spPr>
          <a:xfrm>
            <a:off x="468000" y="1274400"/>
            <a:ext cx="8291513" cy="282573"/>
          </a:xfrm>
        </p:spPr>
        <p:txBody>
          <a:bodyPr wrap="square" tIns="18000" bIns="18000">
            <a:spAutoFit/>
          </a:bodyPr>
          <a:lstStyle/>
          <a:p>
            <a:pPr marL="0" indent="0">
              <a:buNone/>
            </a:pPr>
            <a:r>
              <a:rPr lang="en-US" sz="1600" b="1">
                <a:latin typeface="Arial" panose="020B0604020202020204" pitchFamily="34" charset="0"/>
                <a:cs typeface="Arial" panose="020B0604020202020204" pitchFamily="34" charset="0"/>
              </a:rPr>
              <a:t>Exhibit 6.1</a:t>
            </a:r>
            <a:r>
              <a:rPr lang="en-US" sz="1600">
                <a:latin typeface="Arial" panose="020B0604020202020204" pitchFamily="34" charset="0"/>
                <a:cs typeface="Arial" panose="020B0604020202020204" pitchFamily="34" charset="0"/>
              </a:rPr>
              <a:t> Categories of Organizational Change</a:t>
            </a:r>
            <a:endParaRPr lang="en-US">
              <a:latin typeface="Arial" panose="020B0604020202020204" pitchFamily="34" charset="0"/>
              <a:cs typeface="Arial" panose="020B0604020202020204" pitchFamily="34" charset="0"/>
            </a:endParaRPr>
          </a:p>
        </p:txBody>
      </p:sp>
      <p:sp>
        <p:nvSpPr>
          <p:cNvPr id="10" name="Content Placeholder 9">
            <a:extLst>
              <a:ext uri="{FF2B5EF4-FFF2-40B4-BE49-F238E27FC236}">
                <a16:creationId xmlns:a16="http://schemas.microsoft.com/office/drawing/2014/main" id="{4C0D92DB-4F78-47FA-9711-543E9F39742F}"/>
              </a:ext>
            </a:extLst>
          </p:cNvPr>
          <p:cNvSpPr>
            <a:spLocks noGrp="1"/>
          </p:cNvSpPr>
          <p:nvPr>
            <p:ph sz="quarter" idx="14"/>
          </p:nvPr>
        </p:nvSpPr>
        <p:spPr>
          <a:xfrm>
            <a:off x="468000" y="2348880"/>
            <a:ext cx="2736304" cy="1144347"/>
          </a:xfrm>
        </p:spPr>
        <p:txBody>
          <a:bodyPr wrap="square" tIns="18000" bIns="18000">
            <a:spAutoFit/>
          </a:bodyPr>
          <a:lstStyle/>
          <a:p>
            <a:pPr marL="0" indent="0">
              <a:buNone/>
            </a:pPr>
            <a:r>
              <a:rPr lang="en-US" sz="1800">
                <a:latin typeface="Arial" panose="020B0604020202020204" pitchFamily="34" charset="0"/>
                <a:cs typeface="Arial" panose="020B0604020202020204" pitchFamily="34" charset="0"/>
              </a:rPr>
              <a:t>Structure Authority relationships Coordinating mechanisms Job redesign Spans of control </a:t>
            </a:r>
          </a:p>
        </p:txBody>
      </p:sp>
      <p:sp>
        <p:nvSpPr>
          <p:cNvPr id="11" name="Content Placeholder 10">
            <a:extLst>
              <a:ext uri="{FF2B5EF4-FFF2-40B4-BE49-F238E27FC236}">
                <a16:creationId xmlns:a16="http://schemas.microsoft.com/office/drawing/2014/main" id="{C0B7ED69-6BC1-4D21-A374-2FF6BA25DA84}"/>
              </a:ext>
            </a:extLst>
          </p:cNvPr>
          <p:cNvSpPr>
            <a:spLocks noGrp="1"/>
          </p:cNvSpPr>
          <p:nvPr>
            <p:ph sz="quarter" idx="15"/>
          </p:nvPr>
        </p:nvSpPr>
        <p:spPr>
          <a:xfrm>
            <a:off x="3275856" y="2350800"/>
            <a:ext cx="2736304" cy="867348"/>
          </a:xfrm>
        </p:spPr>
        <p:txBody>
          <a:bodyPr wrap="square" tIns="18000" bIns="18000">
            <a:spAutoFit/>
          </a:bodyPr>
          <a:lstStyle/>
          <a:p>
            <a:pPr marL="0" indent="0">
              <a:buNone/>
            </a:pPr>
            <a:r>
              <a:rPr lang="en-US" sz="1800">
                <a:latin typeface="Arial" panose="020B0604020202020204" pitchFamily="34" charset="0"/>
                <a:cs typeface="Arial" panose="020B0604020202020204" pitchFamily="34" charset="0"/>
              </a:rPr>
              <a:t>Technology Work processes Work methods Equipment</a:t>
            </a:r>
          </a:p>
        </p:txBody>
      </p:sp>
      <p:sp>
        <p:nvSpPr>
          <p:cNvPr id="12" name="Content Placeholder 11">
            <a:extLst>
              <a:ext uri="{FF2B5EF4-FFF2-40B4-BE49-F238E27FC236}">
                <a16:creationId xmlns:a16="http://schemas.microsoft.com/office/drawing/2014/main" id="{3E25EA93-52F2-43C7-A8C6-3D4F8025D48F}"/>
              </a:ext>
            </a:extLst>
          </p:cNvPr>
          <p:cNvSpPr>
            <a:spLocks noGrp="1"/>
          </p:cNvSpPr>
          <p:nvPr>
            <p:ph sz="quarter" idx="16"/>
          </p:nvPr>
        </p:nvSpPr>
        <p:spPr>
          <a:xfrm>
            <a:off x="6155723" y="2350800"/>
            <a:ext cx="2592989" cy="867348"/>
          </a:xfrm>
        </p:spPr>
        <p:txBody>
          <a:bodyPr wrap="square" tIns="18000" bIns="18000">
            <a:spAutoFit/>
          </a:bodyPr>
          <a:lstStyle/>
          <a:p>
            <a:pPr marL="0" indent="0">
              <a:buNone/>
            </a:pPr>
            <a:r>
              <a:rPr lang="en-US" sz="1800" dirty="0">
                <a:latin typeface="Arial" panose="020B0604020202020204" pitchFamily="34" charset="0"/>
                <a:cs typeface="Arial" panose="020B0604020202020204" pitchFamily="34" charset="0"/>
              </a:rPr>
              <a:t>People Attitudes Expectations Perceptions Behavior </a:t>
            </a:r>
          </a:p>
        </p:txBody>
      </p:sp>
    </p:spTree>
    <p:extLst>
      <p:ext uri="{BB962C8B-B14F-4D97-AF65-F5344CB8AC3E}">
        <p14:creationId xmlns:p14="http://schemas.microsoft.com/office/powerpoint/2010/main" val="1409289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External Forces Create a Need to Change</a:t>
            </a:r>
            <a:endParaRPr lang="en-US" sz="3600" dirty="0">
              <a:latin typeface="+mj-lt"/>
            </a:endParaRPr>
          </a:p>
        </p:txBody>
      </p:sp>
      <p:sp>
        <p:nvSpPr>
          <p:cNvPr id="3" name="Content Placeholder 2"/>
          <p:cNvSpPr>
            <a:spLocks noGrp="1"/>
          </p:cNvSpPr>
          <p:nvPr>
            <p:ph idx="1"/>
          </p:nvPr>
        </p:nvSpPr>
        <p:spPr>
          <a:xfrm>
            <a:off x="467999" y="1602000"/>
            <a:ext cx="8280713" cy="2652452"/>
          </a:xfrm>
        </p:spPr>
        <p:txBody>
          <a:bodyPr wrap="square" tIns="18000" bIns="18000">
            <a:spAutoFit/>
          </a:bodyPr>
          <a:lstStyle/>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Marketplace</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Government laws and regulations</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Technology</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Labor markets</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Economic changes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9365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Internal Forces Create a Need to Change</a:t>
            </a:r>
            <a:endParaRPr lang="en-US" sz="3600" dirty="0">
              <a:latin typeface="+mj-lt"/>
            </a:endParaRPr>
          </a:p>
        </p:txBody>
      </p:sp>
      <p:sp>
        <p:nvSpPr>
          <p:cNvPr id="3" name="Content Placeholder 2"/>
          <p:cNvSpPr>
            <a:spLocks noGrp="1"/>
          </p:cNvSpPr>
          <p:nvPr>
            <p:ph idx="1"/>
          </p:nvPr>
        </p:nvSpPr>
        <p:spPr>
          <a:xfrm>
            <a:off x="467999" y="1602000"/>
            <a:ext cx="8280713" cy="1529068"/>
          </a:xfrm>
        </p:spPr>
        <p:txBody>
          <a:bodyPr wrap="square" tIns="18000" bIns="18000">
            <a:spAutoFit/>
          </a:bodyPr>
          <a:lstStyle/>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Strategy</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Composition of workforce</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Employee attitudes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716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Initiating Change</a:t>
            </a:r>
            <a:endParaRPr lang="en-US" sz="3600" dirty="0">
              <a:latin typeface="+mj-lt"/>
            </a:endParaRPr>
          </a:p>
        </p:txBody>
      </p:sp>
      <p:sp>
        <p:nvSpPr>
          <p:cNvPr id="3" name="Content Placeholder 2"/>
          <p:cNvSpPr>
            <a:spLocks noGrp="1"/>
          </p:cNvSpPr>
          <p:nvPr>
            <p:ph idx="1"/>
          </p:nvPr>
        </p:nvSpPr>
        <p:spPr>
          <a:xfrm>
            <a:off x="467999" y="1274400"/>
            <a:ext cx="8280713" cy="1782984"/>
          </a:xfrm>
        </p:spPr>
        <p:txBody>
          <a:bodyPr wrap="square" tIns="18000" bIns="18000">
            <a:spAutoFit/>
          </a:bodyPr>
          <a:lstStyle/>
          <a:p>
            <a:pPr marL="0" indent="0">
              <a:buClr>
                <a:schemeClr val="bg2"/>
              </a:buClr>
              <a:buSzPct val="100000"/>
              <a:buNone/>
              <a:defRPr/>
            </a:pPr>
            <a:r>
              <a:rPr lang="en-US" sz="2400" b="1" dirty="0">
                <a:latin typeface="Arial" panose="020B0604020202020204" pitchFamily="34" charset="0"/>
                <a:cs typeface="Arial" panose="020B0604020202020204" pitchFamily="34" charset="0"/>
              </a:rPr>
              <a:t>Organizational changes need a catalyst.</a:t>
            </a:r>
            <a:endParaRPr lang="en-US" altLang="en-US" sz="2400" b="1" dirty="0">
              <a:latin typeface="Arial" panose="020B0604020202020204" pitchFamily="34" charset="0"/>
              <a:ea typeface="ＭＳ Ｐゴシック" pitchFamily="34" charset="-128"/>
              <a:cs typeface="Arial" panose="020B0604020202020204" pitchFamily="34" charset="0"/>
            </a:endParaRPr>
          </a:p>
          <a:p>
            <a:pPr marL="273050" indent="-273050">
              <a:buClr>
                <a:schemeClr val="bg2"/>
              </a:buClr>
              <a:buSzPct val="100000"/>
              <a:defRPr/>
            </a:pPr>
            <a:r>
              <a:rPr lang="en-US" altLang="en-US" sz="2400" b="1" dirty="0">
                <a:latin typeface="Arial" panose="020B0604020202020204" pitchFamily="34" charset="0"/>
                <a:ea typeface="ＭＳ Ｐゴシック" pitchFamily="34" charset="-128"/>
                <a:cs typeface="Arial" panose="020B0604020202020204" pitchFamily="34" charset="0"/>
              </a:rPr>
              <a:t>Change agent</a:t>
            </a:r>
            <a:r>
              <a:rPr lang="en-US" altLang="en-US" sz="2400" dirty="0">
                <a:latin typeface="Arial" panose="020B0604020202020204" pitchFamily="34" charset="0"/>
                <a:ea typeface="ＭＳ Ｐゴシック" pitchFamily="34" charset="-128"/>
                <a:cs typeface="Arial" panose="020B0604020202020204" pitchFamily="34" charset="0"/>
              </a:rPr>
              <a:t>: </a:t>
            </a:r>
          </a:p>
          <a:p>
            <a:pPr marL="724091" lvl="1"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people who act as catalysts and assume responsibility for managing the change process.</a:t>
            </a:r>
          </a:p>
        </p:txBody>
      </p:sp>
    </p:spTree>
    <p:extLst>
      <p:ext uri="{BB962C8B-B14F-4D97-AF65-F5344CB8AC3E}">
        <p14:creationId xmlns:p14="http://schemas.microsoft.com/office/powerpoint/2010/main" val="4128129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Two Different Approaches</a:t>
            </a:r>
            <a:endParaRPr lang="en-US" sz="3600" dirty="0">
              <a:latin typeface="+mj-lt"/>
            </a:endParaRPr>
          </a:p>
        </p:txBody>
      </p:sp>
      <p:sp>
        <p:nvSpPr>
          <p:cNvPr id="3" name="Content Placeholder 2"/>
          <p:cNvSpPr>
            <a:spLocks noGrp="1"/>
          </p:cNvSpPr>
          <p:nvPr>
            <p:ph idx="1"/>
          </p:nvPr>
        </p:nvSpPr>
        <p:spPr>
          <a:xfrm>
            <a:off x="467999" y="1274400"/>
            <a:ext cx="8280713" cy="967376"/>
          </a:xfrm>
        </p:spPr>
        <p:txBody>
          <a:bodyPr wrap="square" tIns="18000" bIns="18000">
            <a:spAutoFit/>
          </a:bodyPr>
          <a:lstStyle/>
          <a:p>
            <a:pPr marL="271463" indent="-271463">
              <a:buClr>
                <a:schemeClr val="bg2"/>
              </a:buClr>
              <a:buSzPct val="100000"/>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“Calm waters” metaphor</a:t>
            </a:r>
          </a:p>
          <a:p>
            <a:pPr marL="271463" indent="-271463">
              <a:buClr>
                <a:schemeClr val="bg2"/>
              </a:buClr>
              <a:buSzPct val="100000"/>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“White-water rapids” metaphor</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4127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Calm Waters Change</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74400"/>
            <a:ext cx="8280401" cy="282573"/>
          </a:xfrm>
        </p:spPr>
        <p:txBody>
          <a:bodyPr wrap="square" tIns="18000" bIns="18000">
            <a:spAutoFit/>
          </a:bodyPr>
          <a:lstStyle/>
          <a:p>
            <a:pPr marL="0" indent="0">
              <a:buNone/>
            </a:pPr>
            <a:r>
              <a:rPr lang="en-US" sz="1600" b="1" dirty="0">
                <a:latin typeface="Arial" panose="020B0604020202020204" pitchFamily="34" charset="0"/>
                <a:cs typeface="Arial" panose="020B0604020202020204" pitchFamily="34" charset="0"/>
              </a:rPr>
              <a:t>Exhibit 6.2</a:t>
            </a:r>
            <a:r>
              <a:rPr lang="en-US" sz="1600" dirty="0">
                <a:latin typeface="Arial" panose="020B0604020202020204" pitchFamily="34" charset="0"/>
                <a:cs typeface="Arial" panose="020B0604020202020204" pitchFamily="34" charset="0"/>
              </a:rPr>
              <a:t> The Three-Step Change Process</a:t>
            </a:r>
            <a:endParaRPr lang="en-US" dirty="0">
              <a:latin typeface="Arial" panose="020B0604020202020204" pitchFamily="34" charset="0"/>
              <a:cs typeface="Arial" panose="020B0604020202020204" pitchFamily="34" charset="0"/>
            </a:endParaRPr>
          </a:p>
        </p:txBody>
      </p:sp>
      <p:pic>
        <p:nvPicPr>
          <p:cNvPr id="10" name="Picture Placeholder 9" descr="An illustration shows that the three steps in the change process are unfreezing, changing, and refreezing.">
            <a:extLst>
              <a:ext uri="{FF2B5EF4-FFF2-40B4-BE49-F238E27FC236}">
                <a16:creationId xmlns:a16="http://schemas.microsoft.com/office/drawing/2014/main" id="{90653519-762D-48E4-8B20-D2AC2F15039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707023" y="1916832"/>
            <a:ext cx="7825417" cy="2510976"/>
          </a:xfrm>
          <a:prstGeom prst="rect">
            <a:avLst/>
          </a:prstGeom>
        </p:spPr>
      </p:pic>
    </p:spTree>
    <p:extLst>
      <p:ext uri="{BB962C8B-B14F-4D97-AF65-F5344CB8AC3E}">
        <p14:creationId xmlns:p14="http://schemas.microsoft.com/office/powerpoint/2010/main" val="338447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White-Water Rapids Change</a:t>
            </a:r>
            <a:endParaRPr lang="en-US" sz="3600" dirty="0">
              <a:latin typeface="+mj-lt"/>
            </a:endParaRP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Leading a company in change, in an industry in change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279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Implementing Change</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74400"/>
            <a:ext cx="8280401" cy="1336708"/>
          </a:xfrm>
        </p:spPr>
        <p:txBody>
          <a:bodyPr wrap="square" tIns="18000" bIns="18000">
            <a:spAutoFit/>
          </a:bodyPr>
          <a:lstStyle/>
          <a:p>
            <a:pPr marL="0" indent="0">
              <a:buNone/>
              <a:defRPr/>
            </a:pPr>
            <a:r>
              <a:rPr lang="en-US" altLang="en-US" sz="2400" b="1" dirty="0">
                <a:latin typeface="Arial" panose="020B0604020202020204" pitchFamily="34" charset="0"/>
                <a:ea typeface="ＭＳ Ｐゴシック" pitchFamily="34" charset="-128"/>
                <a:cs typeface="Arial" panose="020B0604020202020204" pitchFamily="34" charset="0"/>
              </a:rPr>
              <a:t>Organization development (</a:t>
            </a:r>
            <a:r>
              <a:rPr lang="en-US" altLang="en-US" sz="2400" b="1" spc="-300" dirty="0">
                <a:latin typeface="Arial" panose="020B0604020202020204" pitchFamily="34" charset="0"/>
                <a:ea typeface="ＭＳ Ｐゴシック" pitchFamily="34" charset="-128"/>
                <a:cs typeface="Arial" panose="020B0604020202020204" pitchFamily="34" charset="0"/>
              </a:rPr>
              <a:t>O </a:t>
            </a:r>
            <a:r>
              <a:rPr lang="en-US" altLang="en-US" sz="2400" b="1" dirty="0">
                <a:latin typeface="Arial" panose="020B0604020202020204" pitchFamily="34" charset="0"/>
                <a:ea typeface="ＭＳ Ｐゴシック" pitchFamily="34" charset="-128"/>
                <a:cs typeface="Arial" panose="020B0604020202020204" pitchFamily="34" charset="0"/>
              </a:rPr>
              <a:t>D):</a:t>
            </a:r>
          </a:p>
          <a:p>
            <a:pPr marL="273050" indent="-273050">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efforts that assist organizational members with a planned change by focusing on their attitudes and values.</a:t>
            </a:r>
            <a:endParaRPr lang="en-US" sz="2400" dirty="0">
              <a:latin typeface="Arial" panose="020B0604020202020204" pitchFamily="34" charset="0"/>
              <a:cs typeface="Arial" panose="020B0604020202020204" pitchFamily="34" charset="0"/>
            </a:endParaRPr>
          </a:p>
        </p:txBody>
      </p:sp>
      <p:pic>
        <p:nvPicPr>
          <p:cNvPr id="6" name="Picture Placeholder 5" descr="A photo shows a man on stage speaking into a microphone. The word D e N A is on the wall in the background.">
            <a:extLst>
              <a:ext uri="{FF2B5EF4-FFF2-40B4-BE49-F238E27FC236}">
                <a16:creationId xmlns:a16="http://schemas.microsoft.com/office/drawing/2014/main" id="{0164AEF4-1C6B-49CC-BB4C-B283937251D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051720" y="3004144"/>
            <a:ext cx="5071872" cy="3377184"/>
          </a:xfrm>
          <a:prstGeom prst="rect">
            <a:avLst/>
          </a:prstGeom>
        </p:spPr>
      </p:pic>
    </p:spTree>
    <p:extLst>
      <p:ext uri="{BB962C8B-B14F-4D97-AF65-F5344CB8AC3E}">
        <p14:creationId xmlns:p14="http://schemas.microsoft.com/office/powerpoint/2010/main" val="3537969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Organization Development Efforts</a:t>
            </a:r>
            <a:endParaRPr lang="en-US" sz="3600" dirty="0">
              <a:latin typeface="+mj-lt"/>
            </a:endParaRPr>
          </a:p>
        </p:txBody>
      </p:sp>
      <p:sp>
        <p:nvSpPr>
          <p:cNvPr id="3" name="Content Placeholder 2"/>
          <p:cNvSpPr>
            <a:spLocks noGrp="1"/>
          </p:cNvSpPr>
          <p:nvPr>
            <p:ph idx="1"/>
          </p:nvPr>
        </p:nvSpPr>
        <p:spPr>
          <a:xfrm>
            <a:off x="467999" y="1274400"/>
            <a:ext cx="8280713" cy="2090760"/>
          </a:xfrm>
        </p:spPr>
        <p:txBody>
          <a:bodyPr wrap="square" tIns="18000" bIns="18000">
            <a:spAutoFit/>
          </a:bodyPr>
          <a:lstStyle/>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 </a:t>
            </a:r>
            <a:r>
              <a:rPr lang="en-US" altLang="en-US" sz="2400" b="1" dirty="0">
                <a:latin typeface="Arial" panose="020B0604020202020204" pitchFamily="34" charset="0"/>
                <a:ea typeface="ＭＳ Ｐゴシック" pitchFamily="34" charset="-128"/>
                <a:cs typeface="Arial" panose="020B0604020202020204" pitchFamily="34" charset="0"/>
              </a:rPr>
              <a:t>Survey feedback</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 </a:t>
            </a:r>
            <a:r>
              <a:rPr lang="en-US" altLang="en-US" sz="2400" b="1" dirty="0">
                <a:latin typeface="Arial" panose="020B0604020202020204" pitchFamily="34" charset="0"/>
                <a:ea typeface="ＭＳ Ｐゴシック" pitchFamily="34" charset="-128"/>
                <a:cs typeface="Arial" panose="020B0604020202020204" pitchFamily="34" charset="0"/>
              </a:rPr>
              <a:t>Process consultation</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 </a:t>
            </a:r>
            <a:r>
              <a:rPr lang="en-US" altLang="en-US" sz="2400" b="1" dirty="0">
                <a:latin typeface="Arial" panose="020B0604020202020204" pitchFamily="34" charset="0"/>
                <a:ea typeface="ＭＳ Ｐゴシック" pitchFamily="34" charset="-128"/>
                <a:cs typeface="Arial" panose="020B0604020202020204" pitchFamily="34" charset="0"/>
              </a:rPr>
              <a:t>Team-building</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 </a:t>
            </a:r>
            <a:r>
              <a:rPr lang="en-US" altLang="en-US" sz="2400" b="1" dirty="0">
                <a:latin typeface="Arial" panose="020B0604020202020204" pitchFamily="34" charset="0"/>
                <a:ea typeface="ＭＳ Ｐゴシック" pitchFamily="34" charset="-128"/>
                <a:cs typeface="Arial" panose="020B0604020202020204" pitchFamily="34" charset="0"/>
              </a:rPr>
              <a:t>Intergroup development</a:t>
            </a:r>
          </a:p>
        </p:txBody>
      </p:sp>
    </p:spTree>
    <p:extLst>
      <p:ext uri="{BB962C8B-B14F-4D97-AF65-F5344CB8AC3E}">
        <p14:creationId xmlns:p14="http://schemas.microsoft.com/office/powerpoint/2010/main" val="3060132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Learning Objective 6.2</a:t>
            </a:r>
            <a:endParaRPr lang="en-US" sz="3600" dirty="0">
              <a:latin typeface="+mj-lt"/>
            </a:endParaRP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256032" indent="-256032">
              <a:buSzPct val="100000"/>
            </a:pPr>
            <a:r>
              <a:rPr lang="en-US" altLang="en-US" sz="2400" dirty="0">
                <a:latin typeface="Arial" panose="020B0604020202020204" pitchFamily="34" charset="0"/>
                <a:cs typeface="Arial" panose="020B0604020202020204" pitchFamily="34" charset="0"/>
              </a:rPr>
              <a:t>Explain how to manage resistance to change.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6347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Resistance to Change</a:t>
            </a:r>
            <a:endParaRPr lang="en-US" dirty="0">
              <a:latin typeface="+mj-lt"/>
            </a:endParaRPr>
          </a:p>
        </p:txBody>
      </p:sp>
      <p:sp>
        <p:nvSpPr>
          <p:cNvPr id="3" name="Content Placeholder 2"/>
          <p:cNvSpPr>
            <a:spLocks noGrp="1"/>
          </p:cNvSpPr>
          <p:nvPr>
            <p:ph idx="1"/>
          </p:nvPr>
        </p:nvSpPr>
        <p:spPr>
          <a:xfrm>
            <a:off x="468000" y="1274400"/>
            <a:ext cx="8280712" cy="2090760"/>
          </a:xfrm>
        </p:spPr>
        <p:txBody>
          <a:bodyPr wrap="square" tIns="18000" bIns="18000">
            <a:spAutoFit/>
          </a:bodyPr>
          <a:lstStyle/>
          <a:p>
            <a:pPr marL="256032" indent="-256032">
              <a:buClr>
                <a:schemeClr val="bg2"/>
              </a:buClr>
              <a:buSzPct val="100000"/>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Uncertainty</a:t>
            </a:r>
          </a:p>
          <a:p>
            <a:pPr marL="256032" indent="-256032">
              <a:buClr>
                <a:schemeClr val="bg2"/>
              </a:buClr>
              <a:buSzPct val="100000"/>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Habit</a:t>
            </a:r>
          </a:p>
          <a:p>
            <a:pPr marL="256032" indent="-256032">
              <a:buClr>
                <a:schemeClr val="bg2"/>
              </a:buClr>
              <a:buSzPct val="100000"/>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Concern over personal loss</a:t>
            </a:r>
          </a:p>
          <a:p>
            <a:pPr marL="256032" indent="-256032">
              <a:buClr>
                <a:schemeClr val="bg2"/>
              </a:buClr>
              <a:buSzPct val="100000"/>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Belief change is not in organization’s best interests</a:t>
            </a:r>
            <a:endParaRPr lang="en-US" sz="2400" dirty="0">
              <a:latin typeface="Arial" panose="020B0604020202020204" pitchFamily="34" charset="0"/>
              <a:cs typeface="Arial" panose="020B0604020202020204" pitchFamily="34" charset="0"/>
            </a:endParaRPr>
          </a:p>
        </p:txBody>
      </p:sp>
      <p:sp>
        <p:nvSpPr>
          <p:cNvPr id="4" name="Content Placeholder 3"/>
          <p:cNvSpPr>
            <a:spLocks noGrp="1"/>
          </p:cNvSpPr>
          <p:nvPr>
            <p:ph idx="13"/>
          </p:nvPr>
        </p:nvSpPr>
        <p:spPr>
          <a:xfrm>
            <a:off x="467999" y="3645024"/>
            <a:ext cx="8280713" cy="905820"/>
          </a:xfrm>
        </p:spPr>
        <p:txBody>
          <a:bodyPr wrap="square" tIns="18000" bIns="18000">
            <a:spAutoFit/>
          </a:bodyPr>
          <a:lstStyle/>
          <a:p>
            <a:pPr marL="0" indent="0">
              <a:buNone/>
            </a:pPr>
            <a:r>
              <a:rPr lang="en-US" sz="2200" dirty="0">
                <a:solidFill>
                  <a:srgbClr val="007FA3"/>
                </a:solidFill>
                <a:latin typeface="Arial" panose="020B0604020202020204" pitchFamily="34" charset="0"/>
                <a:cs typeface="Arial" panose="020B0604020202020204" pitchFamily="34" charset="0"/>
              </a:rPr>
              <a:t>People resist change even if </a:t>
            </a:r>
            <a:r>
              <a:rPr lang="en-US" sz="2200" b="1" dirty="0">
                <a:solidFill>
                  <a:srgbClr val="007FA3"/>
                </a:solidFill>
                <a:latin typeface="Arial" panose="020B0604020202020204" pitchFamily="34" charset="0"/>
                <a:cs typeface="Arial" panose="020B0604020202020204" pitchFamily="34" charset="0"/>
              </a:rPr>
              <a:t>it might be beneficial! </a:t>
            </a:r>
            <a:r>
              <a:rPr lang="en-US" sz="2200" dirty="0">
                <a:solidFill>
                  <a:srgbClr val="007FA3"/>
                </a:solidFill>
                <a:latin typeface="Arial" panose="020B0604020202020204" pitchFamily="34" charset="0"/>
                <a:cs typeface="Arial" panose="020B0604020202020204" pitchFamily="34" charset="0"/>
              </a:rPr>
              <a:t>How</a:t>
            </a:r>
          </a:p>
          <a:p>
            <a:pPr marL="0" indent="0">
              <a:buNone/>
            </a:pPr>
            <a:r>
              <a:rPr lang="en-US" sz="2200" dirty="0">
                <a:solidFill>
                  <a:srgbClr val="007FA3"/>
                </a:solidFill>
                <a:latin typeface="Arial" panose="020B0604020202020204" pitchFamily="34" charset="0"/>
                <a:cs typeface="Arial" panose="020B0604020202020204" pitchFamily="34" charset="0"/>
              </a:rPr>
              <a:t>about YOU? How do you </a:t>
            </a:r>
            <a:r>
              <a:rPr lang="en-US" sz="2200" b="1" dirty="0">
                <a:solidFill>
                  <a:srgbClr val="007FA3"/>
                </a:solidFill>
                <a:latin typeface="Arial" panose="020B0604020202020204" pitchFamily="34" charset="0"/>
                <a:cs typeface="Arial" panose="020B0604020202020204" pitchFamily="34" charset="0"/>
              </a:rPr>
              <a:t>respond to change</a:t>
            </a:r>
            <a:r>
              <a:rPr lang="en-US" sz="2200" dirty="0">
                <a:solidFill>
                  <a:srgbClr val="007FA3"/>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88199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Reducing Resistance to Change</a:t>
            </a:r>
            <a:endParaRPr lang="en-US" dirty="0">
              <a:latin typeface="+mj-lt"/>
            </a:endParaRPr>
          </a:p>
        </p:txBody>
      </p:sp>
      <p:sp>
        <p:nvSpPr>
          <p:cNvPr id="3" name="Content Placeholder 2"/>
          <p:cNvSpPr>
            <a:spLocks noGrp="1"/>
          </p:cNvSpPr>
          <p:nvPr>
            <p:ph idx="1"/>
          </p:nvPr>
        </p:nvSpPr>
        <p:spPr>
          <a:xfrm rot="10800000" flipV="1">
            <a:off x="467999" y="1274401"/>
            <a:ext cx="8280713" cy="282392"/>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6.4 </a:t>
            </a:r>
            <a:r>
              <a:rPr lang="en-US" dirty="0">
                <a:latin typeface="Arial" panose="020B0604020202020204" pitchFamily="34" charset="0"/>
                <a:cs typeface="Arial" panose="020B0604020202020204" pitchFamily="34" charset="0"/>
              </a:rPr>
              <a:t>Techniques for Reducing Resistance to Change</a:t>
            </a:r>
          </a:p>
        </p:txBody>
      </p:sp>
      <p:graphicFrame>
        <p:nvGraphicFramePr>
          <p:cNvPr id="6" name="Table 1"/>
          <p:cNvGraphicFramePr>
            <a:graphicFrameLocks/>
          </p:cNvGraphicFramePr>
          <p:nvPr>
            <p:extLst>
              <p:ext uri="{D42A27DB-BD31-4B8C-83A1-F6EECF244321}">
                <p14:modId xmlns:p14="http://schemas.microsoft.com/office/powerpoint/2010/main" val="3855987754"/>
              </p:ext>
            </p:extLst>
          </p:nvPr>
        </p:nvGraphicFramePr>
        <p:xfrm>
          <a:off x="539552" y="1844824"/>
          <a:ext cx="8086040" cy="3662984"/>
        </p:xfrm>
        <a:graphic>
          <a:graphicData uri="http://schemas.openxmlformats.org/drawingml/2006/table">
            <a:tbl>
              <a:tblPr firstRow="1">
                <a:tableStyleId>{0E3FDE45-AF77-4B5C-9715-49D594BDF05E}</a:tableStyleId>
              </a:tblPr>
              <a:tblGrid>
                <a:gridCol w="1418603">
                  <a:extLst>
                    <a:ext uri="{9D8B030D-6E8A-4147-A177-3AD203B41FA5}">
                      <a16:colId xmlns:a16="http://schemas.microsoft.com/office/drawing/2014/main" val="20000"/>
                    </a:ext>
                  </a:extLst>
                </a:gridCol>
                <a:gridCol w="2340696">
                  <a:extLst>
                    <a:ext uri="{9D8B030D-6E8A-4147-A177-3AD203B41FA5}">
                      <a16:colId xmlns:a16="http://schemas.microsoft.com/office/drawing/2014/main" val="20001"/>
                    </a:ext>
                  </a:extLst>
                </a:gridCol>
                <a:gridCol w="2056975">
                  <a:extLst>
                    <a:ext uri="{9D8B030D-6E8A-4147-A177-3AD203B41FA5}">
                      <a16:colId xmlns:a16="http://schemas.microsoft.com/office/drawing/2014/main" val="20002"/>
                    </a:ext>
                  </a:extLst>
                </a:gridCol>
                <a:gridCol w="2269766">
                  <a:extLst>
                    <a:ext uri="{9D8B030D-6E8A-4147-A177-3AD203B41FA5}">
                      <a16:colId xmlns:a16="http://schemas.microsoft.com/office/drawing/2014/main" val="20003"/>
                    </a:ext>
                  </a:extLst>
                </a:gridCol>
              </a:tblGrid>
              <a:tr h="550663">
                <a:tc>
                  <a:txBody>
                    <a:bodyPr/>
                    <a:lstStyle/>
                    <a:p>
                      <a:pPr algn="ctr"/>
                      <a:r>
                        <a:rPr lang="en-US" sz="1200" b="1" i="0" u="none" strike="noStrike" kern="1200" baseline="0" dirty="0">
                          <a:solidFill>
                            <a:schemeClr val="bg1"/>
                          </a:solidFill>
                          <a:latin typeface="Arial" panose="020B0604020202020204" pitchFamily="34" charset="0"/>
                          <a:ea typeface="+mn-ea"/>
                          <a:cs typeface="Arial" panose="020B0604020202020204" pitchFamily="34" charset="0"/>
                        </a:rPr>
                        <a:t>TECHNIQUE</a:t>
                      </a:r>
                      <a:endParaRPr lang="en-US" sz="1200" dirty="0">
                        <a:solidFill>
                          <a:schemeClr val="bg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b="1" i="0" u="none" strike="noStrike" kern="1200" baseline="0" dirty="0">
                          <a:solidFill>
                            <a:schemeClr val="bg1"/>
                          </a:solidFill>
                          <a:latin typeface="Arial" panose="020B0604020202020204" pitchFamily="34" charset="0"/>
                          <a:ea typeface="+mn-ea"/>
                          <a:cs typeface="Arial" panose="020B0604020202020204" pitchFamily="34" charset="0"/>
                        </a:rPr>
                        <a:t>WHEN USED</a:t>
                      </a:r>
                      <a:endParaRPr lang="en-US" sz="1200" dirty="0">
                        <a:solidFill>
                          <a:schemeClr val="bg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b="1" i="0" u="none" strike="noStrike" kern="1200" baseline="0" dirty="0">
                          <a:solidFill>
                            <a:schemeClr val="bg1"/>
                          </a:solidFill>
                          <a:latin typeface="Arial" panose="020B0604020202020204" pitchFamily="34" charset="0"/>
                          <a:ea typeface="+mn-ea"/>
                          <a:cs typeface="Arial" panose="020B0604020202020204" pitchFamily="34" charset="0"/>
                        </a:rPr>
                        <a:t>ADVANTAGE</a:t>
                      </a:r>
                      <a:endParaRPr lang="en-US" sz="1200" dirty="0">
                        <a:solidFill>
                          <a:schemeClr val="bg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b="1" i="0" u="none" strike="noStrike" kern="1200" baseline="0" dirty="0">
                          <a:solidFill>
                            <a:schemeClr val="bg1"/>
                          </a:solidFill>
                          <a:latin typeface="Arial" panose="020B0604020202020204" pitchFamily="34" charset="0"/>
                          <a:ea typeface="+mn-ea"/>
                          <a:cs typeface="Arial" panose="020B0604020202020204" pitchFamily="34" charset="0"/>
                        </a:rPr>
                        <a:t>DISADVANTAGE</a:t>
                      </a:r>
                      <a:endParaRPr lang="en-US" sz="1200" dirty="0">
                        <a:solidFill>
                          <a:schemeClr val="bg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460561">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Education and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communication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When resistance is due to misinformation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Clear up misunderstandings</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May not work when mutual trust and credibility are lacking</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308142358"/>
                  </a:ext>
                </a:extLst>
              </a:tr>
              <a:tr h="331527">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Participation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When resisters have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expertise to make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 contribution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Increase involvement and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acceptance</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Time-consuming; has potential for a poor solution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63855909"/>
                  </a:ext>
                </a:extLst>
              </a:tr>
              <a:tr h="331527">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Facilitation and support</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When resisters are fearful and anxiety-ridden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Can facilitate needed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adjustments</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Expensive; no guarantee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of success</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31527">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Negotiation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When resistance comes from a powerful group</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Can “buy” commitment</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Potentially high cost; opens doors for others to apply pressure too</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31527">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Manipulation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and co-optation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When a powerful group’s</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endorsement is needed</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Inexpensive, easy way to gain support</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Can backfire, causing change agent to lose credibility</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31527">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Coercion</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When a powerful group’s endorsement is needed</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Inexpensive, easy way to gain support</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May be illegal; may undermine change agent’s credibility</a:t>
                      </a:r>
                      <a:endParaRPr lang="en-US"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90886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Learning Objective 6.3</a:t>
            </a:r>
            <a:endParaRPr lang="en-US" sz="3600" dirty="0">
              <a:solidFill>
                <a:schemeClr val="bg2"/>
              </a:solidFill>
              <a:latin typeface="+mj-lt"/>
            </a:endParaRPr>
          </a:p>
        </p:txBody>
      </p:sp>
      <p:sp>
        <p:nvSpPr>
          <p:cNvPr id="3" name="Content Placeholder 2"/>
          <p:cNvSpPr>
            <a:spLocks noGrp="1"/>
          </p:cNvSpPr>
          <p:nvPr>
            <p:ph idx="1"/>
          </p:nvPr>
        </p:nvSpPr>
        <p:spPr>
          <a:xfrm>
            <a:off x="467999" y="1274400"/>
            <a:ext cx="8280713" cy="775015"/>
          </a:xfrm>
        </p:spPr>
        <p:txBody>
          <a:bodyPr wrap="square" tIns="18000" bIns="18000">
            <a:spAutoFit/>
          </a:bodyPr>
          <a:lstStyle/>
          <a:p>
            <a:pPr marL="256032" indent="-256032">
              <a:buSzPct val="100000"/>
            </a:pPr>
            <a:r>
              <a:rPr lang="en-US" altLang="en-US" sz="2400" dirty="0">
                <a:latin typeface="Arial" panose="020B0604020202020204" pitchFamily="34" charset="0"/>
                <a:cs typeface="Arial" panose="020B0604020202020204" pitchFamily="34" charset="0"/>
              </a:rPr>
              <a:t>Describe what managers need to know about employee stress.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9745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Employee Reactions to Change</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74400"/>
            <a:ext cx="8280401" cy="405683"/>
          </a:xfrm>
        </p:spPr>
        <p:txBody>
          <a:bodyPr wrap="square" tIns="18000" bIns="18000">
            <a:spAutoFit/>
          </a:bodyPr>
          <a:lstStyle/>
          <a:p>
            <a:pPr marL="0" indent="0">
              <a:buNone/>
              <a:defRPr/>
            </a:pPr>
            <a:r>
              <a:rPr lang="en-US" sz="2400" b="1" dirty="0">
                <a:latin typeface="Arial" panose="020B0604020202020204" pitchFamily="34" charset="0"/>
                <a:cs typeface="Arial" panose="020B0604020202020204" pitchFamily="34" charset="0"/>
              </a:rPr>
              <a:t>Change </a:t>
            </a:r>
            <a:r>
              <a:rPr lang="en-US" sz="2400" dirty="0">
                <a:latin typeface="Arial" panose="020B0604020202020204" pitchFamily="34" charset="0"/>
                <a:cs typeface="Arial" panose="020B0604020202020204" pitchFamily="34" charset="0"/>
              </a:rPr>
              <a:t>often </a:t>
            </a:r>
            <a:r>
              <a:rPr lang="en-US" sz="2400" b="1" dirty="0">
                <a:latin typeface="Arial" panose="020B0604020202020204" pitchFamily="34" charset="0"/>
                <a:cs typeface="Arial" panose="020B0604020202020204" pitchFamily="34" charset="0"/>
              </a:rPr>
              <a:t>creates stress </a:t>
            </a:r>
            <a:r>
              <a:rPr lang="en-US" sz="2400" dirty="0">
                <a:latin typeface="Arial" panose="020B0604020202020204" pitchFamily="34" charset="0"/>
                <a:cs typeface="Arial" panose="020B0604020202020204" pitchFamily="34" charset="0"/>
              </a:rPr>
              <a:t>for employees!</a:t>
            </a:r>
          </a:p>
        </p:txBody>
      </p:sp>
      <p:pic>
        <p:nvPicPr>
          <p:cNvPr id="7" name="Picture Placeholder 6" descr="A photo shows a man in suit sitting behind a table, bowing down his head, and grabbing his hair.">
            <a:extLst>
              <a:ext uri="{FF2B5EF4-FFF2-40B4-BE49-F238E27FC236}">
                <a16:creationId xmlns:a16="http://schemas.microsoft.com/office/drawing/2014/main" id="{BE8ACDEC-AA96-4B66-B52A-FFE551E42A9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130136" y="1880960"/>
            <a:ext cx="4962144" cy="4212336"/>
          </a:xfrm>
          <a:prstGeom prst="rect">
            <a:avLst/>
          </a:prstGeom>
        </p:spPr>
      </p:pic>
    </p:spTree>
    <p:extLst>
      <p:ext uri="{BB962C8B-B14F-4D97-AF65-F5344CB8AC3E}">
        <p14:creationId xmlns:p14="http://schemas.microsoft.com/office/powerpoint/2010/main" val="2615719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Change Often Creates Stress for Employees</a:t>
            </a:r>
            <a:endParaRPr lang="en-US" sz="3600" dirty="0">
              <a:latin typeface="+mj-lt"/>
            </a:endParaRPr>
          </a:p>
        </p:txBody>
      </p:sp>
      <p:sp>
        <p:nvSpPr>
          <p:cNvPr id="7" name="Content Placeholder 6">
            <a:extLst>
              <a:ext uri="{FF2B5EF4-FFF2-40B4-BE49-F238E27FC236}">
                <a16:creationId xmlns:a16="http://schemas.microsoft.com/office/drawing/2014/main" id="{F32D51EB-B430-46FD-B5B7-F45F65DDE39F}"/>
              </a:ext>
            </a:extLst>
          </p:cNvPr>
          <p:cNvSpPr>
            <a:spLocks noGrp="1"/>
          </p:cNvSpPr>
          <p:nvPr>
            <p:ph sz="quarter" idx="13"/>
          </p:nvPr>
        </p:nvSpPr>
        <p:spPr>
          <a:xfrm>
            <a:off x="468001" y="1602000"/>
            <a:ext cx="5328135" cy="405683"/>
          </a:xfrm>
        </p:spPr>
        <p:txBody>
          <a:bodyPr wrap="square" tIns="18000" bIns="18000">
            <a:spAutoFit/>
          </a:bodyPr>
          <a:lstStyle/>
          <a:p>
            <a:pPr marL="0" indent="0">
              <a:buNone/>
            </a:pPr>
            <a:r>
              <a:rPr lang="en-US" sz="2400" b="1">
                <a:latin typeface="Arial" panose="020B0604020202020204" pitchFamily="34" charset="0"/>
                <a:cs typeface="Arial" panose="020B0604020202020204" pitchFamily="34" charset="0"/>
              </a:rPr>
              <a:t>Employee Stress Levels in Six Major</a:t>
            </a:r>
            <a:endParaRPr lang="en-US" sz="2400">
              <a:latin typeface="Arial" panose="020B0604020202020204" pitchFamily="34" charset="0"/>
              <a:cs typeface="Arial" panose="020B0604020202020204" pitchFamily="34" charset="0"/>
            </a:endParaRPr>
          </a:p>
        </p:txBody>
      </p:sp>
      <p:graphicFrame>
        <p:nvGraphicFramePr>
          <p:cNvPr id="28" name="Object 27" descr="Economies super 24.">
            <a:extLst>
              <a:ext uri="{FF2B5EF4-FFF2-40B4-BE49-F238E27FC236}">
                <a16:creationId xmlns:a16="http://schemas.microsoft.com/office/drawing/2014/main" id="{40C3BF2F-9512-49D7-9C10-6BEC00ABBE03}"/>
              </a:ext>
            </a:extLst>
          </p:cNvPr>
          <p:cNvGraphicFramePr>
            <a:graphicFrameLocks noChangeAspect="1"/>
          </p:cNvGraphicFramePr>
          <p:nvPr>
            <p:extLst>
              <p:ext uri="{D42A27DB-BD31-4B8C-83A1-F6EECF244321}">
                <p14:modId xmlns:p14="http://schemas.microsoft.com/office/powerpoint/2010/main" val="973624481"/>
              </p:ext>
            </p:extLst>
          </p:nvPr>
        </p:nvGraphicFramePr>
        <p:xfrm>
          <a:off x="5868144" y="1611274"/>
          <a:ext cx="1622654" cy="377566"/>
        </p:xfrm>
        <a:graphic>
          <a:graphicData uri="http://schemas.openxmlformats.org/presentationml/2006/ole">
            <mc:AlternateContent xmlns:mc="http://schemas.openxmlformats.org/markup-compatibility/2006">
              <mc:Choice xmlns:v="urn:schemas-microsoft-com:vml" Requires="v">
                <p:oleObj name="Equation" r:id="rId3" imgW="952200" imgH="203040" progId="Equation.DSMT4">
                  <p:embed/>
                </p:oleObj>
              </mc:Choice>
              <mc:Fallback>
                <p:oleObj name="Equation" r:id="rId3" imgW="952200" imgH="203040" progId="Equation.DSMT4">
                  <p:embed/>
                  <p:pic>
                    <p:nvPicPr>
                      <p:cNvPr id="15" name="Object 14" descr="An arrow pointing toward right side.">
                        <a:extLst>
                          <a:ext uri="{FF2B5EF4-FFF2-40B4-BE49-F238E27FC236}">
                            <a16:creationId xmlns:a16="http://schemas.microsoft.com/office/drawing/2014/main" id="{ADA13E50-1522-4A5E-9DDA-4212BF62A79E}"/>
                          </a:ext>
                        </a:extLst>
                      </p:cNvPr>
                      <p:cNvPicPr/>
                      <p:nvPr/>
                    </p:nvPicPr>
                    <p:blipFill>
                      <a:blip r:embed="rId4"/>
                      <a:stretch>
                        <a:fillRect/>
                      </a:stretch>
                    </p:blipFill>
                    <p:spPr>
                      <a:xfrm>
                        <a:off x="5868144" y="1611274"/>
                        <a:ext cx="1622654" cy="377566"/>
                      </a:xfrm>
                      <a:prstGeom prst="rect">
                        <a:avLst/>
                      </a:prstGeom>
                    </p:spPr>
                  </p:pic>
                </p:oleObj>
              </mc:Fallback>
            </mc:AlternateContent>
          </a:graphicData>
        </a:graphic>
      </p:graphicFrame>
      <p:graphicFrame>
        <p:nvGraphicFramePr>
          <p:cNvPr id="22" name="Table 21">
            <a:extLst>
              <a:ext uri="{FF2B5EF4-FFF2-40B4-BE49-F238E27FC236}">
                <a16:creationId xmlns:a16="http://schemas.microsoft.com/office/drawing/2014/main" id="{CD251DE1-3715-42E8-83BA-B758C117E4D2}"/>
              </a:ext>
            </a:extLst>
          </p:cNvPr>
          <p:cNvGraphicFramePr>
            <a:graphicFrameLocks noGrp="1"/>
          </p:cNvGraphicFramePr>
          <p:nvPr>
            <p:extLst>
              <p:ext uri="{D42A27DB-BD31-4B8C-83A1-F6EECF244321}">
                <p14:modId xmlns:p14="http://schemas.microsoft.com/office/powerpoint/2010/main" val="2802513284"/>
              </p:ext>
            </p:extLst>
          </p:nvPr>
        </p:nvGraphicFramePr>
        <p:xfrm>
          <a:off x="1022920" y="2281176"/>
          <a:ext cx="6933456" cy="3966361"/>
        </p:xfrm>
        <a:graphic>
          <a:graphicData uri="http://schemas.openxmlformats.org/drawingml/2006/table">
            <a:tbl>
              <a:tblPr firstRow="1">
                <a:tableStyleId>{3B4B98B0-60AC-42C2-AFA5-B58CD77FA1E5}</a:tableStyleId>
              </a:tblPr>
              <a:tblGrid>
                <a:gridCol w="1460848">
                  <a:extLst>
                    <a:ext uri="{9D8B030D-6E8A-4147-A177-3AD203B41FA5}">
                      <a16:colId xmlns:a16="http://schemas.microsoft.com/office/drawing/2014/main" val="2267666023"/>
                    </a:ext>
                  </a:extLst>
                </a:gridCol>
                <a:gridCol w="2880320">
                  <a:extLst>
                    <a:ext uri="{9D8B030D-6E8A-4147-A177-3AD203B41FA5}">
                      <a16:colId xmlns:a16="http://schemas.microsoft.com/office/drawing/2014/main" val="3980926026"/>
                    </a:ext>
                  </a:extLst>
                </a:gridCol>
                <a:gridCol w="2592288">
                  <a:extLst>
                    <a:ext uri="{9D8B030D-6E8A-4147-A177-3AD203B41FA5}">
                      <a16:colId xmlns:a16="http://schemas.microsoft.com/office/drawing/2014/main" val="3310791533"/>
                    </a:ext>
                  </a:extLst>
                </a:gridCol>
              </a:tblGrid>
              <a:tr h="514224">
                <a:tc>
                  <a:txBody>
                    <a:bodyPr/>
                    <a:lstStyle/>
                    <a:p>
                      <a:pPr algn="l">
                        <a:lnSpc>
                          <a:spcPct val="107000"/>
                        </a:lnSpc>
                        <a:spcAft>
                          <a:spcPts val="800"/>
                        </a:spcAft>
                      </a:pPr>
                      <a:r>
                        <a:rPr lang="en-US" sz="1600" noProof="0" dirty="0">
                          <a:solidFill>
                            <a:schemeClr val="bg1"/>
                          </a:solidFill>
                          <a:effectLst/>
                          <a:latin typeface="Arial" panose="020B0604020202020204" pitchFamily="34" charset="0"/>
                          <a:cs typeface="Arial" panose="020B0604020202020204" pitchFamily="34" charset="0"/>
                        </a:rPr>
                        <a:t>Country’s Flag</a:t>
                      </a:r>
                      <a:endParaRPr lang="en-US" sz="1600" noProof="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l">
                        <a:lnSpc>
                          <a:spcPct val="107000"/>
                        </a:lnSpc>
                        <a:spcAft>
                          <a:spcPts val="800"/>
                        </a:spcAft>
                      </a:pPr>
                      <a:r>
                        <a:rPr lang="en-US" sz="1600" noProof="0" dirty="0">
                          <a:solidFill>
                            <a:schemeClr val="bg1"/>
                          </a:solidFill>
                          <a:effectLst/>
                          <a:latin typeface="Arial" panose="020B0604020202020204" pitchFamily="34" charset="0"/>
                          <a:cs typeface="Arial" panose="020B0604020202020204" pitchFamily="34" charset="0"/>
                        </a:rPr>
                        <a:t>Country</a:t>
                      </a:r>
                      <a:endParaRPr lang="en-US" sz="1600" noProof="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l">
                        <a:lnSpc>
                          <a:spcPct val="107000"/>
                        </a:lnSpc>
                        <a:spcAft>
                          <a:spcPts val="800"/>
                        </a:spcAft>
                      </a:pPr>
                      <a:r>
                        <a:rPr lang="en-US" sz="1600" noProof="0" dirty="0">
                          <a:solidFill>
                            <a:schemeClr val="bg1"/>
                          </a:solidFill>
                          <a:effectLst/>
                          <a:latin typeface="Arial" panose="020B0604020202020204" pitchFamily="34" charset="0"/>
                          <a:cs typeface="Arial" panose="020B0604020202020204" pitchFamily="34" charset="0"/>
                        </a:rPr>
                        <a:t>% of Employees</a:t>
                      </a:r>
                      <a:endParaRPr lang="en-US" sz="1600" noProof="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2967571750"/>
                  </a:ext>
                </a:extLst>
              </a:tr>
              <a:tr h="514224">
                <a:tc>
                  <a:txBody>
                    <a:bodyPr/>
                    <a:lstStyle/>
                    <a:p>
                      <a:pPr algn="ctr">
                        <a:lnSpc>
                          <a:spcPct val="107000"/>
                        </a:lnSpc>
                        <a:spcAft>
                          <a:spcPts val="800"/>
                        </a:spcAft>
                      </a:pPr>
                      <a:r>
                        <a:rPr lang="en-US" sz="100" noProof="0" dirty="0">
                          <a:effectLst/>
                          <a:latin typeface="Arial" panose="020B0604020202020204" pitchFamily="34" charset="0"/>
                          <a:cs typeface="Arial" panose="020B0604020202020204" pitchFamily="34" charset="0"/>
                        </a:rPr>
                        <a:t>The flag of the United Kingdom</a:t>
                      </a:r>
                      <a:endParaRPr lang="en-US" sz="1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noProof="0" dirty="0">
                          <a:effectLst/>
                          <a:latin typeface="Arial" panose="020B0604020202020204" pitchFamily="34" charset="0"/>
                          <a:cs typeface="Arial" panose="020B0604020202020204" pitchFamily="34" charset="0"/>
                        </a:rPr>
                        <a:t>United Kingdom</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b="1" noProof="0" dirty="0">
                          <a:effectLst/>
                          <a:latin typeface="Arial" panose="020B0604020202020204" pitchFamily="34" charset="0"/>
                          <a:cs typeface="Arial" panose="020B0604020202020204" pitchFamily="34" charset="0"/>
                        </a:rPr>
                        <a:t>35%</a:t>
                      </a:r>
                      <a:r>
                        <a:rPr lang="en-US" sz="1600" noProof="0" dirty="0">
                          <a:effectLst/>
                          <a:latin typeface="Arial" panose="020B0604020202020204" pitchFamily="34" charset="0"/>
                          <a:cs typeface="Arial" panose="020B0604020202020204" pitchFamily="34" charset="0"/>
                        </a:rPr>
                        <a:t> of employees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524715315"/>
                  </a:ext>
                </a:extLst>
              </a:tr>
              <a:tr h="456808">
                <a:tc>
                  <a:txBody>
                    <a:bodyPr/>
                    <a:lstStyle/>
                    <a:p>
                      <a:pPr algn="ctr">
                        <a:lnSpc>
                          <a:spcPct val="107000"/>
                        </a:lnSpc>
                        <a:spcAft>
                          <a:spcPts val="800"/>
                        </a:spcAft>
                      </a:pPr>
                      <a:r>
                        <a:rPr lang="en-US" sz="100" noProof="0" dirty="0">
                          <a:effectLst/>
                          <a:latin typeface="Arial" panose="020B0604020202020204" pitchFamily="34" charset="0"/>
                          <a:cs typeface="Arial" panose="020B0604020202020204" pitchFamily="34" charset="0"/>
                        </a:rPr>
                        <a:t>The flag of Brazil</a:t>
                      </a:r>
                      <a:endParaRPr lang="en-US" sz="1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noProof="0" dirty="0">
                          <a:effectLst/>
                          <a:latin typeface="Arial" panose="020B0604020202020204" pitchFamily="34" charset="0"/>
                          <a:cs typeface="Arial" panose="020B0604020202020204" pitchFamily="34" charset="0"/>
                        </a:rPr>
                        <a:t>Brazil</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b="1" noProof="0" dirty="0">
                          <a:effectLst/>
                          <a:latin typeface="Arial" panose="020B0604020202020204" pitchFamily="34" charset="0"/>
                          <a:cs typeface="Arial" panose="020B0604020202020204" pitchFamily="34" charset="0"/>
                        </a:rPr>
                        <a:t>34%</a:t>
                      </a:r>
                      <a:r>
                        <a:rPr lang="en-US" sz="1600" noProof="0" dirty="0">
                          <a:effectLst/>
                          <a:latin typeface="Arial" panose="020B0604020202020204" pitchFamily="34" charset="0"/>
                          <a:cs typeface="Arial" panose="020B0604020202020204" pitchFamily="34" charset="0"/>
                        </a:rPr>
                        <a:t> of employees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54227494"/>
                  </a:ext>
                </a:extLst>
              </a:tr>
              <a:tr h="456808">
                <a:tc>
                  <a:txBody>
                    <a:bodyPr/>
                    <a:lstStyle/>
                    <a:p>
                      <a:pPr algn="ctr">
                        <a:lnSpc>
                          <a:spcPct val="107000"/>
                        </a:lnSpc>
                        <a:spcAft>
                          <a:spcPts val="800"/>
                        </a:spcAft>
                      </a:pPr>
                      <a:r>
                        <a:rPr lang="en-US" sz="100" noProof="0" dirty="0">
                          <a:effectLst/>
                          <a:latin typeface="Arial" panose="020B0604020202020204" pitchFamily="34" charset="0"/>
                          <a:cs typeface="Arial" panose="020B0604020202020204" pitchFamily="34" charset="0"/>
                        </a:rPr>
                        <a:t>The flag of Germany</a:t>
                      </a:r>
                      <a:endParaRPr lang="en-US" sz="1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noProof="0" dirty="0">
                          <a:effectLst/>
                          <a:latin typeface="Arial" panose="020B0604020202020204" pitchFamily="34" charset="0"/>
                          <a:cs typeface="Arial" panose="020B0604020202020204" pitchFamily="34" charset="0"/>
                        </a:rPr>
                        <a:t>Germany</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b="1" noProof="0" dirty="0">
                          <a:effectLst/>
                          <a:latin typeface="Arial" panose="020B0604020202020204" pitchFamily="34" charset="0"/>
                          <a:cs typeface="Arial" panose="020B0604020202020204" pitchFamily="34" charset="0"/>
                        </a:rPr>
                        <a:t>33%</a:t>
                      </a:r>
                      <a:r>
                        <a:rPr lang="en-US" sz="1600" noProof="0" dirty="0">
                          <a:effectLst/>
                          <a:latin typeface="Arial" panose="020B0604020202020204" pitchFamily="34" charset="0"/>
                          <a:cs typeface="Arial" panose="020B0604020202020204" pitchFamily="34" charset="0"/>
                        </a:rPr>
                        <a:t> of employees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172094634"/>
                  </a:ext>
                </a:extLst>
              </a:tr>
              <a:tr h="514224">
                <a:tc>
                  <a:txBody>
                    <a:bodyPr/>
                    <a:lstStyle/>
                    <a:p>
                      <a:pPr algn="ctr">
                        <a:lnSpc>
                          <a:spcPct val="107000"/>
                        </a:lnSpc>
                        <a:spcAft>
                          <a:spcPts val="800"/>
                        </a:spcAft>
                      </a:pPr>
                      <a:r>
                        <a:rPr lang="en-US" sz="100" noProof="0" dirty="0">
                          <a:effectLst/>
                          <a:latin typeface="Arial" panose="020B0604020202020204" pitchFamily="34" charset="0"/>
                          <a:cs typeface="Arial" panose="020B0604020202020204" pitchFamily="34" charset="0"/>
                        </a:rPr>
                        <a:t>The flag of the United States</a:t>
                      </a:r>
                      <a:endParaRPr lang="en-US" sz="1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noProof="0" dirty="0">
                          <a:effectLst/>
                          <a:latin typeface="Arial" panose="020B0604020202020204" pitchFamily="34" charset="0"/>
                          <a:cs typeface="Arial" panose="020B0604020202020204" pitchFamily="34" charset="0"/>
                        </a:rPr>
                        <a:t>United States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b="1" noProof="0" dirty="0">
                          <a:effectLst/>
                          <a:latin typeface="Arial" panose="020B0604020202020204" pitchFamily="34" charset="0"/>
                          <a:cs typeface="Arial" panose="020B0604020202020204" pitchFamily="34" charset="0"/>
                        </a:rPr>
                        <a:t>32%</a:t>
                      </a:r>
                      <a:r>
                        <a:rPr lang="en-US" sz="1600" noProof="0" dirty="0">
                          <a:effectLst/>
                          <a:latin typeface="Arial" panose="020B0604020202020204" pitchFamily="34" charset="0"/>
                          <a:cs typeface="Arial" panose="020B0604020202020204" pitchFamily="34" charset="0"/>
                        </a:rPr>
                        <a:t> of employees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815637704"/>
                  </a:ext>
                </a:extLst>
              </a:tr>
              <a:tr h="514224">
                <a:tc>
                  <a:txBody>
                    <a:bodyPr/>
                    <a:lstStyle/>
                    <a:p>
                      <a:pPr algn="ctr">
                        <a:lnSpc>
                          <a:spcPct val="107000"/>
                        </a:lnSpc>
                        <a:spcAft>
                          <a:spcPts val="800"/>
                        </a:spcAft>
                      </a:pPr>
                      <a:r>
                        <a:rPr lang="en-US" sz="100" noProof="0" dirty="0">
                          <a:effectLst/>
                          <a:latin typeface="Arial" panose="020B0604020202020204" pitchFamily="34" charset="0"/>
                          <a:cs typeface="Arial" panose="020B0604020202020204" pitchFamily="34" charset="0"/>
                        </a:rPr>
                        <a:t>An icon of a globe</a:t>
                      </a:r>
                      <a:endParaRPr lang="en-US" sz="1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noProof="0" dirty="0">
                          <a:effectLst/>
                          <a:latin typeface="Arial" panose="020B0604020202020204" pitchFamily="34" charset="0"/>
                          <a:cs typeface="Arial" panose="020B0604020202020204" pitchFamily="34" charset="0"/>
                        </a:rPr>
                        <a:t>GLOBAL AVERAGE</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b="1" noProof="0" dirty="0">
                          <a:effectLst/>
                          <a:latin typeface="Arial" panose="020B0604020202020204" pitchFamily="34" charset="0"/>
                          <a:cs typeface="Arial" panose="020B0604020202020204" pitchFamily="34" charset="0"/>
                        </a:rPr>
                        <a:t>29%</a:t>
                      </a:r>
                      <a:r>
                        <a:rPr lang="en-US" sz="1600" noProof="0" dirty="0">
                          <a:effectLst/>
                          <a:latin typeface="Arial" panose="020B0604020202020204" pitchFamily="34" charset="0"/>
                          <a:cs typeface="Arial" panose="020B0604020202020204" pitchFamily="34" charset="0"/>
                        </a:rPr>
                        <a:t> of employees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115765223"/>
                  </a:ext>
                </a:extLst>
              </a:tr>
              <a:tr h="456808">
                <a:tc>
                  <a:txBody>
                    <a:bodyPr/>
                    <a:lstStyle/>
                    <a:p>
                      <a:pPr algn="ctr">
                        <a:lnSpc>
                          <a:spcPct val="107000"/>
                        </a:lnSpc>
                        <a:spcAft>
                          <a:spcPts val="800"/>
                        </a:spcAft>
                      </a:pPr>
                      <a:r>
                        <a:rPr lang="en-US" sz="100" noProof="0" dirty="0">
                          <a:effectLst/>
                          <a:latin typeface="Arial" panose="020B0604020202020204" pitchFamily="34" charset="0"/>
                          <a:cs typeface="Arial" panose="020B0604020202020204" pitchFamily="34" charset="0"/>
                        </a:rPr>
                        <a:t>The flag of China</a:t>
                      </a:r>
                      <a:endParaRPr lang="en-US" sz="1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noProof="0" dirty="0">
                          <a:effectLst/>
                          <a:latin typeface="Arial" panose="020B0604020202020204" pitchFamily="34" charset="0"/>
                          <a:cs typeface="Arial" panose="020B0604020202020204" pitchFamily="34" charset="0"/>
                        </a:rPr>
                        <a:t>China</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b="1" noProof="0" dirty="0">
                          <a:effectLst/>
                          <a:latin typeface="Arial" panose="020B0604020202020204" pitchFamily="34" charset="0"/>
                          <a:cs typeface="Arial" panose="020B0604020202020204" pitchFamily="34" charset="0"/>
                        </a:rPr>
                        <a:t>17%</a:t>
                      </a:r>
                      <a:r>
                        <a:rPr lang="en-US" sz="1600" noProof="0" dirty="0">
                          <a:effectLst/>
                          <a:latin typeface="Arial" panose="020B0604020202020204" pitchFamily="34" charset="0"/>
                          <a:cs typeface="Arial" panose="020B0604020202020204" pitchFamily="34" charset="0"/>
                        </a:rPr>
                        <a:t> of employees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101156895"/>
                  </a:ext>
                </a:extLst>
              </a:tr>
              <a:tr h="456808">
                <a:tc>
                  <a:txBody>
                    <a:bodyPr/>
                    <a:lstStyle/>
                    <a:p>
                      <a:pPr algn="ctr">
                        <a:lnSpc>
                          <a:spcPct val="107000"/>
                        </a:lnSpc>
                        <a:spcAft>
                          <a:spcPts val="800"/>
                        </a:spcAft>
                      </a:pPr>
                      <a:r>
                        <a:rPr lang="en-US" sz="100" noProof="0" dirty="0">
                          <a:effectLst/>
                          <a:latin typeface="Arial" panose="020B0604020202020204" pitchFamily="34" charset="0"/>
                          <a:cs typeface="Arial" panose="020B0604020202020204" pitchFamily="34" charset="0"/>
                        </a:rPr>
                        <a:t>The flag of India</a:t>
                      </a:r>
                      <a:endParaRPr lang="en-US" sz="1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noProof="0" dirty="0">
                          <a:effectLst/>
                          <a:latin typeface="Arial" panose="020B0604020202020204" pitchFamily="34" charset="0"/>
                          <a:cs typeface="Arial" panose="020B0604020202020204" pitchFamily="34" charset="0"/>
                        </a:rPr>
                        <a:t>India</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spcAft>
                          <a:spcPts val="800"/>
                        </a:spcAft>
                      </a:pPr>
                      <a:r>
                        <a:rPr lang="en-US" sz="1600" b="1" noProof="0" dirty="0">
                          <a:effectLst/>
                          <a:latin typeface="Arial" panose="020B0604020202020204" pitchFamily="34" charset="0"/>
                          <a:cs typeface="Arial" panose="020B0604020202020204" pitchFamily="34" charset="0"/>
                        </a:rPr>
                        <a:t>17%</a:t>
                      </a:r>
                      <a:r>
                        <a:rPr lang="en-US" sz="1600" noProof="0" dirty="0">
                          <a:effectLst/>
                          <a:latin typeface="Arial" panose="020B0604020202020204" pitchFamily="34" charset="0"/>
                          <a:cs typeface="Arial" panose="020B0604020202020204" pitchFamily="34" charset="0"/>
                        </a:rPr>
                        <a:t> of employees</a:t>
                      </a:r>
                      <a:endParaRPr lang="en-US" sz="1600" noProof="0" dirty="0">
                        <a:effectLst/>
                        <a:latin typeface="Arial" panose="020B0604020202020204" pitchFamily="34" charset="0"/>
                        <a:ea typeface="Calibri" panose="020F0502020204030204" pitchFamily="34" charset="0"/>
                        <a:cs typeface="Arial" panose="020B0604020202020204" pitchFamily="34"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115734332"/>
                  </a:ext>
                </a:extLst>
              </a:tr>
            </a:tbl>
          </a:graphicData>
        </a:graphic>
      </p:graphicFrame>
      <p:pic>
        <p:nvPicPr>
          <p:cNvPr id="24" name="Picture Placeholder 23">
            <a:extLst>
              <a:ext uri="{FF2B5EF4-FFF2-40B4-BE49-F238E27FC236}">
                <a16:creationId xmlns:a16="http://schemas.microsoft.com/office/drawing/2014/main" id="{11D3EFCF-2023-4505-82BF-8D75F228FBB7}"/>
              </a:ext>
              <a:ext uri="{C183D7F6-B498-43B3-948B-1728B52AA6E4}">
                <adec:decorative xmlns:adec="http://schemas.microsoft.com/office/drawing/2017/decorative" val="1"/>
              </a:ext>
            </a:extLst>
          </p:cNvPr>
          <p:cNvPicPr>
            <a:picLocks noGrp="1" noChangeAspect="1"/>
          </p:cNvPicPr>
          <p:nvPr>
            <p:ph type="pic" sz="quarter" idx="18"/>
          </p:nvPr>
        </p:nvPicPr>
        <p:blipFill>
          <a:blip r:embed="rId5">
            <a:extLst>
              <a:ext uri="{28A0092B-C50C-407E-A947-70E740481C1C}">
                <a14:useLocalDpi xmlns:a14="http://schemas.microsoft.com/office/drawing/2010/main" val="0"/>
              </a:ext>
            </a:extLst>
          </a:blip>
          <a:stretch>
            <a:fillRect/>
          </a:stretch>
        </p:blipFill>
        <p:spPr>
          <a:xfrm>
            <a:off x="1494879" y="2955946"/>
            <a:ext cx="556841" cy="329038"/>
          </a:xfrm>
          <a:prstGeom prst="rect">
            <a:avLst/>
          </a:prstGeom>
          <a:solidFill>
            <a:srgbClr val="D4EAE4"/>
          </a:solidFill>
        </p:spPr>
      </p:pic>
      <p:pic>
        <p:nvPicPr>
          <p:cNvPr id="26" name="Picture Placeholder 25">
            <a:extLst>
              <a:ext uri="{FF2B5EF4-FFF2-40B4-BE49-F238E27FC236}">
                <a16:creationId xmlns:a16="http://schemas.microsoft.com/office/drawing/2014/main" id="{F061742A-7187-4F7D-B728-8562170AA018}"/>
              </a:ext>
              <a:ext uri="{C183D7F6-B498-43B3-948B-1728B52AA6E4}">
                <adec:decorative xmlns:adec="http://schemas.microsoft.com/office/drawing/2017/decorative" val="1"/>
              </a:ext>
            </a:extLst>
          </p:cNvPr>
          <p:cNvPicPr>
            <a:picLocks noGrp="1" noChangeAspect="1"/>
          </p:cNvPicPr>
          <p:nvPr>
            <p:ph type="pic" sz="quarter" idx="19"/>
          </p:nvPr>
        </p:nvPicPr>
        <p:blipFill>
          <a:blip r:embed="rId6">
            <a:extLst>
              <a:ext uri="{28A0092B-C50C-407E-A947-70E740481C1C}">
                <a14:useLocalDpi xmlns:a14="http://schemas.microsoft.com/office/drawing/2010/main" val="0"/>
              </a:ext>
            </a:extLst>
          </a:blip>
          <a:stretch>
            <a:fillRect/>
          </a:stretch>
        </p:blipFill>
        <p:spPr>
          <a:xfrm>
            <a:off x="1443304" y="3429000"/>
            <a:ext cx="608416" cy="370987"/>
          </a:xfrm>
          <a:prstGeom prst="rect">
            <a:avLst/>
          </a:prstGeom>
          <a:solidFill>
            <a:srgbClr val="D4EAE4"/>
          </a:solidFill>
        </p:spPr>
      </p:pic>
      <p:pic>
        <p:nvPicPr>
          <p:cNvPr id="29" name="Picture Placeholder 28">
            <a:extLst>
              <a:ext uri="{FF2B5EF4-FFF2-40B4-BE49-F238E27FC236}">
                <a16:creationId xmlns:a16="http://schemas.microsoft.com/office/drawing/2014/main" id="{F89606D8-043F-4884-B92E-B6339C047FCC}"/>
              </a:ext>
              <a:ext uri="{C183D7F6-B498-43B3-948B-1728B52AA6E4}">
                <adec:decorative xmlns:adec="http://schemas.microsoft.com/office/drawing/2017/decorative" val="1"/>
              </a:ext>
            </a:extLst>
          </p:cNvPr>
          <p:cNvPicPr>
            <a:picLocks noGrp="1" noChangeAspect="1"/>
          </p:cNvPicPr>
          <p:nvPr>
            <p:ph type="pic" sz="quarter" idx="20"/>
          </p:nvPr>
        </p:nvPicPr>
        <p:blipFill>
          <a:blip r:embed="rId7">
            <a:extLst>
              <a:ext uri="{28A0092B-C50C-407E-A947-70E740481C1C}">
                <a14:useLocalDpi xmlns:a14="http://schemas.microsoft.com/office/drawing/2010/main" val="0"/>
              </a:ext>
            </a:extLst>
          </a:blip>
          <a:stretch>
            <a:fillRect/>
          </a:stretch>
        </p:blipFill>
        <p:spPr>
          <a:xfrm>
            <a:off x="1406557" y="3922631"/>
            <a:ext cx="573155" cy="344826"/>
          </a:xfrm>
          <a:prstGeom prst="rect">
            <a:avLst/>
          </a:prstGeom>
          <a:solidFill>
            <a:srgbClr val="D4EAE4"/>
          </a:solidFill>
        </p:spPr>
      </p:pic>
      <p:pic>
        <p:nvPicPr>
          <p:cNvPr id="31" name="Picture Placeholder 30">
            <a:extLst>
              <a:ext uri="{FF2B5EF4-FFF2-40B4-BE49-F238E27FC236}">
                <a16:creationId xmlns:a16="http://schemas.microsoft.com/office/drawing/2014/main" id="{03ACEE3E-3B90-495B-9258-06A31FF98A38}"/>
              </a:ext>
              <a:ext uri="{C183D7F6-B498-43B3-948B-1728B52AA6E4}">
                <adec:decorative xmlns:adec="http://schemas.microsoft.com/office/drawing/2017/decorative" val="1"/>
              </a:ext>
            </a:extLst>
          </p:cNvPr>
          <p:cNvPicPr>
            <a:picLocks noGrp="1" noChangeAspect="1"/>
          </p:cNvPicPr>
          <p:nvPr>
            <p:ph type="pic" sz="quarter" idx="21"/>
          </p:nvPr>
        </p:nvPicPr>
        <p:blipFill>
          <a:blip r:embed="rId8">
            <a:extLst>
              <a:ext uri="{28A0092B-C50C-407E-A947-70E740481C1C}">
                <a14:useLocalDpi xmlns:a14="http://schemas.microsoft.com/office/drawing/2010/main" val="0"/>
              </a:ext>
            </a:extLst>
          </a:blip>
          <a:stretch>
            <a:fillRect/>
          </a:stretch>
        </p:blipFill>
        <p:spPr>
          <a:xfrm>
            <a:off x="1383215" y="4395557"/>
            <a:ext cx="651369" cy="401595"/>
          </a:xfrm>
          <a:prstGeom prst="rect">
            <a:avLst/>
          </a:prstGeom>
          <a:solidFill>
            <a:srgbClr val="D4EAE4"/>
          </a:solidFill>
        </p:spPr>
      </p:pic>
      <p:pic>
        <p:nvPicPr>
          <p:cNvPr id="33" name="Picture Placeholder 32">
            <a:extLst>
              <a:ext uri="{FF2B5EF4-FFF2-40B4-BE49-F238E27FC236}">
                <a16:creationId xmlns:a16="http://schemas.microsoft.com/office/drawing/2014/main" id="{DD834D45-799F-4DBB-99E9-6A9103CAE0E0}"/>
              </a:ext>
              <a:ext uri="{C183D7F6-B498-43B3-948B-1728B52AA6E4}">
                <adec:decorative xmlns:adec="http://schemas.microsoft.com/office/drawing/2017/decorative" val="1"/>
              </a:ext>
            </a:extLst>
          </p:cNvPr>
          <p:cNvPicPr>
            <a:picLocks noGrp="1" noChangeAspect="1"/>
          </p:cNvPicPr>
          <p:nvPr>
            <p:ph type="pic" sz="quarter" idx="22"/>
          </p:nvPr>
        </p:nvPicPr>
        <p:blipFill>
          <a:blip r:embed="rId9" cstate="print">
            <a:extLst>
              <a:ext uri="{28A0092B-C50C-407E-A947-70E740481C1C}">
                <a14:useLocalDpi xmlns:a14="http://schemas.microsoft.com/office/drawing/2010/main" val="0"/>
              </a:ext>
            </a:extLst>
          </a:blip>
          <a:stretch>
            <a:fillRect/>
          </a:stretch>
        </p:blipFill>
        <p:spPr>
          <a:xfrm>
            <a:off x="1532557" y="4876517"/>
            <a:ext cx="352683" cy="352683"/>
          </a:xfrm>
          <a:prstGeom prst="rect">
            <a:avLst/>
          </a:prstGeom>
          <a:solidFill>
            <a:srgbClr val="D4EAE4"/>
          </a:solidFill>
        </p:spPr>
      </p:pic>
      <p:pic>
        <p:nvPicPr>
          <p:cNvPr id="35" name="Picture Placeholder 34">
            <a:extLst>
              <a:ext uri="{FF2B5EF4-FFF2-40B4-BE49-F238E27FC236}">
                <a16:creationId xmlns:a16="http://schemas.microsoft.com/office/drawing/2014/main" id="{7BBA8146-9A33-4759-99A4-07D6EC19DCE1}"/>
              </a:ext>
              <a:ext uri="{C183D7F6-B498-43B3-948B-1728B52AA6E4}">
                <adec:decorative xmlns:adec="http://schemas.microsoft.com/office/drawing/2017/decorative" val="1"/>
              </a:ext>
            </a:extLst>
          </p:cNvPr>
          <p:cNvPicPr>
            <a:picLocks noGrp="1" noChangeAspect="1"/>
          </p:cNvPicPr>
          <p:nvPr>
            <p:ph type="pic" sz="quarter" idx="23"/>
          </p:nvPr>
        </p:nvPicPr>
        <p:blipFill>
          <a:blip r:embed="rId10">
            <a:extLst>
              <a:ext uri="{28A0092B-C50C-407E-A947-70E740481C1C}">
                <a14:useLocalDpi xmlns:a14="http://schemas.microsoft.com/office/drawing/2010/main" val="0"/>
              </a:ext>
            </a:extLst>
          </a:blip>
          <a:stretch>
            <a:fillRect/>
          </a:stretch>
        </p:blipFill>
        <p:spPr>
          <a:xfrm>
            <a:off x="1413452" y="5352354"/>
            <a:ext cx="638268" cy="380902"/>
          </a:xfrm>
          <a:prstGeom prst="rect">
            <a:avLst/>
          </a:prstGeom>
          <a:solidFill>
            <a:srgbClr val="D4EAE4"/>
          </a:solidFill>
        </p:spPr>
      </p:pic>
      <p:pic>
        <p:nvPicPr>
          <p:cNvPr id="37" name="Picture Placeholder 36">
            <a:extLst>
              <a:ext uri="{FF2B5EF4-FFF2-40B4-BE49-F238E27FC236}">
                <a16:creationId xmlns:a16="http://schemas.microsoft.com/office/drawing/2014/main" id="{B834DFD0-1118-464B-8348-4A2A8D2CE5D4}"/>
              </a:ext>
              <a:ext uri="{C183D7F6-B498-43B3-948B-1728B52AA6E4}">
                <adec:decorative xmlns:adec="http://schemas.microsoft.com/office/drawing/2017/decorative" val="1"/>
              </a:ext>
            </a:extLst>
          </p:cNvPr>
          <p:cNvPicPr>
            <a:picLocks noGrp="1" noChangeAspect="1"/>
          </p:cNvPicPr>
          <p:nvPr>
            <p:ph type="pic" sz="quarter" idx="24"/>
          </p:nvPr>
        </p:nvPicPr>
        <p:blipFill>
          <a:blip r:embed="rId11">
            <a:extLst>
              <a:ext uri="{28A0092B-C50C-407E-A947-70E740481C1C}">
                <a14:useLocalDpi xmlns:a14="http://schemas.microsoft.com/office/drawing/2010/main" val="0"/>
              </a:ext>
            </a:extLst>
          </a:blip>
          <a:stretch>
            <a:fillRect/>
          </a:stretch>
        </p:blipFill>
        <p:spPr>
          <a:xfrm>
            <a:off x="1385744" y="5839564"/>
            <a:ext cx="593968" cy="397748"/>
          </a:xfrm>
          <a:prstGeom prst="rect">
            <a:avLst/>
          </a:prstGeom>
          <a:solidFill>
            <a:srgbClr val="D4EAE4"/>
          </a:solidFill>
        </p:spPr>
      </p:pic>
    </p:spTree>
    <p:extLst>
      <p:ext uri="{BB962C8B-B14F-4D97-AF65-F5344CB8AC3E}">
        <p14:creationId xmlns:p14="http://schemas.microsoft.com/office/powerpoint/2010/main" val="1094480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Symptoms of Stress</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74400"/>
            <a:ext cx="8280401" cy="282573"/>
          </a:xfrm>
        </p:spPr>
        <p:txBody>
          <a:bodyPr wrap="square" tIns="18000" bIns="18000">
            <a:spAutoFit/>
          </a:bodyPr>
          <a:lstStyle/>
          <a:p>
            <a:pPr marL="0" indent="0">
              <a:buNone/>
              <a:defRPr/>
            </a:pPr>
            <a:r>
              <a:rPr lang="en-US" b="1" dirty="0">
                <a:latin typeface="Arial" panose="020B0604020202020204" pitchFamily="34" charset="0"/>
                <a:cs typeface="Arial" panose="020B0604020202020204" pitchFamily="34" charset="0"/>
              </a:rPr>
              <a:t>Exhibit 6.3</a:t>
            </a:r>
            <a:r>
              <a:rPr lang="en-US" dirty="0">
                <a:latin typeface="Arial" panose="020B0604020202020204" pitchFamily="34" charset="0"/>
                <a:cs typeface="Arial" panose="020B0604020202020204" pitchFamily="34" charset="0"/>
              </a:rPr>
              <a:t> Symptoms of Stress</a:t>
            </a:r>
          </a:p>
        </p:txBody>
      </p:sp>
      <p:pic>
        <p:nvPicPr>
          <p:cNvPr id="6" name="Picture Placeholder 5" descr="An illustration shows the symptoms of stress.&#10;Long description is available in notes, press F6.">
            <a:extLst>
              <a:ext uri="{FF2B5EF4-FFF2-40B4-BE49-F238E27FC236}">
                <a16:creationId xmlns:a16="http://schemas.microsoft.com/office/drawing/2014/main" id="{A123247E-8A60-4DBB-BF1C-C4681FCACA81}"/>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772019" y="2132856"/>
            <a:ext cx="7557403" cy="3686819"/>
          </a:xfrm>
          <a:prstGeom prst="rect">
            <a:avLst/>
          </a:prstGeom>
        </p:spPr>
      </p:pic>
    </p:spTree>
    <p:extLst>
      <p:ext uri="{BB962C8B-B14F-4D97-AF65-F5344CB8AC3E}">
        <p14:creationId xmlns:p14="http://schemas.microsoft.com/office/powerpoint/2010/main" val="99421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Causes of Stress: Job Related</a:t>
            </a:r>
            <a:endParaRPr lang="en-US" sz="3600" dirty="0">
              <a:latin typeface="+mj-lt"/>
            </a:endParaRPr>
          </a:p>
        </p:txBody>
      </p:sp>
      <p:sp>
        <p:nvSpPr>
          <p:cNvPr id="4" name="Content Placeholder 3">
            <a:extLst>
              <a:ext uri="{FF2B5EF4-FFF2-40B4-BE49-F238E27FC236}">
                <a16:creationId xmlns:a16="http://schemas.microsoft.com/office/drawing/2014/main" id="{2E7E146E-5AB7-4A5E-B27B-A8945307AB74}"/>
              </a:ext>
            </a:extLst>
          </p:cNvPr>
          <p:cNvSpPr>
            <a:spLocks noGrp="1"/>
          </p:cNvSpPr>
          <p:nvPr>
            <p:ph sz="quarter" idx="13"/>
          </p:nvPr>
        </p:nvSpPr>
        <p:spPr>
          <a:xfrm>
            <a:off x="468000" y="1274400"/>
            <a:ext cx="8280713" cy="967376"/>
          </a:xfrm>
        </p:spPr>
        <p:txBody>
          <a:bodyPr wrap="square" tIns="18000" bIns="18000">
            <a:spAutoFit/>
          </a:bodyPr>
          <a:lstStyle/>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Task demands</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Role demands</a:t>
            </a:r>
          </a:p>
        </p:txBody>
      </p:sp>
      <p:sp>
        <p:nvSpPr>
          <p:cNvPr id="5" name="Content Placeholder 4">
            <a:extLst>
              <a:ext uri="{FF2B5EF4-FFF2-40B4-BE49-F238E27FC236}">
                <a16:creationId xmlns:a16="http://schemas.microsoft.com/office/drawing/2014/main" id="{CF4C1E5B-C0D3-4458-AFBC-F832DA99857A}"/>
              </a:ext>
            </a:extLst>
          </p:cNvPr>
          <p:cNvSpPr>
            <a:spLocks noGrp="1"/>
          </p:cNvSpPr>
          <p:nvPr>
            <p:ph sz="quarter" idx="14"/>
          </p:nvPr>
        </p:nvSpPr>
        <p:spPr>
          <a:xfrm>
            <a:off x="467999" y="2348880"/>
            <a:ext cx="8280713" cy="1298235"/>
          </a:xfrm>
        </p:spPr>
        <p:txBody>
          <a:bodyPr wrap="square" tIns="18000" bIns="18000">
            <a:spAutoFit/>
          </a:bodyPr>
          <a:lstStyle/>
          <a:p>
            <a:pPr marL="965391" lvl="1" indent="-514350">
              <a:buClr>
                <a:schemeClr val="bg2"/>
              </a:buClr>
              <a:buSzPct val="100000"/>
              <a:buFont typeface="+mj-lt"/>
              <a:buAutoNum type="romanUcPeriod"/>
              <a:defRPr/>
            </a:pPr>
            <a:r>
              <a:rPr lang="en-US" altLang="en-US" sz="2400" dirty="0">
                <a:latin typeface="Arial" panose="020B0604020202020204" pitchFamily="34" charset="0"/>
                <a:ea typeface="ＭＳ Ｐゴシック" pitchFamily="34" charset="-128"/>
                <a:cs typeface="Arial" panose="020B0604020202020204" pitchFamily="34" charset="0"/>
              </a:rPr>
              <a:t>Role conflicts</a:t>
            </a:r>
          </a:p>
          <a:p>
            <a:pPr marL="965391" lvl="1" indent="-514350">
              <a:buClr>
                <a:schemeClr val="bg2"/>
              </a:buClr>
              <a:buSzPct val="100000"/>
              <a:buFont typeface="+mj-lt"/>
              <a:buAutoNum type="romanUcPeriod"/>
              <a:defRPr/>
            </a:pPr>
            <a:r>
              <a:rPr lang="en-US" altLang="en-US" sz="2400" dirty="0">
                <a:latin typeface="Arial" panose="020B0604020202020204" pitchFamily="34" charset="0"/>
                <a:ea typeface="ＭＳ Ｐゴシック" pitchFamily="34" charset="-128"/>
                <a:cs typeface="Arial" panose="020B0604020202020204" pitchFamily="34" charset="0"/>
              </a:rPr>
              <a:t>Role overload</a:t>
            </a:r>
          </a:p>
          <a:p>
            <a:pPr marL="965391" lvl="1" indent="-514350">
              <a:buClr>
                <a:schemeClr val="bg2"/>
              </a:buClr>
              <a:buSzPct val="100000"/>
              <a:buFont typeface="+mj-lt"/>
              <a:buAutoNum type="romanUcPeriod"/>
              <a:defRPr/>
            </a:pPr>
            <a:r>
              <a:rPr lang="en-US" altLang="en-US" sz="2400" dirty="0">
                <a:latin typeface="Arial" panose="020B0604020202020204" pitchFamily="34" charset="0"/>
                <a:ea typeface="ＭＳ Ｐゴシック" pitchFamily="34" charset="-128"/>
                <a:cs typeface="Arial" panose="020B0604020202020204" pitchFamily="34" charset="0"/>
              </a:rPr>
              <a:t>Role ambiguity</a:t>
            </a:r>
          </a:p>
        </p:txBody>
      </p:sp>
      <p:sp>
        <p:nvSpPr>
          <p:cNvPr id="6" name="Content Placeholder 5">
            <a:extLst>
              <a:ext uri="{FF2B5EF4-FFF2-40B4-BE49-F238E27FC236}">
                <a16:creationId xmlns:a16="http://schemas.microsoft.com/office/drawing/2014/main" id="{E8B5785F-A0CB-4515-A53D-9AEF1B09775D}"/>
              </a:ext>
            </a:extLst>
          </p:cNvPr>
          <p:cNvSpPr>
            <a:spLocks noGrp="1"/>
          </p:cNvSpPr>
          <p:nvPr>
            <p:ph sz="quarter" idx="15"/>
          </p:nvPr>
        </p:nvSpPr>
        <p:spPr>
          <a:xfrm>
            <a:off x="468000" y="3794499"/>
            <a:ext cx="8280713" cy="1529068"/>
          </a:xfrm>
        </p:spPr>
        <p:txBody>
          <a:bodyPr wrap="square" tIns="18000" bIns="18000">
            <a:spAutoFit/>
          </a:bodyPr>
          <a:lstStyle/>
          <a:p>
            <a:pPr marL="457200" indent="-457200">
              <a:buClr>
                <a:schemeClr val="bg2"/>
              </a:buClr>
              <a:buSzPct val="100000"/>
              <a:buFont typeface="+mj-lt"/>
              <a:buAutoNum type="arabicPeriod" startAt="3"/>
              <a:defRPr/>
            </a:pPr>
            <a:r>
              <a:rPr lang="en-US" altLang="en-US" sz="2400" dirty="0">
                <a:latin typeface="Arial" panose="020B0604020202020204" pitchFamily="34" charset="0"/>
                <a:ea typeface="ＭＳ Ｐゴシック" pitchFamily="34" charset="-128"/>
                <a:cs typeface="Arial" panose="020B0604020202020204" pitchFamily="34" charset="0"/>
              </a:rPr>
              <a:t>Interpersonal demands</a:t>
            </a:r>
          </a:p>
          <a:p>
            <a:pPr marL="457200" indent="-457200">
              <a:buClr>
                <a:schemeClr val="bg2"/>
              </a:buClr>
              <a:buSzPct val="100000"/>
              <a:buFont typeface="+mj-lt"/>
              <a:buAutoNum type="arabicPeriod" startAt="3"/>
              <a:defRPr/>
            </a:pPr>
            <a:r>
              <a:rPr lang="en-US" altLang="en-US" sz="2400" dirty="0">
                <a:latin typeface="Arial" panose="020B0604020202020204" pitchFamily="34" charset="0"/>
                <a:ea typeface="ＭＳ Ｐゴシック" pitchFamily="34" charset="-128"/>
                <a:cs typeface="Arial" panose="020B0604020202020204" pitchFamily="34" charset="0"/>
              </a:rPr>
              <a:t>Organization structure</a:t>
            </a:r>
          </a:p>
          <a:p>
            <a:pPr marL="457200" indent="-457200">
              <a:buClr>
                <a:schemeClr val="bg2"/>
              </a:buClr>
              <a:buSzPct val="100000"/>
              <a:buFont typeface="+mj-lt"/>
              <a:buAutoNum type="arabicPeriod" startAt="3"/>
              <a:defRPr/>
            </a:pPr>
            <a:r>
              <a:rPr lang="en-US" altLang="en-US" sz="2400" dirty="0">
                <a:latin typeface="Arial" panose="020B0604020202020204" pitchFamily="34" charset="0"/>
                <a:ea typeface="ＭＳ Ｐゴシック" pitchFamily="34" charset="-128"/>
                <a:cs typeface="Arial" panose="020B0604020202020204" pitchFamily="34" charset="0"/>
              </a:rPr>
              <a:t>Organizational leadership</a:t>
            </a:r>
          </a:p>
        </p:txBody>
      </p:sp>
    </p:spTree>
    <p:extLst>
      <p:ext uri="{BB962C8B-B14F-4D97-AF65-F5344CB8AC3E}">
        <p14:creationId xmlns:p14="http://schemas.microsoft.com/office/powerpoint/2010/main" val="688182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Causes of Stress: Personal</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3" y="1274400"/>
            <a:ext cx="4103688" cy="1336708"/>
          </a:xfrm>
        </p:spPr>
        <p:txBody>
          <a:bodyPr wrap="square" tIns="18000" bIns="18000">
            <a:spAutoFit/>
          </a:bodyPr>
          <a:lstStyle/>
          <a:p>
            <a:pPr marL="457200" indent="-457200">
              <a:buClr>
                <a:schemeClr val="bg2"/>
              </a:buClr>
              <a:buSzPct val="100000"/>
              <a:buFont typeface="+mj-lt"/>
              <a:buAutoNum type="arabicPeriod"/>
              <a:defRPr/>
            </a:pPr>
            <a:r>
              <a:rPr lang="en-US" altLang="en-US" sz="2400">
                <a:latin typeface="Arial" panose="020B0604020202020204" pitchFamily="34" charset="0"/>
                <a:ea typeface="ＭＳ Ｐゴシック" pitchFamily="34" charset="-128"/>
                <a:cs typeface="Arial" panose="020B0604020202020204" pitchFamily="34" charset="0"/>
              </a:rPr>
              <a:t>Family and personal issues</a:t>
            </a:r>
          </a:p>
          <a:p>
            <a:pPr marL="457200" indent="-457200">
              <a:buClr>
                <a:schemeClr val="bg2"/>
              </a:buClr>
              <a:buSzPct val="100000"/>
              <a:buFont typeface="+mj-lt"/>
              <a:buAutoNum type="arabicPeriod"/>
              <a:defRPr/>
            </a:pPr>
            <a:r>
              <a:rPr lang="en-US" altLang="en-US" sz="2400">
                <a:latin typeface="Arial" panose="020B0604020202020204" pitchFamily="34" charset="0"/>
                <a:ea typeface="ＭＳ Ｐゴシック" pitchFamily="34" charset="-128"/>
                <a:cs typeface="Arial" panose="020B0604020202020204" pitchFamily="34" charset="0"/>
              </a:rPr>
              <a:t>Personality type</a:t>
            </a:r>
            <a:endParaRPr lang="en-US" sz="2400">
              <a:latin typeface="Arial" panose="020B0604020202020204" pitchFamily="34" charset="0"/>
              <a:cs typeface="Arial" panose="020B0604020202020204" pitchFamily="34" charset="0"/>
            </a:endParaRPr>
          </a:p>
        </p:txBody>
      </p:sp>
      <p:pic>
        <p:nvPicPr>
          <p:cNvPr id="7" name="Picture Placeholder 6" descr="A photo shows a man sitting in the lotus position with his eyes closed.">
            <a:extLst>
              <a:ext uri="{FF2B5EF4-FFF2-40B4-BE49-F238E27FC236}">
                <a16:creationId xmlns:a16="http://schemas.microsoft.com/office/drawing/2014/main" id="{35248001-885C-4607-91F0-8D16D8F380BE}"/>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679768" y="1388328"/>
            <a:ext cx="3852672" cy="4632960"/>
          </a:xfrm>
          <a:prstGeom prst="rect">
            <a:avLst/>
          </a:prstGeom>
        </p:spPr>
      </p:pic>
    </p:spTree>
    <p:extLst>
      <p:ext uri="{BB962C8B-B14F-4D97-AF65-F5344CB8AC3E}">
        <p14:creationId xmlns:p14="http://schemas.microsoft.com/office/powerpoint/2010/main" val="1720660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Reducing Stress</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74400"/>
            <a:ext cx="8280087" cy="405683"/>
          </a:xfrm>
        </p:spPr>
        <p:txBody>
          <a:bodyPr wrap="square" tIns="18000" bIns="18000">
            <a:spAutoFit/>
          </a:bodyPr>
          <a:lstStyle/>
          <a:p>
            <a:pPr marL="0" indent="0">
              <a:buClr>
                <a:schemeClr val="bg2"/>
              </a:buClr>
              <a:buSzPct val="100000"/>
              <a:buNone/>
              <a:defRPr/>
            </a:pPr>
            <a:r>
              <a:rPr lang="en-US" sz="2400" dirty="0">
                <a:latin typeface="Arial" panose="020B0604020202020204" pitchFamily="34" charset="0"/>
                <a:cs typeface="Arial" panose="020B0604020202020204" pitchFamily="34" charset="0"/>
              </a:rPr>
              <a:t>STRESS MANAGEMENT</a:t>
            </a:r>
          </a:p>
        </p:txBody>
      </p:sp>
    </p:spTree>
    <p:extLst>
      <p:ext uri="{BB962C8B-B14F-4D97-AF65-F5344CB8AC3E}">
        <p14:creationId xmlns:p14="http://schemas.microsoft.com/office/powerpoint/2010/main" val="3268910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Learning Objective 6.4</a:t>
            </a:r>
            <a:endParaRPr lang="en-US" dirty="0">
              <a:solidFill>
                <a:schemeClr val="bg2"/>
              </a:solidFill>
              <a:latin typeface="+mj-lt"/>
            </a:endParaRP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271463" indent="-271463">
              <a:buSzPct val="100000"/>
            </a:pPr>
            <a:r>
              <a:rPr lang="en-US" altLang="en-US" sz="2400" dirty="0">
                <a:latin typeface="Arial" panose="020B0604020202020204" pitchFamily="34" charset="0"/>
                <a:cs typeface="Arial" panose="020B0604020202020204" pitchFamily="34" charset="0"/>
              </a:rPr>
              <a:t>Discuss techniques for stimulating innovation.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6384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Creativity and Innovation</a:t>
            </a:r>
            <a:endParaRPr lang="en-US" sz="3600" dirty="0">
              <a:latin typeface="+mj-lt"/>
            </a:endParaRPr>
          </a:p>
        </p:txBody>
      </p:sp>
      <p:sp>
        <p:nvSpPr>
          <p:cNvPr id="3" name="Content Placeholder 2"/>
          <p:cNvSpPr>
            <a:spLocks noGrp="1"/>
          </p:cNvSpPr>
          <p:nvPr>
            <p:ph idx="1"/>
          </p:nvPr>
        </p:nvSpPr>
        <p:spPr>
          <a:xfrm>
            <a:off x="467999" y="1274400"/>
            <a:ext cx="8280713" cy="967376"/>
          </a:xfrm>
        </p:spPr>
        <p:txBody>
          <a:bodyPr wrap="square" tIns="18000" bIns="18000">
            <a:spAutoFit/>
          </a:bodyPr>
          <a:lstStyle/>
          <a:p>
            <a:pPr marL="0" indent="0">
              <a:buClr>
                <a:schemeClr val="bg2"/>
              </a:buClr>
              <a:buSzPct val="100000"/>
              <a:buNone/>
              <a:defRPr/>
            </a:pPr>
            <a:r>
              <a:rPr lang="en-US" altLang="en-US" b="1" dirty="0">
                <a:latin typeface="Arial" panose="020B0604020202020204" pitchFamily="34" charset="0"/>
                <a:ea typeface="ＭＳ Ｐゴシック" pitchFamily="34" charset="-128"/>
                <a:cs typeface="Arial" panose="020B0604020202020204" pitchFamily="34" charset="0"/>
              </a:rPr>
              <a:t>Creativity:</a:t>
            </a:r>
          </a:p>
          <a:p>
            <a:pPr marL="273050" indent="-273050">
              <a:buClr>
                <a:schemeClr val="bg2"/>
              </a:buClr>
              <a:buSzPct val="100000"/>
              <a:defRPr/>
            </a:pPr>
            <a:r>
              <a:rPr lang="en-US" altLang="en-US" dirty="0">
                <a:latin typeface="Arial" panose="020B0604020202020204" pitchFamily="34" charset="0"/>
                <a:ea typeface="ＭＳ Ｐゴシック" pitchFamily="34" charset="-128"/>
                <a:cs typeface="Arial" panose="020B0604020202020204" pitchFamily="34" charset="0"/>
              </a:rPr>
              <a:t>the ability to produce novel and useful ideas.</a:t>
            </a:r>
          </a:p>
        </p:txBody>
      </p:sp>
      <p:sp>
        <p:nvSpPr>
          <p:cNvPr id="4" name="Content Placeholder 3"/>
          <p:cNvSpPr>
            <a:spLocks noGrp="1"/>
          </p:cNvSpPr>
          <p:nvPr>
            <p:ph sz="quarter" idx="13"/>
          </p:nvPr>
        </p:nvSpPr>
        <p:spPr>
          <a:xfrm>
            <a:off x="468313" y="2348880"/>
            <a:ext cx="8280399" cy="1336708"/>
          </a:xfrm>
        </p:spPr>
        <p:txBody>
          <a:bodyPr wrap="square" tIns="18000" bIns="18000">
            <a:spAutoFit/>
          </a:bodyPr>
          <a:lstStyle/>
          <a:p>
            <a:pPr marL="0" indent="0">
              <a:buClr>
                <a:schemeClr val="bg2"/>
              </a:buClr>
              <a:buSzPct val="100000"/>
              <a:buNone/>
              <a:defRPr/>
            </a:pPr>
            <a:r>
              <a:rPr lang="en-US" altLang="en-US" b="1" dirty="0">
                <a:latin typeface="Arial" panose="020B0604020202020204" pitchFamily="34" charset="0"/>
                <a:ea typeface="ＭＳ Ｐゴシック" pitchFamily="34" charset="-128"/>
                <a:cs typeface="Arial" panose="020B0604020202020204" pitchFamily="34" charset="0"/>
              </a:rPr>
              <a:t>Innovation:</a:t>
            </a:r>
          </a:p>
          <a:p>
            <a:pPr marL="273050" indent="-273050">
              <a:buClr>
                <a:schemeClr val="bg2"/>
              </a:buClr>
              <a:buSzPct val="100000"/>
              <a:defRPr/>
            </a:pPr>
            <a:r>
              <a:rPr lang="en-US" altLang="en-US" dirty="0">
                <a:latin typeface="Arial" panose="020B0604020202020204" pitchFamily="34" charset="0"/>
                <a:ea typeface="ＭＳ Ｐゴシック" pitchFamily="34" charset="-128"/>
                <a:cs typeface="Arial" panose="020B0604020202020204" pitchFamily="34" charset="0"/>
              </a:rPr>
              <a:t>the process of taking a creative idea and turning it into a useful product, service, or method of operation.</a:t>
            </a:r>
          </a:p>
        </p:txBody>
      </p:sp>
      <p:sp>
        <p:nvSpPr>
          <p:cNvPr id="6" name="Content Placeholder 5"/>
          <p:cNvSpPr>
            <a:spLocks noGrp="1"/>
          </p:cNvSpPr>
          <p:nvPr>
            <p:ph sz="quarter" idx="14"/>
          </p:nvPr>
        </p:nvSpPr>
        <p:spPr>
          <a:xfrm>
            <a:off x="468313" y="3789040"/>
            <a:ext cx="8280400" cy="967376"/>
          </a:xfrm>
        </p:spPr>
        <p:txBody>
          <a:bodyPr wrap="square" tIns="18000" bIns="18000">
            <a:spAutoFit/>
          </a:bodyPr>
          <a:lstStyle/>
          <a:p>
            <a:pPr marL="0" indent="0">
              <a:buNone/>
            </a:pPr>
            <a:r>
              <a:rPr lang="en-US" dirty="0">
                <a:latin typeface="Arial" panose="020B0604020202020204" pitchFamily="34" charset="0"/>
                <a:cs typeface="Arial" panose="020B0604020202020204" pitchFamily="34" charset="0"/>
              </a:rPr>
              <a:t>“Innovation is the </a:t>
            </a:r>
            <a:r>
              <a:rPr lang="en-US" b="1" dirty="0">
                <a:latin typeface="Arial" panose="020B0604020202020204" pitchFamily="34" charset="0"/>
                <a:cs typeface="Arial" panose="020B0604020202020204" pitchFamily="34" charset="0"/>
              </a:rPr>
              <a:t>key to continued</a:t>
            </a:r>
            <a:r>
              <a:rPr lang="en-US" dirty="0">
                <a:latin typeface="Arial" panose="020B0604020202020204" pitchFamily="34" charset="0"/>
                <a:cs typeface="Arial" panose="020B0604020202020204" pitchFamily="34" charset="0"/>
              </a:rPr>
              <a:t> success.”</a:t>
            </a:r>
          </a:p>
          <a:p>
            <a:pPr marL="0" indent="0">
              <a:buNone/>
            </a:pPr>
            <a:r>
              <a:rPr lang="en-US" dirty="0">
                <a:latin typeface="Arial" panose="020B0604020202020204" pitchFamily="34" charset="0"/>
                <a:cs typeface="Arial" panose="020B0604020202020204" pitchFamily="34" charset="0"/>
              </a:rPr>
              <a:t>“We innovate today to </a:t>
            </a:r>
            <a:r>
              <a:rPr lang="en-US" b="1" dirty="0">
                <a:latin typeface="Arial" panose="020B0604020202020204" pitchFamily="34" charset="0"/>
                <a:cs typeface="Arial" panose="020B0604020202020204" pitchFamily="34" charset="0"/>
              </a:rPr>
              <a:t>secure the future</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92716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Innovation Process</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3" y="1274400"/>
            <a:ext cx="3671639" cy="3952808"/>
          </a:xfrm>
        </p:spPr>
        <p:txBody>
          <a:bodyPr wrap="square" tIns="18000" bIns="18000">
            <a:spAutoFit/>
          </a:bodyPr>
          <a:lstStyle/>
          <a:p>
            <a:pPr marL="0" indent="0">
              <a:buClr>
                <a:schemeClr val="bg2"/>
              </a:buClr>
              <a:buSzPct val="100000"/>
              <a:buNone/>
              <a:defRPr/>
            </a:pPr>
            <a:r>
              <a:rPr lang="en-US" altLang="en-US" sz="2400" dirty="0">
                <a:latin typeface="Arial" panose="020B0604020202020204" pitchFamily="34" charset="0"/>
                <a:ea typeface="ＭＳ Ｐゴシック" pitchFamily="34" charset="-128"/>
                <a:cs typeface="Arial" panose="020B0604020202020204" pitchFamily="34" charset="0"/>
              </a:rPr>
              <a:t>“Innovation is the key to continued success.”</a:t>
            </a:r>
          </a:p>
          <a:p>
            <a:pPr marL="0" indent="0">
              <a:buClr>
                <a:schemeClr val="bg2"/>
              </a:buClr>
              <a:buSzPct val="100000"/>
              <a:buNone/>
              <a:defRPr/>
            </a:pPr>
            <a:r>
              <a:rPr lang="en-US" altLang="en-US" sz="2400" dirty="0">
                <a:latin typeface="Arial" panose="020B0604020202020204" pitchFamily="34" charset="0"/>
                <a:ea typeface="ＭＳ Ｐゴシック" pitchFamily="34" charset="-128"/>
                <a:cs typeface="Arial" panose="020B0604020202020204" pitchFamily="34" charset="0"/>
              </a:rPr>
              <a:t>“We innovate today to secure the future.”</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Perception</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Incubation</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Inspiration</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Innovation</a:t>
            </a:r>
            <a:endParaRPr lang="en-US" sz="2400" dirty="0">
              <a:latin typeface="Arial" panose="020B0604020202020204" pitchFamily="34" charset="0"/>
              <a:cs typeface="Arial" panose="020B0604020202020204" pitchFamily="34" charset="0"/>
            </a:endParaRPr>
          </a:p>
        </p:txBody>
      </p:sp>
      <p:pic>
        <p:nvPicPr>
          <p:cNvPr id="6" name="Picture Placeholder 5" descr="A photo shows a person using a cell phone to take a photo of two people holding tacos in front of the Taco Bell logo.">
            <a:extLst>
              <a:ext uri="{FF2B5EF4-FFF2-40B4-BE49-F238E27FC236}">
                <a16:creationId xmlns:a16="http://schemas.microsoft.com/office/drawing/2014/main" id="{44E0ECAC-2AB6-40EB-8D76-F18F9EC9E263}"/>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427984" y="1556792"/>
            <a:ext cx="4187952" cy="2791968"/>
          </a:xfrm>
          <a:prstGeom prst="rect">
            <a:avLst/>
          </a:prstGeom>
        </p:spPr>
      </p:pic>
    </p:spTree>
    <p:extLst>
      <p:ext uri="{BB962C8B-B14F-4D97-AF65-F5344CB8AC3E}">
        <p14:creationId xmlns:p14="http://schemas.microsoft.com/office/powerpoint/2010/main" val="3369343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dirty="0">
                <a:latin typeface="+mj-lt"/>
                <a:ea typeface="ＭＳ Ｐゴシック" panose="020B0600070205080204" pitchFamily="34" charset="-128"/>
                <a:cs typeface="Arial" panose="020B0604020202020204" pitchFamily="34" charset="0"/>
              </a:rPr>
              <a:t>Encouraging Innovation</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3" y="1274400"/>
            <a:ext cx="8280087" cy="282573"/>
          </a:xfrm>
        </p:spPr>
        <p:txBody>
          <a:bodyPr wrap="square" tIns="18000" bIns="18000">
            <a:spAutoFit/>
          </a:bodyPr>
          <a:lstStyle/>
          <a:p>
            <a:pPr marL="0" indent="0">
              <a:buClr>
                <a:schemeClr val="bg2"/>
              </a:buClr>
              <a:buSzPct val="100000"/>
              <a:buNone/>
              <a:defRPr/>
            </a:pPr>
            <a:r>
              <a:rPr lang="en-US" b="1" dirty="0">
                <a:latin typeface="Arial" panose="020B0604020202020204" pitchFamily="34" charset="0"/>
                <a:cs typeface="Arial" panose="020B0604020202020204" pitchFamily="34" charset="0"/>
              </a:rPr>
              <a:t>Exhibit 6.5</a:t>
            </a:r>
            <a:r>
              <a:rPr lang="en-US" dirty="0">
                <a:latin typeface="Arial" panose="020B0604020202020204" pitchFamily="34" charset="0"/>
                <a:cs typeface="Arial" panose="020B0604020202020204" pitchFamily="34" charset="0"/>
              </a:rPr>
              <a:t> Innovation Variables</a:t>
            </a:r>
          </a:p>
        </p:txBody>
      </p:sp>
      <p:pic>
        <p:nvPicPr>
          <p:cNvPr id="7" name="Picture Placeholder 6" descr="An illustration shows three variables that stimulate innovation.&#10;Long description is available in notes, press F6.">
            <a:extLst>
              <a:ext uri="{FF2B5EF4-FFF2-40B4-BE49-F238E27FC236}">
                <a16:creationId xmlns:a16="http://schemas.microsoft.com/office/drawing/2014/main" id="{1D373EA6-2C26-4361-83E4-88499B6B7671}"/>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339752" y="1844824"/>
            <a:ext cx="4475982" cy="4348702"/>
          </a:xfrm>
          <a:prstGeom prst="rect">
            <a:avLst/>
          </a:prstGeom>
        </p:spPr>
      </p:pic>
    </p:spTree>
    <p:extLst>
      <p:ext uri="{BB962C8B-B14F-4D97-AF65-F5344CB8AC3E}">
        <p14:creationId xmlns:p14="http://schemas.microsoft.com/office/powerpoint/2010/main" val="2269820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Structural Variables and Innovation</a:t>
            </a:r>
            <a:endParaRPr lang="en-US" sz="3600" dirty="0">
              <a:latin typeface="+mj-lt"/>
            </a:endParaRPr>
          </a:p>
        </p:txBody>
      </p:sp>
      <p:sp>
        <p:nvSpPr>
          <p:cNvPr id="3" name="Content Placeholder 2"/>
          <p:cNvSpPr>
            <a:spLocks noGrp="1"/>
          </p:cNvSpPr>
          <p:nvPr>
            <p:ph idx="1"/>
          </p:nvPr>
        </p:nvSpPr>
        <p:spPr>
          <a:xfrm>
            <a:off x="468000" y="1274400"/>
            <a:ext cx="8280712" cy="2652452"/>
          </a:xfrm>
        </p:spPr>
        <p:txBody>
          <a:bodyPr wrap="square" tIns="18000" bIns="18000">
            <a:spAutoFit/>
          </a:bodyPr>
          <a:lstStyle/>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Organic structures</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Abundant resources</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High </a:t>
            </a:r>
            <a:r>
              <a:rPr lang="en-US" altLang="en-US" sz="2400" dirty="0" err="1">
                <a:latin typeface="Arial" panose="020B0604020202020204" pitchFamily="34" charset="0"/>
                <a:ea typeface="ＭＳ Ｐゴシック" pitchFamily="34" charset="-128"/>
                <a:cs typeface="Arial" panose="020B0604020202020204" pitchFamily="34" charset="0"/>
              </a:rPr>
              <a:t>interunit</a:t>
            </a:r>
            <a:r>
              <a:rPr lang="en-US" altLang="en-US" sz="2400" dirty="0">
                <a:latin typeface="Arial" panose="020B0604020202020204" pitchFamily="34" charset="0"/>
                <a:ea typeface="ＭＳ Ｐゴシック" pitchFamily="34" charset="-128"/>
                <a:cs typeface="Arial" panose="020B0604020202020204" pitchFamily="34" charset="0"/>
              </a:rPr>
              <a:t> communication</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Minimal time pressure</a:t>
            </a:r>
          </a:p>
          <a:p>
            <a:pPr marL="457200" indent="-457200">
              <a:buClr>
                <a:schemeClr val="bg2"/>
              </a:buClr>
              <a:buSzPct val="100000"/>
              <a:buFont typeface="+mj-lt"/>
              <a:buAutoNum type="arabicPeriod"/>
              <a:defRPr/>
            </a:pPr>
            <a:r>
              <a:rPr lang="en-US" altLang="en-US" sz="2400" dirty="0">
                <a:latin typeface="Arial" panose="020B0604020202020204" pitchFamily="34" charset="0"/>
                <a:ea typeface="ＭＳ Ｐゴシック" pitchFamily="34" charset="-128"/>
                <a:cs typeface="Arial" panose="020B0604020202020204" pitchFamily="34" charset="0"/>
              </a:rPr>
              <a:t>Work and non work support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7190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Culture and Innovation</a:t>
            </a:r>
            <a:endParaRPr lang="en-US" sz="3600" dirty="0">
              <a:latin typeface="+mj-lt"/>
            </a:endParaRPr>
          </a:p>
        </p:txBody>
      </p:sp>
      <p:sp>
        <p:nvSpPr>
          <p:cNvPr id="3" name="Content Placeholder 2"/>
          <p:cNvSpPr>
            <a:spLocks noGrp="1"/>
          </p:cNvSpPr>
          <p:nvPr>
            <p:ph idx="1"/>
          </p:nvPr>
        </p:nvSpPr>
        <p:spPr>
          <a:xfrm>
            <a:off x="467999" y="1274400"/>
            <a:ext cx="8280713" cy="4301177"/>
          </a:xfrm>
        </p:spPr>
        <p:txBody>
          <a:bodyPr wrap="square" tIns="18000" bIns="18000">
            <a:spAutoFit/>
          </a:bodyPr>
          <a:lstStyle/>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Acceptance of ambiguity</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Tolerance of the impractical</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Low external controls</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Tolerance of risks</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Tolerance of conflict</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Focus on ends</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Open-system focus</a:t>
            </a:r>
          </a:p>
          <a:p>
            <a:pPr marL="273050" indent="-27305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Positive feedback</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4922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spc="-300" dirty="0">
                <a:solidFill>
                  <a:schemeClr val="bg2"/>
                </a:solidFill>
                <a:latin typeface="+mj-lt"/>
                <a:ea typeface="ＭＳ Ｐゴシック" panose="020B0600070205080204" pitchFamily="34" charset="-128"/>
                <a:cs typeface="Arial" panose="020B0604020202020204" pitchFamily="34" charset="0"/>
              </a:rPr>
              <a:t>H </a:t>
            </a:r>
            <a:r>
              <a:rPr lang="en-US" altLang="en-US" sz="3600" dirty="0">
                <a:solidFill>
                  <a:schemeClr val="bg2"/>
                </a:solidFill>
                <a:latin typeface="+mj-lt"/>
                <a:ea typeface="ＭＳ Ｐゴシック" panose="020B0600070205080204" pitchFamily="34" charset="-128"/>
                <a:cs typeface="Arial" panose="020B0604020202020204" pitchFamily="34" charset="0"/>
              </a:rPr>
              <a:t>R and Innovation</a:t>
            </a:r>
            <a:endParaRPr lang="en-US" sz="28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3" y="1274400"/>
            <a:ext cx="8280087" cy="1706039"/>
          </a:xfrm>
        </p:spPr>
        <p:txBody>
          <a:bodyPr wrap="square" tIns="18000" bIns="18000">
            <a:spAutoFit/>
          </a:bodyPr>
          <a:lstStyle/>
          <a:p>
            <a:pPr marL="0" indent="0">
              <a:buNone/>
            </a:pPr>
            <a:r>
              <a:rPr lang="en-US" sz="2400" b="1" dirty="0">
                <a:latin typeface="Arial" panose="020B0604020202020204" pitchFamily="34" charset="0"/>
                <a:cs typeface="Arial" panose="020B0604020202020204" pitchFamily="34" charset="0"/>
              </a:rPr>
              <a:t>Idea champion:</a:t>
            </a:r>
          </a:p>
          <a:p>
            <a:pPr marL="269875" indent="-269875">
              <a:buSzPct val="100000"/>
            </a:pPr>
            <a:r>
              <a:rPr lang="en-US" sz="2400" dirty="0">
                <a:latin typeface="Arial" panose="020B0604020202020204" pitchFamily="34" charset="0"/>
                <a:cs typeface="Arial" panose="020B0604020202020204" pitchFamily="34" charset="0"/>
              </a:rPr>
              <a:t>individuals who actively and enthusiastically support new ideas, build support for, overcome resistance to, and ensure that innovations are implemented.</a:t>
            </a:r>
          </a:p>
        </p:txBody>
      </p:sp>
      <p:pic>
        <p:nvPicPr>
          <p:cNvPr id="6" name="Picture Placeholder 5" descr="A photo shows two people standing in a room and looking at it with admiration.">
            <a:extLst>
              <a:ext uri="{FF2B5EF4-FFF2-40B4-BE49-F238E27FC236}">
                <a16:creationId xmlns:a16="http://schemas.microsoft.com/office/drawing/2014/main" id="{B1FD5362-1539-4F33-99D3-A3A7B517337B}"/>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264664" y="3140968"/>
            <a:ext cx="4614672" cy="3206496"/>
          </a:xfrm>
          <a:prstGeom prst="rect">
            <a:avLst/>
          </a:prstGeom>
        </p:spPr>
      </p:pic>
    </p:spTree>
    <p:extLst>
      <p:ext uri="{BB962C8B-B14F-4D97-AF65-F5344CB8AC3E}">
        <p14:creationId xmlns:p14="http://schemas.microsoft.com/office/powerpoint/2010/main" val="2694343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Learning Objective 6.5</a:t>
            </a:r>
            <a:endParaRPr lang="en-US" dirty="0">
              <a:solidFill>
                <a:schemeClr val="bg2"/>
              </a:solidFill>
              <a:latin typeface="+mj-lt"/>
            </a:endParaRPr>
          </a:p>
        </p:txBody>
      </p:sp>
      <p:sp>
        <p:nvSpPr>
          <p:cNvPr id="3" name="Content Placeholder 2"/>
          <p:cNvSpPr>
            <a:spLocks noGrp="1"/>
          </p:cNvSpPr>
          <p:nvPr>
            <p:ph idx="1"/>
          </p:nvPr>
        </p:nvSpPr>
        <p:spPr>
          <a:xfrm>
            <a:off x="467999" y="1274400"/>
            <a:ext cx="8280713" cy="775015"/>
          </a:xfrm>
        </p:spPr>
        <p:txBody>
          <a:bodyPr wrap="square" tIns="18000" bIns="18000">
            <a:spAutoFit/>
          </a:bodyPr>
          <a:lstStyle/>
          <a:p>
            <a:pPr marL="256032" indent="-256032">
              <a:buSzPct val="100000"/>
            </a:pPr>
            <a:r>
              <a:rPr lang="en-US" altLang="en-US" sz="2400" dirty="0">
                <a:latin typeface="Arial" panose="020B0604020202020204" pitchFamily="34" charset="0"/>
                <a:cs typeface="Arial" panose="020B0604020202020204" pitchFamily="34" charset="0"/>
              </a:rPr>
              <a:t>Explain what disruptive innovation is and why managing it is important.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7566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Managing Disruptive Innovation</a:t>
            </a:r>
            <a:endParaRPr lang="en-US" sz="3600" dirty="0">
              <a:latin typeface="+mj-lt"/>
            </a:endParaRPr>
          </a:p>
        </p:txBody>
      </p:sp>
      <p:sp>
        <p:nvSpPr>
          <p:cNvPr id="3" name="Content Placeholder 2"/>
          <p:cNvSpPr>
            <a:spLocks noGrp="1"/>
          </p:cNvSpPr>
          <p:nvPr>
            <p:ph idx="1"/>
          </p:nvPr>
        </p:nvSpPr>
        <p:spPr>
          <a:xfrm>
            <a:off x="467999" y="1274400"/>
            <a:ext cx="8280713" cy="1336708"/>
          </a:xfrm>
        </p:spPr>
        <p:txBody>
          <a:bodyPr wrap="square" tIns="18000" bIns="18000">
            <a:spAutoFit/>
          </a:bodyPr>
          <a:lstStyle/>
          <a:p>
            <a:pPr marL="0" indent="0">
              <a:buClr>
                <a:schemeClr val="bg2"/>
              </a:buClr>
              <a:buSzPct val="100000"/>
              <a:buNone/>
              <a:defRPr/>
            </a:pPr>
            <a:r>
              <a:rPr lang="en-US" altLang="en-US" sz="2400" b="1" dirty="0">
                <a:latin typeface="Arial" panose="020B0604020202020204" pitchFamily="34" charset="0"/>
                <a:ea typeface="ＭＳ Ｐゴシック" pitchFamily="34" charset="-128"/>
                <a:cs typeface="Arial" panose="020B0604020202020204" pitchFamily="34" charset="0"/>
              </a:rPr>
              <a:t>Disruptive innovation: </a:t>
            </a:r>
          </a:p>
          <a:p>
            <a:pPr>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innovation in products, services, or processes that radically change an industry’s rules of the game.</a:t>
            </a:r>
          </a:p>
        </p:txBody>
      </p:sp>
      <p:sp>
        <p:nvSpPr>
          <p:cNvPr id="4" name="Content Placeholder 3"/>
          <p:cNvSpPr>
            <a:spLocks noGrp="1"/>
          </p:cNvSpPr>
          <p:nvPr>
            <p:ph idx="13"/>
          </p:nvPr>
        </p:nvSpPr>
        <p:spPr>
          <a:xfrm>
            <a:off x="467999" y="2780928"/>
            <a:ext cx="8280713" cy="1706039"/>
          </a:xfrm>
        </p:spPr>
        <p:txBody>
          <a:bodyPr wrap="square" tIns="18000" bIns="18000">
            <a:spAutoFit/>
          </a:bodyPr>
          <a:lstStyle/>
          <a:p>
            <a:pPr marL="0" indent="0">
              <a:buNone/>
            </a:pPr>
            <a:r>
              <a:rPr lang="en-US" sz="2400" b="1" dirty="0">
                <a:latin typeface="Arial" panose="020B0604020202020204" pitchFamily="34" charset="0"/>
                <a:cs typeface="Arial" panose="020B0604020202020204" pitchFamily="34" charset="0"/>
              </a:rPr>
              <a:t>Sustaining innovation:</a:t>
            </a:r>
          </a:p>
          <a:p>
            <a:r>
              <a:rPr lang="en-US" sz="2400" dirty="0">
                <a:latin typeface="Arial" panose="020B0604020202020204" pitchFamily="34" charset="0"/>
                <a:cs typeface="Arial" panose="020B0604020202020204" pitchFamily="34" charset="0"/>
              </a:rPr>
              <a:t>innovations that represent small and incremental changes in established products rather than dramatic breakthroughs.</a:t>
            </a:r>
          </a:p>
        </p:txBody>
      </p:sp>
    </p:spTree>
    <p:extLst>
      <p:ext uri="{BB962C8B-B14F-4D97-AF65-F5344CB8AC3E}">
        <p14:creationId xmlns:p14="http://schemas.microsoft.com/office/powerpoint/2010/main" val="3439139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Examples of Past Disruptive Innovations </a:t>
            </a:r>
            <a:r>
              <a:rPr lang="en-US" altLang="en-US" sz="2800" dirty="0">
                <a:latin typeface="+mj-lt"/>
                <a:ea typeface="ＭＳ Ｐゴシック" panose="020B0600070205080204" pitchFamily="34" charset="-128"/>
                <a:cs typeface="Arial" panose="020B0604020202020204" pitchFamily="34" charset="0"/>
              </a:rPr>
              <a:t>(1 of 2)</a:t>
            </a:r>
            <a:endParaRPr lang="en-US" sz="2800" dirty="0">
              <a:solidFill>
                <a:schemeClr val="bg2"/>
              </a:solidFill>
              <a:latin typeface="+mj-lt"/>
            </a:endParaRPr>
          </a:p>
        </p:txBody>
      </p:sp>
      <p:sp>
        <p:nvSpPr>
          <p:cNvPr id="3" name="Content Placeholder 2"/>
          <p:cNvSpPr>
            <a:spLocks noGrp="1"/>
          </p:cNvSpPr>
          <p:nvPr>
            <p:ph idx="1"/>
          </p:nvPr>
        </p:nvSpPr>
        <p:spPr>
          <a:xfrm>
            <a:off x="467999" y="1562251"/>
            <a:ext cx="8280713"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6.6</a:t>
            </a:r>
            <a:r>
              <a:rPr lang="en-US" dirty="0">
                <a:latin typeface="Arial" panose="020B0604020202020204" pitchFamily="34" charset="0"/>
                <a:cs typeface="Arial" panose="020B0604020202020204" pitchFamily="34" charset="0"/>
              </a:rPr>
              <a:t> Examples of Past Disruptive Innovators</a:t>
            </a:r>
          </a:p>
        </p:txBody>
      </p:sp>
      <p:graphicFrame>
        <p:nvGraphicFramePr>
          <p:cNvPr id="5" name="Table 1"/>
          <p:cNvGraphicFramePr>
            <a:graphicFrameLocks/>
          </p:cNvGraphicFramePr>
          <p:nvPr>
            <p:extLst>
              <p:ext uri="{D42A27DB-BD31-4B8C-83A1-F6EECF244321}">
                <p14:modId xmlns:p14="http://schemas.microsoft.com/office/powerpoint/2010/main" val="592239672"/>
              </p:ext>
            </p:extLst>
          </p:nvPr>
        </p:nvGraphicFramePr>
        <p:xfrm>
          <a:off x="539553" y="2017304"/>
          <a:ext cx="8208911" cy="4364024"/>
        </p:xfrm>
        <a:graphic>
          <a:graphicData uri="http://schemas.openxmlformats.org/drawingml/2006/table">
            <a:tbl>
              <a:tblPr firstRow="1">
                <a:tableStyleId>{0E3FDE45-AF77-4B5C-9715-49D594BDF05E}</a:tableStyleId>
              </a:tblPr>
              <a:tblGrid>
                <a:gridCol w="4104455">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550663">
                <a:tc>
                  <a:txBody>
                    <a:bodyPr/>
                    <a:lstStyle/>
                    <a:p>
                      <a:r>
                        <a:rPr lang="en-US" sz="1600" b="1" i="0" u="none" strike="noStrike" kern="1200" baseline="0" noProof="0">
                          <a:solidFill>
                            <a:schemeClr val="bg1"/>
                          </a:solidFill>
                          <a:latin typeface="Arial" panose="020B0604020202020204" pitchFamily="34" charset="0"/>
                          <a:ea typeface="+mn-ea"/>
                          <a:cs typeface="Arial" panose="020B0604020202020204" pitchFamily="34" charset="0"/>
                        </a:rPr>
                        <a:t>Established Business</a:t>
                      </a:r>
                      <a:endParaRPr lang="en-US" sz="1600" noProof="0">
                        <a:solidFill>
                          <a:schemeClr val="bg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b="1" i="0" u="none" strike="noStrike" kern="1200" baseline="0" noProof="0">
                          <a:solidFill>
                            <a:schemeClr val="bg1"/>
                          </a:solidFill>
                          <a:latin typeface="Arial" panose="020B0604020202020204" pitchFamily="34" charset="0"/>
                          <a:ea typeface="+mn-ea"/>
                          <a:cs typeface="Arial" panose="020B0604020202020204" pitchFamily="34" charset="0"/>
                        </a:rPr>
                        <a:t>Disruptor</a:t>
                      </a:r>
                      <a:endParaRPr lang="en-US" sz="1600" noProof="0">
                        <a:solidFill>
                          <a:schemeClr val="bg1"/>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1"/>
                  </a:ext>
                </a:extLst>
              </a:tr>
              <a:tr h="460561">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Compact disc</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Apple i</a:t>
                      </a:r>
                      <a:r>
                        <a:rPr lang="en-US" sz="100" b="0" i="0" u="none" strike="noStrike" kern="1200" baseline="0" noProof="0">
                          <a:solidFill>
                            <a:schemeClr val="tx1"/>
                          </a:solidFill>
                          <a:latin typeface="Arial" panose="020B0604020202020204" pitchFamily="34" charset="0"/>
                          <a:ea typeface="+mn-ea"/>
                          <a:cs typeface="Arial" panose="020B0604020202020204" pitchFamily="34" charset="0"/>
                        </a:rPr>
                        <a:t>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Tunes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308142358"/>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Carbon paper</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Xerox copy machine</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63855909"/>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Canvas tennis shoes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Nike athletic shoes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Portable radio</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Sony Walkman</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Sony Walkman</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Apple i</a:t>
                      </a:r>
                      <a:r>
                        <a:rPr lang="en-US" sz="100" b="0" i="0" u="none" strike="noStrike" kern="1200" baseline="0" noProof="0">
                          <a:solidFill>
                            <a:schemeClr val="tx1"/>
                          </a:solidFill>
                          <a:latin typeface="Arial" panose="020B0604020202020204" pitchFamily="34" charset="0"/>
                          <a:ea typeface="+mn-ea"/>
                          <a:cs typeface="Arial" panose="020B0604020202020204" pitchFamily="34" charset="0"/>
                        </a:rPr>
                        <a:t>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Pod</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Typewriters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I B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M </a:t>
                      </a:r>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P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C</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Weekly news magazines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C N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N</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331527">
                <a:tc>
                  <a:txBody>
                    <a:bodyPr/>
                    <a:lstStyle/>
                    <a:p>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T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V networks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Cable and Netflix</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Local travel agencies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Expedia</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Stockbrokers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e</a:t>
                      </a:r>
                      <a:r>
                        <a:rPr lang="en-US" sz="100" b="0" i="0" u="none" strike="noStrike" kern="1200" baseline="0" noProof="0">
                          <a:solidFill>
                            <a:schemeClr val="tx1"/>
                          </a:solidFill>
                          <a:latin typeface="Arial" panose="020B0604020202020204" pitchFamily="34" charset="0"/>
                          <a:ea typeface="+mn-ea"/>
                          <a:cs typeface="Arial" panose="020B0604020202020204" pitchFamily="34" charset="0"/>
                        </a:rPr>
                        <a:t>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Trade</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Traveler’s checks</a:t>
                      </a:r>
                      <a:endParaRPr lang="en-US" sz="1600" noProof="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spc="-200" baseline="0" noProof="0" dirty="0">
                          <a:solidFill>
                            <a:schemeClr val="tx1"/>
                          </a:solidFill>
                          <a:latin typeface="Arial" panose="020B0604020202020204" pitchFamily="34" charset="0"/>
                          <a:ea typeface="+mn-ea"/>
                          <a:cs typeface="Arial" panose="020B0604020202020204" pitchFamily="34" charset="0"/>
                        </a:rPr>
                        <a:t>A T M </a:t>
                      </a:r>
                      <a:r>
                        <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rPr>
                        <a:t>s and Visa</a:t>
                      </a:r>
                      <a:endParaRPr lang="en-US" sz="1600" noProof="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823522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Examples of Past Disruptive Innovations </a:t>
            </a:r>
            <a:r>
              <a:rPr lang="en-US" altLang="en-US" sz="2800" dirty="0">
                <a:latin typeface="+mj-lt"/>
                <a:ea typeface="ＭＳ Ｐゴシック" panose="020B0600070205080204" pitchFamily="34" charset="-128"/>
                <a:cs typeface="Arial" panose="020B0604020202020204" pitchFamily="34" charset="0"/>
              </a:rPr>
              <a:t>(2 of 2)</a:t>
            </a:r>
            <a:endParaRPr lang="en-US" sz="2800" dirty="0">
              <a:solidFill>
                <a:schemeClr val="bg2"/>
              </a:solidFill>
              <a:latin typeface="+mj-lt"/>
            </a:endParaRPr>
          </a:p>
        </p:txBody>
      </p:sp>
      <p:sp>
        <p:nvSpPr>
          <p:cNvPr id="3" name="Content Placeholder 2"/>
          <p:cNvSpPr>
            <a:spLocks noGrp="1"/>
          </p:cNvSpPr>
          <p:nvPr>
            <p:ph idx="1"/>
          </p:nvPr>
        </p:nvSpPr>
        <p:spPr>
          <a:xfrm>
            <a:off x="467999" y="1602000"/>
            <a:ext cx="8280713"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6.6</a:t>
            </a:r>
            <a:r>
              <a:rPr lang="en-US" dirty="0">
                <a:latin typeface="Arial" panose="020B0604020202020204" pitchFamily="34" charset="0"/>
                <a:cs typeface="Arial" panose="020B0604020202020204" pitchFamily="34" charset="0"/>
              </a:rPr>
              <a:t> Examples of Past Disruptive Innovators (continued)</a:t>
            </a:r>
          </a:p>
        </p:txBody>
      </p:sp>
      <p:graphicFrame>
        <p:nvGraphicFramePr>
          <p:cNvPr id="5" name="Table 1"/>
          <p:cNvGraphicFramePr>
            <a:graphicFrameLocks/>
          </p:cNvGraphicFramePr>
          <p:nvPr>
            <p:extLst>
              <p:ext uri="{D42A27DB-BD31-4B8C-83A1-F6EECF244321}">
                <p14:modId xmlns:p14="http://schemas.microsoft.com/office/powerpoint/2010/main" val="1208907985"/>
              </p:ext>
            </p:extLst>
          </p:nvPr>
        </p:nvGraphicFramePr>
        <p:xfrm>
          <a:off x="539553" y="2060848"/>
          <a:ext cx="8208911" cy="3568183"/>
        </p:xfrm>
        <a:graphic>
          <a:graphicData uri="http://schemas.openxmlformats.org/drawingml/2006/table">
            <a:tbl>
              <a:tblPr firstRow="1">
                <a:tableStyleId>{0E3FDE45-AF77-4B5C-9715-49D594BDF05E}</a:tableStyleId>
              </a:tblPr>
              <a:tblGrid>
                <a:gridCol w="4104455">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550663">
                <a:tc>
                  <a:txBody>
                    <a:bodyPr/>
                    <a:lstStyle/>
                    <a:p>
                      <a:r>
                        <a:rPr lang="en-US" sz="1600" b="1" i="0" u="none" strike="noStrike" kern="1200" baseline="0" noProof="0">
                          <a:solidFill>
                            <a:schemeClr val="bg1"/>
                          </a:solidFill>
                          <a:latin typeface="Arial" panose="020B0604020202020204" pitchFamily="34" charset="0"/>
                          <a:ea typeface="+mn-ea"/>
                          <a:cs typeface="Arial" panose="020B0604020202020204" pitchFamily="34" charset="0"/>
                        </a:rPr>
                        <a:t>Established Business</a:t>
                      </a:r>
                      <a:endParaRPr lang="en-US" sz="1600" noProof="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600" b="1" i="0" u="none" strike="noStrike" kern="1200" baseline="0" noProof="0">
                          <a:solidFill>
                            <a:schemeClr val="bg1"/>
                          </a:solidFill>
                          <a:latin typeface="Arial" panose="020B0604020202020204" pitchFamily="34" charset="0"/>
                          <a:ea typeface="+mn-ea"/>
                          <a:cs typeface="Arial" panose="020B0604020202020204" pitchFamily="34" charset="0"/>
                        </a:rPr>
                        <a:t>Disruptor</a:t>
                      </a:r>
                      <a:endParaRPr lang="en-US" sz="1600" noProof="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Encyclopedias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Wikipedia</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31527">
                <a:tc>
                  <a:txBody>
                    <a:bodyPr/>
                    <a:lstStyle/>
                    <a:p>
                      <a:r>
                        <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rPr>
                        <a:t>Newspaper classified ads</a:t>
                      </a:r>
                      <a:endParaRPr lang="en-US" sz="1600" noProof="0" dirty="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Craig’s List</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31527">
                <a:tc>
                  <a:txBody>
                    <a:bodyPr/>
                    <a:lstStyle/>
                    <a:p>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A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M/</a:t>
                      </a:r>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F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M radio stations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Sirius </a:t>
                      </a:r>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X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M</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Tax preparation services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Intuit’s Turbo Tax</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Yellow Pages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Google</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Paper maps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Garmin’s </a:t>
                      </a:r>
                      <a:r>
                        <a:rPr lang="en-US" sz="1600" b="0" i="0" u="none" strike="noStrike" kern="1200" spc="-200" baseline="0" noProof="0">
                          <a:solidFill>
                            <a:schemeClr val="tx1"/>
                          </a:solidFill>
                          <a:latin typeface="Arial" panose="020B0604020202020204" pitchFamily="34" charset="0"/>
                          <a:ea typeface="+mn-ea"/>
                          <a:cs typeface="Arial" panose="020B0604020202020204" pitchFamily="34" charset="0"/>
                        </a:rPr>
                        <a:t>G P </a:t>
                      </a:r>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Paperback books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Kindle</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Lawyers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Legal Zoom</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331527">
                <a:tc>
                  <a:txBody>
                    <a:bodyPr/>
                    <a:lstStyle/>
                    <a:p>
                      <a:r>
                        <a:rPr lang="en-US" sz="1600" b="0" i="0" u="none" strike="noStrike" kern="1200" baseline="0" noProof="0">
                          <a:solidFill>
                            <a:schemeClr val="tx1"/>
                          </a:solidFill>
                          <a:latin typeface="Arial" panose="020B0604020202020204" pitchFamily="34" charset="0"/>
                          <a:ea typeface="+mn-ea"/>
                          <a:cs typeface="Arial" panose="020B0604020202020204" pitchFamily="34" charset="0"/>
                        </a:rPr>
                        <a:t>Taxis</a:t>
                      </a:r>
                      <a:endParaRPr lang="en-US" sz="1600" noProof="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rPr>
                        <a:t>Uber</a:t>
                      </a:r>
                      <a:endParaRPr lang="en-US" sz="1600" noProof="0" dirty="0">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0641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3464"/>
            <a:ext cx="8280713" cy="1144347"/>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Why Is Disruptive Innovation Important?</a:t>
            </a:r>
            <a:endParaRPr lang="en-US" dirty="0">
              <a:solidFill>
                <a:schemeClr val="bg2"/>
              </a:solidFill>
              <a:latin typeface="+mj-lt"/>
            </a:endParaRPr>
          </a:p>
        </p:txBody>
      </p:sp>
      <p:sp>
        <p:nvSpPr>
          <p:cNvPr id="9" name="Content Placeholder 8">
            <a:extLst>
              <a:ext uri="{FF2B5EF4-FFF2-40B4-BE49-F238E27FC236}">
                <a16:creationId xmlns:a16="http://schemas.microsoft.com/office/drawing/2014/main" id="{73005ACE-71D0-408E-BD22-7A5C9F0FB7A1}"/>
              </a:ext>
            </a:extLst>
          </p:cNvPr>
          <p:cNvSpPr>
            <a:spLocks noGrp="1"/>
          </p:cNvSpPr>
          <p:nvPr>
            <p:ph sz="quarter" idx="13"/>
          </p:nvPr>
        </p:nvSpPr>
        <p:spPr>
          <a:xfrm>
            <a:off x="468000" y="1602000"/>
            <a:ext cx="8280713" cy="2075371"/>
          </a:xfrm>
        </p:spPr>
        <p:txBody>
          <a:bodyPr wrap="square" tIns="18000" bIns="18000">
            <a:spAutoFit/>
          </a:bodyPr>
          <a:lstStyle/>
          <a:p>
            <a:pPr marL="0" indent="0">
              <a:buSzPct val="100000"/>
              <a:buNone/>
            </a:pPr>
            <a:r>
              <a:rPr lang="en-US" altLang="en-US" sz="2400" b="1" dirty="0">
                <a:latin typeface="Arial" panose="020B0604020202020204" pitchFamily="34" charset="0"/>
                <a:cs typeface="Arial" panose="020B0604020202020204" pitchFamily="34" charset="0"/>
              </a:rPr>
              <a:t> Skunk works: </a:t>
            </a:r>
          </a:p>
          <a:p>
            <a:pPr marL="269875" indent="-269875">
              <a:buSzPct val="100000"/>
            </a:pPr>
            <a:r>
              <a:rPr lang="en-US" sz="2400" dirty="0">
                <a:latin typeface="Arial" panose="020B0604020202020204" pitchFamily="34" charset="0"/>
                <a:cs typeface="Arial" panose="020B0604020202020204" pitchFamily="34" charset="0"/>
              </a:rPr>
              <a:t>a small group within a large organization, given a high degree of autonomy and unhampered by corporate bureaucracy, whose mission is to develop a project primarily for the purpose of radical innovation.</a:t>
            </a:r>
          </a:p>
        </p:txBody>
      </p:sp>
      <p:sp>
        <p:nvSpPr>
          <p:cNvPr id="10" name="Content Placeholder 9">
            <a:extLst>
              <a:ext uri="{FF2B5EF4-FFF2-40B4-BE49-F238E27FC236}">
                <a16:creationId xmlns:a16="http://schemas.microsoft.com/office/drawing/2014/main" id="{02F7B507-6147-4ED2-B09C-4D79D4FCEBC0}"/>
              </a:ext>
            </a:extLst>
          </p:cNvPr>
          <p:cNvSpPr>
            <a:spLocks noGrp="1"/>
          </p:cNvSpPr>
          <p:nvPr>
            <p:ph sz="quarter" idx="14"/>
          </p:nvPr>
        </p:nvSpPr>
        <p:spPr>
          <a:xfrm>
            <a:off x="467999" y="3806113"/>
            <a:ext cx="8280713" cy="775015"/>
          </a:xfrm>
        </p:spPr>
        <p:txBody>
          <a:bodyPr wrap="square" tIns="18000" bIns="18000">
            <a:spAutoFit/>
          </a:bodyPr>
          <a:lstStyle/>
          <a:p>
            <a:pPr marL="0" indent="0">
              <a:buNone/>
            </a:pPr>
            <a:r>
              <a:rPr lang="en-US" sz="2400" dirty="0">
                <a:solidFill>
                  <a:srgbClr val="007FA3"/>
                </a:solidFill>
                <a:latin typeface="Arial" panose="020B0604020202020204" pitchFamily="34" charset="0"/>
                <a:cs typeface="Arial" panose="020B0604020202020204" pitchFamily="34" charset="0"/>
              </a:rPr>
              <a:t>47 percent of business leaders say that finding and keeping employees to </a:t>
            </a:r>
            <a:r>
              <a:rPr lang="en-US" sz="2400" b="1" dirty="0">
                <a:solidFill>
                  <a:srgbClr val="007FA3"/>
                </a:solidFill>
                <a:latin typeface="Arial" panose="020B0604020202020204" pitchFamily="34" charset="0"/>
                <a:cs typeface="Arial" panose="020B0604020202020204" pitchFamily="34" charset="0"/>
              </a:rPr>
              <a:t>counteract disruptive change </a:t>
            </a:r>
            <a:r>
              <a:rPr lang="en-US" sz="2400" dirty="0">
                <a:solidFill>
                  <a:srgbClr val="007FA3"/>
                </a:solidFill>
                <a:latin typeface="Arial" panose="020B0604020202020204" pitchFamily="34" charset="0"/>
                <a:cs typeface="Arial" panose="020B0604020202020204" pitchFamily="34" charset="0"/>
              </a:rPr>
              <a:t>is a significant</a:t>
            </a:r>
            <a:endParaRPr lang="en-US" sz="2400" dirty="0">
              <a:solidFill>
                <a:srgbClr val="007FA3"/>
              </a:solidFill>
            </a:endParaRPr>
          </a:p>
        </p:txBody>
      </p:sp>
      <p:graphicFrame>
        <p:nvGraphicFramePr>
          <p:cNvPr id="23" name="Object 22" descr="obstacle super 57.">
            <a:extLst>
              <a:ext uri="{FF2B5EF4-FFF2-40B4-BE49-F238E27FC236}">
                <a16:creationId xmlns:a16="http://schemas.microsoft.com/office/drawing/2014/main" id="{A271B715-5978-46AC-A3D8-B7BC7E8CEED9}"/>
              </a:ext>
            </a:extLst>
          </p:cNvPr>
          <p:cNvGraphicFramePr>
            <a:graphicFrameLocks noChangeAspect="1"/>
          </p:cNvGraphicFramePr>
          <p:nvPr>
            <p:extLst>
              <p:ext uri="{D42A27DB-BD31-4B8C-83A1-F6EECF244321}">
                <p14:modId xmlns:p14="http://schemas.microsoft.com/office/powerpoint/2010/main" val="1973039294"/>
              </p:ext>
            </p:extLst>
          </p:nvPr>
        </p:nvGraphicFramePr>
        <p:xfrm>
          <a:off x="467544" y="4653416"/>
          <a:ext cx="1301027" cy="386445"/>
        </p:xfrm>
        <a:graphic>
          <a:graphicData uri="http://schemas.openxmlformats.org/presentationml/2006/ole">
            <mc:AlternateContent xmlns:mc="http://schemas.openxmlformats.org/markup-compatibility/2006">
              <mc:Choice xmlns:v="urn:schemas-microsoft-com:vml" Requires="v">
                <p:oleObj name="Equation" r:id="rId3" imgW="749160" imgH="203040" progId="Equation.DSMT4">
                  <p:embed/>
                </p:oleObj>
              </mc:Choice>
              <mc:Fallback>
                <p:oleObj name="Equation" r:id="rId3" imgW="749160" imgH="203040" progId="Equation.DSMT4">
                  <p:embed/>
                  <p:pic>
                    <p:nvPicPr>
                      <p:cNvPr id="15" name="Object 14" descr="An arrow pointing toward right side.">
                        <a:extLst>
                          <a:ext uri="{FF2B5EF4-FFF2-40B4-BE49-F238E27FC236}">
                            <a16:creationId xmlns:a16="http://schemas.microsoft.com/office/drawing/2014/main" id="{ADA13E50-1522-4A5E-9DDA-4212BF62A79E}"/>
                          </a:ext>
                        </a:extLst>
                      </p:cNvPr>
                      <p:cNvPicPr/>
                      <p:nvPr/>
                    </p:nvPicPr>
                    <p:blipFill>
                      <a:blip r:embed="rId4"/>
                      <a:stretch>
                        <a:fillRect/>
                      </a:stretch>
                    </p:blipFill>
                    <p:spPr>
                      <a:xfrm>
                        <a:off x="467544" y="4653416"/>
                        <a:ext cx="1301027" cy="386445"/>
                      </a:xfrm>
                      <a:prstGeom prst="rect">
                        <a:avLst/>
                      </a:prstGeom>
                    </p:spPr>
                  </p:pic>
                </p:oleObj>
              </mc:Fallback>
            </mc:AlternateContent>
          </a:graphicData>
        </a:graphic>
      </p:graphicFrame>
    </p:spTree>
    <p:extLst>
      <p:ext uri="{BB962C8B-B14F-4D97-AF65-F5344CB8AC3E}">
        <p14:creationId xmlns:p14="http://schemas.microsoft.com/office/powerpoint/2010/main" val="186775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Advice In A Disruptive World</a:t>
            </a:r>
            <a:endParaRPr lang="en-US" dirty="0">
              <a:solidFill>
                <a:schemeClr val="bg2"/>
              </a:solidFill>
              <a:latin typeface="+mj-lt"/>
            </a:endParaRPr>
          </a:p>
        </p:txBody>
      </p:sp>
      <p:sp>
        <p:nvSpPr>
          <p:cNvPr id="3" name="Content Placeholder 2"/>
          <p:cNvSpPr>
            <a:spLocks noGrp="1"/>
          </p:cNvSpPr>
          <p:nvPr>
            <p:ph idx="1"/>
          </p:nvPr>
        </p:nvSpPr>
        <p:spPr>
          <a:xfrm>
            <a:off x="467999" y="1274400"/>
            <a:ext cx="8280713" cy="2090760"/>
          </a:xfrm>
        </p:spPr>
        <p:txBody>
          <a:bodyPr wrap="square" tIns="18000" bIns="18000">
            <a:spAutoFit/>
          </a:bodyPr>
          <a:lstStyle/>
          <a:p>
            <a:pPr marL="271463" indent="-271463">
              <a:buSzPct val="100000"/>
            </a:pPr>
            <a:r>
              <a:rPr lang="en-US" altLang="en-US" sz="2400" dirty="0">
                <a:latin typeface="Arial" panose="020B0604020202020204" pitchFamily="34" charset="0"/>
                <a:cs typeface="Arial" panose="020B0604020202020204" pitchFamily="34" charset="0"/>
              </a:rPr>
              <a:t>Never get comfortable with a single employer.</a:t>
            </a:r>
          </a:p>
          <a:p>
            <a:pPr marL="271463" indent="-271463">
              <a:buSzPct val="100000"/>
            </a:pPr>
            <a:r>
              <a:rPr lang="en-US" sz="2400" dirty="0">
                <a:latin typeface="Arial" panose="020B0604020202020204" pitchFamily="34" charset="0"/>
                <a:cs typeface="Arial" panose="020B0604020202020204" pitchFamily="34" charset="0"/>
              </a:rPr>
              <a:t>Keep your skills current.</a:t>
            </a:r>
          </a:p>
          <a:p>
            <a:pPr marL="271463" indent="-271463">
              <a:buSzPct val="100000"/>
            </a:pPr>
            <a:r>
              <a:rPr lang="en-US" sz="2400" dirty="0">
                <a:latin typeface="Arial" panose="020B0604020202020204" pitchFamily="34" charset="0"/>
                <a:cs typeface="Arial" panose="020B0604020202020204" pitchFamily="34" charset="0"/>
              </a:rPr>
              <a:t>Remember that YOU are responsible for your future.</a:t>
            </a:r>
          </a:p>
          <a:p>
            <a:pPr marL="271463" indent="-271463">
              <a:buSzPct val="100000"/>
            </a:pPr>
            <a:r>
              <a:rPr lang="en-US" sz="2400" dirty="0">
                <a:latin typeface="Arial" panose="020B0604020202020204" pitchFamily="34" charset="0"/>
                <a:cs typeface="Arial" panose="020B0604020202020204" pitchFamily="34" charset="0"/>
              </a:rPr>
              <a:t>Take risks while you’re young.</a:t>
            </a:r>
          </a:p>
        </p:txBody>
      </p:sp>
    </p:spTree>
    <p:extLst>
      <p:ext uri="{BB962C8B-B14F-4D97-AF65-F5344CB8AC3E}">
        <p14:creationId xmlns:p14="http://schemas.microsoft.com/office/powerpoint/2010/main" val="2113651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68000" y="284400"/>
            <a:ext cx="8280712" cy="590931"/>
          </a:xfrm>
        </p:spPr>
        <p:txBody>
          <a:bodyPr wrap="square" lIns="0" tIns="18288" rIns="0" bIns="18288" rtlCol="0" anchor="b" anchorCtr="0">
            <a:spAutoFit/>
          </a:bodyPr>
          <a:lstStyle/>
          <a:p>
            <a:pPr eaLnBrk="1" fontAlgn="auto" hangingPunct="1">
              <a:spcAft>
                <a:spcPts val="0"/>
              </a:spcAft>
              <a:defRPr/>
            </a:pPr>
            <a:r>
              <a:rPr lang="en-US" sz="3600" dirty="0">
                <a:latin typeface="+mj-lt"/>
              </a:rPr>
              <a:t>Copyright</a:t>
            </a:r>
            <a:endParaRPr lang="en-US" sz="3600" b="0" dirty="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82923" y="2788200"/>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057399" y="1828800"/>
            <a:ext cx="6691313" cy="3260978"/>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dirty="0">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2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845EB8-A854-4C55-9601-20AFB44041B8}">
  <ds:schemaRefs>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customXml/itemProps2.xml><?xml version="1.0" encoding="utf-8"?>
<ds:datastoreItem xmlns:ds="http://schemas.openxmlformats.org/officeDocument/2006/customXml" ds:itemID="{44D4E87B-0D51-4220-93FF-2DAC7E93EF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3CECB4-1243-4DF5-8993-4EE94F1DA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3618</TotalTime>
  <Words>1239</Words>
  <Application>Microsoft Office PowerPoint</Application>
  <PresentationFormat>On-screen Show (4:3)</PresentationFormat>
  <Paragraphs>278</Paragraphs>
  <Slides>36</Slides>
  <Notes>35</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44" baseType="lpstr">
      <vt:lpstr>Arial</vt:lpstr>
      <vt:lpstr>Noto Sans Symbols</vt:lpstr>
      <vt:lpstr>Times New Roman</vt:lpstr>
      <vt:lpstr>Verdana</vt:lpstr>
      <vt:lpstr>Wingdings</vt:lpstr>
      <vt:lpstr>1_508 Lecture</vt:lpstr>
      <vt:lpstr>2_508 Lecture</vt:lpstr>
      <vt:lpstr>Equation</vt:lpstr>
      <vt:lpstr>Fundamentals of Management</vt:lpstr>
      <vt:lpstr>Learning Objectives</vt:lpstr>
      <vt:lpstr>Learning Objective 6.1</vt:lpstr>
      <vt:lpstr>What Is Organizational Change?</vt:lpstr>
      <vt:lpstr>External Forces Create a Need to Change</vt:lpstr>
      <vt:lpstr>Internal Forces Create a Need to Change</vt:lpstr>
      <vt:lpstr>Initiating Change</vt:lpstr>
      <vt:lpstr>Two Different Approaches</vt:lpstr>
      <vt:lpstr>Calm Waters Change</vt:lpstr>
      <vt:lpstr>White-Water Rapids Change</vt:lpstr>
      <vt:lpstr>Implementing Change</vt:lpstr>
      <vt:lpstr>Organization Development Efforts</vt:lpstr>
      <vt:lpstr>Learning Objective 6.2</vt:lpstr>
      <vt:lpstr>Resistance to Change</vt:lpstr>
      <vt:lpstr>Reducing Resistance to Change</vt:lpstr>
      <vt:lpstr>Learning Objective 6.3</vt:lpstr>
      <vt:lpstr>Employee Reactions to Change</vt:lpstr>
      <vt:lpstr>Change Often Creates Stress for Employees</vt:lpstr>
      <vt:lpstr>Symptoms of Stress</vt:lpstr>
      <vt:lpstr>Causes of Stress: Job Related</vt:lpstr>
      <vt:lpstr>Causes of Stress: Personal</vt:lpstr>
      <vt:lpstr>Reducing Stress</vt:lpstr>
      <vt:lpstr>Learning Objective 6.4</vt:lpstr>
      <vt:lpstr>Creativity and Innovation</vt:lpstr>
      <vt:lpstr>Innovation Process</vt:lpstr>
      <vt:lpstr>Encouraging Innovation</vt:lpstr>
      <vt:lpstr>Structural Variables and Innovation</vt:lpstr>
      <vt:lpstr>Culture and Innovation</vt:lpstr>
      <vt:lpstr>H R and Innovation</vt:lpstr>
      <vt:lpstr>Learning Objective 6.5</vt:lpstr>
      <vt:lpstr>Managing Disruptive Innovation</vt:lpstr>
      <vt:lpstr>Examples of Past Disruptive Innovations (1 of 2)</vt:lpstr>
      <vt:lpstr>Examples of Past Disruptive Innovations (2 of 2)</vt:lpstr>
      <vt:lpstr>Why Is Disruptive Innovation Important?</vt:lpstr>
      <vt:lpstr>Advice In A Disruptive World</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6</dc:title>
  <dc:subject>Fundamentals of Management</dc:subject>
  <dc:creator>Robbins, Coulter and DeCenzo</dc:creator>
  <cp:keywords>Fundamentals of Management</cp:keywords>
  <dc:description>Additional information may be found in the Notes Pane of each slide by pressing F6._x000d_
Alt text for images/equations within table cells have been placed behind the object intentionally to provide a better screen reader user experience.</dc:description>
  <cp:lastModifiedBy>John Frazier</cp:lastModifiedBy>
  <cp:revision>1317</cp:revision>
  <dcterms:created xsi:type="dcterms:W3CDTF">2014-07-14T20:04:21Z</dcterms:created>
  <dcterms:modified xsi:type="dcterms:W3CDTF">2023-08-08T14:11:51Z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