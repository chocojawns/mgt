
<file path=[Content_Types].xml><?xml version="1.0" encoding="utf-8"?>
<Types xmlns="http://schemas.openxmlformats.org/package/2006/content-types">
  <Default Extension="png" ContentType="image/png"/>
  <Default Extension="emf" ContentType="image/x-emf"/>
  <Default Extension="rels" ContentType="application/vnd.openxmlformats-package.relationships+xml"/>
  <Default Extension="xml" ContentType="application/xml"/>
  <Default Extension="jpg" ContentType="image/jpe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presentation.xml" ContentType="application/vnd.openxmlformats-officedocument.presentationml.presentation.main+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9.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26.xml" ContentType="application/vnd.openxmlformats-officedocument.presentationml.notesSlide+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theme/theme3.xml" ContentType="application/vnd.openxmlformats-officedocument.theme+xml"/>
  <Override PartName="/ppt/theme/theme2.xml" ContentType="application/vnd.openxmlformats-officedocument.theme+xml"/>
  <Override PartName="/ppt/theme/theme1.xml" ContentType="application/vnd.openxmlformats-officedocument.theme+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app.xml" ContentType="application/vnd.openxmlformats-officedocument.extended-properties+xml"/>
  <Override PartName="/docProps/core.xml" ContentType="application/vnd.openxmlformats-package.core-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6" r:id="rId2"/>
  </p:sldMasterIdLst>
  <p:notesMasterIdLst>
    <p:notesMasterId r:id="rId38"/>
  </p:notesMasterIdLst>
  <p:handoutMasterIdLst>
    <p:handoutMasterId r:id="rId39"/>
  </p:handoutMasterIdLst>
  <p:sldIdLst>
    <p:sldId id="310" r:id="rId3"/>
    <p:sldId id="380" r:id="rId4"/>
    <p:sldId id="426" r:id="rId5"/>
    <p:sldId id="461" r:id="rId6"/>
    <p:sldId id="688" r:id="rId7"/>
    <p:sldId id="462" r:id="rId8"/>
    <p:sldId id="690" r:id="rId9"/>
    <p:sldId id="430" r:id="rId10"/>
    <p:sldId id="431" r:id="rId11"/>
    <p:sldId id="432" r:id="rId12"/>
    <p:sldId id="691" r:id="rId13"/>
    <p:sldId id="457" r:id="rId14"/>
    <p:sldId id="692" r:id="rId15"/>
    <p:sldId id="693" r:id="rId16"/>
    <p:sldId id="694" r:id="rId17"/>
    <p:sldId id="438" r:id="rId18"/>
    <p:sldId id="439" r:id="rId19"/>
    <p:sldId id="460" r:id="rId20"/>
    <p:sldId id="695" r:id="rId21"/>
    <p:sldId id="696" r:id="rId22"/>
    <p:sldId id="697" r:id="rId23"/>
    <p:sldId id="698" r:id="rId24"/>
    <p:sldId id="445" r:id="rId25"/>
    <p:sldId id="446" r:id="rId26"/>
    <p:sldId id="447" r:id="rId27"/>
    <p:sldId id="448" r:id="rId28"/>
    <p:sldId id="699" r:id="rId29"/>
    <p:sldId id="450" r:id="rId30"/>
    <p:sldId id="451" r:id="rId31"/>
    <p:sldId id="452" r:id="rId32"/>
    <p:sldId id="453" r:id="rId33"/>
    <p:sldId id="454" r:id="rId34"/>
    <p:sldId id="455" r:id="rId35"/>
    <p:sldId id="456" r:id="rId36"/>
    <p:sldId id="687"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 Mohanapriya" initials="DM" lastIdx="1" clrIdx="0"/>
  <p:cmAuthor id="2" name="laser" initials="l" lastIdx="1" clrIdx="1"/>
  <p:cmAuthor id="3" name="Darathie Renganathan, Integra-PDY, IN" initials="DRII" lastIdx="3" clrIdx="2"/>
  <p:cmAuthor id="4" name="veronica bashian" initials="vb" lastIdx="2"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FDB940"/>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17" autoAdjust="0"/>
    <p:restoredTop sz="89942" autoAdjust="0"/>
  </p:normalViewPr>
  <p:slideViewPr>
    <p:cSldViewPr>
      <p:cViewPr>
        <p:scale>
          <a:sx n="100" d="100"/>
          <a:sy n="100" d="100"/>
        </p:scale>
        <p:origin x="1842" y="6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4854"/>
    </p:cViewPr>
  </p:sorterViewPr>
  <p:notesViewPr>
    <p:cSldViewPr>
      <p:cViewPr varScale="1">
        <p:scale>
          <a:sx n="50" d="100"/>
          <a:sy n="50" d="100"/>
        </p:scale>
        <p:origin x="1368" y="2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handoutMaster" Target="handoutMasters/handoutMaster1.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viewProps" Target="viewProps.xml"/><Relationship Id="rId47" Type="http://schemas.openxmlformats.org/officeDocument/2006/relationships/customXml" Target="../customXml/item3.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commentAuthors" Target="commentAuthors.xml"/><Relationship Id="rId45" Type="http://schemas.openxmlformats.org/officeDocument/2006/relationships/customXml" Target="../customXml/item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notesMaster" Target="notesMasters/notesMaster1.xml"/><Relationship Id="rId46" Type="http://schemas.openxmlformats.org/officeDocument/2006/relationships/customXml" Target="../customXml/item2.xml"/><Relationship Id="rId20" Type="http://schemas.openxmlformats.org/officeDocument/2006/relationships/slide" Target="slides/slide18.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1/21/2022</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1/21/2022</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noProof="0" dirty="0">
                <a:latin typeface="Arial" panose="020B0604020202020204" pitchFamily="34" charset="0"/>
                <a:cs typeface="Arial" panose="020B0604020202020204" pitchFamily="34" charset="0"/>
              </a:rPr>
              <a:t>If this PowerPoint presentation contains mathematical equations, you may need to check that your computer has the following installed:</a:t>
            </a:r>
          </a:p>
          <a:p>
            <a:pPr marL="0" marR="0" indent="0" algn="l" defTabSz="914400" rtl="0" eaLnBrk="1" fontAlgn="auto" latinLnBrk="0" hangingPunct="1">
              <a:lnSpc>
                <a:spcPct val="100000"/>
              </a:lnSpc>
              <a:spcBef>
                <a:spcPts val="0"/>
              </a:spcBef>
              <a:spcAft>
                <a:spcPts val="0"/>
              </a:spcAft>
              <a:buClrTx/>
              <a:buSzTx/>
              <a:buFontTx/>
              <a:buNone/>
              <a:defRPr/>
            </a:pPr>
            <a:r>
              <a:rPr lang="en-US" noProof="0" dirty="0">
                <a:latin typeface="Arial" panose="020B0604020202020204" pitchFamily="34" charset="0"/>
                <a:cs typeface="Arial" panose="020B0604020202020204" pitchFamily="34" charset="0"/>
              </a:rPr>
              <a:t>1) Math Type Plugin</a:t>
            </a:r>
          </a:p>
          <a:p>
            <a:pPr marL="0" marR="0" indent="0" algn="l" defTabSz="914400" rtl="0" eaLnBrk="1" fontAlgn="auto" latinLnBrk="0" hangingPunct="1">
              <a:lnSpc>
                <a:spcPct val="100000"/>
              </a:lnSpc>
              <a:spcBef>
                <a:spcPts val="0"/>
              </a:spcBef>
              <a:spcAft>
                <a:spcPts val="0"/>
              </a:spcAft>
              <a:buClrTx/>
              <a:buSzTx/>
              <a:buFontTx/>
              <a:buNone/>
              <a:defRPr/>
            </a:pPr>
            <a:r>
              <a:rPr lang="en-US" noProof="0" dirty="0">
                <a:latin typeface="Arial" panose="020B0604020202020204" pitchFamily="34" charset="0"/>
                <a:cs typeface="Arial" panose="020B0604020202020204" pitchFamily="34" charset="0"/>
              </a:rPr>
              <a:t>2) Math Player (free versions available)</a:t>
            </a:r>
          </a:p>
          <a:p>
            <a:pPr marL="0" marR="0" indent="0" algn="l" defTabSz="914400" rtl="0" eaLnBrk="1" fontAlgn="auto" latinLnBrk="0" hangingPunct="1">
              <a:lnSpc>
                <a:spcPct val="100000"/>
              </a:lnSpc>
              <a:spcBef>
                <a:spcPts val="0"/>
              </a:spcBef>
              <a:spcAft>
                <a:spcPts val="0"/>
              </a:spcAft>
              <a:buClrTx/>
              <a:buSzTx/>
              <a:buFontTx/>
              <a:buNone/>
              <a:defRPr/>
            </a:pPr>
            <a:r>
              <a:rPr lang="en-US" noProof="0" dirty="0">
                <a:latin typeface="Arial" panose="020B0604020202020204" pitchFamily="34" charset="0"/>
                <a:cs typeface="Arial" panose="020B0604020202020204" pitchFamily="34" charset="0"/>
              </a:rPr>
              <a:t>3) NVDA Reader (free versions available)</a:t>
            </a:r>
          </a:p>
        </p:txBody>
      </p:sp>
      <p:sp>
        <p:nvSpPr>
          <p:cNvPr id="4" name="Slide Number Placeholder 3"/>
          <p:cNvSpPr>
            <a:spLocks noGrp="1"/>
          </p:cNvSpPr>
          <p:nvPr>
            <p:ph type="sldNum" sz="quarter" idx="10"/>
          </p:nvPr>
        </p:nvSpPr>
        <p:spPr/>
        <p:txBody>
          <a:bodyPr/>
          <a:lstStyle/>
          <a:p>
            <a:fld id="{A73D6722-9B4D-4E29-B226-C325925A8118}" type="slidenum">
              <a:rPr lang="en-US" smtClean="0"/>
              <a:t>1</a:t>
            </a:fld>
            <a:endParaRPr lang="en-US" dirty="0"/>
          </a:p>
        </p:txBody>
      </p:sp>
    </p:spTree>
    <p:extLst>
      <p:ext uri="{BB962C8B-B14F-4D97-AF65-F5344CB8AC3E}">
        <p14:creationId xmlns:p14="http://schemas.microsoft.com/office/powerpoint/2010/main" val="19352049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itchFamily="34" charset="-128"/>
                <a:cs typeface="Arial" panose="020B0604020202020204" pitchFamily="34" charset="0"/>
              </a:rPr>
              <a:t>After studying this chapter, you will be able to:</a:t>
            </a:r>
          </a:p>
          <a:p>
            <a:endParaRPr lang="en-US" altLang="en-US" dirty="0">
              <a:latin typeface="Arial" panose="020B0604020202020204" pitchFamily="34" charset="0"/>
              <a:ea typeface="ＭＳ Ｐゴシック" pitchFamily="34" charset="-128"/>
              <a:cs typeface="Arial" panose="020B0604020202020204" pitchFamily="34" charset="0"/>
            </a:endParaRPr>
          </a:p>
          <a:p>
            <a:pPr>
              <a:buFontTx/>
              <a:buChar char="•"/>
            </a:pPr>
            <a:r>
              <a:rPr lang="en-US" altLang="en-US" dirty="0">
                <a:latin typeface="Arial" panose="020B0604020202020204" pitchFamily="34" charset="0"/>
                <a:ea typeface="ＭＳ Ｐゴシック" pitchFamily="34" charset="-128"/>
                <a:cs typeface="Arial" panose="020B0604020202020204" pitchFamily="34" charset="0"/>
              </a:rPr>
              <a:t> </a:t>
            </a:r>
            <a:r>
              <a:rPr lang="en-US" altLang="en-US" b="1" dirty="0">
                <a:latin typeface="Arial" panose="020B0604020202020204" pitchFamily="34" charset="0"/>
                <a:ea typeface="ＭＳ Ｐゴシック" pitchFamily="34" charset="-128"/>
                <a:cs typeface="Arial" panose="020B0604020202020204" pitchFamily="34" charset="0"/>
              </a:rPr>
              <a:t>Tell</a:t>
            </a:r>
            <a:r>
              <a:rPr lang="en-US" altLang="en-US" dirty="0">
                <a:latin typeface="Arial" panose="020B0604020202020204" pitchFamily="34" charset="0"/>
                <a:ea typeface="ＭＳ Ｐゴシック" pitchFamily="34" charset="-128"/>
                <a:cs typeface="Arial" panose="020B0604020202020204" pitchFamily="34" charset="0"/>
              </a:rPr>
              <a:t> who managers are and where they work.</a:t>
            </a:r>
          </a:p>
          <a:p>
            <a:pPr>
              <a:buFontTx/>
              <a:buChar char="•"/>
            </a:pPr>
            <a:r>
              <a:rPr lang="en-US" altLang="en-US" dirty="0">
                <a:latin typeface="Arial" panose="020B0604020202020204" pitchFamily="34" charset="0"/>
                <a:ea typeface="ＭＳ Ｐゴシック" pitchFamily="34" charset="-128"/>
                <a:cs typeface="Arial" panose="020B0604020202020204" pitchFamily="34" charset="0"/>
              </a:rPr>
              <a:t> </a:t>
            </a:r>
            <a:r>
              <a:rPr lang="en-US" altLang="en-US" b="1" dirty="0">
                <a:latin typeface="Arial" panose="020B0604020202020204" pitchFamily="34" charset="0"/>
                <a:ea typeface="ＭＳ Ｐゴシック" pitchFamily="34" charset="-128"/>
                <a:cs typeface="Arial" panose="020B0604020202020204" pitchFamily="34" charset="0"/>
              </a:rPr>
              <a:t>Define</a:t>
            </a:r>
            <a:r>
              <a:rPr lang="en-US" altLang="en-US" dirty="0">
                <a:latin typeface="Arial" panose="020B0604020202020204" pitchFamily="34" charset="0"/>
                <a:ea typeface="ＭＳ Ｐゴシック" pitchFamily="34" charset="-128"/>
                <a:cs typeface="Arial" panose="020B0604020202020204" pitchFamily="34" charset="0"/>
              </a:rPr>
              <a:t> management.</a:t>
            </a:r>
          </a:p>
          <a:p>
            <a:pPr>
              <a:buFontTx/>
              <a:buChar char="•"/>
            </a:pPr>
            <a:r>
              <a:rPr lang="en-US" altLang="en-US" dirty="0">
                <a:latin typeface="Arial" panose="020B0604020202020204" pitchFamily="34" charset="0"/>
                <a:ea typeface="ＭＳ Ｐゴシック" pitchFamily="34" charset="-128"/>
                <a:cs typeface="Arial" panose="020B0604020202020204" pitchFamily="34" charset="0"/>
              </a:rPr>
              <a:t> </a:t>
            </a:r>
            <a:r>
              <a:rPr lang="en-US" altLang="en-US" b="1" dirty="0">
                <a:latin typeface="Arial" panose="020B0604020202020204" pitchFamily="34" charset="0"/>
                <a:ea typeface="ＭＳ Ｐゴシック" pitchFamily="34" charset="-128"/>
                <a:cs typeface="Arial" panose="020B0604020202020204" pitchFamily="34" charset="0"/>
              </a:rPr>
              <a:t>Describe</a:t>
            </a:r>
            <a:r>
              <a:rPr lang="en-US" altLang="en-US" dirty="0">
                <a:latin typeface="Arial" panose="020B0604020202020204" pitchFamily="34" charset="0"/>
                <a:ea typeface="ＭＳ Ｐゴシック" pitchFamily="34" charset="-128"/>
                <a:cs typeface="Arial" panose="020B0604020202020204" pitchFamily="34" charset="0"/>
              </a:rPr>
              <a:t> what managers do.</a:t>
            </a:r>
          </a:p>
          <a:p>
            <a:pPr>
              <a:buFontTx/>
              <a:buChar char="•"/>
            </a:pPr>
            <a:r>
              <a:rPr lang="en-US" altLang="en-US" b="1" dirty="0">
                <a:latin typeface="Arial" panose="020B0604020202020204" pitchFamily="34" charset="0"/>
                <a:ea typeface="ＭＳ Ｐゴシック" pitchFamily="34" charset="-128"/>
                <a:cs typeface="Arial" panose="020B0604020202020204" pitchFamily="34" charset="0"/>
              </a:rPr>
              <a:t> Explain </a:t>
            </a:r>
            <a:r>
              <a:rPr lang="en-US" altLang="en-US" dirty="0">
                <a:latin typeface="Arial" panose="020B0604020202020204" pitchFamily="34" charset="0"/>
                <a:ea typeface="ＭＳ Ｐゴシック" pitchFamily="34" charset="-128"/>
                <a:cs typeface="Arial" panose="020B0604020202020204" pitchFamily="34" charset="0"/>
              </a:rPr>
              <a:t>why it’s important to study management.</a:t>
            </a:r>
          </a:p>
          <a:p>
            <a:pPr>
              <a:buFontTx/>
              <a:buChar char="•"/>
            </a:pPr>
            <a:r>
              <a:rPr lang="en-US" altLang="en-US" b="1" dirty="0">
                <a:latin typeface="Arial" panose="020B0604020202020204" pitchFamily="34" charset="0"/>
                <a:ea typeface="ＭＳ Ｐゴシック" pitchFamily="34" charset="-128"/>
                <a:cs typeface="Arial" panose="020B0604020202020204" pitchFamily="34" charset="0"/>
              </a:rPr>
              <a:t> Describe </a:t>
            </a:r>
            <a:r>
              <a:rPr lang="en-US" altLang="en-US" dirty="0">
                <a:latin typeface="Arial" panose="020B0604020202020204" pitchFamily="34" charset="0"/>
                <a:ea typeface="ＭＳ Ｐゴシック" pitchFamily="34" charset="-128"/>
                <a:cs typeface="Arial" panose="020B0604020202020204" pitchFamily="34" charset="0"/>
              </a:rPr>
              <a:t>the factors that are reshaping and redefining management.</a:t>
            </a:r>
          </a:p>
          <a:p>
            <a:pPr>
              <a:buFontTx/>
              <a:buChar char="•"/>
            </a:pPr>
            <a:r>
              <a:rPr lang="en-US" b="1" baseline="0" dirty="0">
                <a:latin typeface="Arial" panose="020B0604020202020204" pitchFamily="34" charset="0"/>
                <a:ea typeface="ＭＳ Ｐゴシック" pitchFamily="34" charset="-128"/>
                <a:cs typeface="Arial" panose="020B0604020202020204" pitchFamily="34" charset="0"/>
              </a:rPr>
              <a:t> </a:t>
            </a:r>
            <a:r>
              <a:rPr lang="en-US" b="1" dirty="0">
                <a:latin typeface="Arial" panose="020B0604020202020204" pitchFamily="34" charset="0"/>
                <a:cs typeface="Arial" panose="020B0604020202020204" pitchFamily="34" charset="0"/>
              </a:rPr>
              <a:t>Describe</a:t>
            </a:r>
            <a:r>
              <a:rPr lang="en-US" dirty="0">
                <a:latin typeface="Arial" panose="020B0604020202020204" pitchFamily="34" charset="0"/>
                <a:cs typeface="Arial" panose="020B0604020202020204" pitchFamily="34" charset="0"/>
              </a:rPr>
              <a:t> the key employability skills gained from studying management that are applicable to your future career, regardless of your major.</a:t>
            </a:r>
            <a:endParaRPr lang="en-US" altLang="en-US" sz="1200" dirty="0">
              <a:solidFill>
                <a:schemeClr val="tx1">
                  <a:lumMod val="75000"/>
                  <a:lumOff val="25000"/>
                </a:schemeClr>
              </a:solidFill>
              <a:latin typeface="Arial" panose="020B0604020202020204" pitchFamily="34" charset="0"/>
              <a:ea typeface="ＭＳ Ｐゴシック" pitchFamily="34" charset="-128"/>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200" dirty="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1" indent="6350" eaLnBrk="1" hangingPunct="1">
              <a:spcBef>
                <a:spcPct val="0"/>
              </a:spcBef>
              <a:defRPr/>
            </a:pPr>
            <a:r>
              <a:rPr lang="en-US" dirty="0">
                <a:latin typeface="Arial" panose="020B0604020202020204" pitchFamily="34" charset="0"/>
                <a:ea typeface="+mn-ea"/>
                <a:cs typeface="Arial" panose="020B0604020202020204" pitchFamily="34" charset="0"/>
              </a:rPr>
              <a:t>Managers work in </a:t>
            </a:r>
            <a:r>
              <a:rPr lang="en-US" b="1" dirty="0">
                <a:latin typeface="Arial" panose="020B0604020202020204" pitchFamily="34" charset="0"/>
                <a:ea typeface="+mn-ea"/>
                <a:cs typeface="Arial" panose="020B0604020202020204" pitchFamily="34" charset="0"/>
              </a:rPr>
              <a:t>organizations</a:t>
            </a:r>
            <a:r>
              <a:rPr lang="en-US" dirty="0">
                <a:latin typeface="Arial" panose="020B0604020202020204" pitchFamily="34" charset="0"/>
                <a:ea typeface="+mn-ea"/>
                <a:cs typeface="Arial" panose="020B0604020202020204" pitchFamily="34" charset="0"/>
              </a:rPr>
              <a:t>, which we define as a deliberate arrangement of people brought together to accomplish a specific purpose. </a:t>
            </a:r>
          </a:p>
          <a:p>
            <a:pPr marL="0" lvl="1" indent="6350" eaLnBrk="1" hangingPunct="1">
              <a:spcBef>
                <a:spcPct val="0"/>
              </a:spcBef>
              <a:defRPr/>
            </a:pPr>
            <a:endParaRPr lang="en-US" dirty="0">
              <a:latin typeface="Arial" panose="020B0604020202020204" pitchFamily="34" charset="0"/>
              <a:ea typeface="+mn-ea"/>
              <a:cs typeface="Arial" panose="020B0604020202020204" pitchFamily="34" charset="0"/>
            </a:endParaRPr>
          </a:p>
          <a:p>
            <a:pPr marL="0" lvl="1" indent="6350" eaLnBrk="1" hangingPunct="1">
              <a:spcBef>
                <a:spcPct val="0"/>
              </a:spcBef>
              <a:defRPr/>
            </a:pPr>
            <a:r>
              <a:rPr lang="en-US" dirty="0">
                <a:latin typeface="Arial" panose="020B0604020202020204" pitchFamily="34" charset="0"/>
                <a:ea typeface="+mn-ea"/>
                <a:cs typeface="Arial" panose="020B0604020202020204" pitchFamily="34" charset="0"/>
              </a:rPr>
              <a:t>Three characteristics that identify an organization are its:</a:t>
            </a:r>
          </a:p>
          <a:p>
            <a:pPr marL="685800" lvl="1" indent="-228600" eaLnBrk="1" hangingPunct="1">
              <a:spcBef>
                <a:spcPct val="0"/>
              </a:spcBef>
              <a:buFont typeface="Calibri" pitchFamily="34" charset="0"/>
              <a:buAutoNum type="arabicPeriod"/>
              <a:defRPr/>
            </a:pPr>
            <a:r>
              <a:rPr lang="en-US" b="1" dirty="0">
                <a:latin typeface="Arial" panose="020B0604020202020204" pitchFamily="34" charset="0"/>
                <a:ea typeface="+mn-ea"/>
                <a:cs typeface="Arial" panose="020B0604020202020204" pitchFamily="34" charset="0"/>
              </a:rPr>
              <a:t> Goals</a:t>
            </a:r>
            <a:endParaRPr lang="en-US" dirty="0">
              <a:latin typeface="Arial" panose="020B0604020202020204" pitchFamily="34" charset="0"/>
              <a:ea typeface="+mn-ea"/>
              <a:cs typeface="Arial" panose="020B0604020202020204" pitchFamily="34" charset="0"/>
            </a:endParaRPr>
          </a:p>
          <a:p>
            <a:pPr marL="685800" lvl="1" indent="-228600" eaLnBrk="1" hangingPunct="1">
              <a:spcBef>
                <a:spcPct val="0"/>
              </a:spcBef>
              <a:buFont typeface="Calibri" pitchFamily="34" charset="0"/>
              <a:buAutoNum type="arabicPeriod"/>
              <a:defRPr/>
            </a:pPr>
            <a:r>
              <a:rPr lang="en-US" b="1" dirty="0">
                <a:latin typeface="Arial" panose="020B0604020202020204" pitchFamily="34" charset="0"/>
                <a:ea typeface="+mn-ea"/>
                <a:cs typeface="Arial" panose="020B0604020202020204" pitchFamily="34" charset="0"/>
              </a:rPr>
              <a:t> People</a:t>
            </a:r>
            <a:r>
              <a:rPr lang="en-US" dirty="0">
                <a:latin typeface="Arial" panose="020B0604020202020204" pitchFamily="34" charset="0"/>
                <a:ea typeface="+mn-ea"/>
                <a:cs typeface="Arial" panose="020B0604020202020204" pitchFamily="34" charset="0"/>
              </a:rPr>
              <a:t>, and</a:t>
            </a:r>
          </a:p>
          <a:p>
            <a:pPr marL="685800" lvl="1" indent="-228600" eaLnBrk="1" hangingPunct="1">
              <a:spcBef>
                <a:spcPct val="0"/>
              </a:spcBef>
              <a:buFont typeface="Calibri" pitchFamily="34" charset="0"/>
              <a:buAutoNum type="arabicPeriod"/>
              <a:defRPr/>
            </a:pPr>
            <a:r>
              <a:rPr lang="en-US" b="1" dirty="0">
                <a:latin typeface="Arial" panose="020B0604020202020204" pitchFamily="34" charset="0"/>
                <a:ea typeface="+mn-ea"/>
                <a:cs typeface="Arial" panose="020B0604020202020204" pitchFamily="34" charset="0"/>
              </a:rPr>
              <a:t> Structure</a:t>
            </a:r>
            <a:endParaRPr lang="en-US" dirty="0">
              <a:latin typeface="Arial" panose="020B0604020202020204" pitchFamily="34" charset="0"/>
              <a:ea typeface="+mn-ea"/>
              <a:cs typeface="Arial" panose="020B0604020202020204" pitchFamily="34" charset="0"/>
            </a:endParaRPr>
          </a:p>
          <a:p>
            <a:pPr marL="685800" lvl="1" indent="-228600" eaLnBrk="1" hangingPunct="1">
              <a:spcBef>
                <a:spcPct val="0"/>
              </a:spcBef>
              <a:buFont typeface="+mj-lt" charset="0"/>
              <a:buNone/>
              <a:defRPr/>
            </a:pPr>
            <a:r>
              <a:rPr lang="en-US" dirty="0">
                <a:latin typeface="Arial" panose="020B0604020202020204" pitchFamily="34" charset="0"/>
                <a:ea typeface="+mn-ea"/>
                <a:cs typeface="Arial" panose="020B0604020202020204" pitchFamily="34" charset="0"/>
              </a:rPr>
              <a:t> </a:t>
            </a:r>
          </a:p>
          <a:p>
            <a:pPr marL="0" lvl="1" indent="6350" eaLnBrk="1" hangingPunct="1">
              <a:spcBef>
                <a:spcPct val="0"/>
              </a:spcBef>
              <a:buFont typeface="+mj-lt" charset="0"/>
              <a:buNone/>
              <a:defRPr/>
            </a:pPr>
            <a:r>
              <a:rPr lang="en-US" dirty="0">
                <a:latin typeface="Arial" panose="020B0604020202020204" pitchFamily="34" charset="0"/>
                <a:ea typeface="+mn-ea"/>
                <a:cs typeface="Arial" panose="020B0604020202020204" pitchFamily="34" charset="0"/>
              </a:rPr>
              <a:t>Examples of organizations include:</a:t>
            </a:r>
          </a:p>
          <a:p>
            <a:pPr marL="685800" lvl="1" indent="-228600" eaLnBrk="1" hangingPunct="1">
              <a:spcBef>
                <a:spcPct val="0"/>
              </a:spcBef>
              <a:buFontTx/>
              <a:buChar char="•"/>
              <a:defRPr/>
            </a:pPr>
            <a:r>
              <a:rPr lang="en-US" dirty="0">
                <a:latin typeface="Arial" panose="020B0604020202020204" pitchFamily="34" charset="0"/>
                <a:ea typeface="+mn-ea"/>
                <a:cs typeface="Arial" panose="020B0604020202020204" pitchFamily="34" charset="0"/>
              </a:rPr>
              <a:t>Your neighborhood convenience store</a:t>
            </a:r>
          </a:p>
          <a:p>
            <a:pPr marL="685800" lvl="1" indent="-228600" eaLnBrk="1" hangingPunct="1">
              <a:spcBef>
                <a:spcPct val="0"/>
              </a:spcBef>
              <a:buFontTx/>
              <a:buChar char="•"/>
              <a:defRPr/>
            </a:pPr>
            <a:r>
              <a:rPr lang="en-US" dirty="0">
                <a:latin typeface="Arial" panose="020B0604020202020204" pitchFamily="34" charset="0"/>
                <a:ea typeface="+mn-ea"/>
                <a:cs typeface="Arial" panose="020B0604020202020204" pitchFamily="34" charset="0"/>
              </a:rPr>
              <a:t>The Dallas Cowboys football team </a:t>
            </a:r>
          </a:p>
          <a:p>
            <a:pPr marL="685800" lvl="1" indent="-228600" eaLnBrk="1" hangingPunct="1">
              <a:spcBef>
                <a:spcPct val="0"/>
              </a:spcBef>
              <a:buFontTx/>
              <a:buChar char="•"/>
              <a:defRPr/>
            </a:pPr>
            <a:r>
              <a:rPr lang="en-US" dirty="0">
                <a:latin typeface="Arial" panose="020B0604020202020204" pitchFamily="34" charset="0"/>
                <a:ea typeface="+mn-ea"/>
                <a:cs typeface="Arial" panose="020B0604020202020204" pitchFamily="34" charset="0"/>
              </a:rPr>
              <a:t>Fraternities and sororities</a:t>
            </a:r>
          </a:p>
          <a:p>
            <a:pPr marL="685800" lvl="1" indent="-228600" eaLnBrk="1" hangingPunct="1">
              <a:spcBef>
                <a:spcPct val="0"/>
              </a:spcBef>
              <a:buFontTx/>
              <a:buChar char="•"/>
              <a:defRPr/>
            </a:pPr>
            <a:r>
              <a:rPr lang="en-US" dirty="0">
                <a:latin typeface="Arial" panose="020B0604020202020204" pitchFamily="34" charset="0"/>
                <a:ea typeface="+mn-ea"/>
                <a:cs typeface="Arial" panose="020B0604020202020204" pitchFamily="34" charset="0"/>
              </a:rPr>
              <a:t>The Cleveland Clinic </a:t>
            </a:r>
          </a:p>
          <a:p>
            <a:pPr marL="685800" lvl="1" indent="-228600" eaLnBrk="1" hangingPunct="1">
              <a:spcBef>
                <a:spcPct val="0"/>
              </a:spcBef>
              <a:buFontTx/>
              <a:buChar char="•"/>
              <a:defRPr/>
            </a:pPr>
            <a:r>
              <a:rPr lang="en-US" dirty="0">
                <a:latin typeface="Arial" panose="020B0604020202020204" pitchFamily="34" charset="0"/>
                <a:ea typeface="+mn-ea"/>
                <a:cs typeface="Arial" panose="020B0604020202020204" pitchFamily="34" charset="0"/>
              </a:rPr>
              <a:t>Global companies such as Nokia</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4</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latin typeface="Arial" panose="020B0604020202020204" pitchFamily="34" charset="0"/>
                <a:ea typeface="ＭＳ Ｐゴシック" pitchFamily="34" charset="-128"/>
                <a:cs typeface="Arial" panose="020B0604020202020204" pitchFamily="34" charset="0"/>
              </a:rPr>
              <a:t>Here we see the </a:t>
            </a:r>
            <a:r>
              <a:rPr lang="en-US" altLang="en-US" b="1" dirty="0">
                <a:latin typeface="Arial" panose="020B0604020202020204" pitchFamily="34" charset="0"/>
                <a:ea typeface="ＭＳ Ｐゴシック" pitchFamily="34" charset="-128"/>
                <a:cs typeface="Arial" panose="020B0604020202020204" pitchFamily="34" charset="0"/>
              </a:rPr>
              <a:t>three common characteristics that organizations share:</a:t>
            </a:r>
            <a:endParaRPr lang="en-US" altLang="en-US" dirty="0">
              <a:latin typeface="Arial" panose="020B0604020202020204" pitchFamily="34" charset="0"/>
              <a:ea typeface="ＭＳ Ｐゴシック" pitchFamily="34" charset="-128"/>
              <a:cs typeface="Arial" panose="020B0604020202020204" pitchFamily="34" charset="0"/>
            </a:endParaRPr>
          </a:p>
          <a:p>
            <a:pPr marL="685800" lvl="1" indent="-228600" eaLnBrk="1" hangingPunct="1">
              <a:buFont typeface="Calibri" pitchFamily="34" charset="0"/>
              <a:buAutoNum type="arabicPeriod"/>
            </a:pPr>
            <a:r>
              <a:rPr lang="en-US" altLang="en-US" b="1" dirty="0">
                <a:latin typeface="Arial" panose="020B0604020202020204" pitchFamily="34" charset="0"/>
                <a:ea typeface="ＭＳ Ｐゴシック" pitchFamily="34" charset="-128"/>
                <a:cs typeface="Arial" panose="020B0604020202020204" pitchFamily="34" charset="0"/>
              </a:rPr>
              <a:t> Goals,</a:t>
            </a:r>
            <a:r>
              <a:rPr lang="en-US" altLang="en-US" dirty="0">
                <a:latin typeface="Arial" panose="020B0604020202020204" pitchFamily="34" charset="0"/>
                <a:ea typeface="ＭＳ Ｐゴシック" pitchFamily="34" charset="-128"/>
                <a:cs typeface="Arial" panose="020B0604020202020204" pitchFamily="34" charset="0"/>
              </a:rPr>
              <a:t> which express the distinct purpose of a particular organization</a:t>
            </a:r>
          </a:p>
          <a:p>
            <a:pPr marL="685800" lvl="1" indent="-228600" eaLnBrk="1" hangingPunct="1">
              <a:buFont typeface="Calibri" pitchFamily="34" charset="0"/>
              <a:buAutoNum type="arabicPeriod"/>
            </a:pPr>
            <a:r>
              <a:rPr lang="en-US" altLang="en-US" b="1" dirty="0">
                <a:latin typeface="Arial" panose="020B0604020202020204" pitchFamily="34" charset="0"/>
                <a:ea typeface="ＭＳ Ｐゴシック" pitchFamily="34" charset="-128"/>
                <a:cs typeface="Arial" panose="020B0604020202020204" pitchFamily="34" charset="0"/>
              </a:rPr>
              <a:t> People,</a:t>
            </a:r>
            <a:r>
              <a:rPr lang="en-US" altLang="en-US" dirty="0">
                <a:latin typeface="Arial" panose="020B0604020202020204" pitchFamily="34" charset="0"/>
                <a:ea typeface="ＭＳ Ｐゴシック" pitchFamily="34" charset="-128"/>
                <a:cs typeface="Arial" panose="020B0604020202020204" pitchFamily="34" charset="0"/>
              </a:rPr>
              <a:t> who make decisions and engage in work activities to reach the organization’s goals, and</a:t>
            </a:r>
          </a:p>
          <a:p>
            <a:pPr marL="685800" lvl="1" indent="-228600" eaLnBrk="1" hangingPunct="1">
              <a:buFont typeface="Calibri" pitchFamily="34" charset="0"/>
              <a:buAutoNum type="arabicPeriod"/>
            </a:pPr>
            <a:r>
              <a:rPr lang="en-US" altLang="en-US" b="1" dirty="0">
                <a:latin typeface="Arial" panose="020B0604020202020204" pitchFamily="34" charset="0"/>
                <a:ea typeface="ＭＳ Ｐゴシック" pitchFamily="34" charset="-128"/>
                <a:cs typeface="Arial" panose="020B0604020202020204" pitchFamily="34" charset="0"/>
              </a:rPr>
              <a:t> A deliberate structure,</a:t>
            </a:r>
            <a:r>
              <a:rPr lang="en-US" altLang="en-US" dirty="0">
                <a:latin typeface="Arial" panose="020B0604020202020204" pitchFamily="34" charset="0"/>
                <a:ea typeface="ＭＳ Ｐゴシック" pitchFamily="34" charset="-128"/>
                <a:cs typeface="Arial" panose="020B0604020202020204" pitchFamily="34" charset="0"/>
              </a:rPr>
              <a:t> which systematically defines and limits its members’ behavior.</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5</a:t>
            </a:fld>
            <a:endParaRPr lang="en-US" dirty="0"/>
          </a:p>
        </p:txBody>
      </p:sp>
    </p:spTree>
    <p:extLst>
      <p:ext uri="{BB962C8B-B14F-4D97-AF65-F5344CB8AC3E}">
        <p14:creationId xmlns:p14="http://schemas.microsoft.com/office/powerpoint/2010/main" val="29068885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dirty="0">
                <a:latin typeface="Arial" panose="020B0604020202020204" pitchFamily="34" charset="0"/>
                <a:ea typeface="ＭＳ Ｐゴシック" pitchFamily="34" charset="-128"/>
                <a:cs typeface="Arial" panose="020B0604020202020204" pitchFamily="34" charset="0"/>
              </a:rPr>
              <a:t>Members of an organization can be divided into two categories:</a:t>
            </a:r>
          </a:p>
          <a:p>
            <a:pPr eaLnBrk="1" hangingPunct="1">
              <a:spcBef>
                <a:spcPct val="0"/>
              </a:spcBef>
              <a:buFont typeface="Calibri" pitchFamily="34" charset="0"/>
              <a:buAutoNum type="arabicPeriod"/>
            </a:pPr>
            <a:r>
              <a:rPr lang="en-US" altLang="en-US" b="1" dirty="0">
                <a:latin typeface="Arial" panose="020B0604020202020204" pitchFamily="34" charset="0"/>
                <a:ea typeface="ＭＳ Ｐゴシック" pitchFamily="34" charset="-128"/>
                <a:cs typeface="Arial" panose="020B0604020202020204" pitchFamily="34" charset="0"/>
              </a:rPr>
              <a:t> Nonmanagerial employees</a:t>
            </a:r>
            <a:r>
              <a:rPr lang="en-US" altLang="en-US" dirty="0">
                <a:latin typeface="Arial" panose="020B0604020202020204" pitchFamily="34" charset="0"/>
                <a:ea typeface="ＭＳ Ｐゴシック" pitchFamily="34" charset="-128"/>
                <a:cs typeface="Arial" panose="020B0604020202020204" pitchFamily="34" charset="0"/>
              </a:rPr>
              <a:t> work directly on a task and do </a:t>
            </a:r>
            <a:r>
              <a:rPr lang="en-US" altLang="en-US" i="1" dirty="0">
                <a:latin typeface="Arial" panose="020B0604020202020204" pitchFamily="34" charset="0"/>
                <a:ea typeface="ＭＳ Ｐゴシック" pitchFamily="34" charset="-128"/>
                <a:cs typeface="Arial" panose="020B0604020202020204" pitchFamily="34" charset="0"/>
              </a:rPr>
              <a:t>not</a:t>
            </a:r>
            <a:r>
              <a:rPr lang="en-US" altLang="en-US" dirty="0">
                <a:latin typeface="Arial" panose="020B0604020202020204" pitchFamily="34" charset="0"/>
                <a:ea typeface="ＭＳ Ｐゴシック" pitchFamily="34" charset="-128"/>
                <a:cs typeface="Arial" panose="020B0604020202020204" pitchFamily="34" charset="0"/>
              </a:rPr>
              <a:t> oversee the work of others. Examples include a cashier in a home improvement store or someone who takes your order at a coffee store. They may be called associates, team members, or contributors. </a:t>
            </a:r>
          </a:p>
          <a:p>
            <a:pPr eaLnBrk="1" hangingPunct="1">
              <a:spcBef>
                <a:spcPct val="0"/>
              </a:spcBef>
              <a:buFont typeface="Calibri" pitchFamily="34" charset="0"/>
              <a:buAutoNum type="arabicPeriod"/>
            </a:pPr>
            <a:r>
              <a:rPr lang="en-US" altLang="en-US" b="1" dirty="0">
                <a:latin typeface="Arial" panose="020B0604020202020204" pitchFamily="34" charset="0"/>
                <a:ea typeface="ＭＳ Ｐゴシック" pitchFamily="34" charset="-128"/>
                <a:cs typeface="Arial" panose="020B0604020202020204" pitchFamily="34" charset="0"/>
              </a:rPr>
              <a:t> Managers</a:t>
            </a:r>
            <a:r>
              <a:rPr lang="en-US" altLang="en-US" dirty="0">
                <a:latin typeface="Arial" panose="020B0604020202020204" pitchFamily="34" charset="0"/>
                <a:ea typeface="ＭＳ Ｐゴシック" pitchFamily="34" charset="-128"/>
                <a:cs typeface="Arial" panose="020B0604020202020204" pitchFamily="34" charset="0"/>
              </a:rPr>
              <a:t>, who direct and oversee the activities of the people in the organization. A manager’s job isn’t about personal achievement—it’s about helping others do their work. This distinction doesn’t mean, however, that managers don’t ever work directly on tasks.</a:t>
            </a:r>
            <a:endParaRPr lang="en-US" dirty="0">
              <a:latin typeface="Arial" panose="020B0604020202020204" pitchFamily="34" charset="0"/>
              <a:cs typeface="Arial" panose="020B0604020202020204" pitchFamily="34" charset="0"/>
            </a:endParaRPr>
          </a:p>
          <a:p>
            <a:pPr marL="0" lvl="1" indent="6350" eaLnBrk="1" hangingPunct="1">
              <a:spcBef>
                <a:spcPct val="0"/>
              </a:spcBef>
              <a:defRPr/>
            </a:pP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6</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ea typeface="ＭＳ Ｐゴシック" pitchFamily="34" charset="-128"/>
                <a:cs typeface="Arial" panose="020B0604020202020204" pitchFamily="34" charset="0"/>
              </a:rPr>
              <a:t>Managers in an organization can have a variety of titles. Managers are usually classified as top, middle, first-line, or team leaders.</a:t>
            </a:r>
            <a:endParaRPr lang="en-US" dirty="0">
              <a:latin typeface="Arial" panose="020B0604020202020204" pitchFamily="34" charset="0"/>
              <a:cs typeface="Arial" panose="020B0604020202020204" pitchFamily="34" charset="0"/>
            </a:endParaRPr>
          </a:p>
          <a:p>
            <a:pPr eaLnBrk="1" hangingPunct="1"/>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7</a:t>
            </a:fld>
            <a:endParaRPr lang="en-US" dirty="0"/>
          </a:p>
        </p:txBody>
      </p:sp>
    </p:spTree>
    <p:extLst>
      <p:ext uri="{BB962C8B-B14F-4D97-AF65-F5344CB8AC3E}">
        <p14:creationId xmlns:p14="http://schemas.microsoft.com/office/powerpoint/2010/main" val="3414865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b="1" dirty="0">
                <a:latin typeface="Arial" panose="020B0604020202020204" pitchFamily="34" charset="0"/>
                <a:ea typeface="ＭＳ Ｐゴシック" pitchFamily="34" charset="-128"/>
                <a:cs typeface="Arial" panose="020B0604020202020204" pitchFamily="34" charset="0"/>
              </a:rPr>
              <a:t>Top managers </a:t>
            </a:r>
            <a:r>
              <a:rPr lang="en-US" altLang="en-US" dirty="0">
                <a:latin typeface="Arial" panose="020B0604020202020204" pitchFamily="34" charset="0"/>
                <a:ea typeface="ＭＳ Ｐゴシック" pitchFamily="34" charset="-128"/>
                <a:cs typeface="Arial" panose="020B0604020202020204" pitchFamily="34" charset="0"/>
              </a:rPr>
              <a:t>are those at or near the top of an organization who make decisions about the direction of the organization and establish policies and philosophies that affect all organizational members. Titles include: president, vice president, chancellor, managing director, or chief executive officer.</a:t>
            </a:r>
          </a:p>
          <a:p>
            <a:endParaRPr lang="en-US" altLang="en-US" dirty="0">
              <a:latin typeface="Arial" panose="020B0604020202020204" pitchFamily="34" charset="0"/>
              <a:ea typeface="ＭＳ Ｐゴシック" pitchFamily="34" charset="-128"/>
              <a:cs typeface="Arial" panose="020B0604020202020204" pitchFamily="34" charset="0"/>
            </a:endParaRPr>
          </a:p>
          <a:p>
            <a:r>
              <a:rPr lang="en-US" altLang="en-US" b="1" dirty="0">
                <a:latin typeface="Arial" panose="020B0604020202020204" pitchFamily="34" charset="0"/>
                <a:ea typeface="ＭＳ Ｐゴシック" pitchFamily="34" charset="-128"/>
                <a:cs typeface="Arial" panose="020B0604020202020204" pitchFamily="34" charset="0"/>
              </a:rPr>
              <a:t>Middle managers </a:t>
            </a:r>
            <a:r>
              <a:rPr lang="en-US" altLang="en-US" dirty="0">
                <a:latin typeface="Arial" panose="020B0604020202020204" pitchFamily="34" charset="0"/>
                <a:ea typeface="ＭＳ Ｐゴシック" pitchFamily="34" charset="-128"/>
                <a:cs typeface="Arial" panose="020B0604020202020204" pitchFamily="34" charset="0"/>
              </a:rPr>
              <a:t>fall between the lowest and highest levels of the organization. They often manage other managers and sometimes </a:t>
            </a:r>
            <a:r>
              <a:rPr lang="en-US" altLang="en-US" dirty="0" err="1">
                <a:latin typeface="Arial" panose="020B0604020202020204" pitchFamily="34" charset="0"/>
                <a:ea typeface="ＭＳ Ｐゴシック" pitchFamily="34" charset="-128"/>
                <a:cs typeface="Arial" panose="020B0604020202020204" pitchFamily="34" charset="0"/>
              </a:rPr>
              <a:t>nonmanagerial</a:t>
            </a:r>
            <a:r>
              <a:rPr lang="en-US" altLang="en-US" dirty="0">
                <a:latin typeface="Arial" panose="020B0604020202020204" pitchFamily="34" charset="0"/>
                <a:ea typeface="ＭＳ Ｐゴシック" pitchFamily="34" charset="-128"/>
                <a:cs typeface="Arial" panose="020B0604020202020204" pitchFamily="34" charset="0"/>
              </a:rPr>
              <a:t> employees, and are responsible for translating the goals set by top managers into specific detailed tasks that lower-level managers oversee. Titles include: agency head, unit chief, division manager, or project leader.</a:t>
            </a:r>
          </a:p>
          <a:p>
            <a:endParaRPr lang="en-US" altLang="en-US" dirty="0">
              <a:latin typeface="Arial" panose="020B0604020202020204" pitchFamily="34" charset="0"/>
              <a:ea typeface="ＭＳ Ｐゴシック" pitchFamily="34" charset="-128"/>
              <a:cs typeface="Arial" panose="020B0604020202020204" pitchFamily="34" charset="0"/>
            </a:endParaRPr>
          </a:p>
          <a:p>
            <a:r>
              <a:rPr lang="en-US" altLang="en-US" b="1" dirty="0">
                <a:latin typeface="Arial" panose="020B0604020202020204" pitchFamily="34" charset="0"/>
                <a:ea typeface="ＭＳ Ｐゴシック" pitchFamily="34" charset="-128"/>
                <a:cs typeface="Arial" panose="020B0604020202020204" pitchFamily="34" charset="0"/>
              </a:rPr>
              <a:t>First-line managers </a:t>
            </a:r>
            <a:r>
              <a:rPr lang="en-US" altLang="en-US" dirty="0">
                <a:latin typeface="Arial" panose="020B0604020202020204" pitchFamily="34" charset="0"/>
                <a:ea typeface="ＭＳ Ｐゴシック" pitchFamily="34" charset="-128"/>
                <a:cs typeface="Arial" panose="020B0604020202020204" pitchFamily="34" charset="0"/>
              </a:rPr>
              <a:t>are responsible for directing the day-to-day activities of </a:t>
            </a:r>
            <a:r>
              <a:rPr lang="en-US" altLang="en-US" dirty="0" err="1">
                <a:latin typeface="Arial" panose="020B0604020202020204" pitchFamily="34" charset="0"/>
                <a:ea typeface="ＭＳ Ｐゴシック" pitchFamily="34" charset="-128"/>
                <a:cs typeface="Arial" panose="020B0604020202020204" pitchFamily="34" charset="0"/>
              </a:rPr>
              <a:t>nonmanagerial</a:t>
            </a:r>
            <a:r>
              <a:rPr lang="en-US" altLang="en-US" dirty="0">
                <a:latin typeface="Arial" panose="020B0604020202020204" pitchFamily="34" charset="0"/>
                <a:ea typeface="ＭＳ Ｐゴシック" pitchFamily="34" charset="-128"/>
                <a:cs typeface="Arial" panose="020B0604020202020204" pitchFamily="34" charset="0"/>
              </a:rPr>
              <a:t> employees. Titles include: supervisor, shift manager, or unit coordinator.</a:t>
            </a:r>
          </a:p>
          <a:p>
            <a:endParaRPr lang="en-US" altLang="en-US" dirty="0">
              <a:latin typeface="Arial" panose="020B0604020202020204" pitchFamily="34" charset="0"/>
              <a:ea typeface="ＭＳ Ｐゴシック" pitchFamily="34" charset="-128"/>
              <a:cs typeface="Arial" panose="020B0604020202020204" pitchFamily="34" charset="0"/>
            </a:endParaRPr>
          </a:p>
          <a:p>
            <a:r>
              <a:rPr lang="en-US" altLang="en-US" b="1" dirty="0">
                <a:latin typeface="Arial" panose="020B0604020202020204" pitchFamily="34" charset="0"/>
                <a:ea typeface="ＭＳ Ｐゴシック" pitchFamily="34" charset="-128"/>
                <a:cs typeface="Arial" panose="020B0604020202020204" pitchFamily="34" charset="0"/>
              </a:rPr>
              <a:t>Team leaders </a:t>
            </a:r>
            <a:r>
              <a:rPr lang="en-US" altLang="en-US" dirty="0">
                <a:latin typeface="Arial" panose="020B0604020202020204" pitchFamily="34" charset="0"/>
                <a:ea typeface="ＭＳ Ｐゴシック" pitchFamily="34" charset="-128"/>
                <a:cs typeface="Arial" panose="020B0604020202020204" pitchFamily="34" charset="0"/>
              </a:rPr>
              <a:t>are a special category of lower-level managers that have become more common as organizations have moved to using employee work teams to do work. They typically report to a first-line manager.</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8</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en-US" sz="1200" dirty="0">
              <a:solidFill>
                <a:schemeClr val="tx1">
                  <a:lumMod val="75000"/>
                  <a:lumOff val="25000"/>
                </a:schemeClr>
              </a:solidFill>
              <a:ea typeface="ＭＳ Ｐゴシック" pitchFamily="34" charset="-128"/>
              <a:cs typeface="Lucida Sans Unicode"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9</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b="1" dirty="0">
                <a:latin typeface="Arial" panose="020B0604020202020204" pitchFamily="34" charset="0"/>
                <a:ea typeface="ＭＳ Ｐゴシック" pitchFamily="34" charset="-128"/>
                <a:cs typeface="Arial" panose="020B0604020202020204" pitchFamily="34" charset="0"/>
              </a:rPr>
              <a:t>Management </a:t>
            </a:r>
            <a:r>
              <a:rPr lang="en-US" altLang="en-US" dirty="0">
                <a:latin typeface="Arial" panose="020B0604020202020204" pitchFamily="34" charset="0"/>
                <a:ea typeface="ＭＳ Ｐゴシック" pitchFamily="34" charset="-128"/>
                <a:cs typeface="Arial" panose="020B0604020202020204" pitchFamily="34" charset="0"/>
              </a:rPr>
              <a:t>is the </a:t>
            </a:r>
            <a:r>
              <a:rPr lang="en-US" altLang="en-US" i="1" dirty="0">
                <a:latin typeface="Arial" panose="020B0604020202020204" pitchFamily="34" charset="0"/>
                <a:ea typeface="ＭＳ Ｐゴシック" pitchFamily="34" charset="-128"/>
                <a:cs typeface="Arial" panose="020B0604020202020204" pitchFamily="34" charset="0"/>
              </a:rPr>
              <a:t>process</a:t>
            </a:r>
            <a:r>
              <a:rPr lang="en-US" altLang="en-US" dirty="0">
                <a:latin typeface="Arial" panose="020B0604020202020204" pitchFamily="34" charset="0"/>
                <a:ea typeface="ＭＳ Ｐゴシック" pitchFamily="34" charset="-128"/>
                <a:cs typeface="Arial" panose="020B0604020202020204" pitchFamily="34" charset="0"/>
              </a:rPr>
              <a:t> of getting things done </a:t>
            </a:r>
            <a:r>
              <a:rPr lang="en-US" altLang="en-US" i="1" dirty="0">
                <a:latin typeface="Arial" panose="020B0604020202020204" pitchFamily="34" charset="0"/>
                <a:ea typeface="ＭＳ Ｐゴシック" pitchFamily="34" charset="-128"/>
                <a:cs typeface="Arial" panose="020B0604020202020204" pitchFamily="34" charset="0"/>
              </a:rPr>
              <a:t>effectively</a:t>
            </a:r>
            <a:r>
              <a:rPr lang="en-US" altLang="en-US" dirty="0">
                <a:latin typeface="Arial" panose="020B0604020202020204" pitchFamily="34" charset="0"/>
                <a:ea typeface="ＭＳ Ｐゴシック" pitchFamily="34" charset="-128"/>
                <a:cs typeface="Arial" panose="020B0604020202020204" pitchFamily="34" charset="0"/>
              </a:rPr>
              <a:t> and </a:t>
            </a:r>
            <a:r>
              <a:rPr lang="en-US" altLang="en-US" i="1" dirty="0">
                <a:latin typeface="Arial" panose="020B0604020202020204" pitchFamily="34" charset="0"/>
                <a:ea typeface="ＭＳ Ｐゴシック" pitchFamily="34" charset="-128"/>
                <a:cs typeface="Arial" panose="020B0604020202020204" pitchFamily="34" charset="0"/>
              </a:rPr>
              <a:t>efficiently</a:t>
            </a:r>
            <a:r>
              <a:rPr lang="en-US" altLang="en-US" dirty="0">
                <a:latin typeface="Arial" panose="020B0604020202020204" pitchFamily="34" charset="0"/>
                <a:ea typeface="ＭＳ Ｐゴシック" pitchFamily="34" charset="-128"/>
                <a:cs typeface="Arial" panose="020B0604020202020204" pitchFamily="34" charset="0"/>
              </a:rPr>
              <a:t>, with and through people.</a:t>
            </a:r>
          </a:p>
          <a:p>
            <a:pPr eaLnBrk="1" hangingPunct="1">
              <a:spcBef>
                <a:spcPct val="0"/>
              </a:spcBef>
            </a:pPr>
            <a:endParaRPr lang="en-US" altLang="en-US" dirty="0">
              <a:latin typeface="Arial" panose="020B0604020202020204" pitchFamily="34" charset="0"/>
              <a:ea typeface="ＭＳ Ｐゴシック" pitchFamily="34" charset="-128"/>
              <a:cs typeface="Arial" panose="020B0604020202020204" pitchFamily="34" charset="0"/>
            </a:endParaRPr>
          </a:p>
          <a:p>
            <a:r>
              <a:rPr lang="en-US" altLang="en-US" dirty="0">
                <a:latin typeface="Arial" panose="020B0604020202020204" pitchFamily="34" charset="0"/>
                <a:ea typeface="ＭＳ Ｐゴシック" pitchFamily="34" charset="-128"/>
                <a:cs typeface="Arial" panose="020B0604020202020204" pitchFamily="34" charset="0"/>
              </a:rPr>
              <a:t>Efficiency and effectiveness have to do with the work being done and how it’s being done. </a:t>
            </a:r>
            <a:r>
              <a:rPr lang="en-US" altLang="en-US" b="1" dirty="0">
                <a:latin typeface="Arial" panose="020B0604020202020204" pitchFamily="34" charset="0"/>
                <a:ea typeface="ＭＳ Ｐゴシック" pitchFamily="34" charset="-128"/>
                <a:cs typeface="Arial" panose="020B0604020202020204" pitchFamily="34" charset="0"/>
              </a:rPr>
              <a:t>Efficiency </a:t>
            </a:r>
            <a:r>
              <a:rPr lang="en-US" altLang="en-US" dirty="0">
                <a:latin typeface="Arial" panose="020B0604020202020204" pitchFamily="34" charset="0"/>
                <a:ea typeface="ＭＳ Ｐゴシック" pitchFamily="34" charset="-128"/>
                <a:cs typeface="Arial" panose="020B0604020202020204" pitchFamily="34" charset="0"/>
              </a:rPr>
              <a:t>means doing a task correctly (“doing things right”) and getting the most output from the least amount of inputs. It’s not enough, however, just to be efficient. Managers are also concerned with completing</a:t>
            </a:r>
          </a:p>
          <a:p>
            <a:r>
              <a:rPr lang="en-US" altLang="en-US" dirty="0">
                <a:latin typeface="Arial" panose="020B0604020202020204" pitchFamily="34" charset="0"/>
                <a:ea typeface="ＭＳ Ｐゴシック" pitchFamily="34" charset="-128"/>
                <a:cs typeface="Arial" panose="020B0604020202020204" pitchFamily="34" charset="0"/>
              </a:rPr>
              <a:t>activities. In management terms, we call this </a:t>
            </a:r>
            <a:r>
              <a:rPr lang="en-US" altLang="en-US" b="1" dirty="0">
                <a:latin typeface="Arial" panose="020B0604020202020204" pitchFamily="34" charset="0"/>
                <a:ea typeface="ＭＳ Ｐゴシック" pitchFamily="34" charset="-128"/>
                <a:cs typeface="Arial" panose="020B0604020202020204" pitchFamily="34" charset="0"/>
              </a:rPr>
              <a:t>effectiveness</a:t>
            </a:r>
            <a:r>
              <a:rPr lang="en-US" altLang="en-US" dirty="0">
                <a:latin typeface="Arial" panose="020B0604020202020204" pitchFamily="34" charset="0"/>
                <a:ea typeface="ＭＳ Ｐゴシック" pitchFamily="34" charset="-128"/>
                <a:cs typeface="Arial" panose="020B0604020202020204" pitchFamily="34" charset="0"/>
              </a:rPr>
              <a:t>. Effectiveness means “doing the right things” by doing those work tasks that help the organization reach its goals.</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10</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itchFamily="34" charset="-128"/>
                <a:cs typeface="Arial" panose="020B0604020202020204" pitchFamily="34" charset="0"/>
              </a:rPr>
              <a:t>As illustrated here, while </a:t>
            </a:r>
            <a:r>
              <a:rPr lang="en-US" altLang="en-US" b="1" dirty="0">
                <a:latin typeface="Arial" panose="020B0604020202020204" pitchFamily="34" charset="0"/>
                <a:ea typeface="ＭＳ Ｐゴシック" pitchFamily="34" charset="-128"/>
                <a:cs typeface="Arial" panose="020B0604020202020204" pitchFamily="34" charset="0"/>
              </a:rPr>
              <a:t>efficiency </a:t>
            </a:r>
            <a:r>
              <a:rPr lang="en-US" altLang="en-US" dirty="0">
                <a:latin typeface="Arial" panose="020B0604020202020204" pitchFamily="34" charset="0"/>
                <a:ea typeface="ＭＳ Ｐゴシック" pitchFamily="34" charset="-128"/>
                <a:cs typeface="Arial" panose="020B0604020202020204" pitchFamily="34" charset="0"/>
              </a:rPr>
              <a:t>is concerned with the </a:t>
            </a:r>
            <a:r>
              <a:rPr lang="en-US" altLang="en-US" b="1" dirty="0">
                <a:latin typeface="Arial" panose="020B0604020202020204" pitchFamily="34" charset="0"/>
                <a:ea typeface="ＭＳ Ｐゴシック" pitchFamily="34" charset="-128"/>
                <a:cs typeface="Arial" panose="020B0604020202020204" pitchFamily="34" charset="0"/>
              </a:rPr>
              <a:t>means </a:t>
            </a:r>
            <a:r>
              <a:rPr lang="en-US" altLang="en-US" dirty="0">
                <a:latin typeface="Arial" panose="020B0604020202020204" pitchFamily="34" charset="0"/>
                <a:ea typeface="ＭＳ Ｐゴシック" pitchFamily="34" charset="-128"/>
                <a:cs typeface="Arial" panose="020B0604020202020204" pitchFamily="34" charset="0"/>
              </a:rPr>
              <a:t>of getting things done, </a:t>
            </a:r>
            <a:r>
              <a:rPr lang="en-US" altLang="en-US" b="1" dirty="0">
                <a:latin typeface="Arial" panose="020B0604020202020204" pitchFamily="34" charset="0"/>
                <a:ea typeface="ＭＳ Ｐゴシック" pitchFamily="34" charset="-128"/>
                <a:cs typeface="Arial" panose="020B0604020202020204" pitchFamily="34" charset="0"/>
              </a:rPr>
              <a:t>effectiveness </a:t>
            </a:r>
            <a:r>
              <a:rPr lang="en-US" altLang="en-US" dirty="0">
                <a:latin typeface="Arial" panose="020B0604020202020204" pitchFamily="34" charset="0"/>
                <a:ea typeface="ＭＳ Ｐゴシック" pitchFamily="34" charset="-128"/>
                <a:cs typeface="Arial" panose="020B0604020202020204" pitchFamily="34" charset="0"/>
              </a:rPr>
              <a:t>is concerned with the </a:t>
            </a:r>
            <a:r>
              <a:rPr lang="en-US" altLang="en-US" b="1" dirty="0">
                <a:latin typeface="Arial" panose="020B0604020202020204" pitchFamily="34" charset="0"/>
                <a:ea typeface="ＭＳ Ｐゴシック" pitchFamily="34" charset="-128"/>
                <a:cs typeface="Arial" panose="020B0604020202020204" pitchFamily="34" charset="0"/>
              </a:rPr>
              <a:t>ends</a:t>
            </a:r>
            <a:r>
              <a:rPr lang="en-US" altLang="en-US" dirty="0">
                <a:latin typeface="Arial" panose="020B0604020202020204" pitchFamily="34" charset="0"/>
                <a:ea typeface="ＭＳ Ｐゴシック" pitchFamily="34" charset="-128"/>
                <a:cs typeface="Arial" panose="020B0604020202020204" pitchFamily="34" charset="0"/>
              </a:rPr>
              <a:t>, or attainment of organizational goals.</a:t>
            </a:r>
          </a:p>
          <a:p>
            <a:endParaRPr lang="en-US" altLang="en-US" dirty="0">
              <a:latin typeface="Arial" panose="020B0604020202020204" pitchFamily="34" charset="0"/>
              <a:ea typeface="ＭＳ Ｐゴシック" pitchFamily="34" charset="-128"/>
              <a:cs typeface="Arial" panose="020B0604020202020204" pitchFamily="34" charset="0"/>
            </a:endParaRPr>
          </a:p>
          <a:p>
            <a:r>
              <a:rPr lang="en-US" altLang="en-US" dirty="0">
                <a:latin typeface="Arial" panose="020B0604020202020204" pitchFamily="34" charset="0"/>
                <a:ea typeface="ＭＳ Ｐゴシック" pitchFamily="34" charset="-128"/>
                <a:cs typeface="Arial" panose="020B0604020202020204" pitchFamily="34" charset="0"/>
              </a:rPr>
              <a:t>The concepts are different, but interrelated. It’s easier to be effective if you ignore efficiency. Poor management is often due to both inefficiency and ineffectiveness OR effectiveness achieved without regard for efficiency.</a:t>
            </a:r>
          </a:p>
          <a:p>
            <a:endParaRPr lang="en-US" altLang="en-US" dirty="0">
              <a:latin typeface="Arial" panose="020B0604020202020204" pitchFamily="34" charset="0"/>
              <a:ea typeface="ＭＳ Ｐゴシック" pitchFamily="34" charset="-128"/>
              <a:cs typeface="Arial" panose="020B0604020202020204" pitchFamily="34" charset="0"/>
            </a:endParaRPr>
          </a:p>
          <a:p>
            <a:r>
              <a:rPr lang="en-US" altLang="en-US" dirty="0">
                <a:latin typeface="Arial" panose="020B0604020202020204" pitchFamily="34" charset="0"/>
                <a:ea typeface="ＭＳ Ｐゴシック" pitchFamily="34" charset="-128"/>
                <a:cs typeface="Arial" panose="020B0604020202020204" pitchFamily="34" charset="0"/>
              </a:rPr>
              <a:t>Good management is concerned with </a:t>
            </a:r>
            <a:r>
              <a:rPr lang="en-US" altLang="en-US" b="1" dirty="0">
                <a:latin typeface="Arial" panose="020B0604020202020204" pitchFamily="34" charset="0"/>
                <a:ea typeface="ＭＳ Ｐゴシック" pitchFamily="34" charset="-128"/>
                <a:cs typeface="Arial" panose="020B0604020202020204" pitchFamily="34" charset="0"/>
              </a:rPr>
              <a:t>both </a:t>
            </a:r>
            <a:r>
              <a:rPr lang="en-US" altLang="en-US" dirty="0">
                <a:latin typeface="Arial" panose="020B0604020202020204" pitchFamily="34" charset="0"/>
                <a:ea typeface="ＭＳ Ｐゴシック" pitchFamily="34" charset="-128"/>
                <a:cs typeface="Arial" panose="020B0604020202020204" pitchFamily="34" charset="0"/>
              </a:rPr>
              <a:t>attaining goals (effectiveness) and doing so as efficiently as possible.</a:t>
            </a:r>
          </a:p>
          <a:p>
            <a:endParaRPr lang="en-US" dirty="0">
              <a:latin typeface="Arial" panose="020B0604020202020204" pitchFamily="34" charset="0"/>
              <a:ea typeface="ＭＳ Ｐゴシック" pitchFamily="34" charset="-128"/>
              <a:cs typeface="Arial" panose="020B0604020202020204" pitchFamily="34" charset="0"/>
            </a:endParaRPr>
          </a:p>
          <a:p>
            <a:r>
              <a:rPr lang="en-US" dirty="0">
                <a:latin typeface="Arial" panose="020B0604020202020204" pitchFamily="34" charset="0"/>
                <a:cs typeface="Arial" panose="020B0604020202020204" pitchFamily="34" charset="0"/>
              </a:rPr>
              <a:t>Long Description:</a:t>
            </a:r>
            <a:endParaRPr lang="en-US" dirty="0">
              <a:latin typeface="Arial" panose="020B0604020202020204" pitchFamily="34" charset="0"/>
              <a:ea typeface="ＭＳ Ｐゴシック" pitchFamily="34" charset="-128"/>
              <a:cs typeface="Arial" panose="020B0604020202020204" pitchFamily="34" charset="0"/>
            </a:endParaRPr>
          </a:p>
          <a:p>
            <a:r>
              <a:rPr lang="en-US" dirty="0">
                <a:latin typeface="Arial" panose="020B0604020202020204" pitchFamily="34" charset="0"/>
                <a:cs typeface="Arial" panose="020B0604020202020204" pitchFamily="34" charset="0"/>
              </a:rPr>
              <a:t>Efficiency is related to means and effectiveness is related to ends. Efficiency decreases resource usage, leading to low waste. Effectiveness increases goal attainment, leading to high attainment. Goals are influenced by low waste and high attainment.</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11</a:t>
            </a:fld>
            <a:endParaRPr lang="en-US" dirty="0"/>
          </a:p>
        </p:txBody>
      </p:sp>
    </p:spTree>
    <p:extLst>
      <p:ext uri="{BB962C8B-B14F-4D97-AF65-F5344CB8AC3E}">
        <p14:creationId xmlns:p14="http://schemas.microsoft.com/office/powerpoint/2010/main" val="6503335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solidFill>
                  <a:schemeClr val="tx1"/>
                </a:solidFill>
                <a:latin typeface="Arial" panose="020B0604020202020204" pitchFamily="34" charset="0"/>
                <a:ea typeface="ＭＳ Ｐゴシック" pitchFamily="34" charset="-128"/>
                <a:cs typeface="Arial" panose="020B0604020202020204" pitchFamily="34" charset="0"/>
              </a:rPr>
              <a:t>Until now, we’ve looked at management as a generic activity. If management is truly a generic discipline, then what a manager does should be essentially the same whether he or she is a top-level executive or a first-line supervisor, in a business firm or a government agency; in a large corporation or a small business; or located in Paris, Texas, or Paris, France. In reality, a manager’s job varies depending on several factors.</a:t>
            </a:r>
            <a:endParaRPr lang="en-US"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spcBef>
                <a:spcPct val="0"/>
              </a:spcBef>
            </a:pPr>
            <a:r>
              <a:rPr lang="en-US" altLang="en-US" sz="1200" dirty="0">
                <a:latin typeface="Arial" panose="020B0604020202020204" pitchFamily="34" charset="0"/>
                <a:ea typeface="ＭＳ Ｐゴシック" pitchFamily="34" charset="-128"/>
                <a:cs typeface="Arial" panose="020B0604020202020204" pitchFamily="34" charset="0"/>
              </a:rPr>
              <a:t>First we’ll examine how a manager’s level in the organization impacts the role.</a:t>
            </a:r>
          </a:p>
          <a:p>
            <a:endParaRPr lang="en-US" altLang="en-US" sz="1200" dirty="0">
              <a:latin typeface="Arial" panose="020B0604020202020204" pitchFamily="34" charset="0"/>
              <a:ea typeface="ＭＳ Ｐゴシック" pitchFamily="34" charset="-128"/>
              <a:cs typeface="Arial" panose="020B0604020202020204" pitchFamily="34" charset="0"/>
            </a:endParaRPr>
          </a:p>
          <a:p>
            <a:r>
              <a:rPr lang="en-US" altLang="en-US" sz="1200" dirty="0">
                <a:latin typeface="Arial" panose="020B0604020202020204" pitchFamily="34" charset="0"/>
                <a:ea typeface="ＭＳ Ｐゴシック" pitchFamily="34" charset="-128"/>
                <a:cs typeface="Arial" panose="020B0604020202020204" pitchFamily="34" charset="0"/>
              </a:rPr>
              <a:t>Although a supervisor and the C E O of a company may not do exactly the same things, it doesn’t mean that their jobs are inherently different. The differences are of </a:t>
            </a:r>
            <a:r>
              <a:rPr lang="en-US" altLang="en-US" sz="1200" b="1" dirty="0">
                <a:latin typeface="Arial" panose="020B0604020202020204" pitchFamily="34" charset="0"/>
                <a:ea typeface="ＭＳ Ｐゴシック" pitchFamily="34" charset="-128"/>
                <a:cs typeface="Arial" panose="020B0604020202020204" pitchFamily="34" charset="0"/>
              </a:rPr>
              <a:t>degree </a:t>
            </a:r>
            <a:r>
              <a:rPr lang="en-US" altLang="en-US" sz="1200" dirty="0">
                <a:latin typeface="Arial" panose="020B0604020202020204" pitchFamily="34" charset="0"/>
                <a:ea typeface="ＭＳ Ｐゴシック" pitchFamily="34" charset="-128"/>
                <a:cs typeface="Arial" panose="020B0604020202020204" pitchFamily="34" charset="0"/>
              </a:rPr>
              <a:t>and </a:t>
            </a:r>
            <a:r>
              <a:rPr lang="en-US" altLang="en-US" sz="1200" b="1" dirty="0">
                <a:latin typeface="Arial" panose="020B0604020202020204" pitchFamily="34" charset="0"/>
                <a:ea typeface="ＭＳ Ｐゴシック" pitchFamily="34" charset="-128"/>
                <a:cs typeface="Arial" panose="020B0604020202020204" pitchFamily="34" charset="0"/>
              </a:rPr>
              <a:t>emphasis </a:t>
            </a:r>
            <a:r>
              <a:rPr lang="en-US" altLang="en-US" sz="1200" dirty="0">
                <a:latin typeface="Arial" panose="020B0604020202020204" pitchFamily="34" charset="0"/>
                <a:ea typeface="ＭＳ Ｐゴシック" pitchFamily="34" charset="-128"/>
                <a:cs typeface="Arial" panose="020B0604020202020204" pitchFamily="34" charset="0"/>
              </a:rPr>
              <a:t>but not of </a:t>
            </a:r>
            <a:r>
              <a:rPr lang="en-US" altLang="en-US" sz="1200" b="1" dirty="0">
                <a:latin typeface="Arial" panose="020B0604020202020204" pitchFamily="34" charset="0"/>
                <a:ea typeface="ＭＳ Ｐゴシック" pitchFamily="34" charset="-128"/>
                <a:cs typeface="Arial" panose="020B0604020202020204" pitchFamily="34" charset="0"/>
              </a:rPr>
              <a:t>activity</a:t>
            </a:r>
            <a:r>
              <a:rPr lang="en-US" altLang="en-US" sz="1200" dirty="0">
                <a:latin typeface="Arial" panose="020B0604020202020204" pitchFamily="34" charset="0"/>
                <a:ea typeface="ＭＳ Ｐゴシック" pitchFamily="34" charset="-128"/>
                <a:cs typeface="Arial" panose="020B0604020202020204" pitchFamily="34" charset="0"/>
              </a:rPr>
              <a:t>. That is, the decisions of a top manager will have greater ramifications than those of a middle manager due to the content of the decision.</a:t>
            </a:r>
          </a:p>
          <a:p>
            <a:pPr eaLnBrk="1" hangingPunct="1">
              <a:lnSpc>
                <a:spcPct val="90000"/>
              </a:lnSpc>
              <a:spcBef>
                <a:spcPct val="0"/>
              </a:spcBef>
            </a:pPr>
            <a:r>
              <a:rPr lang="en-US" altLang="en-US" sz="1200" dirty="0">
                <a:latin typeface="Arial" panose="020B0604020202020204" pitchFamily="34" charset="0"/>
                <a:ea typeface="ＭＳ Ｐゴシック" pitchFamily="34" charset="-128"/>
                <a:cs typeface="Arial" panose="020B0604020202020204" pitchFamily="34" charset="0"/>
              </a:rPr>
              <a:t> </a:t>
            </a:r>
          </a:p>
          <a:p>
            <a:pPr eaLnBrk="1" hangingPunct="1">
              <a:lnSpc>
                <a:spcPct val="90000"/>
              </a:lnSpc>
              <a:spcBef>
                <a:spcPct val="0"/>
              </a:spcBef>
            </a:pPr>
            <a:r>
              <a:rPr lang="en-US" altLang="en-US" sz="1200" dirty="0">
                <a:latin typeface="Arial" panose="020B0604020202020204" pitchFamily="34" charset="0"/>
                <a:ea typeface="ＭＳ Ｐゴシック" pitchFamily="34" charset="-128"/>
                <a:cs typeface="Arial" panose="020B0604020202020204" pitchFamily="34" charset="0"/>
              </a:rPr>
              <a:t>All managers regardless of level, make decisions and plan, lead, organize, and control. But the </a:t>
            </a:r>
            <a:r>
              <a:rPr lang="en-US" altLang="en-US" sz="1200" b="1" dirty="0">
                <a:latin typeface="Arial" panose="020B0604020202020204" pitchFamily="34" charset="0"/>
                <a:ea typeface="ＭＳ Ｐゴシック" pitchFamily="34" charset="-128"/>
                <a:cs typeface="Arial" panose="020B0604020202020204" pitchFamily="34" charset="0"/>
              </a:rPr>
              <a:t>amount of time a manager gives to each activity is not necessarily constant. </a:t>
            </a:r>
            <a:r>
              <a:rPr lang="en-US" altLang="en-US" sz="1200" dirty="0">
                <a:latin typeface="Arial" panose="020B0604020202020204" pitchFamily="34" charset="0"/>
                <a:ea typeface="ＭＳ Ｐゴシック" pitchFamily="34" charset="-128"/>
                <a:cs typeface="Arial" panose="020B0604020202020204" pitchFamily="34" charset="0"/>
              </a:rPr>
              <a:t>Also, the </a:t>
            </a:r>
            <a:r>
              <a:rPr lang="en-US" altLang="en-US" sz="1200" b="1" dirty="0">
                <a:latin typeface="Arial" panose="020B0604020202020204" pitchFamily="34" charset="0"/>
                <a:ea typeface="ＭＳ Ｐゴシック" pitchFamily="34" charset="-128"/>
                <a:cs typeface="Arial" panose="020B0604020202020204" pitchFamily="34" charset="0"/>
              </a:rPr>
              <a:t>content of the managerial activities also changes with the manager’s level</a:t>
            </a:r>
            <a:r>
              <a:rPr lang="en-US" altLang="en-US" sz="1200" dirty="0">
                <a:latin typeface="Arial" panose="020B0604020202020204" pitchFamily="34" charset="0"/>
                <a:ea typeface="ＭＳ Ｐゴシック" pitchFamily="34" charset="-128"/>
                <a:cs typeface="Arial" panose="020B0604020202020204" pitchFamily="34" charset="0"/>
              </a:rPr>
              <a:t>. The figure illustrates this variability.</a:t>
            </a:r>
          </a:p>
          <a:p>
            <a:pPr eaLnBrk="1" hangingPunct="1">
              <a:lnSpc>
                <a:spcPct val="90000"/>
              </a:lnSpc>
              <a:spcBef>
                <a:spcPct val="0"/>
              </a:spcBef>
            </a:pPr>
            <a:endParaRPr lang="en-US" sz="1200" dirty="0">
              <a:latin typeface="Arial" panose="020B0604020202020204" pitchFamily="34" charset="0"/>
              <a:ea typeface="ＭＳ Ｐゴシック" pitchFamily="34" charset="-128"/>
              <a:cs typeface="Arial" panose="020B0604020202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dirty="0">
                <a:latin typeface="Arial" panose="020B0604020202020204" pitchFamily="34" charset="0"/>
                <a:cs typeface="Arial" panose="020B0604020202020204" pitchFamily="34" charset="0"/>
              </a:rPr>
              <a:t>Long Description:</a:t>
            </a: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dirty="0">
                <a:latin typeface="Arial" panose="020B0604020202020204" pitchFamily="34" charset="0"/>
                <a:cs typeface="Arial" panose="020B0604020202020204" pitchFamily="34" charset="0"/>
              </a:rPr>
              <a:t>The percent of activities performed by first-level managers are as follows. Leading: 51. Organizing: 24. Planning: 15. Controlling: 10. The percent of activities performed by middle managers are as follows. Leading: 36. Organizing: 33. Planning: 18. Controlling: 13. The percent of activities performed by top managers are as follows. Leading: 22. Organizing: 36. Planning: 28. Controlling: 14.</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13</a:t>
            </a:fld>
            <a:endParaRPr lang="en-US" dirty="0"/>
          </a:p>
        </p:txBody>
      </p:sp>
    </p:spTree>
    <p:extLst>
      <p:ext uri="{BB962C8B-B14F-4D97-AF65-F5344CB8AC3E}">
        <p14:creationId xmlns:p14="http://schemas.microsoft.com/office/powerpoint/2010/main" val="3853897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itchFamily="34" charset="-128"/>
                <a:cs typeface="Arial" panose="020B0604020202020204" pitchFamily="34" charset="0"/>
              </a:rPr>
              <a:t>The most important difference between the two is how performance is measured. Profit, or the “bottom line,” is an unambiguous measure of a business organization’s effectiveness. Not-for-profit organizations don’t have such a universal measure, making performance measurement more difficult. But even not-for-profit organizations need to make money to continue operating.</a:t>
            </a:r>
          </a:p>
          <a:p>
            <a:endParaRPr lang="en-US" altLang="en-US" dirty="0">
              <a:latin typeface="Arial" panose="020B0604020202020204" pitchFamily="34" charset="0"/>
              <a:ea typeface="ＭＳ Ｐゴシック" pitchFamily="34" charset="-128"/>
              <a:cs typeface="Arial" panose="020B0604020202020204" pitchFamily="34" charset="0"/>
            </a:endParaRPr>
          </a:p>
          <a:p>
            <a:pPr eaLnBrk="1" hangingPunct="1"/>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14</a:t>
            </a:fld>
            <a:endParaRPr lang="en-US" dirty="0"/>
          </a:p>
        </p:txBody>
      </p:sp>
    </p:spTree>
    <p:extLst>
      <p:ext uri="{BB962C8B-B14F-4D97-AF65-F5344CB8AC3E}">
        <p14:creationId xmlns:p14="http://schemas.microsoft.com/office/powerpoint/2010/main" val="2468347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80000"/>
              </a:lnSpc>
              <a:spcBef>
                <a:spcPts val="0"/>
              </a:spcBef>
              <a:spcAft>
                <a:spcPts val="0"/>
              </a:spcAft>
              <a:buClrTx/>
              <a:buSzTx/>
              <a:buFontTx/>
              <a:buNone/>
              <a:tabLst/>
              <a:defRPr/>
            </a:pPr>
            <a:r>
              <a:rPr lang="en-US" altLang="en-US" sz="1200" dirty="0">
                <a:latin typeface="Arial" panose="020B0604020202020204" pitchFamily="34" charset="0"/>
                <a:ea typeface="ＭＳ Ｐゴシック" pitchFamily="34" charset="-128"/>
                <a:cs typeface="Arial" panose="020B0604020202020204" pitchFamily="34" charset="0"/>
              </a:rPr>
              <a:t>As we see in this figure, managerial roles in small and large businesses differ.</a:t>
            </a:r>
          </a:p>
          <a:p>
            <a:pPr>
              <a:lnSpc>
                <a:spcPct val="80000"/>
              </a:lnSpc>
            </a:pPr>
            <a:endParaRPr lang="en-US" altLang="en-US" sz="1200" dirty="0">
              <a:latin typeface="Arial" panose="020B0604020202020204" pitchFamily="34" charset="0"/>
              <a:ea typeface="ＭＳ Ｐゴシック" pitchFamily="34" charset="-128"/>
              <a:cs typeface="Arial" panose="020B0604020202020204" pitchFamily="34" charset="0"/>
            </a:endParaRPr>
          </a:p>
          <a:p>
            <a:pPr>
              <a:lnSpc>
                <a:spcPct val="80000"/>
              </a:lnSpc>
            </a:pPr>
            <a:r>
              <a:rPr lang="en-US" altLang="en-US" sz="1200" dirty="0">
                <a:latin typeface="Arial" panose="020B0604020202020204" pitchFamily="34" charset="0"/>
                <a:ea typeface="ＭＳ Ｐゴシック" pitchFamily="34" charset="-128"/>
                <a:cs typeface="Arial" panose="020B0604020202020204" pitchFamily="34" charset="0"/>
              </a:rPr>
              <a:t>For the purposes of our discussion, a </a:t>
            </a:r>
            <a:r>
              <a:rPr lang="en-US" altLang="en-US" sz="1200" b="1" dirty="0">
                <a:latin typeface="Arial" panose="020B0604020202020204" pitchFamily="34" charset="0"/>
                <a:ea typeface="ＭＳ Ｐゴシック" pitchFamily="34" charset="-128"/>
                <a:cs typeface="Arial" panose="020B0604020202020204" pitchFamily="34" charset="0"/>
              </a:rPr>
              <a:t>small business </a:t>
            </a:r>
            <a:r>
              <a:rPr lang="en-US" altLang="en-US" sz="1200" dirty="0">
                <a:latin typeface="Arial" panose="020B0604020202020204" pitchFamily="34" charset="0"/>
                <a:ea typeface="ＭＳ Ｐゴシック" pitchFamily="34" charset="-128"/>
                <a:cs typeface="Arial" panose="020B0604020202020204" pitchFamily="34" charset="0"/>
              </a:rPr>
              <a:t>is an independent business having fewer than 500 employees that doesn’t necessarily engage in any new or innovative practices and has relatively little impact on its industry.</a:t>
            </a:r>
          </a:p>
          <a:p>
            <a:pPr>
              <a:lnSpc>
                <a:spcPct val="80000"/>
              </a:lnSpc>
            </a:pPr>
            <a:endParaRPr lang="en-US" altLang="en-US" sz="1200" dirty="0">
              <a:latin typeface="Arial" panose="020B0604020202020204" pitchFamily="34" charset="0"/>
              <a:ea typeface="ＭＳ Ｐゴシック" pitchFamily="34" charset="-128"/>
              <a:cs typeface="Arial" panose="020B0604020202020204" pitchFamily="34" charset="0"/>
            </a:endParaRPr>
          </a:p>
          <a:p>
            <a:pPr>
              <a:lnSpc>
                <a:spcPct val="80000"/>
              </a:lnSpc>
            </a:pPr>
            <a:r>
              <a:rPr lang="en-US" altLang="en-US" sz="1200" dirty="0">
                <a:latin typeface="Arial" panose="020B0604020202020204" pitchFamily="34" charset="0"/>
                <a:ea typeface="ＭＳ Ｐゴシック" pitchFamily="34" charset="-128"/>
                <a:cs typeface="Arial" panose="020B0604020202020204" pitchFamily="34" charset="0"/>
              </a:rPr>
              <a:t>The most important role of a small business manager is that of spokesperson, performing </a:t>
            </a:r>
            <a:r>
              <a:rPr lang="en-US" altLang="en-US" sz="1200" b="1" dirty="0">
                <a:latin typeface="Arial" panose="020B0604020202020204" pitchFamily="34" charset="0"/>
                <a:ea typeface="ＭＳ Ｐゴシック" pitchFamily="34" charset="-128"/>
                <a:cs typeface="Arial" panose="020B0604020202020204" pitchFamily="34" charset="0"/>
              </a:rPr>
              <a:t>externally </a:t>
            </a:r>
            <a:r>
              <a:rPr lang="en-US" altLang="en-US" sz="1200" dirty="0">
                <a:latin typeface="Arial" panose="020B0604020202020204" pitchFamily="34" charset="0"/>
                <a:ea typeface="ＭＳ Ｐゴシック" pitchFamily="34" charset="-128"/>
                <a:cs typeface="Arial" panose="020B0604020202020204" pitchFamily="34" charset="0"/>
              </a:rPr>
              <a:t>in meeting with customers, arranging financing with bankers, searching for new opportunities, and stimulating change.</a:t>
            </a:r>
          </a:p>
          <a:p>
            <a:pPr>
              <a:lnSpc>
                <a:spcPct val="80000"/>
              </a:lnSpc>
            </a:pPr>
            <a:endParaRPr lang="en-US" altLang="en-US" sz="1200" dirty="0">
              <a:latin typeface="Arial" panose="020B0604020202020204" pitchFamily="34" charset="0"/>
              <a:ea typeface="ＭＳ Ｐゴシック" pitchFamily="34" charset="-128"/>
              <a:cs typeface="Arial" panose="020B0604020202020204" pitchFamily="34" charset="0"/>
            </a:endParaRPr>
          </a:p>
          <a:p>
            <a:pPr>
              <a:lnSpc>
                <a:spcPct val="80000"/>
              </a:lnSpc>
            </a:pPr>
            <a:r>
              <a:rPr lang="en-US" altLang="en-US" sz="1200" dirty="0">
                <a:latin typeface="Arial" panose="020B0604020202020204" pitchFamily="34" charset="0"/>
                <a:ea typeface="ＭＳ Ｐゴシック" pitchFamily="34" charset="-128"/>
                <a:cs typeface="Arial" panose="020B0604020202020204" pitchFamily="34" charset="0"/>
              </a:rPr>
              <a:t>The actions of a manager in a large organization, however, are directed </a:t>
            </a:r>
            <a:r>
              <a:rPr lang="en-US" altLang="en-US" sz="1200" b="1" dirty="0">
                <a:latin typeface="Arial" panose="020B0604020202020204" pitchFamily="34" charset="0"/>
                <a:ea typeface="ＭＳ Ｐゴシック" pitchFamily="34" charset="-128"/>
                <a:cs typeface="Arial" panose="020B0604020202020204" pitchFamily="34" charset="0"/>
              </a:rPr>
              <a:t>internally</a:t>
            </a:r>
            <a:r>
              <a:rPr lang="en-US" altLang="en-US" sz="1200" dirty="0">
                <a:latin typeface="Arial" panose="020B0604020202020204" pitchFamily="34" charset="0"/>
                <a:ea typeface="ＭＳ Ｐゴシック" pitchFamily="34" charset="-128"/>
                <a:cs typeface="Arial" panose="020B0604020202020204" pitchFamily="34" charset="0"/>
              </a:rPr>
              <a:t>, deciding which organizational units get which and how much of the available resources. </a:t>
            </a:r>
          </a:p>
          <a:p>
            <a:pPr>
              <a:lnSpc>
                <a:spcPct val="80000"/>
              </a:lnSpc>
            </a:pPr>
            <a:endParaRPr lang="en-US" altLang="en-US" sz="1200" dirty="0">
              <a:latin typeface="Arial" panose="020B0604020202020204" pitchFamily="34" charset="0"/>
              <a:ea typeface="ＭＳ Ｐゴシック" pitchFamily="34" charset="-128"/>
              <a:cs typeface="Arial" panose="020B0604020202020204" pitchFamily="34" charset="0"/>
            </a:endParaRPr>
          </a:p>
          <a:p>
            <a:pPr>
              <a:lnSpc>
                <a:spcPct val="80000"/>
              </a:lnSpc>
            </a:pPr>
            <a:r>
              <a:rPr lang="en-US" altLang="en-US" sz="1200" dirty="0">
                <a:latin typeface="Arial" panose="020B0604020202020204" pitchFamily="34" charset="0"/>
                <a:ea typeface="ＭＳ Ｐゴシック" pitchFamily="34" charset="-128"/>
                <a:cs typeface="Arial" panose="020B0604020202020204" pitchFamily="34" charset="0"/>
              </a:rPr>
              <a:t>A small business manager is more likely to be a generalist in a less formal, less structured, and less complex environment than his counterpart in a large organization. </a:t>
            </a:r>
            <a:endParaRPr lang="en-US" altLang="en-US" sz="1200" b="1" dirty="0">
              <a:latin typeface="Arial" panose="020B0604020202020204" pitchFamily="34" charset="0"/>
              <a:ea typeface="ＭＳ Ｐゴシック" pitchFamily="34" charset="-128"/>
              <a:cs typeface="Arial" panose="020B0604020202020204" pitchFamily="34" charset="0"/>
            </a:endParaRPr>
          </a:p>
          <a:p>
            <a:pPr>
              <a:lnSpc>
                <a:spcPct val="90000"/>
              </a:lnSpc>
            </a:pPr>
            <a:r>
              <a:rPr lang="en-US" altLang="en-US" sz="1200" dirty="0">
                <a:latin typeface="Arial" panose="020B0604020202020204" pitchFamily="34" charset="0"/>
                <a:ea typeface="ＭＳ Ｐゴシック" pitchFamily="34" charset="-128"/>
                <a:cs typeface="Arial" panose="020B0604020202020204" pitchFamily="34" charset="0"/>
              </a:rPr>
              <a:t>Again, as with organizational level, we see differences in degree and emphasis but not in the activities that managers do. Managers in both small and large organizations perform essentially the same activities, but how they go about those activities and the proportion of time they spend on each are different.</a:t>
            </a:r>
            <a:endParaRPr lang="en-US" sz="1200" dirty="0">
              <a:latin typeface="Arial" panose="020B0604020202020204" pitchFamily="34" charset="0"/>
              <a:cs typeface="Arial" panose="020B0604020202020204" pitchFamily="34" charset="0"/>
            </a:endParaRPr>
          </a:p>
          <a:p>
            <a:pPr eaLnBrk="1" hangingPunct="1">
              <a:lnSpc>
                <a:spcPct val="90000"/>
              </a:lnSpc>
              <a:spcBef>
                <a:spcPct val="0"/>
              </a:spcBef>
            </a:pPr>
            <a:endParaRPr lang="en-US" sz="1200" dirty="0">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dirty="0">
                <a:latin typeface="Arial" panose="020B0604020202020204" pitchFamily="34" charset="0"/>
                <a:cs typeface="Arial" panose="020B0604020202020204" pitchFamily="34" charset="0"/>
              </a:rPr>
              <a:t>Long Description:</a:t>
            </a:r>
          </a:p>
          <a:p>
            <a:pPr eaLnBrk="1" hangingPunct="1">
              <a:lnSpc>
                <a:spcPct val="90000"/>
              </a:lnSpc>
              <a:spcBef>
                <a:spcPct val="0"/>
              </a:spcBef>
            </a:pPr>
            <a:r>
              <a:rPr lang="en-US" altLang="en-US" sz="1200" dirty="0">
                <a:latin typeface="Arial" panose="020B0604020202020204" pitchFamily="34" charset="0"/>
                <a:ea typeface="ＭＳ Ｐゴシック" pitchFamily="34" charset="-128"/>
                <a:cs typeface="Arial" panose="020B0604020202020204" pitchFamily="34" charset="0"/>
              </a:rPr>
              <a:t>The roles played by managers in small firms, in the increasing level of importance, are as follows. Low: Disseminator. Moderate: Entrepreneur, figurehead, leader. High: Spokesperson. The roles played by managers in large firms, in the increasing level of importance, are as follows. Low: Entrepreneur. Moderate: Liaison, monitor, disturbance handler, negotiator. High: Resource allocator.</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15</a:t>
            </a:fld>
            <a:endParaRPr lang="en-US" dirty="0"/>
          </a:p>
        </p:txBody>
      </p:sp>
    </p:spTree>
    <p:extLst>
      <p:ext uri="{BB962C8B-B14F-4D97-AF65-F5344CB8AC3E}">
        <p14:creationId xmlns:p14="http://schemas.microsoft.com/office/powerpoint/2010/main" val="36827819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itchFamily="34" charset="-128"/>
                <a:cs typeface="Arial" panose="020B0604020202020204" pitchFamily="34" charset="0"/>
              </a:rPr>
              <a:t>If management concepts were transferable across countries, they would apply universally in all parts of the world. However, research shows that while concepts transfer easily among</a:t>
            </a:r>
            <a:r>
              <a:rPr lang="en-US" altLang="en-US" b="1" dirty="0">
                <a:latin typeface="Arial" panose="020B0604020202020204" pitchFamily="34" charset="0"/>
                <a:ea typeface="ＭＳ Ｐゴシック" pitchFamily="34" charset="-128"/>
                <a:cs typeface="Arial" panose="020B0604020202020204" pitchFamily="34" charset="0"/>
              </a:rPr>
              <a:t> </a:t>
            </a:r>
            <a:r>
              <a:rPr lang="en-US" altLang="en-US" dirty="0">
                <a:latin typeface="Arial" panose="020B0604020202020204" pitchFamily="34" charset="0"/>
                <a:ea typeface="ＭＳ Ｐゴシック" pitchFamily="34" charset="-128"/>
                <a:cs typeface="Arial" panose="020B0604020202020204" pitchFamily="34" charset="0"/>
              </a:rPr>
              <a:t>many English-speaking countries, management concepts will likely need to be modified when dealing with India, China, Chile, or other countries with economic, political, social, or cultural environments that differ from those of the so-called free-market democracies.</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16</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chemeClr val="tx1"/>
              </a:solidFill>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17</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ea typeface="ＭＳ Ｐゴシック" pitchFamily="34" charset="-128"/>
                <a:cs typeface="Arial" panose="020B0604020202020204" pitchFamily="34" charset="0"/>
              </a:rPr>
              <a:t>No two organizations are alike, and neither are managers’ jobs. But managers’ jobs do share some common elements. We’ll discuss three approaches to describing what managers do.</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18</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latin typeface="Arial" panose="020B0604020202020204" pitchFamily="34" charset="0"/>
                <a:ea typeface="ＭＳ Ｐゴシック" pitchFamily="34" charset="-128"/>
                <a:cs typeface="Arial" panose="020B0604020202020204" pitchFamily="34" charset="0"/>
              </a:rPr>
              <a:t>Managers perform certain activities, tasks, or functions as they direct and oversee others’ work. This approach was first proposed by French Industrialist Henri Fayol. He said managers engaged in five management activities: plan, organize, command, coordinate, and control (P O C </a:t>
            </a:r>
            <a:r>
              <a:rPr lang="en-US" altLang="en-US" sz="1200" dirty="0" err="1">
                <a:latin typeface="Arial" panose="020B0604020202020204" pitchFamily="34" charset="0"/>
                <a:ea typeface="ＭＳ Ｐゴシック" pitchFamily="34" charset="-128"/>
                <a:cs typeface="Arial" panose="020B0604020202020204" pitchFamily="34" charset="0"/>
              </a:rPr>
              <a:t>C</a:t>
            </a:r>
            <a:r>
              <a:rPr lang="en-US" altLang="en-US" sz="1200" dirty="0">
                <a:latin typeface="Arial" panose="020B0604020202020204" pitchFamily="34" charset="0"/>
                <a:ea typeface="ＭＳ Ｐゴシック" pitchFamily="34" charset="-128"/>
                <a:cs typeface="Arial" panose="020B0604020202020204" pitchFamily="34" charset="0"/>
              </a:rPr>
              <a:t> C). His choice of these five functions was based on his own observations of the mining industry, not from a formal survey. Today, those management functions have been condensed to the following four:</a:t>
            </a:r>
          </a:p>
          <a:p>
            <a:pPr eaLnBrk="1" hangingPunct="1">
              <a:spcBef>
                <a:spcPct val="0"/>
              </a:spcBef>
            </a:pPr>
            <a:endParaRPr lang="en-US" altLang="en-US" sz="1200" dirty="0">
              <a:latin typeface="Arial" panose="020B0604020202020204" pitchFamily="34" charset="0"/>
              <a:ea typeface="ＭＳ Ｐゴシック" pitchFamily="34" charset="-128"/>
              <a:cs typeface="Arial" panose="020B0604020202020204" pitchFamily="34" charset="0"/>
            </a:endParaRPr>
          </a:p>
          <a:p>
            <a:pPr eaLnBrk="1" hangingPunct="1">
              <a:spcBef>
                <a:spcPct val="0"/>
              </a:spcBef>
              <a:buFont typeface="Calibri" pitchFamily="34" charset="0"/>
              <a:buAutoNum type="arabicPeriod"/>
            </a:pPr>
            <a:r>
              <a:rPr lang="en-US" altLang="en-US" sz="1200" b="1" dirty="0">
                <a:latin typeface="Arial" panose="020B0604020202020204" pitchFamily="34" charset="0"/>
                <a:ea typeface="ＭＳ Ｐゴシック" pitchFamily="34" charset="-128"/>
                <a:cs typeface="Arial" panose="020B0604020202020204" pitchFamily="34" charset="0"/>
              </a:rPr>
              <a:t> Planning</a:t>
            </a:r>
            <a:r>
              <a:rPr lang="en-US" altLang="en-US" sz="1200" dirty="0">
                <a:latin typeface="Arial" panose="020B0604020202020204" pitchFamily="34" charset="0"/>
                <a:ea typeface="ＭＳ Ｐゴシック" pitchFamily="34" charset="-128"/>
                <a:cs typeface="Arial" panose="020B0604020202020204" pitchFamily="34" charset="0"/>
              </a:rPr>
              <a:t> includes defining</a:t>
            </a:r>
            <a:r>
              <a:rPr lang="en-US" altLang="en-US" sz="1200" b="1" dirty="0">
                <a:latin typeface="Arial" panose="020B0604020202020204" pitchFamily="34" charset="0"/>
                <a:ea typeface="ＭＳ Ｐゴシック" pitchFamily="34" charset="-128"/>
                <a:cs typeface="Arial" panose="020B0604020202020204" pitchFamily="34" charset="0"/>
              </a:rPr>
              <a:t> </a:t>
            </a:r>
            <a:r>
              <a:rPr lang="en-US" altLang="en-US" sz="1200" dirty="0">
                <a:latin typeface="Arial" panose="020B0604020202020204" pitchFamily="34" charset="0"/>
                <a:ea typeface="ＭＳ Ｐゴシック" pitchFamily="34" charset="-128"/>
                <a:cs typeface="Arial" panose="020B0604020202020204" pitchFamily="34" charset="0"/>
              </a:rPr>
              <a:t>goals, establishing strategy, and developing plans to coordinate activities.</a:t>
            </a:r>
          </a:p>
          <a:p>
            <a:pPr eaLnBrk="1" hangingPunct="1">
              <a:spcBef>
                <a:spcPct val="0"/>
              </a:spcBef>
              <a:buFont typeface="Calibri" pitchFamily="34" charset="0"/>
              <a:buAutoNum type="arabicPeriod"/>
            </a:pPr>
            <a:r>
              <a:rPr lang="en-US" altLang="en-US" sz="1200" b="1" dirty="0">
                <a:latin typeface="Arial" panose="020B0604020202020204" pitchFamily="34" charset="0"/>
                <a:ea typeface="ＭＳ Ｐゴシック" pitchFamily="34" charset="-128"/>
                <a:cs typeface="Arial" panose="020B0604020202020204" pitchFamily="34" charset="0"/>
              </a:rPr>
              <a:t> Organizing</a:t>
            </a:r>
            <a:r>
              <a:rPr lang="en-US" altLang="en-US" sz="1200" dirty="0">
                <a:latin typeface="Arial" panose="020B0604020202020204" pitchFamily="34" charset="0"/>
                <a:ea typeface="ＭＳ Ｐゴシック" pitchFamily="34" charset="-128"/>
                <a:cs typeface="Arial" panose="020B0604020202020204" pitchFamily="34" charset="0"/>
              </a:rPr>
              <a:t> includes determining which tasks need to be done and by whom, how tasks are to be grouped, who reports to whom, and who will make decisions.</a:t>
            </a:r>
          </a:p>
          <a:p>
            <a:pPr eaLnBrk="1" hangingPunct="1">
              <a:spcBef>
                <a:spcPct val="0"/>
              </a:spcBef>
              <a:buFont typeface="Calibri" pitchFamily="34" charset="0"/>
              <a:buAutoNum type="arabicPeriod"/>
            </a:pPr>
            <a:r>
              <a:rPr lang="en-US" altLang="en-US" sz="1200" b="1" dirty="0">
                <a:latin typeface="Arial" panose="020B0604020202020204" pitchFamily="34" charset="0"/>
                <a:ea typeface="ＭＳ Ｐゴシック" pitchFamily="34" charset="-128"/>
                <a:cs typeface="Arial" panose="020B0604020202020204" pitchFamily="34" charset="0"/>
              </a:rPr>
              <a:t> Leading </a:t>
            </a:r>
            <a:r>
              <a:rPr lang="en-US" altLang="en-US" sz="1200" dirty="0">
                <a:latin typeface="Arial" panose="020B0604020202020204" pitchFamily="34" charset="0"/>
                <a:ea typeface="ＭＳ Ｐゴシック" pitchFamily="34" charset="-128"/>
                <a:cs typeface="Arial" panose="020B0604020202020204" pitchFamily="34" charset="0"/>
              </a:rPr>
              <a:t>includes motivating employees, selecting the most effective communication channel, and resolving conflicts.</a:t>
            </a:r>
          </a:p>
          <a:p>
            <a:pPr eaLnBrk="1" hangingPunct="1">
              <a:spcBef>
                <a:spcPct val="0"/>
              </a:spcBef>
              <a:buFont typeface="Calibri" pitchFamily="34" charset="0"/>
              <a:buAutoNum type="arabicPeriod"/>
            </a:pPr>
            <a:r>
              <a:rPr lang="en-US" altLang="en-US" sz="1200" b="1" dirty="0">
                <a:latin typeface="Arial" panose="020B0604020202020204" pitchFamily="34" charset="0"/>
                <a:ea typeface="ＭＳ Ｐゴシック" pitchFamily="34" charset="-128"/>
                <a:cs typeface="Arial" panose="020B0604020202020204" pitchFamily="34" charset="0"/>
              </a:rPr>
              <a:t> Controlling </a:t>
            </a:r>
            <a:r>
              <a:rPr lang="en-US" altLang="en-US" sz="1200" dirty="0">
                <a:latin typeface="Arial" panose="020B0604020202020204" pitchFamily="34" charset="0"/>
                <a:ea typeface="ＭＳ Ｐゴシック" pitchFamily="34" charset="-128"/>
                <a:cs typeface="Arial" panose="020B0604020202020204" pitchFamily="34" charset="0"/>
              </a:rPr>
              <a:t>includes monitoring performance, comparing it with goals, and correcting any significant deviations.</a:t>
            </a:r>
            <a:endParaRPr lang="en-US" sz="1200" dirty="0">
              <a:latin typeface="Arial" panose="020B0604020202020204" pitchFamily="34" charset="0"/>
              <a:cs typeface="Arial" panose="020B0604020202020204" pitchFamily="34" charset="0"/>
            </a:endParaRPr>
          </a:p>
          <a:p>
            <a:pPr eaLnBrk="1" hangingPunct="1">
              <a:lnSpc>
                <a:spcPct val="90000"/>
              </a:lnSpc>
              <a:spcBef>
                <a:spcPct val="0"/>
              </a:spcBef>
            </a:pPr>
            <a:endParaRPr lang="en-US" altLang="en-US" sz="1200" dirty="0">
              <a:latin typeface="Arial" panose="020B0604020202020204" pitchFamily="34" charset="0"/>
              <a:ea typeface="ＭＳ Ｐゴシック" pitchFamily="34" charset="-128"/>
              <a:cs typeface="Arial" panose="020B0604020202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dirty="0">
                <a:latin typeface="Arial" panose="020B0604020202020204" pitchFamily="34" charset="0"/>
                <a:cs typeface="Arial" panose="020B0604020202020204" pitchFamily="34" charset="0"/>
              </a:rPr>
              <a:t>Long Description:</a:t>
            </a:r>
          </a:p>
          <a:p>
            <a:pPr eaLnBrk="1" hangingPunct="1">
              <a:lnSpc>
                <a:spcPct val="90000"/>
              </a:lnSpc>
              <a:spcBef>
                <a:spcPct val="0"/>
              </a:spcBef>
            </a:pPr>
            <a:r>
              <a:rPr lang="en-US" altLang="en-US" sz="1200" dirty="0">
                <a:latin typeface="Arial" panose="020B0604020202020204" pitchFamily="34" charset="0"/>
                <a:ea typeface="ＭＳ Ｐゴシック" pitchFamily="34" charset="-128"/>
                <a:cs typeface="Arial" panose="020B0604020202020204" pitchFamily="34" charset="0"/>
              </a:rPr>
              <a:t>The four functions are as follows. Planning: Includes defining goals, establishing strategy, and developing plans to coordinate activities. Organizing: Includes determining what tasks are to be done, who is to do them, how the tasks are to be grouped, who reports to who, and who will make decisions. Leading: Includes motivating employees, directing the activities of others, selecting the most effective communication channel, and resolving conflicts. Controlling: Includes monitoring performance, comparing it with goals, and correcting any significant deviations.</a:t>
            </a:r>
          </a:p>
        </p:txBody>
      </p:sp>
      <p:sp>
        <p:nvSpPr>
          <p:cNvPr id="4" name="Slide Number Placeholder 3"/>
          <p:cNvSpPr>
            <a:spLocks noGrp="1"/>
          </p:cNvSpPr>
          <p:nvPr>
            <p:ph type="sldNum" sz="quarter" idx="10"/>
          </p:nvPr>
        </p:nvSpPr>
        <p:spPr/>
        <p:txBody>
          <a:bodyPr/>
          <a:lstStyle/>
          <a:p>
            <a:fld id="{A73D6722-9B4D-4E29-B226-C325925A8118}" type="slidenum">
              <a:rPr lang="en-US" smtClean="0"/>
              <a:pPr/>
              <a:t>19</a:t>
            </a:fld>
            <a:endParaRPr lang="en-US" dirty="0"/>
          </a:p>
        </p:txBody>
      </p:sp>
    </p:spTree>
    <p:extLst>
      <p:ext uri="{BB962C8B-B14F-4D97-AF65-F5344CB8AC3E}">
        <p14:creationId xmlns:p14="http://schemas.microsoft.com/office/powerpoint/2010/main" val="857307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sz="1200" dirty="0">
                <a:latin typeface="Arial" panose="020B0604020202020204" pitchFamily="34" charset="0"/>
                <a:ea typeface="ＭＳ Ｐゴシック" pitchFamily="34" charset="-128"/>
                <a:cs typeface="Arial" panose="020B0604020202020204" pitchFamily="34" charset="0"/>
              </a:rPr>
              <a:t>In the late 1960s, Henry Mintzberg dispelled long-held notions that managers were reflective thinkers who carefully processed information before making decisions. His empirical study of 5 chief executives showed that managers perform ten different but highly interrelated roles. He categorized these actions around the following three general categories:</a:t>
            </a:r>
          </a:p>
          <a:p>
            <a:pPr eaLnBrk="1" hangingPunct="1">
              <a:spcBef>
                <a:spcPct val="0"/>
              </a:spcBef>
            </a:pPr>
            <a:endParaRPr lang="en-US" altLang="en-US" sz="1200" dirty="0">
              <a:latin typeface="Arial" panose="020B0604020202020204" pitchFamily="34" charset="0"/>
              <a:ea typeface="ＭＳ Ｐゴシック" pitchFamily="34" charset="-128"/>
              <a:cs typeface="Arial" panose="020B0604020202020204" pitchFamily="34" charset="0"/>
            </a:endParaRPr>
          </a:p>
          <a:p>
            <a:pPr marL="685800" lvl="1" indent="-228600" eaLnBrk="1" hangingPunct="1">
              <a:spcBef>
                <a:spcPct val="0"/>
              </a:spcBef>
              <a:buFont typeface="Calibri" pitchFamily="34" charset="0"/>
              <a:buAutoNum type="arabicPeriod"/>
            </a:pPr>
            <a:r>
              <a:rPr lang="en-US" altLang="en-US" sz="1200" b="1" dirty="0">
                <a:latin typeface="Arial" panose="020B0604020202020204" pitchFamily="34" charset="0"/>
                <a:ea typeface="ＭＳ Ｐゴシック" pitchFamily="34" charset="-128"/>
                <a:cs typeface="Arial" panose="020B0604020202020204" pitchFamily="34" charset="0"/>
              </a:rPr>
              <a:t> Interpersonal relationships: </a:t>
            </a:r>
            <a:r>
              <a:rPr lang="en-US" altLang="en-US" sz="1200" dirty="0">
                <a:latin typeface="Arial" panose="020B0604020202020204" pitchFamily="34" charset="0"/>
                <a:ea typeface="ＭＳ Ｐゴシック" pitchFamily="34" charset="-128"/>
                <a:cs typeface="Arial" panose="020B0604020202020204" pitchFamily="34" charset="0"/>
              </a:rPr>
              <a:t>Figurehead, leader, and liaison. </a:t>
            </a:r>
          </a:p>
          <a:p>
            <a:pPr marL="685800" lvl="1" indent="-228600" eaLnBrk="1" hangingPunct="1">
              <a:spcBef>
                <a:spcPct val="0"/>
              </a:spcBef>
              <a:buFont typeface="Calibri" pitchFamily="34" charset="0"/>
              <a:buAutoNum type="arabicPeriod"/>
            </a:pPr>
            <a:r>
              <a:rPr lang="en-US" altLang="en-US" sz="1200" b="1" dirty="0">
                <a:latin typeface="Arial" panose="020B0604020202020204" pitchFamily="34" charset="0"/>
                <a:ea typeface="ＭＳ Ｐゴシック" pitchFamily="34" charset="-128"/>
                <a:cs typeface="Arial" panose="020B0604020202020204" pitchFamily="34" charset="0"/>
              </a:rPr>
              <a:t> Informational transfer: </a:t>
            </a:r>
            <a:r>
              <a:rPr lang="en-US" altLang="en-US" sz="1200" dirty="0">
                <a:latin typeface="Arial" panose="020B0604020202020204" pitchFamily="34" charset="0"/>
                <a:ea typeface="ＭＳ Ｐゴシック" pitchFamily="34" charset="-128"/>
                <a:cs typeface="Arial" panose="020B0604020202020204" pitchFamily="34" charset="0"/>
              </a:rPr>
              <a:t>Monitor, disseminator, and spokesperson.</a:t>
            </a:r>
          </a:p>
          <a:p>
            <a:pPr marL="685800" lvl="1" indent="-228600" eaLnBrk="1" hangingPunct="1">
              <a:spcBef>
                <a:spcPct val="0"/>
              </a:spcBef>
              <a:buFont typeface="Calibri" pitchFamily="34" charset="0"/>
              <a:buAutoNum type="arabicPeriod"/>
            </a:pPr>
            <a:r>
              <a:rPr lang="en-US" altLang="en-US" sz="1200" b="1" dirty="0">
                <a:latin typeface="Arial" panose="020B0604020202020204" pitchFamily="34" charset="0"/>
                <a:ea typeface="ＭＳ Ｐゴシック" pitchFamily="34" charset="-128"/>
                <a:cs typeface="Arial" panose="020B0604020202020204" pitchFamily="34" charset="0"/>
              </a:rPr>
              <a:t> Decision-making: </a:t>
            </a:r>
            <a:r>
              <a:rPr lang="en-US" altLang="en-US" sz="1200" dirty="0">
                <a:latin typeface="Arial" panose="020B0604020202020204" pitchFamily="34" charset="0"/>
                <a:ea typeface="ＭＳ Ｐゴシック" pitchFamily="34" charset="-128"/>
                <a:cs typeface="Arial" panose="020B0604020202020204" pitchFamily="34" charset="0"/>
              </a:rPr>
              <a:t>Entrepreneur, disturbance handler, resource allocator, and negotiator.</a:t>
            </a:r>
          </a:p>
          <a:p>
            <a:pPr marL="0" lvl="0" indent="0" eaLnBrk="1" hangingPunct="1">
              <a:spcBef>
                <a:spcPct val="0"/>
              </a:spcBef>
              <a:buFont typeface="Calibri" pitchFamily="34" charset="0"/>
              <a:buNone/>
            </a:pPr>
            <a:endParaRPr lang="en-US" sz="1200" dirty="0">
              <a:latin typeface="Arial" panose="020B0604020202020204" pitchFamily="34" charset="0"/>
              <a:ea typeface="ＭＳ Ｐゴシック" pitchFamily="34" charset="-128"/>
              <a:cs typeface="Arial" panose="020B0604020202020204" pitchFamily="34" charset="0"/>
            </a:endParaRPr>
          </a:p>
          <a:p>
            <a:pPr marL="0" marR="0" lvl="0" indent="0" algn="l" defTabSz="914400" rtl="0" eaLnBrk="1" fontAlgn="auto" latinLnBrk="0" hangingPunct="1">
              <a:lnSpc>
                <a:spcPct val="90000"/>
              </a:lnSpc>
              <a:spcBef>
                <a:spcPct val="0"/>
              </a:spcBef>
              <a:spcAft>
                <a:spcPts val="0"/>
              </a:spcAft>
              <a:buClrTx/>
              <a:buSzTx/>
              <a:buFontTx/>
              <a:buNone/>
              <a:tabLst/>
              <a:defRPr/>
            </a:pPr>
            <a:r>
              <a:rPr lang="en-US" sz="1200" dirty="0">
                <a:latin typeface="Arial" panose="020B0604020202020204" pitchFamily="34" charset="0"/>
                <a:cs typeface="Arial" panose="020B0604020202020204" pitchFamily="34" charset="0"/>
              </a:rPr>
              <a:t>Long Description:</a:t>
            </a:r>
          </a:p>
          <a:p>
            <a:pPr eaLnBrk="1" hangingPunct="1">
              <a:lnSpc>
                <a:spcPct val="90000"/>
              </a:lnSpc>
              <a:spcBef>
                <a:spcPct val="0"/>
              </a:spcBef>
            </a:pPr>
            <a:r>
              <a:rPr lang="en-US" altLang="en-US" sz="1200" dirty="0">
                <a:latin typeface="Arial" panose="020B0604020202020204" pitchFamily="34" charset="0"/>
                <a:ea typeface="ＭＳ Ｐゴシック" pitchFamily="34" charset="-128"/>
                <a:cs typeface="Arial" panose="020B0604020202020204" pitchFamily="34" charset="0"/>
              </a:rPr>
              <a:t>The three types of roles are as follows. Interpersonal roles: Figurehead, leader, liaison. Informational roles: Spokesperson, disseminator, monitor. Decisional roles: Entrepreneur, disturbance handler, resource allocator, and negotiator.</a:t>
            </a:r>
            <a:endParaRPr lang="en-US" sz="1200"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20</a:t>
            </a:fld>
            <a:endParaRPr lang="en-US" dirty="0"/>
          </a:p>
        </p:txBody>
      </p:sp>
    </p:spTree>
    <p:extLst>
      <p:ext uri="{BB962C8B-B14F-4D97-AF65-F5344CB8AC3E}">
        <p14:creationId xmlns:p14="http://schemas.microsoft.com/office/powerpoint/2010/main" val="4105807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itchFamily="34" charset="-128"/>
                <a:cs typeface="Arial" panose="020B0604020202020204" pitchFamily="34" charset="0"/>
              </a:rPr>
              <a:t>Both approaches seem to do a good job of describing what managers do. But, the functions approach wins! Its clarity and simplicity in describing what managers do make it continually popular. </a:t>
            </a:r>
          </a:p>
          <a:p>
            <a:endParaRPr lang="en-US" altLang="en-US" dirty="0">
              <a:latin typeface="Arial" panose="020B0604020202020204" pitchFamily="34" charset="0"/>
              <a:ea typeface="ＭＳ Ｐゴシック" pitchFamily="34" charset="-128"/>
              <a:cs typeface="Arial" panose="020B0604020202020204" pitchFamily="34" charset="0"/>
            </a:endParaRPr>
          </a:p>
          <a:p>
            <a:r>
              <a:rPr lang="en-US" altLang="en-US" dirty="0">
                <a:latin typeface="Arial" panose="020B0604020202020204" pitchFamily="34" charset="0"/>
                <a:ea typeface="ＭＳ Ｐゴシック" pitchFamily="34" charset="-128"/>
                <a:cs typeface="Arial" panose="020B0604020202020204" pitchFamily="34" charset="0"/>
              </a:rPr>
              <a:t>But, don’t ignore Mintzberg’s roles approach; it does offer another way to describe what managers do.</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21</a:t>
            </a:fld>
            <a:endParaRPr lang="en-US" dirty="0"/>
          </a:p>
        </p:txBody>
      </p:sp>
    </p:spTree>
    <p:extLst>
      <p:ext uri="{BB962C8B-B14F-4D97-AF65-F5344CB8AC3E}">
        <p14:creationId xmlns:p14="http://schemas.microsoft.com/office/powerpoint/2010/main" val="25785011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dirty="0">
                <a:latin typeface="Arial" panose="020B0604020202020204" pitchFamily="34" charset="0"/>
                <a:ea typeface="ＭＳ Ｐゴシック" pitchFamily="34" charset="-128"/>
                <a:cs typeface="Arial" panose="020B0604020202020204" pitchFamily="34" charset="0"/>
              </a:rPr>
              <a:t>Another way to describe what managers do is by looking at the skills they need for managing. Management researcher Robert L. Katz and others describe four critical skills:</a:t>
            </a:r>
          </a:p>
          <a:p>
            <a:pPr eaLnBrk="1" hangingPunct="1">
              <a:spcBef>
                <a:spcPct val="0"/>
              </a:spcBef>
            </a:pPr>
            <a:endParaRPr lang="en-US" altLang="en-US" dirty="0">
              <a:latin typeface="Arial" panose="020B0604020202020204" pitchFamily="34" charset="0"/>
              <a:ea typeface="ＭＳ Ｐゴシック" pitchFamily="34" charset="-128"/>
              <a:cs typeface="Arial" panose="020B0604020202020204" pitchFamily="34" charset="0"/>
            </a:endParaRPr>
          </a:p>
          <a:p>
            <a:pPr eaLnBrk="1" hangingPunct="1">
              <a:spcBef>
                <a:spcPct val="0"/>
              </a:spcBef>
              <a:buFontTx/>
              <a:buAutoNum type="arabicPeriod"/>
            </a:pPr>
            <a:r>
              <a:rPr lang="en-US" altLang="en-US" b="1" dirty="0">
                <a:latin typeface="Arial" panose="020B0604020202020204" pitchFamily="34" charset="0"/>
                <a:ea typeface="ＭＳ Ｐゴシック" pitchFamily="34" charset="-128"/>
                <a:cs typeface="Arial" panose="020B0604020202020204" pitchFamily="34" charset="0"/>
              </a:rPr>
              <a:t> Conceptual skills</a:t>
            </a:r>
            <a:r>
              <a:rPr lang="en-US" altLang="en-US" dirty="0">
                <a:latin typeface="Arial" panose="020B0604020202020204" pitchFamily="34" charset="0"/>
                <a:ea typeface="ＭＳ Ｐゴシック" pitchFamily="34" charset="-128"/>
                <a:cs typeface="Arial" panose="020B0604020202020204" pitchFamily="34" charset="0"/>
              </a:rPr>
              <a:t>: Analyzing and diagnosing complex situations to see how things fit together and to facilitate making good decisions.</a:t>
            </a:r>
          </a:p>
          <a:p>
            <a:pPr>
              <a:buFontTx/>
              <a:buAutoNum type="arabicPeriod"/>
            </a:pPr>
            <a:r>
              <a:rPr lang="en-US" altLang="en-US" b="1" dirty="0">
                <a:latin typeface="Arial" panose="020B0604020202020204" pitchFamily="34" charset="0"/>
                <a:ea typeface="ＭＳ Ｐゴシック" pitchFamily="34" charset="-128"/>
                <a:cs typeface="Arial" panose="020B0604020202020204" pitchFamily="34" charset="0"/>
              </a:rPr>
              <a:t> Interpersonal skills: </a:t>
            </a:r>
            <a:r>
              <a:rPr lang="en-US" altLang="en-US" dirty="0">
                <a:latin typeface="Arial" panose="020B0604020202020204" pitchFamily="34" charset="0"/>
                <a:ea typeface="ＭＳ Ｐゴシック" pitchFamily="34" charset="-128"/>
                <a:cs typeface="Arial" panose="020B0604020202020204" pitchFamily="34" charset="0"/>
              </a:rPr>
              <a:t>Working well with other people both individually and in groups by communicating, motivating, mentoring, and delegating.</a:t>
            </a:r>
          </a:p>
          <a:p>
            <a:pPr>
              <a:buFontTx/>
              <a:buAutoNum type="arabicPeriod"/>
            </a:pPr>
            <a:r>
              <a:rPr lang="en-US" altLang="en-US" b="1" dirty="0">
                <a:latin typeface="Arial" panose="020B0604020202020204" pitchFamily="34" charset="0"/>
                <a:ea typeface="ＭＳ Ｐゴシック" pitchFamily="34" charset="-128"/>
                <a:cs typeface="Arial" panose="020B0604020202020204" pitchFamily="34" charset="0"/>
              </a:rPr>
              <a:t> Technical skills</a:t>
            </a:r>
            <a:r>
              <a:rPr lang="en-US" altLang="en-US" dirty="0">
                <a:latin typeface="Arial" panose="020B0604020202020204" pitchFamily="34" charset="0"/>
                <a:ea typeface="ＭＳ Ｐゴシック" pitchFamily="34" charset="-128"/>
                <a:cs typeface="Arial" panose="020B0604020202020204" pitchFamily="34" charset="0"/>
              </a:rPr>
              <a:t>: Job-specific knowledge, expertise, and techniques needed to perform work tasks. (For top-level managers − knowledge of the industry and a general understanding of the organization’s processes and products; For middle- and lower-level managers − specialized knowledge required in the areas where they work—finance, human resources, marketing, computer systems, manufacturing, information technology).</a:t>
            </a:r>
          </a:p>
          <a:p>
            <a:pPr>
              <a:buFontTx/>
              <a:buAutoNum type="arabicPeriod"/>
            </a:pPr>
            <a:r>
              <a:rPr lang="en-US" altLang="en-US" b="1" dirty="0">
                <a:latin typeface="Arial" panose="020B0604020202020204" pitchFamily="34" charset="0"/>
                <a:ea typeface="ＭＳ Ｐゴシック" pitchFamily="34" charset="-128"/>
                <a:cs typeface="Arial" panose="020B0604020202020204" pitchFamily="34" charset="0"/>
              </a:rPr>
              <a:t> Political skills</a:t>
            </a:r>
            <a:r>
              <a:rPr lang="en-US" altLang="en-US" dirty="0">
                <a:latin typeface="Arial" panose="020B0604020202020204" pitchFamily="34" charset="0"/>
                <a:ea typeface="ＭＳ Ｐゴシック" pitchFamily="34" charset="-128"/>
                <a:cs typeface="Arial" panose="020B0604020202020204" pitchFamily="34" charset="0"/>
              </a:rPr>
              <a:t>: Building a power base and establishing the right connections so they can get needed resources for their groups.</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22</a:t>
            </a:fld>
            <a:endParaRPr lang="en-US" dirty="0"/>
          </a:p>
        </p:txBody>
      </p:sp>
    </p:spTree>
    <p:extLst>
      <p:ext uri="{BB962C8B-B14F-4D97-AF65-F5344CB8AC3E}">
        <p14:creationId xmlns:p14="http://schemas.microsoft.com/office/powerpoint/2010/main" val="3642861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chemeClr val="tx1"/>
              </a:solidFill>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23</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itchFamily="34" charset="-128"/>
                <a:cs typeface="Arial" panose="020B0604020202020204" pitchFamily="34" charset="0"/>
              </a:rPr>
              <a:t>Why? Because we interact with them every day of our lives and an understanding of management offers insights into many organizational aspects. Understanding management offers insights into why some companies get our orders right the first time, why once-thriving organizations no longer exist, and which companies continue to prosper during challenging economic times.</a:t>
            </a:r>
          </a:p>
          <a:p>
            <a:endParaRPr lang="en-US" altLang="en-US" dirty="0">
              <a:latin typeface="Arial" panose="020B0604020202020204" pitchFamily="34" charset="0"/>
              <a:ea typeface="ＭＳ Ｐゴシック" pitchFamily="34" charset="-128"/>
              <a:cs typeface="Arial" panose="020B0604020202020204" pitchFamily="34" charset="0"/>
            </a:endParaRPr>
          </a:p>
          <a:p>
            <a:r>
              <a:rPr lang="en-US" altLang="en-US" dirty="0">
                <a:latin typeface="Arial" panose="020B0604020202020204" pitchFamily="34" charset="0"/>
                <a:ea typeface="ＭＳ Ｐゴシック" pitchFamily="34" charset="-128"/>
                <a:cs typeface="Arial" panose="020B0604020202020204" pitchFamily="34" charset="0"/>
              </a:rPr>
              <a:t>Studying management provides knowledge about manager skills and responsibilities, how organizations function, and how people behave in the workplace. </a:t>
            </a:r>
            <a:endParaRPr lang="en-US" dirty="0">
              <a:latin typeface="Arial" panose="020B0604020202020204" pitchFamily="34" charset="0"/>
              <a:cs typeface="Arial" panose="020B0604020202020204" pitchFamily="34" charset="0"/>
            </a:endParaRPr>
          </a:p>
          <a:p>
            <a:endParaRPr lang="en-US"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24</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ea typeface="ＭＳ Ｐゴシック" pitchFamily="34" charset="-128"/>
                <a:cs typeface="Arial" panose="020B0604020202020204" pitchFamily="34" charset="0"/>
              </a:rPr>
              <a:t>If you plan to be a manager, you’ll form a foundation on which to build your management skills and abilities. Even if you don’t see yourself managing, you’re still likely to have to work with managers. And the reality is, that if you plan to work for a living, you’ll probably have some managerial responsibilities even if you’re not a manager. Studying management provides knowledge about managerial skills and responsibilities, how organizations function, and how people behave in the workplace. </a:t>
            </a:r>
            <a:endParaRPr lang="en-US" dirty="0">
              <a:latin typeface="Arial" panose="020B0604020202020204" pitchFamily="34" charset="0"/>
              <a:cs typeface="Arial" panose="020B0604020202020204" pitchFamily="34" charset="0"/>
            </a:endParaRPr>
          </a:p>
          <a:p>
            <a:endParaRPr lang="en-US"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25</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chemeClr val="tx1"/>
              </a:solidFill>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26</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itchFamily="34" charset="-128"/>
                <a:cs typeface="Arial" panose="020B0604020202020204" pitchFamily="34" charset="0"/>
              </a:rPr>
              <a:t>Managers today are dealing with changing workplaces, a changing workforce, global economic and political uncertainties, and changing technology. Distributed labor companies are changing the face of temporary work. Some 30-45 percent of the world’s work force works from home or are virtual employees. More and more businesses are relying on apps and mobile-enhanced Websites to run their businesses. </a:t>
            </a:r>
          </a:p>
          <a:p>
            <a:endParaRPr lang="en-US" altLang="en-US" dirty="0">
              <a:latin typeface="Arial" panose="020B0604020202020204" pitchFamily="34" charset="0"/>
              <a:ea typeface="ＭＳ Ｐゴシック" pitchFamily="34" charset="-128"/>
              <a:cs typeface="Arial" panose="020B0604020202020204" pitchFamily="34" charset="0"/>
            </a:endParaRPr>
          </a:p>
          <a:p>
            <a:r>
              <a:rPr lang="en-US" altLang="en-US" dirty="0">
                <a:latin typeface="Arial" panose="020B0604020202020204" pitchFamily="34" charset="0"/>
                <a:ea typeface="ＭＳ Ｐゴシック" pitchFamily="34" charset="-128"/>
                <a:cs typeface="Arial" panose="020B0604020202020204" pitchFamily="34" charset="0"/>
              </a:rPr>
              <a:t>Managers everywhere are likely to have to manage in changing circumstances, which means that how managers manage is changing. We will now look at four specific changes that are increasingly important to organizations and managers everywhere: customers, innovation, social media, and sustainability.</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27</a:t>
            </a:fld>
            <a:endParaRPr lang="en-US" dirty="0"/>
          </a:p>
        </p:txBody>
      </p:sp>
    </p:spTree>
    <p:extLst>
      <p:ext uri="{BB962C8B-B14F-4D97-AF65-F5344CB8AC3E}">
        <p14:creationId xmlns:p14="http://schemas.microsoft.com/office/powerpoint/2010/main" val="13879874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itchFamily="34" charset="-128"/>
                <a:cs typeface="Arial" panose="020B0604020202020204" pitchFamily="34" charset="0"/>
              </a:rPr>
              <a:t>Organizations depend on their customers to exist in the marketplace. Until recently, customer focus was thought to be the responsibility of marketing, but organizations are now discovering that employee attitudes and behaviors play a big role in customer satisfaction. </a:t>
            </a:r>
          </a:p>
          <a:p>
            <a:endParaRPr lang="en-US" altLang="en-US" dirty="0">
              <a:latin typeface="Arial" panose="020B0604020202020204" pitchFamily="34" charset="0"/>
              <a:ea typeface="ＭＳ Ｐゴシック" pitchFamily="34" charset="-128"/>
              <a:cs typeface="Arial" panose="020B0604020202020204" pitchFamily="34" charset="0"/>
            </a:endParaRPr>
          </a:p>
          <a:p>
            <a:r>
              <a:rPr lang="en-US" altLang="en-US" dirty="0">
                <a:latin typeface="Arial" panose="020B0604020202020204" pitchFamily="34" charset="0"/>
                <a:ea typeface="ＭＳ Ｐゴシック" pitchFamily="34" charset="-128"/>
                <a:cs typeface="Arial" panose="020B0604020202020204" pitchFamily="34" charset="0"/>
              </a:rPr>
              <a:t>Managers are recognizing that delivering consistent high-quality customer service is essential for survival and success in today’s competitive environment. They recognize that employees are an integral part of creating a customer-responsive organization where employees are friendly, courteous, accessible, knowledgeable, prompt in responding to customer needs, and willing to do what’s necessary to please the customer.</a:t>
            </a:r>
            <a:endParaRPr lang="en-US" dirty="0">
              <a:latin typeface="Arial" panose="020B0604020202020204" pitchFamily="34" charset="0"/>
              <a:cs typeface="Arial" panose="020B0604020202020204" pitchFamily="34" charset="0"/>
            </a:endParaRPr>
          </a:p>
          <a:p>
            <a:endParaRPr lang="en-US"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28</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spcBef>
                <a:spcPct val="0"/>
              </a:spcBef>
            </a:pPr>
            <a:r>
              <a:rPr lang="en-US" altLang="en-US" dirty="0">
                <a:latin typeface="Arial" panose="020B0604020202020204" pitchFamily="34" charset="0"/>
                <a:ea typeface="ＭＳ Ｐゴシック" pitchFamily="34" charset="-128"/>
                <a:cs typeface="Arial" panose="020B0604020202020204" pitchFamily="34" charset="0"/>
              </a:rPr>
              <a:t>Innovation means doing things differently, exploring new territory, and taking risks.</a:t>
            </a:r>
          </a:p>
          <a:p>
            <a:pPr eaLnBrk="1" hangingPunct="1">
              <a:spcBef>
                <a:spcPct val="0"/>
              </a:spcBef>
            </a:pPr>
            <a:endParaRPr lang="en-US" altLang="en-US" dirty="0">
              <a:latin typeface="Arial" panose="020B0604020202020204" pitchFamily="34" charset="0"/>
              <a:ea typeface="ＭＳ Ｐゴシック" pitchFamily="34" charset="-128"/>
              <a:cs typeface="Arial" panose="020B0604020202020204" pitchFamily="34" charset="0"/>
            </a:endParaRPr>
          </a:p>
          <a:p>
            <a:r>
              <a:rPr lang="en-US" altLang="en-US" dirty="0">
                <a:latin typeface="Arial" panose="020B0604020202020204" pitchFamily="34" charset="0"/>
                <a:ea typeface="ＭＳ Ｐゴシック" pitchFamily="34" charset="-128"/>
                <a:cs typeface="Arial" panose="020B0604020202020204" pitchFamily="34" charset="0"/>
              </a:rPr>
              <a:t>In today’s challenging environment, </a:t>
            </a:r>
            <a:r>
              <a:rPr lang="en-US" altLang="en-US" b="1" dirty="0">
                <a:latin typeface="Arial" panose="020B0604020202020204" pitchFamily="34" charset="0"/>
                <a:ea typeface="ＭＳ Ｐゴシック" pitchFamily="34" charset="-128"/>
                <a:cs typeface="Arial" panose="020B0604020202020204" pitchFamily="34" charset="0"/>
              </a:rPr>
              <a:t>innovation</a:t>
            </a:r>
            <a:r>
              <a:rPr lang="en-US" altLang="en-US" dirty="0">
                <a:latin typeface="Arial" panose="020B0604020202020204" pitchFamily="34" charset="0"/>
                <a:ea typeface="ＭＳ Ｐゴシック" pitchFamily="34" charset="-128"/>
                <a:cs typeface="Arial" panose="020B0604020202020204" pitchFamily="34" charset="0"/>
              </a:rPr>
              <a:t> is critical and managers need to understand what, when, where, how, and why innovation can be fostered and encouraged throughout an organization. Managers need to be personally innovative and to encourage their employees to be innovative. </a:t>
            </a:r>
            <a:endParaRPr lang="en-US" dirty="0">
              <a:latin typeface="Arial" panose="020B0604020202020204" pitchFamily="34" charset="0"/>
              <a:cs typeface="Arial" panose="020B0604020202020204" pitchFamily="34" charset="0"/>
            </a:endParaRPr>
          </a:p>
          <a:p>
            <a:endParaRPr lang="en-US"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29</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ea typeface="ＭＳ Ｐゴシック" pitchFamily="34" charset="-128"/>
                <a:cs typeface="Arial" panose="020B0604020202020204" pitchFamily="34" charset="0"/>
              </a:rPr>
              <a:t>More than a billion people use social media platforms like Facebook, Twitter, YouTube, LinkedIn, etc. Managers need to understand and manage the power of social media, because employees use them for both personal and work purposes. More and more businesses are turning to social media not just as a way to connect with customers but also as a way to manage their human resources and tap into their innovation and talent. But it’s not without its perils. Managers need to remember that social media is a tool that needs to be managed to be beneficial.</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30</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dirty="0">
                <a:latin typeface="Arial" panose="020B0604020202020204" pitchFamily="34" charset="0"/>
                <a:ea typeface="ＭＳ Ｐゴシック" pitchFamily="34" charset="-128"/>
                <a:cs typeface="Arial" panose="020B0604020202020204" pitchFamily="34" charset="0"/>
              </a:rPr>
              <a:t>Another twenty-first century challenge is managing in a sustainable way. This means not just managing efficiently and effectively, but also responding strategically to environmental and societal challenges. Sustainability can be defined as meeting the needs of people today without compromising the ability of future generations to meet their own needs. From a business perspective, sustainability refers to a company’s ability to achieve its business goals and increase long-term shareholder value by integrating economic, environmental, and social opportunities into its business strategies.</a:t>
            </a:r>
            <a:endParaRPr lang="en-US"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31</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solidFill>
                <a:schemeClr val="tx1"/>
              </a:solidFill>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32</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latin typeface="Arial" panose="020B0604020202020204" pitchFamily="34" charset="0"/>
                <a:cs typeface="Arial" panose="020B0604020202020204" pitchFamily="34" charset="0"/>
              </a:rPr>
              <a:t>Studying management can help you develop and improve your attractiveness as an employee.</a:t>
            </a:r>
          </a:p>
          <a:p>
            <a:endParaRPr lang="en-US"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33</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latin typeface="Arial" panose="020B0604020202020204" pitchFamily="34" charset="0"/>
                <a:ea typeface="ＭＳ Ｐゴシック" pitchFamily="34" charset="-128"/>
                <a:cs typeface="Arial" panose="020B0604020202020204" pitchFamily="34" charset="0"/>
              </a:rPr>
              <a:t>The Gallup Organization, which has polled millions of employees and tens of thousands of managers, has found that the single most important variable in employee productivity and loyalty isn’t pay or benefits or workplace environment; it’s the quality of the relationship between employees and their direct supervisors.</a:t>
            </a:r>
          </a:p>
          <a:p>
            <a:r>
              <a:rPr lang="en-US" altLang="en-US" dirty="0">
                <a:latin typeface="Arial" panose="020B0604020202020204" pitchFamily="34" charset="0"/>
                <a:ea typeface="ＭＳ Ｐゴシック" pitchFamily="34" charset="-128"/>
                <a:cs typeface="Arial" panose="020B0604020202020204" pitchFamily="34" charset="0"/>
              </a:rPr>
              <a:t> </a:t>
            </a:r>
          </a:p>
          <a:p>
            <a:r>
              <a:rPr lang="en-US" altLang="en-US" dirty="0">
                <a:latin typeface="Arial" panose="020B0604020202020204" pitchFamily="34" charset="0"/>
                <a:ea typeface="ＭＳ Ｐゴシック" pitchFamily="34" charset="-128"/>
                <a:cs typeface="Arial" panose="020B0604020202020204" pitchFamily="34" charset="0"/>
              </a:rPr>
              <a:t>Gallup also found that the relationship with their manager is the largest factor in employee engagement —which is when employees are connected to, satisfied with, and enthusiastic about their jobs—accounting for at least 70 percent of an employee’s level of engagement.</a:t>
            </a:r>
            <a:endParaRPr lang="en-US" dirty="0">
              <a:latin typeface="Arial" panose="020B0604020202020204" pitchFamily="34" charset="0"/>
              <a:cs typeface="Arial" panose="020B0604020202020204" pitchFamily="34" charset="0"/>
            </a:endParaRPr>
          </a:p>
          <a:p>
            <a:endParaRPr lang="en-US" dirty="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A73D6722-9B4D-4E29-B226-C325925A8118}" type="slidenum">
              <a:rPr lang="en-US" smtClean="0"/>
              <a:pPr/>
              <a:t>34</a:t>
            </a:fld>
            <a:endParaRPr lang="en-US" dirty="0"/>
          </a:p>
        </p:txBody>
      </p:sp>
    </p:spTree>
    <p:extLst>
      <p:ext uri="{BB962C8B-B14F-4D97-AF65-F5344CB8AC3E}">
        <p14:creationId xmlns:p14="http://schemas.microsoft.com/office/powerpoint/2010/main" val="325471424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dirty="0">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35</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1/21/2022</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pic>
        <p:nvPicPr>
          <p:cNvPr id="8" name="Picture 7"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9" name="TextBox 8"/>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1783990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1/21/2022</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
        <p:nvSpPr>
          <p:cNvPr id="18" name="Text Placeholder 17"/>
          <p:cNvSpPr>
            <a:spLocks noGrp="1"/>
          </p:cNvSpPr>
          <p:nvPr>
            <p:ph type="body" sz="quarter" idx="16" hasCustomPrompt="1"/>
          </p:nvPr>
        </p:nvSpPr>
        <p:spPr>
          <a:xfrm>
            <a:off x="1752600" y="6529254"/>
            <a:ext cx="5867400" cy="187537"/>
          </a:xfrm>
        </p:spPr>
        <p:txBody>
          <a:bodyPr/>
          <a:lstStyle>
            <a:lvl1pPr marL="0" indent="0">
              <a:buNone/>
              <a:defRPr sz="1200" baseline="0"/>
            </a:lvl1pPr>
          </a:lstStyle>
          <a:p>
            <a:pPr lvl="0"/>
            <a:r>
              <a:rPr lang="en-US" dirty="0"/>
              <a:t>Click to add copyright line</a:t>
            </a:r>
            <a:endParaRPr lang="en-IN" dirty="0"/>
          </a:p>
        </p:txBody>
      </p:sp>
      <p:pic>
        <p:nvPicPr>
          <p:cNvPr id="14" name="Picture 13"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28600" y="6429119"/>
            <a:ext cx="918000" cy="279915"/>
          </a:xfrm>
          <a:prstGeom prst="rect">
            <a:avLst/>
          </a:prstGeom>
        </p:spPr>
      </p:pic>
    </p:spTree>
    <p:extLst>
      <p:ext uri="{BB962C8B-B14F-4D97-AF65-F5344CB8AC3E}">
        <p14:creationId xmlns:p14="http://schemas.microsoft.com/office/powerpoint/2010/main" val="2236038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1/21/2022</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020555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1/21/2022</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825543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1/21/2022</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655825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6_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1/21/2022</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a:extLst>
              <a:ext uri="{FF2B5EF4-FFF2-40B4-BE49-F238E27FC236}">
                <a16:creationId xmlns:a16="http://schemas.microsoft.com/office/drawing/2014/main" id="{A86D8D65-0761-4EEF-9A51-BE3E5DD33334}"/>
              </a:ext>
            </a:extLst>
          </p:cNvPr>
          <p:cNvSpPr>
            <a:spLocks noGrp="1"/>
          </p:cNvSpPr>
          <p:nvPr>
            <p:ph sz="quarter" idx="13"/>
          </p:nvPr>
        </p:nvSpPr>
        <p:spPr>
          <a:xfrm>
            <a:off x="457200" y="1628775"/>
            <a:ext cx="1377950"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3ADDB751-03D9-4D09-8F65-E090FE16F27B}"/>
              </a:ext>
            </a:extLst>
          </p:cNvPr>
          <p:cNvSpPr>
            <a:spLocks noGrp="1"/>
          </p:cNvSpPr>
          <p:nvPr>
            <p:ph sz="quarter" idx="14"/>
          </p:nvPr>
        </p:nvSpPr>
        <p:spPr>
          <a:xfrm>
            <a:off x="1979613" y="1700213"/>
            <a:ext cx="9366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a:extLst>
              <a:ext uri="{FF2B5EF4-FFF2-40B4-BE49-F238E27FC236}">
                <a16:creationId xmlns:a16="http://schemas.microsoft.com/office/drawing/2014/main" id="{59862159-C00A-42F8-96E6-40D81FE03BA3}"/>
              </a:ext>
            </a:extLst>
          </p:cNvPr>
          <p:cNvSpPr>
            <a:spLocks noGrp="1"/>
          </p:cNvSpPr>
          <p:nvPr>
            <p:ph sz="quarter" idx="15"/>
          </p:nvPr>
        </p:nvSpPr>
        <p:spPr>
          <a:xfrm>
            <a:off x="3203575" y="1844675"/>
            <a:ext cx="936625" cy="21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3">
            <a:extLst>
              <a:ext uri="{FF2B5EF4-FFF2-40B4-BE49-F238E27FC236}">
                <a16:creationId xmlns:a16="http://schemas.microsoft.com/office/drawing/2014/main" id="{1DBE703D-B82C-4A93-8EDA-6BC2DFA55520}"/>
              </a:ext>
            </a:extLst>
          </p:cNvPr>
          <p:cNvSpPr>
            <a:spLocks noGrp="1"/>
          </p:cNvSpPr>
          <p:nvPr>
            <p:ph sz="quarter" idx="16"/>
          </p:nvPr>
        </p:nvSpPr>
        <p:spPr>
          <a:xfrm>
            <a:off x="4356100" y="1844675"/>
            <a:ext cx="1295400" cy="2159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15">
            <a:extLst>
              <a:ext uri="{FF2B5EF4-FFF2-40B4-BE49-F238E27FC236}">
                <a16:creationId xmlns:a16="http://schemas.microsoft.com/office/drawing/2014/main" id="{8F542A31-08B2-48B9-B7D7-36E42AB9B4AC}"/>
              </a:ext>
            </a:extLst>
          </p:cNvPr>
          <p:cNvSpPr>
            <a:spLocks noGrp="1"/>
          </p:cNvSpPr>
          <p:nvPr>
            <p:ph sz="quarter" idx="17"/>
          </p:nvPr>
        </p:nvSpPr>
        <p:spPr>
          <a:xfrm>
            <a:off x="5795963" y="1916113"/>
            <a:ext cx="1223962" cy="1444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17">
            <a:extLst>
              <a:ext uri="{FF2B5EF4-FFF2-40B4-BE49-F238E27FC236}">
                <a16:creationId xmlns:a16="http://schemas.microsoft.com/office/drawing/2014/main" id="{BB1F85E7-1F14-422D-9FB2-7D3CE62AC469}"/>
              </a:ext>
            </a:extLst>
          </p:cNvPr>
          <p:cNvSpPr>
            <a:spLocks noGrp="1"/>
          </p:cNvSpPr>
          <p:nvPr>
            <p:ph sz="quarter" idx="18"/>
          </p:nvPr>
        </p:nvSpPr>
        <p:spPr>
          <a:xfrm>
            <a:off x="539750" y="2636838"/>
            <a:ext cx="1008063"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Content Placeholder 19">
            <a:extLst>
              <a:ext uri="{FF2B5EF4-FFF2-40B4-BE49-F238E27FC236}">
                <a16:creationId xmlns:a16="http://schemas.microsoft.com/office/drawing/2014/main" id="{A4FD5757-7391-4BED-B248-ED8013CFD6EC}"/>
              </a:ext>
            </a:extLst>
          </p:cNvPr>
          <p:cNvSpPr>
            <a:spLocks noGrp="1"/>
          </p:cNvSpPr>
          <p:nvPr>
            <p:ph sz="quarter" idx="19"/>
          </p:nvPr>
        </p:nvSpPr>
        <p:spPr>
          <a:xfrm>
            <a:off x="1835150" y="2708275"/>
            <a:ext cx="18002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Content Placeholder 21">
            <a:extLst>
              <a:ext uri="{FF2B5EF4-FFF2-40B4-BE49-F238E27FC236}">
                <a16:creationId xmlns:a16="http://schemas.microsoft.com/office/drawing/2014/main" id="{21FCFA6E-9512-4D49-B23F-BE25DA91CCE5}"/>
              </a:ext>
            </a:extLst>
          </p:cNvPr>
          <p:cNvSpPr>
            <a:spLocks noGrp="1"/>
          </p:cNvSpPr>
          <p:nvPr>
            <p:ph sz="quarter" idx="20"/>
          </p:nvPr>
        </p:nvSpPr>
        <p:spPr>
          <a:xfrm>
            <a:off x="3851275" y="2708275"/>
            <a:ext cx="720725" cy="504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Content Placeholder 23">
            <a:extLst>
              <a:ext uri="{FF2B5EF4-FFF2-40B4-BE49-F238E27FC236}">
                <a16:creationId xmlns:a16="http://schemas.microsoft.com/office/drawing/2014/main" id="{9FBFF441-24D0-4000-ABD5-279FDBCBA848}"/>
              </a:ext>
            </a:extLst>
          </p:cNvPr>
          <p:cNvSpPr>
            <a:spLocks noGrp="1"/>
          </p:cNvSpPr>
          <p:nvPr>
            <p:ph sz="quarter" idx="21"/>
          </p:nvPr>
        </p:nvSpPr>
        <p:spPr>
          <a:xfrm>
            <a:off x="4859338" y="2852738"/>
            <a:ext cx="936625" cy="3603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Content Placeholder 25">
            <a:extLst>
              <a:ext uri="{FF2B5EF4-FFF2-40B4-BE49-F238E27FC236}">
                <a16:creationId xmlns:a16="http://schemas.microsoft.com/office/drawing/2014/main" id="{D17254F4-E158-428C-AF99-BB5E3AF645C4}"/>
              </a:ext>
            </a:extLst>
          </p:cNvPr>
          <p:cNvSpPr>
            <a:spLocks noGrp="1"/>
          </p:cNvSpPr>
          <p:nvPr>
            <p:ph sz="quarter" idx="22"/>
          </p:nvPr>
        </p:nvSpPr>
        <p:spPr>
          <a:xfrm>
            <a:off x="6011863" y="2997200"/>
            <a:ext cx="1223962" cy="257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Content Placeholder 27">
            <a:extLst>
              <a:ext uri="{FF2B5EF4-FFF2-40B4-BE49-F238E27FC236}">
                <a16:creationId xmlns:a16="http://schemas.microsoft.com/office/drawing/2014/main" id="{0947FA81-4A5F-4211-B32D-72FB9143E3B6}"/>
              </a:ext>
            </a:extLst>
          </p:cNvPr>
          <p:cNvSpPr>
            <a:spLocks noGrp="1"/>
          </p:cNvSpPr>
          <p:nvPr>
            <p:ph sz="quarter" idx="23"/>
          </p:nvPr>
        </p:nvSpPr>
        <p:spPr>
          <a:xfrm>
            <a:off x="457200" y="3429000"/>
            <a:ext cx="1235075" cy="576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 name="Content Placeholder 29">
            <a:extLst>
              <a:ext uri="{FF2B5EF4-FFF2-40B4-BE49-F238E27FC236}">
                <a16:creationId xmlns:a16="http://schemas.microsoft.com/office/drawing/2014/main" id="{B151B7FF-CCEF-48EF-A939-81B6724F74A7}"/>
              </a:ext>
            </a:extLst>
          </p:cNvPr>
          <p:cNvSpPr>
            <a:spLocks noGrp="1"/>
          </p:cNvSpPr>
          <p:nvPr>
            <p:ph sz="quarter" idx="24"/>
          </p:nvPr>
        </p:nvSpPr>
        <p:spPr>
          <a:xfrm>
            <a:off x="1835150" y="3573463"/>
            <a:ext cx="1008063" cy="287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2" name="Content Placeholder 31">
            <a:extLst>
              <a:ext uri="{FF2B5EF4-FFF2-40B4-BE49-F238E27FC236}">
                <a16:creationId xmlns:a16="http://schemas.microsoft.com/office/drawing/2014/main" id="{5BAE6649-E23E-4091-8262-89B3F8FEAD24}"/>
              </a:ext>
            </a:extLst>
          </p:cNvPr>
          <p:cNvSpPr>
            <a:spLocks noGrp="1"/>
          </p:cNvSpPr>
          <p:nvPr>
            <p:ph sz="quarter" idx="25"/>
          </p:nvPr>
        </p:nvSpPr>
        <p:spPr>
          <a:xfrm>
            <a:off x="3059113" y="3573463"/>
            <a:ext cx="1008062"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4" name="Content Placeholder 33">
            <a:extLst>
              <a:ext uri="{FF2B5EF4-FFF2-40B4-BE49-F238E27FC236}">
                <a16:creationId xmlns:a16="http://schemas.microsoft.com/office/drawing/2014/main" id="{1F1756D1-89F4-4A22-AEE4-EDF664434B44}"/>
              </a:ext>
            </a:extLst>
          </p:cNvPr>
          <p:cNvSpPr>
            <a:spLocks noGrp="1"/>
          </p:cNvSpPr>
          <p:nvPr>
            <p:ph sz="quarter" idx="26"/>
          </p:nvPr>
        </p:nvSpPr>
        <p:spPr>
          <a:xfrm>
            <a:off x="4356100" y="3716338"/>
            <a:ext cx="1077913" cy="431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6" name="Content Placeholder 35">
            <a:extLst>
              <a:ext uri="{FF2B5EF4-FFF2-40B4-BE49-F238E27FC236}">
                <a16:creationId xmlns:a16="http://schemas.microsoft.com/office/drawing/2014/main" id="{B35734F6-A281-454B-ABAD-36D6FE6729C9}"/>
              </a:ext>
            </a:extLst>
          </p:cNvPr>
          <p:cNvSpPr>
            <a:spLocks noGrp="1"/>
          </p:cNvSpPr>
          <p:nvPr>
            <p:ph sz="quarter" idx="27"/>
          </p:nvPr>
        </p:nvSpPr>
        <p:spPr>
          <a:xfrm>
            <a:off x="5795963" y="3860800"/>
            <a:ext cx="1223962" cy="411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8" name="Content Placeholder 37">
            <a:extLst>
              <a:ext uri="{FF2B5EF4-FFF2-40B4-BE49-F238E27FC236}">
                <a16:creationId xmlns:a16="http://schemas.microsoft.com/office/drawing/2014/main" id="{CAC0ACA8-F91A-4698-9F23-2644812432E0}"/>
              </a:ext>
            </a:extLst>
          </p:cNvPr>
          <p:cNvSpPr>
            <a:spLocks noGrp="1"/>
          </p:cNvSpPr>
          <p:nvPr>
            <p:ph sz="quarter" idx="28"/>
          </p:nvPr>
        </p:nvSpPr>
        <p:spPr>
          <a:xfrm>
            <a:off x="539750" y="4271963"/>
            <a:ext cx="1377950" cy="6254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0" name="Content Placeholder 39">
            <a:extLst>
              <a:ext uri="{FF2B5EF4-FFF2-40B4-BE49-F238E27FC236}">
                <a16:creationId xmlns:a16="http://schemas.microsoft.com/office/drawing/2014/main" id="{B6169D4C-61F2-4379-89B2-DCF5AEF3ABE7}"/>
              </a:ext>
            </a:extLst>
          </p:cNvPr>
          <p:cNvSpPr>
            <a:spLocks noGrp="1"/>
          </p:cNvSpPr>
          <p:nvPr>
            <p:ph sz="quarter" idx="29"/>
          </p:nvPr>
        </p:nvSpPr>
        <p:spPr>
          <a:xfrm>
            <a:off x="2268538" y="4437063"/>
            <a:ext cx="1295400" cy="6762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2" name="Picture Placeholder 41">
            <a:extLst>
              <a:ext uri="{FF2B5EF4-FFF2-40B4-BE49-F238E27FC236}">
                <a16:creationId xmlns:a16="http://schemas.microsoft.com/office/drawing/2014/main" id="{7D307D5D-6564-4A14-9605-D945EAEB26C4}"/>
              </a:ext>
            </a:extLst>
          </p:cNvPr>
          <p:cNvSpPr>
            <a:spLocks noGrp="1"/>
          </p:cNvSpPr>
          <p:nvPr>
            <p:ph type="pic" sz="quarter" idx="30"/>
          </p:nvPr>
        </p:nvSpPr>
        <p:spPr>
          <a:xfrm>
            <a:off x="3924300" y="4652963"/>
            <a:ext cx="1368425" cy="460375"/>
          </a:xfrm>
        </p:spPr>
        <p:txBody>
          <a:bodyPr/>
          <a:lstStyle/>
          <a:p>
            <a:endParaRPr lang="en-US"/>
          </a:p>
        </p:txBody>
      </p:sp>
      <p:sp>
        <p:nvSpPr>
          <p:cNvPr id="44" name="Picture Placeholder 43">
            <a:extLst>
              <a:ext uri="{FF2B5EF4-FFF2-40B4-BE49-F238E27FC236}">
                <a16:creationId xmlns:a16="http://schemas.microsoft.com/office/drawing/2014/main" id="{A5355258-4F4E-4030-9FFA-2D603A8F7C0C}"/>
              </a:ext>
            </a:extLst>
          </p:cNvPr>
          <p:cNvSpPr>
            <a:spLocks noGrp="1"/>
          </p:cNvSpPr>
          <p:nvPr>
            <p:ph type="pic" sz="quarter" idx="31"/>
          </p:nvPr>
        </p:nvSpPr>
        <p:spPr>
          <a:xfrm>
            <a:off x="5580063" y="4797425"/>
            <a:ext cx="1079500" cy="411163"/>
          </a:xfrm>
        </p:spPr>
        <p:txBody>
          <a:bodyPr/>
          <a:lstStyle/>
          <a:p>
            <a:endParaRPr lang="en-US"/>
          </a:p>
        </p:txBody>
      </p:sp>
      <p:sp>
        <p:nvSpPr>
          <p:cNvPr id="46" name="Picture Placeholder 45">
            <a:extLst>
              <a:ext uri="{FF2B5EF4-FFF2-40B4-BE49-F238E27FC236}">
                <a16:creationId xmlns:a16="http://schemas.microsoft.com/office/drawing/2014/main" id="{B0363641-3460-4012-A273-F08B5C0482B5}"/>
              </a:ext>
            </a:extLst>
          </p:cNvPr>
          <p:cNvSpPr>
            <a:spLocks noGrp="1"/>
          </p:cNvSpPr>
          <p:nvPr>
            <p:ph type="pic" sz="quarter" idx="32"/>
          </p:nvPr>
        </p:nvSpPr>
        <p:spPr>
          <a:xfrm>
            <a:off x="4356100" y="5516563"/>
            <a:ext cx="1077913" cy="287337"/>
          </a:xfrm>
        </p:spPr>
        <p:txBody>
          <a:bodyPr/>
          <a:lstStyle/>
          <a:p>
            <a:endParaRPr lang="en-US"/>
          </a:p>
        </p:txBody>
      </p:sp>
      <p:sp>
        <p:nvSpPr>
          <p:cNvPr id="48" name="Picture Placeholder 47">
            <a:extLst>
              <a:ext uri="{FF2B5EF4-FFF2-40B4-BE49-F238E27FC236}">
                <a16:creationId xmlns:a16="http://schemas.microsoft.com/office/drawing/2014/main" id="{90B152CE-3AF3-4BD6-8956-A4576FFC2849}"/>
              </a:ext>
            </a:extLst>
          </p:cNvPr>
          <p:cNvSpPr>
            <a:spLocks noGrp="1"/>
          </p:cNvSpPr>
          <p:nvPr>
            <p:ph type="pic" sz="quarter" idx="33"/>
          </p:nvPr>
        </p:nvSpPr>
        <p:spPr>
          <a:xfrm>
            <a:off x="5795963" y="5589588"/>
            <a:ext cx="720725" cy="411162"/>
          </a:xfrm>
        </p:spPr>
        <p:txBody>
          <a:bodyPr/>
          <a:lstStyle/>
          <a:p>
            <a:endParaRPr lang="en-US"/>
          </a:p>
        </p:txBody>
      </p:sp>
    </p:spTree>
    <p:extLst>
      <p:ext uri="{BB962C8B-B14F-4D97-AF65-F5344CB8AC3E}">
        <p14:creationId xmlns:p14="http://schemas.microsoft.com/office/powerpoint/2010/main" val="3298444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72775" y="757838"/>
            <a:ext cx="8131476" cy="465354"/>
          </a:xfrm>
        </p:spPr>
        <p:txBody>
          <a:bodyPr/>
          <a:lstStyle/>
          <a:p>
            <a:r>
              <a:rPr lang="en-US" dirty="0"/>
              <a:t>Click to edit Master title style</a:t>
            </a:r>
          </a:p>
        </p:txBody>
      </p:sp>
      <p:sp>
        <p:nvSpPr>
          <p:cNvPr id="3" name="Content Placeholder 2"/>
          <p:cNvSpPr>
            <a:spLocks noGrp="1"/>
          </p:cNvSpPr>
          <p:nvPr>
            <p:ph idx="1"/>
          </p:nvPr>
        </p:nvSpPr>
        <p:spPr>
          <a:xfrm>
            <a:off x="457200" y="1600201"/>
            <a:ext cx="8147050" cy="604664"/>
          </a:xfrm>
        </p:spPr>
        <p:txBody>
          <a:bodyPr/>
          <a:lstStyle>
            <a:lvl1pPr marL="118872" indent="-118872">
              <a:buClr>
                <a:srgbClr val="007FA3"/>
              </a:buClr>
              <a:buSzPct val="25000"/>
              <a:defRPr sz="1600"/>
            </a:lvl1pPr>
            <a:lvl2pPr marL="569913" indent="-285750">
              <a:buClr>
                <a:srgbClr val="007FA3"/>
              </a:buClr>
              <a:defRPr sz="1600"/>
            </a:lvl2pPr>
            <a:lvl3pPr>
              <a:buClr>
                <a:srgbClr val="007FA3"/>
              </a:buClr>
              <a:defRPr sz="1600"/>
            </a:lvl3pPr>
            <a:lvl4pPr>
              <a:buClr>
                <a:srgbClr val="007FA3"/>
              </a:buClr>
              <a:defRPr sz="1600"/>
            </a:lvl4pPr>
            <a:lvl5pPr>
              <a:buClr>
                <a:srgbClr val="007FA3"/>
              </a:buClr>
              <a:defRPr sz="1600"/>
            </a:lvl5pPr>
            <a:lvl6pPr>
              <a:buClr>
                <a:srgbClr val="007FA3"/>
              </a:buClr>
              <a:defRPr sz="1600"/>
            </a:lvl6pPr>
            <a:lvl7pPr>
              <a:buClr>
                <a:srgbClr val="007FA3"/>
              </a:buClr>
              <a:defRPr sz="1600"/>
            </a:lvl7pPr>
            <a:lvl8pPr>
              <a:buClr>
                <a:srgbClr val="007FA3"/>
              </a:buClr>
              <a:defRPr sz="1600"/>
            </a:lvl8pPr>
            <a:lvl9pPr>
              <a:buClr>
                <a:srgbClr val="007FA3"/>
              </a:buCl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5" name="Content Placeholder 4"/>
          <p:cNvSpPr>
            <a:spLocks noGrp="1"/>
          </p:cNvSpPr>
          <p:nvPr>
            <p:ph sz="quarter" idx="13"/>
          </p:nvPr>
        </p:nvSpPr>
        <p:spPr>
          <a:xfrm>
            <a:off x="468313" y="2420938"/>
            <a:ext cx="8135937" cy="5762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9" name="Content Placeholder 8"/>
          <p:cNvSpPr>
            <a:spLocks noGrp="1"/>
          </p:cNvSpPr>
          <p:nvPr>
            <p:ph sz="quarter" idx="14"/>
          </p:nvPr>
        </p:nvSpPr>
        <p:spPr>
          <a:xfrm>
            <a:off x="468313" y="3141663"/>
            <a:ext cx="8135937" cy="574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2" name="Content Placeholder 11"/>
          <p:cNvSpPr>
            <a:spLocks noGrp="1"/>
          </p:cNvSpPr>
          <p:nvPr>
            <p:ph sz="quarter" idx="15"/>
          </p:nvPr>
        </p:nvSpPr>
        <p:spPr>
          <a:xfrm>
            <a:off x="468313" y="3933825"/>
            <a:ext cx="8135937" cy="5746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4" name="Content Placeholder 13"/>
          <p:cNvSpPr>
            <a:spLocks noGrp="1"/>
          </p:cNvSpPr>
          <p:nvPr>
            <p:ph sz="quarter" idx="16"/>
          </p:nvPr>
        </p:nvSpPr>
        <p:spPr>
          <a:xfrm>
            <a:off x="468313" y="6021388"/>
            <a:ext cx="8135937" cy="287337"/>
          </a:xfrm>
        </p:spPr>
        <p:txBody>
          <a:bodyPr/>
          <a:lstStyle>
            <a:lvl1pPr marL="0" indent="0">
              <a:buNone/>
              <a:defRPr/>
            </a:lvl1pPr>
          </a:lstStyle>
          <a:p>
            <a:pPr lvl="0"/>
            <a:endParaRPr lang="en-IN" dirty="0"/>
          </a:p>
        </p:txBody>
      </p:sp>
    </p:spTree>
    <p:extLst>
      <p:ext uri="{BB962C8B-B14F-4D97-AF65-F5344CB8AC3E}">
        <p14:creationId xmlns:p14="http://schemas.microsoft.com/office/powerpoint/2010/main" val="3321494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1/21/2022</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9626829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1/21/2022</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7824676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1/21/2022</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138932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1/21/2022</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4231395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1/21/2022</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95107304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1/21/2022</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grpSp>
        <p:nvGrpSpPr>
          <p:cNvPr id="2" name="Group 4"/>
          <p:cNvGrpSpPr>
            <a:grpSpLocks noChangeAspect="1"/>
          </p:cNvGrpSpPr>
          <p:nvPr userDrawn="1"/>
        </p:nvGrpSpPr>
        <p:grpSpPr bwMode="auto">
          <a:xfrm>
            <a:off x="57755" y="6407126"/>
            <a:ext cx="1611690" cy="417560"/>
            <a:chOff x="21" y="4059"/>
            <a:chExt cx="1046" cy="271"/>
          </a:xfrm>
        </p:grpSpPr>
        <p:sp>
          <p:nvSpPr>
            <p:cNvPr id="3" name="AutoShape 3"/>
            <p:cNvSpPr>
              <a:spLocks noChangeAspect="1" noChangeArrowheads="1" noTextEdit="1"/>
            </p:cNvSpPr>
            <p:nvPr userDrawn="1"/>
          </p:nvSpPr>
          <p:spPr bwMode="auto">
            <a:xfrm>
              <a:off x="21" y="4059"/>
              <a:ext cx="1046" cy="271"/>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IN" dirty="0">
                <a:solidFill>
                  <a:schemeClr val="tx1">
                    <a:alpha val="0"/>
                  </a:schemeClr>
                </a:solidFill>
              </a:endParaRPr>
            </a:p>
          </p:txBody>
        </p:sp>
        <p:sp>
          <p:nvSpPr>
            <p:cNvPr id="6" name="Freeform 5"/>
            <p:cNvSpPr>
              <a:spLocks noEditPoints="1"/>
            </p:cNvSpPr>
            <p:nvPr userDrawn="1"/>
          </p:nvSpPr>
          <p:spPr bwMode="auto">
            <a:xfrm>
              <a:off x="125" y="4168"/>
              <a:ext cx="838" cy="51"/>
            </a:xfrm>
            <a:custGeom>
              <a:avLst/>
              <a:gdLst>
                <a:gd name="T0" fmla="*/ 1055 w 21137"/>
                <a:gd name="T1" fmla="*/ 1285 h 1300"/>
                <a:gd name="T2" fmla="*/ 0 w 21137"/>
                <a:gd name="T3" fmla="*/ 1285 h 1300"/>
                <a:gd name="T4" fmla="*/ 417 w 21137"/>
                <a:gd name="T5" fmla="*/ 748 h 1300"/>
                <a:gd name="T6" fmla="*/ 1860 w 21137"/>
                <a:gd name="T7" fmla="*/ 1119 h 1300"/>
                <a:gd name="T8" fmla="*/ 1678 w 21137"/>
                <a:gd name="T9" fmla="*/ 16 h 1300"/>
                <a:gd name="T10" fmla="*/ 4021 w 21137"/>
                <a:gd name="T11" fmla="*/ 1290 h 1300"/>
                <a:gd name="T12" fmla="*/ 2636 w 21137"/>
                <a:gd name="T13" fmla="*/ 16 h 1300"/>
                <a:gd name="T14" fmla="*/ 3693 w 21137"/>
                <a:gd name="T15" fmla="*/ 16 h 1300"/>
                <a:gd name="T16" fmla="*/ 5470 w 21137"/>
                <a:gd name="T17" fmla="*/ 9 h 1300"/>
                <a:gd name="T18" fmla="*/ 5143 w 21137"/>
                <a:gd name="T19" fmla="*/ 909 h 1300"/>
                <a:gd name="T20" fmla="*/ 5610 w 21137"/>
                <a:gd name="T21" fmla="*/ 748 h 1300"/>
                <a:gd name="T22" fmla="*/ 7109 w 21137"/>
                <a:gd name="T23" fmla="*/ 16 h 1300"/>
                <a:gd name="T24" fmla="*/ 6675 w 21137"/>
                <a:gd name="T25" fmla="*/ 1285 h 1300"/>
                <a:gd name="T26" fmla="*/ 6765 w 21137"/>
                <a:gd name="T27" fmla="*/ 453 h 1300"/>
                <a:gd name="T28" fmla="*/ 7796 w 21137"/>
                <a:gd name="T29" fmla="*/ 514 h 1300"/>
                <a:gd name="T30" fmla="*/ 8407 w 21137"/>
                <a:gd name="T31" fmla="*/ 89 h 1300"/>
                <a:gd name="T32" fmla="*/ 7908 w 21137"/>
                <a:gd name="T33" fmla="*/ 309 h 1300"/>
                <a:gd name="T34" fmla="*/ 8457 w 21137"/>
                <a:gd name="T35" fmla="*/ 956 h 1300"/>
                <a:gd name="T36" fmla="*/ 7746 w 21137"/>
                <a:gd name="T37" fmla="*/ 953 h 1300"/>
                <a:gd name="T38" fmla="*/ 8119 w 21137"/>
                <a:gd name="T39" fmla="*/ 754 h 1300"/>
                <a:gd name="T40" fmla="*/ 10671 w 21137"/>
                <a:gd name="T41" fmla="*/ 1119 h 1300"/>
                <a:gd name="T42" fmla="*/ 11202 w 21137"/>
                <a:gd name="T43" fmla="*/ 16 h 1300"/>
                <a:gd name="T44" fmla="*/ 11383 w 21137"/>
                <a:gd name="T45" fmla="*/ 565 h 1300"/>
                <a:gd name="T46" fmla="*/ 11383 w 21137"/>
                <a:gd name="T47" fmla="*/ 1122 h 1300"/>
                <a:gd name="T48" fmla="*/ 11202 w 21137"/>
                <a:gd name="T49" fmla="*/ 16 h 1300"/>
                <a:gd name="T50" fmla="*/ 13458 w 21137"/>
                <a:gd name="T51" fmla="*/ 1285 h 1300"/>
                <a:gd name="T52" fmla="*/ 12402 w 21137"/>
                <a:gd name="T53" fmla="*/ 1285 h 1300"/>
                <a:gd name="T54" fmla="*/ 12819 w 21137"/>
                <a:gd name="T55" fmla="*/ 748 h 1300"/>
                <a:gd name="T56" fmla="*/ 14478 w 21137"/>
                <a:gd name="T57" fmla="*/ 16 h 1300"/>
                <a:gd name="T58" fmla="*/ 14682 w 21137"/>
                <a:gd name="T59" fmla="*/ 682 h 1300"/>
                <a:gd name="T60" fmla="*/ 15138 w 21137"/>
                <a:gd name="T61" fmla="*/ 1285 h 1300"/>
                <a:gd name="T62" fmla="*/ 14820 w 21137"/>
                <a:gd name="T63" fmla="*/ 1136 h 1300"/>
                <a:gd name="T64" fmla="*/ 14516 w 21137"/>
                <a:gd name="T65" fmla="*/ 754 h 1300"/>
                <a:gd name="T66" fmla="*/ 14160 w 21137"/>
                <a:gd name="T67" fmla="*/ 1285 h 1300"/>
                <a:gd name="T68" fmla="*/ 14411 w 21137"/>
                <a:gd name="T69" fmla="*/ 572 h 1300"/>
                <a:gd name="T70" fmla="*/ 14677 w 21137"/>
                <a:gd name="T71" fmla="*/ 260 h 1300"/>
                <a:gd name="T72" fmla="*/ 16830 w 21137"/>
                <a:gd name="T73" fmla="*/ 16 h 1300"/>
                <a:gd name="T74" fmla="*/ 15827 w 21137"/>
                <a:gd name="T75" fmla="*/ 1285 h 1300"/>
                <a:gd name="T76" fmla="*/ 16658 w 21137"/>
                <a:gd name="T77" fmla="*/ 1002 h 1300"/>
                <a:gd name="T78" fmla="*/ 17658 w 21137"/>
                <a:gd name="T79" fmla="*/ 1285 h 1300"/>
                <a:gd name="T80" fmla="*/ 19493 w 21137"/>
                <a:gd name="T81" fmla="*/ 16 h 1300"/>
                <a:gd name="T82" fmla="*/ 18488 w 21137"/>
                <a:gd name="T83" fmla="*/ 1285 h 1300"/>
                <a:gd name="T84" fmla="*/ 19320 w 21137"/>
                <a:gd name="T85" fmla="*/ 1002 h 1300"/>
                <a:gd name="T86" fmla="*/ 21137 w 21137"/>
                <a:gd name="T87" fmla="*/ 1198 h 1300"/>
                <a:gd name="T88" fmla="*/ 20176 w 21137"/>
                <a:gd name="T89" fmla="*/ 189 h 1300"/>
                <a:gd name="T90" fmla="*/ 21112 w 21137"/>
                <a:gd name="T91" fmla="*/ 293 h 1300"/>
                <a:gd name="T92" fmla="*/ 20311 w 21137"/>
                <a:gd name="T93" fmla="*/ 1004 h 1300"/>
                <a:gd name="T94" fmla="*/ 20956 w 21137"/>
                <a:gd name="T95" fmla="*/ 821 h 1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1137" h="1300">
                  <a:moveTo>
                    <a:pt x="545" y="9"/>
                  </a:moveTo>
                  <a:cubicBezTo>
                    <a:pt x="672" y="9"/>
                    <a:pt x="672" y="9"/>
                    <a:pt x="672" y="9"/>
                  </a:cubicBezTo>
                  <a:cubicBezTo>
                    <a:pt x="1241" y="1285"/>
                    <a:pt x="1241" y="1285"/>
                    <a:pt x="1241" y="1285"/>
                  </a:cubicBezTo>
                  <a:cubicBezTo>
                    <a:pt x="1055" y="1285"/>
                    <a:pt x="1055" y="1285"/>
                    <a:pt x="1055" y="1285"/>
                  </a:cubicBezTo>
                  <a:cubicBezTo>
                    <a:pt x="886" y="909"/>
                    <a:pt x="886" y="909"/>
                    <a:pt x="886" y="909"/>
                  </a:cubicBezTo>
                  <a:cubicBezTo>
                    <a:pt x="345" y="909"/>
                    <a:pt x="345" y="909"/>
                    <a:pt x="345" y="909"/>
                  </a:cubicBezTo>
                  <a:cubicBezTo>
                    <a:pt x="186" y="1285"/>
                    <a:pt x="186" y="1285"/>
                    <a:pt x="186" y="1285"/>
                  </a:cubicBezTo>
                  <a:cubicBezTo>
                    <a:pt x="0" y="1285"/>
                    <a:pt x="0" y="1285"/>
                    <a:pt x="0" y="1285"/>
                  </a:cubicBezTo>
                  <a:lnTo>
                    <a:pt x="545" y="9"/>
                  </a:lnTo>
                  <a:close/>
                  <a:moveTo>
                    <a:pt x="812" y="748"/>
                  </a:moveTo>
                  <a:cubicBezTo>
                    <a:pt x="607" y="287"/>
                    <a:pt x="607" y="287"/>
                    <a:pt x="607" y="287"/>
                  </a:cubicBezTo>
                  <a:cubicBezTo>
                    <a:pt x="417" y="748"/>
                    <a:pt x="417" y="748"/>
                    <a:pt x="417" y="748"/>
                  </a:cubicBezTo>
                  <a:lnTo>
                    <a:pt x="812" y="748"/>
                  </a:lnTo>
                  <a:close/>
                  <a:moveTo>
                    <a:pt x="1678" y="16"/>
                  </a:moveTo>
                  <a:cubicBezTo>
                    <a:pt x="1860" y="16"/>
                    <a:pt x="1860" y="16"/>
                    <a:pt x="1860" y="16"/>
                  </a:cubicBezTo>
                  <a:cubicBezTo>
                    <a:pt x="1860" y="1119"/>
                    <a:pt x="1860" y="1119"/>
                    <a:pt x="1860" y="1119"/>
                  </a:cubicBezTo>
                  <a:cubicBezTo>
                    <a:pt x="2431" y="1119"/>
                    <a:pt x="2431" y="1119"/>
                    <a:pt x="2431" y="1119"/>
                  </a:cubicBezTo>
                  <a:cubicBezTo>
                    <a:pt x="2431" y="1285"/>
                    <a:pt x="2431" y="1285"/>
                    <a:pt x="2431" y="1285"/>
                  </a:cubicBezTo>
                  <a:cubicBezTo>
                    <a:pt x="1678" y="1285"/>
                    <a:pt x="1678" y="1285"/>
                    <a:pt x="1678" y="1285"/>
                  </a:cubicBezTo>
                  <a:lnTo>
                    <a:pt x="1678" y="16"/>
                  </a:lnTo>
                  <a:close/>
                  <a:moveTo>
                    <a:pt x="4392" y="16"/>
                  </a:moveTo>
                  <a:cubicBezTo>
                    <a:pt x="4573" y="16"/>
                    <a:pt x="4573" y="16"/>
                    <a:pt x="4573" y="16"/>
                  </a:cubicBezTo>
                  <a:cubicBezTo>
                    <a:pt x="4061" y="1290"/>
                    <a:pt x="4061" y="1290"/>
                    <a:pt x="4061" y="1290"/>
                  </a:cubicBezTo>
                  <a:cubicBezTo>
                    <a:pt x="4021" y="1290"/>
                    <a:pt x="4021" y="1290"/>
                    <a:pt x="4021" y="1290"/>
                  </a:cubicBezTo>
                  <a:cubicBezTo>
                    <a:pt x="3606" y="258"/>
                    <a:pt x="3606" y="258"/>
                    <a:pt x="3606" y="258"/>
                  </a:cubicBezTo>
                  <a:cubicBezTo>
                    <a:pt x="3187" y="1290"/>
                    <a:pt x="3187" y="1290"/>
                    <a:pt x="3187" y="1290"/>
                  </a:cubicBezTo>
                  <a:cubicBezTo>
                    <a:pt x="3147" y="1290"/>
                    <a:pt x="3147" y="1290"/>
                    <a:pt x="3147" y="1290"/>
                  </a:cubicBezTo>
                  <a:cubicBezTo>
                    <a:pt x="2636" y="16"/>
                    <a:pt x="2636" y="16"/>
                    <a:pt x="2636" y="16"/>
                  </a:cubicBezTo>
                  <a:cubicBezTo>
                    <a:pt x="2819" y="16"/>
                    <a:pt x="2819" y="16"/>
                    <a:pt x="2819" y="16"/>
                  </a:cubicBezTo>
                  <a:cubicBezTo>
                    <a:pt x="3168" y="891"/>
                    <a:pt x="3168" y="891"/>
                    <a:pt x="3168" y="891"/>
                  </a:cubicBezTo>
                  <a:cubicBezTo>
                    <a:pt x="3521" y="16"/>
                    <a:pt x="3521" y="16"/>
                    <a:pt x="3521" y="16"/>
                  </a:cubicBezTo>
                  <a:cubicBezTo>
                    <a:pt x="3693" y="16"/>
                    <a:pt x="3693" y="16"/>
                    <a:pt x="3693" y="16"/>
                  </a:cubicBezTo>
                  <a:cubicBezTo>
                    <a:pt x="4047" y="891"/>
                    <a:pt x="4047" y="891"/>
                    <a:pt x="4047" y="891"/>
                  </a:cubicBezTo>
                  <a:lnTo>
                    <a:pt x="4392" y="16"/>
                  </a:lnTo>
                  <a:close/>
                  <a:moveTo>
                    <a:pt x="5343" y="9"/>
                  </a:moveTo>
                  <a:cubicBezTo>
                    <a:pt x="5470" y="9"/>
                    <a:pt x="5470" y="9"/>
                    <a:pt x="5470" y="9"/>
                  </a:cubicBezTo>
                  <a:cubicBezTo>
                    <a:pt x="6039" y="1285"/>
                    <a:pt x="6039" y="1285"/>
                    <a:pt x="6039" y="1285"/>
                  </a:cubicBezTo>
                  <a:cubicBezTo>
                    <a:pt x="5853" y="1285"/>
                    <a:pt x="5853" y="1285"/>
                    <a:pt x="5853" y="1285"/>
                  </a:cubicBezTo>
                  <a:cubicBezTo>
                    <a:pt x="5685" y="909"/>
                    <a:pt x="5685" y="909"/>
                    <a:pt x="5685" y="909"/>
                  </a:cubicBezTo>
                  <a:cubicBezTo>
                    <a:pt x="5143" y="909"/>
                    <a:pt x="5143" y="909"/>
                    <a:pt x="5143" y="909"/>
                  </a:cubicBezTo>
                  <a:cubicBezTo>
                    <a:pt x="4984" y="1285"/>
                    <a:pt x="4984" y="1285"/>
                    <a:pt x="4984" y="1285"/>
                  </a:cubicBezTo>
                  <a:cubicBezTo>
                    <a:pt x="4798" y="1285"/>
                    <a:pt x="4798" y="1285"/>
                    <a:pt x="4798" y="1285"/>
                  </a:cubicBezTo>
                  <a:lnTo>
                    <a:pt x="5343" y="9"/>
                  </a:lnTo>
                  <a:close/>
                  <a:moveTo>
                    <a:pt x="5610" y="748"/>
                  </a:moveTo>
                  <a:cubicBezTo>
                    <a:pt x="5405" y="287"/>
                    <a:pt x="5405" y="287"/>
                    <a:pt x="5405" y="287"/>
                  </a:cubicBezTo>
                  <a:cubicBezTo>
                    <a:pt x="5215" y="748"/>
                    <a:pt x="5215" y="748"/>
                    <a:pt x="5215" y="748"/>
                  </a:cubicBezTo>
                  <a:lnTo>
                    <a:pt x="5610" y="748"/>
                  </a:lnTo>
                  <a:close/>
                  <a:moveTo>
                    <a:pt x="7109" y="16"/>
                  </a:moveTo>
                  <a:cubicBezTo>
                    <a:pt x="7330" y="16"/>
                    <a:pt x="7330" y="16"/>
                    <a:pt x="7330" y="16"/>
                  </a:cubicBezTo>
                  <a:cubicBezTo>
                    <a:pt x="6861" y="614"/>
                    <a:pt x="6861" y="614"/>
                    <a:pt x="6861" y="614"/>
                  </a:cubicBezTo>
                  <a:cubicBezTo>
                    <a:pt x="6861" y="1285"/>
                    <a:pt x="6861" y="1285"/>
                    <a:pt x="6861" y="1285"/>
                  </a:cubicBezTo>
                  <a:cubicBezTo>
                    <a:pt x="6675" y="1285"/>
                    <a:pt x="6675" y="1285"/>
                    <a:pt x="6675" y="1285"/>
                  </a:cubicBezTo>
                  <a:cubicBezTo>
                    <a:pt x="6675" y="614"/>
                    <a:pt x="6675" y="614"/>
                    <a:pt x="6675" y="614"/>
                  </a:cubicBezTo>
                  <a:cubicBezTo>
                    <a:pt x="6206" y="16"/>
                    <a:pt x="6206" y="16"/>
                    <a:pt x="6206" y="16"/>
                  </a:cubicBezTo>
                  <a:cubicBezTo>
                    <a:pt x="6426" y="16"/>
                    <a:pt x="6426" y="16"/>
                    <a:pt x="6426" y="16"/>
                  </a:cubicBezTo>
                  <a:cubicBezTo>
                    <a:pt x="6765" y="453"/>
                    <a:pt x="6765" y="453"/>
                    <a:pt x="6765" y="453"/>
                  </a:cubicBezTo>
                  <a:lnTo>
                    <a:pt x="7109" y="16"/>
                  </a:lnTo>
                  <a:close/>
                  <a:moveTo>
                    <a:pt x="8119" y="754"/>
                  </a:moveTo>
                  <a:cubicBezTo>
                    <a:pt x="7981" y="670"/>
                    <a:pt x="7981" y="670"/>
                    <a:pt x="7981" y="670"/>
                  </a:cubicBezTo>
                  <a:cubicBezTo>
                    <a:pt x="7894" y="617"/>
                    <a:pt x="7833" y="565"/>
                    <a:pt x="7796" y="514"/>
                  </a:cubicBezTo>
                  <a:cubicBezTo>
                    <a:pt x="7759" y="463"/>
                    <a:pt x="7741" y="404"/>
                    <a:pt x="7741" y="337"/>
                  </a:cubicBezTo>
                  <a:cubicBezTo>
                    <a:pt x="7741" y="236"/>
                    <a:pt x="7776" y="157"/>
                    <a:pt x="7845" y="93"/>
                  </a:cubicBezTo>
                  <a:cubicBezTo>
                    <a:pt x="7914" y="31"/>
                    <a:pt x="8005" y="0"/>
                    <a:pt x="8115" y="0"/>
                  </a:cubicBezTo>
                  <a:cubicBezTo>
                    <a:pt x="8221" y="0"/>
                    <a:pt x="8318" y="30"/>
                    <a:pt x="8407" y="89"/>
                  </a:cubicBezTo>
                  <a:cubicBezTo>
                    <a:pt x="8407" y="295"/>
                    <a:pt x="8407" y="295"/>
                    <a:pt x="8407" y="295"/>
                  </a:cubicBezTo>
                  <a:cubicBezTo>
                    <a:pt x="8315" y="208"/>
                    <a:pt x="8217" y="164"/>
                    <a:pt x="8112" y="164"/>
                  </a:cubicBezTo>
                  <a:cubicBezTo>
                    <a:pt x="8052" y="164"/>
                    <a:pt x="8004" y="177"/>
                    <a:pt x="7965" y="204"/>
                  </a:cubicBezTo>
                  <a:cubicBezTo>
                    <a:pt x="7927" y="232"/>
                    <a:pt x="7908" y="267"/>
                    <a:pt x="7908" y="309"/>
                  </a:cubicBezTo>
                  <a:cubicBezTo>
                    <a:pt x="7908" y="348"/>
                    <a:pt x="7922" y="384"/>
                    <a:pt x="7950" y="416"/>
                  </a:cubicBezTo>
                  <a:cubicBezTo>
                    <a:pt x="7979" y="450"/>
                    <a:pt x="8023" y="485"/>
                    <a:pt x="8086" y="521"/>
                  </a:cubicBezTo>
                  <a:cubicBezTo>
                    <a:pt x="8224" y="603"/>
                    <a:pt x="8224" y="603"/>
                    <a:pt x="8224" y="603"/>
                  </a:cubicBezTo>
                  <a:cubicBezTo>
                    <a:pt x="8379" y="696"/>
                    <a:pt x="8457" y="813"/>
                    <a:pt x="8457" y="956"/>
                  </a:cubicBezTo>
                  <a:cubicBezTo>
                    <a:pt x="8457" y="1057"/>
                    <a:pt x="8423" y="1141"/>
                    <a:pt x="8355" y="1204"/>
                  </a:cubicBezTo>
                  <a:cubicBezTo>
                    <a:pt x="8287" y="1268"/>
                    <a:pt x="8198" y="1300"/>
                    <a:pt x="8089" y="1300"/>
                  </a:cubicBezTo>
                  <a:cubicBezTo>
                    <a:pt x="7964" y="1300"/>
                    <a:pt x="7849" y="1261"/>
                    <a:pt x="7746" y="1185"/>
                  </a:cubicBezTo>
                  <a:cubicBezTo>
                    <a:pt x="7746" y="953"/>
                    <a:pt x="7746" y="953"/>
                    <a:pt x="7746" y="953"/>
                  </a:cubicBezTo>
                  <a:cubicBezTo>
                    <a:pt x="7845" y="1077"/>
                    <a:pt x="7958" y="1140"/>
                    <a:pt x="8087" y="1140"/>
                  </a:cubicBezTo>
                  <a:cubicBezTo>
                    <a:pt x="8144" y="1140"/>
                    <a:pt x="8192" y="1124"/>
                    <a:pt x="8229" y="1092"/>
                  </a:cubicBezTo>
                  <a:cubicBezTo>
                    <a:pt x="8267" y="1061"/>
                    <a:pt x="8286" y="1021"/>
                    <a:pt x="8286" y="973"/>
                  </a:cubicBezTo>
                  <a:cubicBezTo>
                    <a:pt x="8286" y="896"/>
                    <a:pt x="8230" y="823"/>
                    <a:pt x="8119" y="754"/>
                  </a:cubicBezTo>
                  <a:moveTo>
                    <a:pt x="9917" y="16"/>
                  </a:moveTo>
                  <a:cubicBezTo>
                    <a:pt x="10099" y="16"/>
                    <a:pt x="10099" y="16"/>
                    <a:pt x="10099" y="16"/>
                  </a:cubicBezTo>
                  <a:cubicBezTo>
                    <a:pt x="10099" y="1119"/>
                    <a:pt x="10099" y="1119"/>
                    <a:pt x="10099" y="1119"/>
                  </a:cubicBezTo>
                  <a:cubicBezTo>
                    <a:pt x="10671" y="1119"/>
                    <a:pt x="10671" y="1119"/>
                    <a:pt x="10671" y="1119"/>
                  </a:cubicBezTo>
                  <a:cubicBezTo>
                    <a:pt x="10671" y="1285"/>
                    <a:pt x="10671" y="1285"/>
                    <a:pt x="10671" y="1285"/>
                  </a:cubicBezTo>
                  <a:cubicBezTo>
                    <a:pt x="9917" y="1285"/>
                    <a:pt x="9917" y="1285"/>
                    <a:pt x="9917" y="1285"/>
                  </a:cubicBezTo>
                  <a:lnTo>
                    <a:pt x="9917" y="16"/>
                  </a:lnTo>
                  <a:close/>
                  <a:moveTo>
                    <a:pt x="11202" y="16"/>
                  </a:moveTo>
                  <a:cubicBezTo>
                    <a:pt x="11921" y="16"/>
                    <a:pt x="11921" y="16"/>
                    <a:pt x="11921" y="16"/>
                  </a:cubicBezTo>
                  <a:cubicBezTo>
                    <a:pt x="11921" y="177"/>
                    <a:pt x="11921" y="177"/>
                    <a:pt x="11921" y="177"/>
                  </a:cubicBezTo>
                  <a:cubicBezTo>
                    <a:pt x="11383" y="177"/>
                    <a:pt x="11383" y="177"/>
                    <a:pt x="11383" y="177"/>
                  </a:cubicBezTo>
                  <a:cubicBezTo>
                    <a:pt x="11383" y="565"/>
                    <a:pt x="11383" y="565"/>
                    <a:pt x="11383" y="565"/>
                  </a:cubicBezTo>
                  <a:cubicBezTo>
                    <a:pt x="11903" y="565"/>
                    <a:pt x="11903" y="565"/>
                    <a:pt x="11903" y="565"/>
                  </a:cubicBezTo>
                  <a:cubicBezTo>
                    <a:pt x="11903" y="727"/>
                    <a:pt x="11903" y="727"/>
                    <a:pt x="11903" y="727"/>
                  </a:cubicBezTo>
                  <a:cubicBezTo>
                    <a:pt x="11383" y="727"/>
                    <a:pt x="11383" y="727"/>
                    <a:pt x="11383" y="727"/>
                  </a:cubicBezTo>
                  <a:cubicBezTo>
                    <a:pt x="11383" y="1122"/>
                    <a:pt x="11383" y="1122"/>
                    <a:pt x="11383" y="1122"/>
                  </a:cubicBezTo>
                  <a:cubicBezTo>
                    <a:pt x="11939" y="1122"/>
                    <a:pt x="11939" y="1122"/>
                    <a:pt x="11939" y="1122"/>
                  </a:cubicBezTo>
                  <a:cubicBezTo>
                    <a:pt x="11939" y="1283"/>
                    <a:pt x="11939" y="1283"/>
                    <a:pt x="11939" y="1283"/>
                  </a:cubicBezTo>
                  <a:cubicBezTo>
                    <a:pt x="11202" y="1283"/>
                    <a:pt x="11202" y="1283"/>
                    <a:pt x="11202" y="1283"/>
                  </a:cubicBezTo>
                  <a:lnTo>
                    <a:pt x="11202" y="16"/>
                  </a:lnTo>
                  <a:close/>
                  <a:moveTo>
                    <a:pt x="12946" y="9"/>
                  </a:moveTo>
                  <a:cubicBezTo>
                    <a:pt x="13075" y="9"/>
                    <a:pt x="13075" y="9"/>
                    <a:pt x="13075" y="9"/>
                  </a:cubicBezTo>
                  <a:cubicBezTo>
                    <a:pt x="13643" y="1285"/>
                    <a:pt x="13643" y="1285"/>
                    <a:pt x="13643" y="1285"/>
                  </a:cubicBezTo>
                  <a:cubicBezTo>
                    <a:pt x="13458" y="1285"/>
                    <a:pt x="13458" y="1285"/>
                    <a:pt x="13458" y="1285"/>
                  </a:cubicBezTo>
                  <a:cubicBezTo>
                    <a:pt x="13288" y="909"/>
                    <a:pt x="13288" y="909"/>
                    <a:pt x="13288" y="909"/>
                  </a:cubicBezTo>
                  <a:cubicBezTo>
                    <a:pt x="12746" y="909"/>
                    <a:pt x="12746" y="909"/>
                    <a:pt x="12746" y="909"/>
                  </a:cubicBezTo>
                  <a:cubicBezTo>
                    <a:pt x="12588" y="1285"/>
                    <a:pt x="12588" y="1285"/>
                    <a:pt x="12588" y="1285"/>
                  </a:cubicBezTo>
                  <a:cubicBezTo>
                    <a:pt x="12402" y="1285"/>
                    <a:pt x="12402" y="1285"/>
                    <a:pt x="12402" y="1285"/>
                  </a:cubicBezTo>
                  <a:lnTo>
                    <a:pt x="12946" y="9"/>
                  </a:lnTo>
                  <a:close/>
                  <a:moveTo>
                    <a:pt x="13214" y="748"/>
                  </a:moveTo>
                  <a:cubicBezTo>
                    <a:pt x="13009" y="287"/>
                    <a:pt x="13009" y="287"/>
                    <a:pt x="13009" y="287"/>
                  </a:cubicBezTo>
                  <a:cubicBezTo>
                    <a:pt x="12819" y="748"/>
                    <a:pt x="12819" y="748"/>
                    <a:pt x="12819" y="748"/>
                  </a:cubicBezTo>
                  <a:lnTo>
                    <a:pt x="13214" y="748"/>
                  </a:lnTo>
                  <a:close/>
                  <a:moveTo>
                    <a:pt x="14160" y="1285"/>
                  </a:moveTo>
                  <a:cubicBezTo>
                    <a:pt x="14160" y="16"/>
                    <a:pt x="14160" y="16"/>
                    <a:pt x="14160" y="16"/>
                  </a:cubicBezTo>
                  <a:cubicBezTo>
                    <a:pt x="14478" y="16"/>
                    <a:pt x="14478" y="16"/>
                    <a:pt x="14478" y="16"/>
                  </a:cubicBezTo>
                  <a:cubicBezTo>
                    <a:pt x="14606" y="16"/>
                    <a:pt x="14708" y="48"/>
                    <a:pt x="14784" y="112"/>
                  </a:cubicBezTo>
                  <a:cubicBezTo>
                    <a:pt x="14859" y="175"/>
                    <a:pt x="14896" y="261"/>
                    <a:pt x="14896" y="369"/>
                  </a:cubicBezTo>
                  <a:cubicBezTo>
                    <a:pt x="14896" y="444"/>
                    <a:pt x="14878" y="507"/>
                    <a:pt x="14841" y="560"/>
                  </a:cubicBezTo>
                  <a:cubicBezTo>
                    <a:pt x="14804" y="616"/>
                    <a:pt x="14751" y="655"/>
                    <a:pt x="14682" y="682"/>
                  </a:cubicBezTo>
                  <a:cubicBezTo>
                    <a:pt x="14723" y="708"/>
                    <a:pt x="14762" y="745"/>
                    <a:pt x="14801" y="791"/>
                  </a:cubicBezTo>
                  <a:cubicBezTo>
                    <a:pt x="14840" y="837"/>
                    <a:pt x="14895" y="917"/>
                    <a:pt x="14964" y="1031"/>
                  </a:cubicBezTo>
                  <a:cubicBezTo>
                    <a:pt x="15008" y="1103"/>
                    <a:pt x="15045" y="1158"/>
                    <a:pt x="15071" y="1195"/>
                  </a:cubicBezTo>
                  <a:cubicBezTo>
                    <a:pt x="15138" y="1285"/>
                    <a:pt x="15138" y="1285"/>
                    <a:pt x="15138" y="1285"/>
                  </a:cubicBezTo>
                  <a:cubicBezTo>
                    <a:pt x="14922" y="1285"/>
                    <a:pt x="14922" y="1285"/>
                    <a:pt x="14922" y="1285"/>
                  </a:cubicBezTo>
                  <a:cubicBezTo>
                    <a:pt x="14867" y="1201"/>
                    <a:pt x="14867" y="1201"/>
                    <a:pt x="14867" y="1201"/>
                  </a:cubicBezTo>
                  <a:cubicBezTo>
                    <a:pt x="14865" y="1199"/>
                    <a:pt x="14861" y="1193"/>
                    <a:pt x="14856" y="1186"/>
                  </a:cubicBezTo>
                  <a:cubicBezTo>
                    <a:pt x="14820" y="1136"/>
                    <a:pt x="14820" y="1136"/>
                    <a:pt x="14820" y="1136"/>
                  </a:cubicBezTo>
                  <a:cubicBezTo>
                    <a:pt x="14764" y="1043"/>
                    <a:pt x="14764" y="1043"/>
                    <a:pt x="14764" y="1043"/>
                  </a:cubicBezTo>
                  <a:cubicBezTo>
                    <a:pt x="14704" y="944"/>
                    <a:pt x="14704" y="944"/>
                    <a:pt x="14704" y="944"/>
                  </a:cubicBezTo>
                  <a:cubicBezTo>
                    <a:pt x="14666" y="893"/>
                    <a:pt x="14631" y="851"/>
                    <a:pt x="14600" y="820"/>
                  </a:cubicBezTo>
                  <a:cubicBezTo>
                    <a:pt x="14569" y="788"/>
                    <a:pt x="14541" y="767"/>
                    <a:pt x="14516" y="754"/>
                  </a:cubicBezTo>
                  <a:cubicBezTo>
                    <a:pt x="14490" y="740"/>
                    <a:pt x="14449" y="733"/>
                    <a:pt x="14389" y="733"/>
                  </a:cubicBezTo>
                  <a:cubicBezTo>
                    <a:pt x="14342" y="733"/>
                    <a:pt x="14342" y="733"/>
                    <a:pt x="14342" y="733"/>
                  </a:cubicBezTo>
                  <a:cubicBezTo>
                    <a:pt x="14342" y="1285"/>
                    <a:pt x="14342" y="1285"/>
                    <a:pt x="14342" y="1285"/>
                  </a:cubicBezTo>
                  <a:lnTo>
                    <a:pt x="14160" y="1285"/>
                  </a:lnTo>
                  <a:close/>
                  <a:moveTo>
                    <a:pt x="14396" y="170"/>
                  </a:moveTo>
                  <a:cubicBezTo>
                    <a:pt x="14342" y="170"/>
                    <a:pt x="14342" y="170"/>
                    <a:pt x="14342" y="170"/>
                  </a:cubicBezTo>
                  <a:cubicBezTo>
                    <a:pt x="14342" y="572"/>
                    <a:pt x="14342" y="572"/>
                    <a:pt x="14342" y="572"/>
                  </a:cubicBezTo>
                  <a:cubicBezTo>
                    <a:pt x="14411" y="572"/>
                    <a:pt x="14411" y="572"/>
                    <a:pt x="14411" y="572"/>
                  </a:cubicBezTo>
                  <a:cubicBezTo>
                    <a:pt x="14503" y="572"/>
                    <a:pt x="14566" y="564"/>
                    <a:pt x="14600" y="548"/>
                  </a:cubicBezTo>
                  <a:cubicBezTo>
                    <a:pt x="14634" y="531"/>
                    <a:pt x="14661" y="508"/>
                    <a:pt x="14680" y="476"/>
                  </a:cubicBezTo>
                  <a:cubicBezTo>
                    <a:pt x="14699" y="445"/>
                    <a:pt x="14709" y="408"/>
                    <a:pt x="14709" y="368"/>
                  </a:cubicBezTo>
                  <a:cubicBezTo>
                    <a:pt x="14709" y="327"/>
                    <a:pt x="14698" y="292"/>
                    <a:pt x="14677" y="260"/>
                  </a:cubicBezTo>
                  <a:cubicBezTo>
                    <a:pt x="14655" y="227"/>
                    <a:pt x="14626" y="204"/>
                    <a:pt x="14587" y="191"/>
                  </a:cubicBezTo>
                  <a:cubicBezTo>
                    <a:pt x="14548" y="177"/>
                    <a:pt x="14485" y="170"/>
                    <a:pt x="14396" y="170"/>
                  </a:cubicBezTo>
                  <a:moveTo>
                    <a:pt x="16658" y="16"/>
                  </a:moveTo>
                  <a:cubicBezTo>
                    <a:pt x="16830" y="16"/>
                    <a:pt x="16830" y="16"/>
                    <a:pt x="16830" y="16"/>
                  </a:cubicBezTo>
                  <a:cubicBezTo>
                    <a:pt x="16830" y="1285"/>
                    <a:pt x="16830" y="1285"/>
                    <a:pt x="16830" y="1285"/>
                  </a:cubicBezTo>
                  <a:cubicBezTo>
                    <a:pt x="16675" y="1285"/>
                    <a:pt x="16675" y="1285"/>
                    <a:pt x="16675" y="1285"/>
                  </a:cubicBezTo>
                  <a:cubicBezTo>
                    <a:pt x="15827" y="308"/>
                    <a:pt x="15827" y="308"/>
                    <a:pt x="15827" y="308"/>
                  </a:cubicBezTo>
                  <a:cubicBezTo>
                    <a:pt x="15827" y="1285"/>
                    <a:pt x="15827" y="1285"/>
                    <a:pt x="15827" y="1285"/>
                  </a:cubicBezTo>
                  <a:cubicBezTo>
                    <a:pt x="15656" y="1285"/>
                    <a:pt x="15656" y="1285"/>
                    <a:pt x="15656" y="1285"/>
                  </a:cubicBezTo>
                  <a:cubicBezTo>
                    <a:pt x="15656" y="16"/>
                    <a:pt x="15656" y="16"/>
                    <a:pt x="15656" y="16"/>
                  </a:cubicBezTo>
                  <a:cubicBezTo>
                    <a:pt x="15803" y="16"/>
                    <a:pt x="15803" y="16"/>
                    <a:pt x="15803" y="16"/>
                  </a:cubicBezTo>
                  <a:cubicBezTo>
                    <a:pt x="16658" y="1002"/>
                    <a:pt x="16658" y="1002"/>
                    <a:pt x="16658" y="1002"/>
                  </a:cubicBezTo>
                  <a:lnTo>
                    <a:pt x="16658" y="16"/>
                  </a:lnTo>
                  <a:close/>
                  <a:moveTo>
                    <a:pt x="17477" y="16"/>
                  </a:moveTo>
                  <a:cubicBezTo>
                    <a:pt x="17658" y="16"/>
                    <a:pt x="17658" y="16"/>
                    <a:pt x="17658" y="16"/>
                  </a:cubicBezTo>
                  <a:cubicBezTo>
                    <a:pt x="17658" y="1285"/>
                    <a:pt x="17658" y="1285"/>
                    <a:pt x="17658" y="1285"/>
                  </a:cubicBezTo>
                  <a:cubicBezTo>
                    <a:pt x="17477" y="1285"/>
                    <a:pt x="17477" y="1285"/>
                    <a:pt x="17477" y="1285"/>
                  </a:cubicBezTo>
                  <a:lnTo>
                    <a:pt x="17477" y="16"/>
                  </a:lnTo>
                  <a:close/>
                  <a:moveTo>
                    <a:pt x="19320" y="16"/>
                  </a:moveTo>
                  <a:cubicBezTo>
                    <a:pt x="19493" y="16"/>
                    <a:pt x="19493" y="16"/>
                    <a:pt x="19493" y="16"/>
                  </a:cubicBezTo>
                  <a:cubicBezTo>
                    <a:pt x="19493" y="1285"/>
                    <a:pt x="19493" y="1285"/>
                    <a:pt x="19493" y="1285"/>
                  </a:cubicBezTo>
                  <a:cubicBezTo>
                    <a:pt x="19337" y="1285"/>
                    <a:pt x="19337" y="1285"/>
                    <a:pt x="19337" y="1285"/>
                  </a:cubicBezTo>
                  <a:cubicBezTo>
                    <a:pt x="18488" y="308"/>
                    <a:pt x="18488" y="308"/>
                    <a:pt x="18488" y="308"/>
                  </a:cubicBezTo>
                  <a:cubicBezTo>
                    <a:pt x="18488" y="1285"/>
                    <a:pt x="18488" y="1285"/>
                    <a:pt x="18488" y="1285"/>
                  </a:cubicBezTo>
                  <a:cubicBezTo>
                    <a:pt x="18317" y="1285"/>
                    <a:pt x="18317" y="1285"/>
                    <a:pt x="18317" y="1285"/>
                  </a:cubicBezTo>
                  <a:cubicBezTo>
                    <a:pt x="18317" y="16"/>
                    <a:pt x="18317" y="16"/>
                    <a:pt x="18317" y="16"/>
                  </a:cubicBezTo>
                  <a:cubicBezTo>
                    <a:pt x="18464" y="16"/>
                    <a:pt x="18464" y="16"/>
                    <a:pt x="18464" y="16"/>
                  </a:cubicBezTo>
                  <a:cubicBezTo>
                    <a:pt x="19320" y="1002"/>
                    <a:pt x="19320" y="1002"/>
                    <a:pt x="19320" y="1002"/>
                  </a:cubicBezTo>
                  <a:lnTo>
                    <a:pt x="19320" y="16"/>
                  </a:lnTo>
                  <a:close/>
                  <a:moveTo>
                    <a:pt x="20712" y="659"/>
                  </a:moveTo>
                  <a:cubicBezTo>
                    <a:pt x="21137" y="659"/>
                    <a:pt x="21137" y="659"/>
                    <a:pt x="21137" y="659"/>
                  </a:cubicBezTo>
                  <a:cubicBezTo>
                    <a:pt x="21137" y="1198"/>
                    <a:pt x="21137" y="1198"/>
                    <a:pt x="21137" y="1198"/>
                  </a:cubicBezTo>
                  <a:cubicBezTo>
                    <a:pt x="20981" y="1266"/>
                    <a:pt x="20826" y="1300"/>
                    <a:pt x="20673" y="1300"/>
                  </a:cubicBezTo>
                  <a:cubicBezTo>
                    <a:pt x="20463" y="1300"/>
                    <a:pt x="20294" y="1239"/>
                    <a:pt x="20169" y="1115"/>
                  </a:cubicBezTo>
                  <a:cubicBezTo>
                    <a:pt x="20043" y="994"/>
                    <a:pt x="19980" y="842"/>
                    <a:pt x="19980" y="662"/>
                  </a:cubicBezTo>
                  <a:cubicBezTo>
                    <a:pt x="19980" y="473"/>
                    <a:pt x="20045" y="314"/>
                    <a:pt x="20176" y="189"/>
                  </a:cubicBezTo>
                  <a:cubicBezTo>
                    <a:pt x="20306" y="63"/>
                    <a:pt x="20469" y="0"/>
                    <a:pt x="20666" y="0"/>
                  </a:cubicBezTo>
                  <a:cubicBezTo>
                    <a:pt x="20736" y="0"/>
                    <a:pt x="20804" y="8"/>
                    <a:pt x="20869" y="22"/>
                  </a:cubicBezTo>
                  <a:cubicBezTo>
                    <a:pt x="20933" y="39"/>
                    <a:pt x="21014" y="66"/>
                    <a:pt x="21112" y="109"/>
                  </a:cubicBezTo>
                  <a:cubicBezTo>
                    <a:pt x="21112" y="293"/>
                    <a:pt x="21112" y="293"/>
                    <a:pt x="21112" y="293"/>
                  </a:cubicBezTo>
                  <a:cubicBezTo>
                    <a:pt x="20961" y="205"/>
                    <a:pt x="20811" y="161"/>
                    <a:pt x="20661" y="161"/>
                  </a:cubicBezTo>
                  <a:cubicBezTo>
                    <a:pt x="20523" y="161"/>
                    <a:pt x="20407" y="209"/>
                    <a:pt x="20311" y="303"/>
                  </a:cubicBezTo>
                  <a:cubicBezTo>
                    <a:pt x="20215" y="397"/>
                    <a:pt x="20169" y="514"/>
                    <a:pt x="20169" y="651"/>
                  </a:cubicBezTo>
                  <a:cubicBezTo>
                    <a:pt x="20169" y="795"/>
                    <a:pt x="20215" y="913"/>
                    <a:pt x="20311" y="1004"/>
                  </a:cubicBezTo>
                  <a:cubicBezTo>
                    <a:pt x="20407" y="1096"/>
                    <a:pt x="20528" y="1142"/>
                    <a:pt x="20678" y="1142"/>
                  </a:cubicBezTo>
                  <a:cubicBezTo>
                    <a:pt x="20750" y="1142"/>
                    <a:pt x="20838" y="1125"/>
                    <a:pt x="20939" y="1092"/>
                  </a:cubicBezTo>
                  <a:cubicBezTo>
                    <a:pt x="20956" y="1087"/>
                    <a:pt x="20956" y="1087"/>
                    <a:pt x="20956" y="1087"/>
                  </a:cubicBezTo>
                  <a:cubicBezTo>
                    <a:pt x="20956" y="821"/>
                    <a:pt x="20956" y="821"/>
                    <a:pt x="20956" y="821"/>
                  </a:cubicBezTo>
                  <a:cubicBezTo>
                    <a:pt x="20712" y="821"/>
                    <a:pt x="20712" y="821"/>
                    <a:pt x="20712" y="821"/>
                  </a:cubicBezTo>
                  <a:lnTo>
                    <a:pt x="20712" y="659"/>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N" dirty="0">
                <a:solidFill>
                  <a:schemeClr val="tx1">
                    <a:alpha val="0"/>
                  </a:schemeClr>
                </a:solidFill>
              </a:endParaRPr>
            </a:p>
          </p:txBody>
        </p:sp>
      </p:grpSp>
      <p:sp>
        <p:nvSpPr>
          <p:cNvPr id="18" name="Text Placeholder 17"/>
          <p:cNvSpPr>
            <a:spLocks noGrp="1"/>
          </p:cNvSpPr>
          <p:nvPr>
            <p:ph type="body" sz="quarter" idx="16" hasCustomPrompt="1"/>
          </p:nvPr>
        </p:nvSpPr>
        <p:spPr>
          <a:xfrm>
            <a:off x="1752600" y="6529254"/>
            <a:ext cx="5867400" cy="187537"/>
          </a:xfrm>
        </p:spPr>
        <p:txBody>
          <a:bodyPr/>
          <a:lstStyle>
            <a:lvl1pPr marL="0" indent="0">
              <a:buNone/>
              <a:defRPr sz="1200" baseline="0"/>
            </a:lvl1pPr>
          </a:lstStyle>
          <a:p>
            <a:pPr lvl="0"/>
            <a:r>
              <a:rPr lang="en-US" dirty="0"/>
              <a:t>Click to add copyright line</a:t>
            </a:r>
            <a:endParaRPr lang="en-IN" dirty="0"/>
          </a:p>
        </p:txBody>
      </p:sp>
      <p:pic>
        <p:nvPicPr>
          <p:cNvPr id="15" name="Picture 14"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755" y="6211761"/>
            <a:ext cx="918000" cy="27991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1/21/2022</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a:lvl1pPr>
            <a:lvl2pPr>
              <a:buClr>
                <a:srgbClr val="007FA3"/>
              </a:buClr>
              <a:defRPr/>
            </a:lvl2pPr>
            <a:lvl3pPr>
              <a:buClr>
                <a:srgbClr val="007FA3"/>
              </a:buClr>
              <a:defRPr/>
            </a:lvl3pPr>
            <a:lvl4pPr>
              <a:buClr>
                <a:srgbClr val="007FA3"/>
              </a:buClr>
              <a:defRPr/>
            </a:lvl4pPr>
            <a:lvl5pPr>
              <a:buClr>
                <a:srgbClr val="007FA3"/>
              </a:buClr>
              <a:defRPr/>
            </a:lvl5pPr>
            <a:lvl6pPr>
              <a:buClr>
                <a:srgbClr val="007FA3"/>
              </a:buClr>
              <a:defRPr/>
            </a:lvl6pPr>
            <a:lvl7pPr>
              <a:buClr>
                <a:srgbClr val="007FA3"/>
              </a:buClr>
              <a:defRPr/>
            </a:lvl7pPr>
            <a:lvl8pPr>
              <a:buClr>
                <a:srgbClr val="007FA3"/>
              </a:buClr>
              <a:defRPr/>
            </a:lvl8pPr>
            <a:lvl9pPr>
              <a:buClr>
                <a:srgbClr val="007FA3"/>
              </a:buCl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1/21/2022</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1/21/2022</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1/21/2022</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93973402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118872" indent="-118872">
              <a:buClr>
                <a:srgbClr val="007FA3"/>
              </a:buClr>
              <a:buSzPct val="100000"/>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1/21/2022</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4"/>
          </p:nvPr>
        </p:nvSpPr>
        <p:spPr>
          <a:xfrm>
            <a:off x="468313" y="5013175"/>
            <a:ext cx="8280400" cy="1295549"/>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endParaRPr lang="en-IN" dirty="0"/>
          </a:p>
        </p:txBody>
      </p:sp>
    </p:spTree>
    <p:extLst>
      <p:ext uri="{BB962C8B-B14F-4D97-AF65-F5344CB8AC3E}">
        <p14:creationId xmlns:p14="http://schemas.microsoft.com/office/powerpoint/2010/main" val="3526922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4_Learning Objectives">
    <p:spTree>
      <p:nvGrpSpPr>
        <p:cNvPr id="1" name=""/>
        <p:cNvGrpSpPr/>
        <p:nvPr/>
      </p:nvGrpSpPr>
      <p:grpSpPr>
        <a:xfrm>
          <a:off x="0" y="0"/>
          <a:ext cx="0" cy="0"/>
          <a:chOff x="0" y="0"/>
          <a:chExt cx="0" cy="0"/>
        </a:xfrm>
      </p:grpSpPr>
      <p:sp>
        <p:nvSpPr>
          <p:cNvPr id="8" name="Title 7"/>
          <p:cNvSpPr>
            <a:spLocks noGrp="1"/>
          </p:cNvSpPr>
          <p:nvPr>
            <p:ph type="title"/>
          </p:nvPr>
        </p:nvSpPr>
        <p:spPr>
          <a:xfrm>
            <a:off x="457200" y="667529"/>
            <a:ext cx="8229600" cy="553998"/>
          </a:xfrm>
        </p:spPr>
        <p:txBody>
          <a:bodyPr>
            <a:noAutofit/>
          </a:bodyPr>
          <a:lstStyle>
            <a:lvl1pPr>
              <a:defRPr sz="3600">
                <a:latin typeface="+mj-lt"/>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a:xfrm>
            <a:off x="457200" y="1600201"/>
            <a:ext cx="8229600" cy="1540767"/>
          </a:xfrm>
        </p:spPr>
        <p:txBody>
          <a:bodyPr/>
          <a:lstStyle>
            <a:lvl1pPr marL="0" indent="0">
              <a:buClr>
                <a:srgbClr val="007FA3"/>
              </a:buClr>
              <a:buSzPct val="100000"/>
              <a:buNone/>
              <a:defRPr sz="2400"/>
            </a:lvl1pPr>
            <a:lvl2pPr marL="569913" indent="-285750">
              <a:buClr>
                <a:srgbClr val="007FA3"/>
              </a:buClr>
              <a:defRPr sz="2400"/>
            </a:lvl2pPr>
            <a:lvl3pPr>
              <a:buClr>
                <a:srgbClr val="007FA3"/>
              </a:buClr>
              <a:defRPr sz="2400"/>
            </a:lvl3pPr>
            <a:lvl4pPr>
              <a:buClr>
                <a:srgbClr val="007FA3"/>
              </a:buClr>
              <a:defRPr sz="2400"/>
            </a:lvl4pPr>
            <a:lvl5pPr>
              <a:buClr>
                <a:srgbClr val="007FA3"/>
              </a:buClr>
              <a:defRPr sz="2400"/>
            </a:lvl5pPr>
            <a:lvl6pPr>
              <a:buClr>
                <a:srgbClr val="007FA3"/>
              </a:buClr>
              <a:defRPr sz="2400"/>
            </a:lvl6pPr>
            <a:lvl7pPr>
              <a:buClr>
                <a:srgbClr val="007FA3"/>
              </a:buClr>
              <a:defRPr sz="2400"/>
            </a:lvl7pPr>
            <a:lvl8pPr>
              <a:buClr>
                <a:srgbClr val="007FA3"/>
              </a:buClr>
              <a:defRPr sz="2400"/>
            </a:lvl8pPr>
            <a:lvl9pPr>
              <a:buClr>
                <a:srgbClr val="007FA3"/>
              </a:buClr>
              <a:defRPr sz="2400"/>
            </a:lvl9pPr>
          </a:lstStyle>
          <a:p>
            <a:pPr lvl="0"/>
            <a:endParaRPr lang="en-US" dirty="0"/>
          </a:p>
        </p:txBody>
      </p:sp>
      <p:sp>
        <p:nvSpPr>
          <p:cNvPr id="10"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1/21/2022</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
        <p:nvSpPr>
          <p:cNvPr id="5" name="Content Placeholder 4"/>
          <p:cNvSpPr>
            <a:spLocks noGrp="1"/>
          </p:cNvSpPr>
          <p:nvPr>
            <p:ph sz="quarter" idx="13"/>
          </p:nvPr>
        </p:nvSpPr>
        <p:spPr>
          <a:xfrm>
            <a:off x="468313" y="3357289"/>
            <a:ext cx="8280400" cy="1439863"/>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
        <p:nvSpPr>
          <p:cNvPr id="9" name="Content Placeholder 8"/>
          <p:cNvSpPr>
            <a:spLocks noGrp="1"/>
          </p:cNvSpPr>
          <p:nvPr>
            <p:ph sz="quarter" idx="14"/>
          </p:nvPr>
        </p:nvSpPr>
        <p:spPr>
          <a:xfrm>
            <a:off x="468313" y="5013175"/>
            <a:ext cx="8280400" cy="1295549"/>
          </a:xfrm>
        </p:spPr>
        <p:txBody>
          <a:bodyPr/>
          <a:lstStyle>
            <a:lvl1pPr marL="0" indent="0">
              <a:buNone/>
              <a:defRPr sz="2400"/>
            </a:lvl1pPr>
            <a:lvl2pPr>
              <a:defRPr sz="2400"/>
            </a:lvl2pPr>
            <a:lvl3pPr>
              <a:defRPr sz="2400"/>
            </a:lvl3pPr>
            <a:lvl4pPr>
              <a:defRPr sz="2400"/>
            </a:lvl4pPr>
            <a:lvl5pPr>
              <a:defRPr sz="2400"/>
            </a:lvl5pPr>
          </a:lstStyle>
          <a:p>
            <a:pPr lvl="0"/>
            <a:endParaRPr lang="en-IN" dirty="0"/>
          </a:p>
        </p:txBody>
      </p:sp>
    </p:spTree>
    <p:extLst>
      <p:ext uri="{BB962C8B-B14F-4D97-AF65-F5344CB8AC3E}">
        <p14:creationId xmlns:p14="http://schemas.microsoft.com/office/powerpoint/2010/main" val="153862287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1/21/2022</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3" name="TextBox 12"/>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1/21/2022</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1/21/2022</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_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a:prstGeom prst="rect">
            <a:avLst/>
          </a:prstGeo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1/21/2022</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997400" y="6434394"/>
            <a:ext cx="918000" cy="279915"/>
          </a:xfrm>
          <a:prstGeom prst="rect">
            <a:avLst/>
          </a:prstGeom>
        </p:spPr>
      </p:pic>
      <p:sp>
        <p:nvSpPr>
          <p:cNvPr id="11" name="TextBox 10"/>
          <p:cNvSpPr txBox="1"/>
          <p:nvPr userDrawn="1"/>
        </p:nvSpPr>
        <p:spPr>
          <a:xfrm>
            <a:off x="95799" y="6438054"/>
            <a:ext cx="7162800" cy="276999"/>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b="0" dirty="0">
                <a:latin typeface="Verdana" panose="020B0604030504040204" pitchFamily="34" charset="0"/>
                <a:ea typeface="Verdana" panose="020B0604030504040204" pitchFamily="34" charset="0"/>
                <a:cs typeface="Verdana" panose="020B0604030504040204" pitchFamily="34" charset="0"/>
              </a:rPr>
              <a:t>Copyright © 2016, 2013, 2010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1/21/2022</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78379238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2_Figure + Caption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033AD-BE5C-406D-991C-6AC56003E70C}"/>
              </a:ext>
            </a:extLst>
          </p:cNvPr>
          <p:cNvSpPr>
            <a:spLocks noGrp="1"/>
          </p:cNvSpPr>
          <p:nvPr>
            <p:ph type="title" hasCustomPrompt="1"/>
          </p:nvPr>
        </p:nvSpPr>
        <p:spPr>
          <a:xfrm>
            <a:off x="457200" y="215372"/>
            <a:ext cx="4484688" cy="994304"/>
          </a:xfrm>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p:nvPr>
        </p:nvSpPr>
        <p:spPr>
          <a:xfrm>
            <a:off x="457200" y="1481138"/>
            <a:ext cx="4484688" cy="4408487"/>
          </a:xfrm>
        </p:spPr>
        <p:txBody>
          <a:bodyPr/>
          <a:lstStyle/>
          <a:p>
            <a:pPr lvl="0"/>
            <a:r>
              <a:rPr lang="en-US" dirty="0"/>
              <a:t>Edit Master text styles</a:t>
            </a:r>
          </a:p>
        </p:txBody>
      </p:sp>
      <p:sp>
        <p:nvSpPr>
          <p:cNvPr id="9" name="Picture Placeholder 8">
            <a:extLst>
              <a:ext uri="{FF2B5EF4-FFF2-40B4-BE49-F238E27FC236}">
                <a16:creationId xmlns:a16="http://schemas.microsoft.com/office/drawing/2014/main" id="{F95A3C12-C176-4C2E-9820-6A6035C43AF5}"/>
              </a:ext>
            </a:extLst>
          </p:cNvPr>
          <p:cNvSpPr>
            <a:spLocks noGrp="1"/>
          </p:cNvSpPr>
          <p:nvPr>
            <p:ph type="pic" sz="quarter" idx="14"/>
          </p:nvPr>
        </p:nvSpPr>
        <p:spPr>
          <a:xfrm>
            <a:off x="5192713" y="1481138"/>
            <a:ext cx="3592512" cy="3754437"/>
          </a:xfrm>
        </p:spPr>
        <p:txBody>
          <a:bodyPr/>
          <a:lstStyle/>
          <a:p>
            <a:endParaRPr lang="en-US"/>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5" name="Footer Placeholder 4">
            <a:extLst>
              <a:ext uri="{FF2B5EF4-FFF2-40B4-BE49-F238E27FC236}">
                <a16:creationId xmlns:a16="http://schemas.microsoft.com/office/drawing/2014/main" id="{A6FA6EBD-95B8-4957-AE05-FC01EF65059B}"/>
              </a:ext>
            </a:extLst>
          </p:cNvPr>
          <p:cNvSpPr>
            <a:spLocks noGrp="1"/>
          </p:cNvSpPr>
          <p:nvPr>
            <p:ph type="ftr" sz="quarter" idx="12"/>
          </p:nvPr>
        </p:nvSpPr>
        <p:spPr/>
        <p:txBody>
          <a:bodyPr/>
          <a:lstStyle/>
          <a:p>
            <a:endParaRPr lang="en-US" dirty="0"/>
          </a:p>
        </p:txBody>
      </p:sp>
      <p:sp>
        <p:nvSpPr>
          <p:cNvPr id="14" name="Content Placeholder 13"/>
          <p:cNvSpPr>
            <a:spLocks noGrp="1"/>
          </p:cNvSpPr>
          <p:nvPr>
            <p:ph sz="quarter" idx="16"/>
          </p:nvPr>
        </p:nvSpPr>
        <p:spPr>
          <a:xfrm>
            <a:off x="5192713" y="295275"/>
            <a:ext cx="3684587" cy="8302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8" name="Content Placeholder 7"/>
          <p:cNvSpPr>
            <a:spLocks noGrp="1"/>
          </p:cNvSpPr>
          <p:nvPr>
            <p:ph sz="quarter" idx="17"/>
          </p:nvPr>
        </p:nvSpPr>
        <p:spPr>
          <a:xfrm>
            <a:off x="5192713" y="5324475"/>
            <a:ext cx="3592512" cy="5651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275744597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userDrawn="1">
  <p:cSld name="3_Chapter Opener">
    <p:spTree>
      <p:nvGrpSpPr>
        <p:cNvPr id="1" name=""/>
        <p:cNvGrpSpPr/>
        <p:nvPr/>
      </p:nvGrpSpPr>
      <p:grpSpPr>
        <a:xfrm>
          <a:off x="0" y="0"/>
          <a:ext cx="0" cy="0"/>
          <a:chOff x="0" y="0"/>
          <a:chExt cx="0" cy="0"/>
        </a:xfrm>
      </p:grpSpPr>
      <p:sp>
        <p:nvSpPr>
          <p:cNvPr id="11" name="Title 10"/>
          <p:cNvSpPr>
            <a:spLocks noGrp="1"/>
          </p:cNvSpPr>
          <p:nvPr>
            <p:ph type="title"/>
          </p:nvPr>
        </p:nvSpPr>
        <p:spPr>
          <a:xfrm>
            <a:off x="457200" y="215372"/>
            <a:ext cx="8229600" cy="622828"/>
          </a:xfrm>
        </p:spPr>
        <p:txBody>
          <a:bodyPr anchor="t"/>
          <a:lstStyle>
            <a:lvl1pPr>
              <a:defRPr>
                <a:latin typeface="+mj-lt"/>
              </a:defRPr>
            </a:lvl1pPr>
          </a:lstStyle>
          <a:p>
            <a:r>
              <a:rPr lang="en-US" dirty="0"/>
              <a:t>Click to edit Master title style</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latin typeface="+mj-lt"/>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Add edition here</a:t>
            </a:r>
          </a:p>
        </p:txBody>
      </p:sp>
      <p:sp>
        <p:nvSpPr>
          <p:cNvPr id="9" name="Text Placeholder 8"/>
          <p:cNvSpPr>
            <a:spLocks noGrp="1"/>
          </p:cNvSpPr>
          <p:nvPr>
            <p:ph type="body" sz="quarter" idx="14"/>
          </p:nvPr>
        </p:nvSpPr>
        <p:spPr>
          <a:xfrm>
            <a:off x="5029200" y="1600201"/>
            <a:ext cx="3260725" cy="715961"/>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endParaRPr lang="en-US" dirty="0"/>
          </a:p>
        </p:txBody>
      </p:sp>
      <p:sp>
        <p:nvSpPr>
          <p:cNvPr id="10" name="Text Placeholder 8"/>
          <p:cNvSpPr>
            <a:spLocks noGrp="1"/>
          </p:cNvSpPr>
          <p:nvPr>
            <p:ph type="body" sz="quarter" idx="15"/>
          </p:nvPr>
        </p:nvSpPr>
        <p:spPr>
          <a:xfrm>
            <a:off x="4926651" y="2552700"/>
            <a:ext cx="3456774" cy="593724"/>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endParaRPr lang="en-US" dirty="0"/>
          </a:p>
        </p:txBody>
      </p:sp>
      <p:sp>
        <p:nvSpPr>
          <p:cNvPr id="8" name="Text Placeholder 22"/>
          <p:cNvSpPr>
            <a:spLocks noGrp="1"/>
          </p:cNvSpPr>
          <p:nvPr>
            <p:ph type="body" sz="quarter" idx="16" hasCustomPrompt="1"/>
          </p:nvPr>
        </p:nvSpPr>
        <p:spPr>
          <a:xfrm>
            <a:off x="2834640" y="6400800"/>
            <a:ext cx="6080760" cy="274320"/>
          </a:xfrm>
        </p:spPr>
        <p:txBody>
          <a:bodyPr anchor="ctr"/>
          <a:lstStyle>
            <a:lvl1pPr marL="0" indent="0">
              <a:spcBef>
                <a:spcPts val="0"/>
              </a:spcBef>
              <a:buFontTx/>
              <a:buNone/>
              <a:defRPr sz="1200">
                <a:latin typeface="Verdana" pitchFamily="34" charset="0"/>
                <a:ea typeface="Verdana" pitchFamily="34" charset="0"/>
                <a:cs typeface="Verdana" pitchFamily="34" charset="0"/>
              </a:defRPr>
            </a:lvl1pPr>
          </a:lstStyle>
          <a:p>
            <a:pPr lvl="0"/>
            <a:r>
              <a:rPr lang="en-US" dirty="0"/>
              <a:t>Copyright</a:t>
            </a:r>
          </a:p>
        </p:txBody>
      </p:sp>
      <p:sp>
        <p:nvSpPr>
          <p:cNvPr id="3" name="Picture Placeholder 2">
            <a:extLst>
              <a:ext uri="{FF2B5EF4-FFF2-40B4-BE49-F238E27FC236}">
                <a16:creationId xmlns:a16="http://schemas.microsoft.com/office/drawing/2014/main" id="{23FD2E48-136F-40C9-9ADA-7A7217D010A2}"/>
              </a:ext>
            </a:extLst>
          </p:cNvPr>
          <p:cNvSpPr>
            <a:spLocks noGrp="1"/>
          </p:cNvSpPr>
          <p:nvPr>
            <p:ph type="pic" sz="quarter" idx="17"/>
          </p:nvPr>
        </p:nvSpPr>
        <p:spPr>
          <a:xfrm>
            <a:off x="457200" y="6400800"/>
            <a:ext cx="1162050" cy="274638"/>
          </a:xfrm>
        </p:spPr>
        <p:txBody>
          <a:bodyPr/>
          <a:lstStyle/>
          <a:p>
            <a:endParaRPr lang="en-US"/>
          </a:p>
        </p:txBody>
      </p:sp>
      <p:sp>
        <p:nvSpPr>
          <p:cNvPr id="5" name="Picture Placeholder 4">
            <a:extLst>
              <a:ext uri="{FF2B5EF4-FFF2-40B4-BE49-F238E27FC236}">
                <a16:creationId xmlns:a16="http://schemas.microsoft.com/office/drawing/2014/main" id="{8AB0C605-5BFC-421D-BD7D-97B95EA6190A}"/>
              </a:ext>
            </a:extLst>
          </p:cNvPr>
          <p:cNvSpPr>
            <a:spLocks noGrp="1"/>
          </p:cNvSpPr>
          <p:nvPr>
            <p:ph type="pic" sz="quarter" idx="18"/>
          </p:nvPr>
        </p:nvSpPr>
        <p:spPr>
          <a:xfrm>
            <a:off x="584200" y="1685925"/>
            <a:ext cx="3260725" cy="4440238"/>
          </a:xfrm>
        </p:spPr>
        <p:txBody>
          <a:bodyPr/>
          <a:lstStyle/>
          <a:p>
            <a:endParaRPr lang="en-US"/>
          </a:p>
        </p:txBody>
      </p:sp>
    </p:spTree>
    <p:extLst>
      <p:ext uri="{BB962C8B-B14F-4D97-AF65-F5344CB8AC3E}">
        <p14:creationId xmlns:p14="http://schemas.microsoft.com/office/powerpoint/2010/main" val="1147930183"/>
      </p:ext>
    </p:extLst>
  </p:cSld>
  <p:clrMapOvr>
    <a:masterClrMapping/>
  </p:clrMapOvr>
  <p:hf sldNum="0" hdr="0" dt="0"/>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5282681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jp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27.xml"/><Relationship Id="rId2" Type="http://schemas.openxmlformats.org/officeDocument/2006/relationships/slideLayout" Target="../slideLayouts/slideLayout26.xml"/><Relationship Id="rId1" Type="http://schemas.openxmlformats.org/officeDocument/2006/relationships/slideLayout" Target="../slideLayouts/slideLayout25.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1/21/2022</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8" name="Picture Placeholder 29" descr="Pearson Logo">
            <a:extLst>
              <a:ext uri="{FF2B5EF4-FFF2-40B4-BE49-F238E27FC236}">
                <a16:creationId xmlns:a16="http://schemas.microsoft.com/office/drawing/2014/main" id="{5919F131-0489-4F11-8F1C-DF80805E1730}"/>
              </a:ext>
            </a:extLst>
          </p:cNvPr>
          <p:cNvPicPr>
            <a:picLocks noChangeAspect="1"/>
          </p:cNvPicPr>
          <p:nvPr userDrawn="1"/>
        </p:nvPicPr>
        <p:blipFill>
          <a:blip r:embed="rId26">
            <a:extLst>
              <a:ext uri="{28A0092B-C50C-407E-A947-70E740481C1C}">
                <a14:useLocalDpi xmlns:a14="http://schemas.microsoft.com/office/drawing/2010/main" val="0"/>
              </a:ext>
            </a:extLst>
          </a:blip>
          <a:stretch>
            <a:fillRect/>
          </a:stretch>
        </p:blipFill>
        <p:spPr>
          <a:xfrm>
            <a:off x="323528" y="6476400"/>
            <a:ext cx="1152144" cy="292608"/>
          </a:xfrm>
          <a:prstGeom prst="rect">
            <a:avLst/>
          </a:prstGeom>
        </p:spPr>
      </p:pic>
      <p:sp>
        <p:nvSpPr>
          <p:cNvPr id="10" name="Text Placeholder 6">
            <a:extLst>
              <a:ext uri="{FF2B5EF4-FFF2-40B4-BE49-F238E27FC236}">
                <a16:creationId xmlns:a16="http://schemas.microsoft.com/office/drawing/2014/main" id="{7195A9B4-803D-4D49-AA9F-0AD6E623873F}"/>
              </a:ext>
            </a:extLst>
          </p:cNvPr>
          <p:cNvSpPr txBox="1">
            <a:spLocks/>
          </p:cNvSpPr>
          <p:nvPr userDrawn="1"/>
        </p:nvSpPr>
        <p:spPr>
          <a:xfrm>
            <a:off x="2628000" y="6530400"/>
            <a:ext cx="6080760" cy="221018"/>
          </a:xfrm>
          <a:prstGeom prst="rect">
            <a:avLst/>
          </a:prstGeom>
        </p:spPr>
        <p:txBody>
          <a:bodyPr lIns="0" tIns="18000" rIns="0" bIns="18000">
            <a:spAutoFit/>
          </a:bodyPr>
          <a:lst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a:lstStyle>
          <a:p>
            <a:pPr marL="0" indent="0" algn="r">
              <a:buClrTx/>
              <a:buFont typeface="Arial" panose="020B0604020202020204" pitchFamily="34" charset="0"/>
              <a:buNone/>
              <a:defRPr/>
            </a:pPr>
            <a:r>
              <a:rPr lang="en-US" altLang="en-US" sz="1200" dirty="0">
                <a:latin typeface="Verdana"/>
                <a:ea typeface="Verdana" panose="020B0604030504040204" pitchFamily="34" charset="0"/>
                <a:cs typeface="Verdana" panose="020B0604030504040204" pitchFamily="34" charset="0"/>
              </a:rPr>
              <a:t>Copyright © 2020, 2017, 2015 Pearson Education, Inc. All Rights Reserved</a:t>
            </a:r>
            <a:endParaRPr lang="en-US" altLang="en-US" sz="1200" dirty="0">
              <a:latin typeface="Verdana" pitchFamily="34" charset="0"/>
              <a:ea typeface="Verdana" pitchFamily="34" charset="0"/>
              <a:cs typeface="Verdana" pitchFamily="34" charset="0"/>
            </a:endParaRPr>
          </a:p>
        </p:txBody>
      </p:sp>
    </p:spTree>
    <p:extLst>
      <p:ext uri="{BB962C8B-B14F-4D97-AF65-F5344CB8AC3E}">
        <p14:creationId xmlns:p14="http://schemas.microsoft.com/office/powerpoint/2010/main" val="284856715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82" r:id="rId6"/>
    <p:sldLayoutId id="2147483675" r:id="rId7"/>
    <p:sldLayoutId id="2147483667" r:id="rId8"/>
    <p:sldLayoutId id="2147483668" r:id="rId9"/>
    <p:sldLayoutId id="2147483669" r:id="rId10"/>
    <p:sldLayoutId id="2147483670" r:id="rId11"/>
    <p:sldLayoutId id="2147483671" r:id="rId12"/>
    <p:sldLayoutId id="2147483657" r:id="rId13"/>
    <p:sldLayoutId id="2147483656" r:id="rId14"/>
    <p:sldLayoutId id="2147483650" r:id="rId15"/>
    <p:sldLayoutId id="2147483659" r:id="rId16"/>
    <p:sldLayoutId id="2147483672" r:id="rId17"/>
    <p:sldLayoutId id="2147483673" r:id="rId18"/>
    <p:sldLayoutId id="2147483674" r:id="rId19"/>
    <p:sldLayoutId id="2147483658" r:id="rId20"/>
    <p:sldLayoutId id="2147483660" r:id="rId21"/>
    <p:sldLayoutId id="2147483654" r:id="rId22"/>
    <p:sldLayoutId id="2147483655" r:id="rId23"/>
    <p:sldLayoutId id="2147483681" r:id="rId24"/>
  </p:sldLayoutIdLst>
  <p:txStyles>
    <p:titleStyle>
      <a:lvl1pPr algn="l" defTabSz="914400" rtl="0" eaLnBrk="1" latinLnBrk="0" hangingPunct="1">
        <a:lnSpc>
          <a:spcPct val="100000"/>
        </a:lnSpc>
        <a:spcBef>
          <a:spcPct val="0"/>
        </a:spcBef>
        <a:buNone/>
        <a:defRPr sz="3400" b="1" kern="1200">
          <a:solidFill>
            <a:srgbClr val="007FA3"/>
          </a:solidFill>
          <a:latin typeface="Times New Roman" panose="02020603050405020304" pitchFamily="18" charset="0"/>
          <a:ea typeface="+mj-ea"/>
          <a:cs typeface="Times New Roman" panose="02020603050405020304" pitchFamily="18"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16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16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2" name="Footer Placeholder 1">
            <a:extLst>
              <a:ext uri="{FF2B5EF4-FFF2-40B4-BE49-F238E27FC236}">
                <a16:creationId xmlns:a16="http://schemas.microsoft.com/office/drawing/2014/main" id="{7B8A108E-B0AF-4869-B5B8-3D3BB7BC725E}"/>
              </a:ext>
            </a:extLst>
          </p:cNvPr>
          <p:cNvSpPr>
            <a:spLocks noGrp="1"/>
          </p:cNvSpPr>
          <p:nvPr>
            <p:ph type="ftr" sz="quarter" idx="3"/>
          </p:nvPr>
        </p:nvSpPr>
        <p:spPr>
          <a:xfrm>
            <a:off x="457200" y="6028611"/>
            <a:ext cx="8229600" cy="200549"/>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764169811"/>
      </p:ext>
    </p:extLst>
  </p:cSld>
  <p:clrMap bg1="lt1" tx1="dk1" bg2="dk2" tx2="lt2" accent1="accent1" accent2="accent2" accent3="accent3" accent4="accent4" accent5="accent5" accent6="accent6" hlink="hlink" folHlink="folHlink"/>
  <p:sldLayoutIdLst>
    <p:sldLayoutId id="2147483677" r:id="rId1"/>
    <p:sldLayoutId id="2147483680" r:id="rId2"/>
    <p:sldLayoutId id="2147483678" r:id="rId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2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6.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21.xml"/><Relationship Id="rId1" Type="http://schemas.openxmlformats.org/officeDocument/2006/relationships/slideLayout" Target="../slideLayouts/slideLayout6.xml"/><Relationship Id="rId4" Type="http://schemas.openxmlformats.org/officeDocument/2006/relationships/image" Target="../media/image13.jpg"/></Relationships>
</file>

<file path=ppt/slides/_rels/slide22.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22.xml"/><Relationship Id="rId1" Type="http://schemas.openxmlformats.org/officeDocument/2006/relationships/slideLayout" Target="../slideLayouts/slideLayout6.xml"/><Relationship Id="rId6" Type="http://schemas.openxmlformats.org/officeDocument/2006/relationships/image" Target="../media/image17.jpg"/><Relationship Id="rId5" Type="http://schemas.openxmlformats.org/officeDocument/2006/relationships/image" Target="../media/image16.jpg"/><Relationship Id="rId4" Type="http://schemas.openxmlformats.org/officeDocument/2006/relationships/image" Target="../media/image15.jp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5.xml"/><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74250" cy="590349"/>
          </a:xfrm>
        </p:spPr>
        <p:txBody>
          <a:bodyPr wrap="square" lIns="0" tIns="18000" rIns="0" bIns="18000">
            <a:spAutoFit/>
          </a:bodyPr>
          <a:lstStyle/>
          <a:p>
            <a:r>
              <a:rPr lang="en-US" sz="3600" dirty="0">
                <a:latin typeface="+mj-lt"/>
              </a:rPr>
              <a:t>Fundamentals of Management</a:t>
            </a:r>
            <a:endParaRPr lang="en-US" sz="2800" dirty="0"/>
          </a:p>
        </p:txBody>
      </p:sp>
      <p:sp>
        <p:nvSpPr>
          <p:cNvPr id="3" name="Text Placeholder 2"/>
          <p:cNvSpPr>
            <a:spLocks noGrp="1"/>
          </p:cNvSpPr>
          <p:nvPr>
            <p:ph type="body" sz="quarter" idx="13"/>
          </p:nvPr>
        </p:nvSpPr>
        <p:spPr>
          <a:xfrm>
            <a:off x="468000" y="1008979"/>
            <a:ext cx="8274250" cy="344128"/>
          </a:xfrm>
        </p:spPr>
        <p:txBody>
          <a:bodyPr wrap="square" lIns="0" tIns="18000" rIns="0" bIns="18000" anchor="ctr">
            <a:spAutoFit/>
          </a:bodyPr>
          <a:lstStyle/>
          <a:p>
            <a:r>
              <a:rPr lang="en-US" dirty="0">
                <a:latin typeface="Arial" panose="020B0604020202020204" pitchFamily="34" charset="0"/>
                <a:cs typeface="Arial" panose="020B0604020202020204" pitchFamily="34" charset="0"/>
              </a:rPr>
              <a:t>Eleventh Edition</a:t>
            </a:r>
          </a:p>
        </p:txBody>
      </p:sp>
      <p:pic>
        <p:nvPicPr>
          <p:cNvPr id="9" name="Picture Placeholder 8" descr="Front Cover: Fundamentals of Management Eleventh Edition by Robbins, Coulter and DeCenzo.">
            <a:extLst>
              <a:ext uri="{FF2B5EF4-FFF2-40B4-BE49-F238E27FC236}">
                <a16:creationId xmlns:a16="http://schemas.microsoft.com/office/drawing/2014/main" id="{AC243915-3F84-4C0C-BAAC-E22CD4EC1B80}"/>
              </a:ext>
            </a:extLst>
          </p:cNvPr>
          <p:cNvPicPr>
            <a:picLocks noGrp="1" noChangeAspect="1"/>
          </p:cNvPicPr>
          <p:nvPr>
            <p:ph type="pic" sz="quarter" idx="18"/>
          </p:nvPr>
        </p:nvPicPr>
        <p:blipFill>
          <a:blip r:embed="rId3">
            <a:extLst>
              <a:ext uri="{28A0092B-C50C-407E-A947-70E740481C1C}">
                <a14:useLocalDpi xmlns:a14="http://schemas.microsoft.com/office/drawing/2010/main" val="0"/>
              </a:ext>
            </a:extLst>
          </a:blip>
          <a:stretch>
            <a:fillRect/>
          </a:stretch>
        </p:blipFill>
        <p:spPr>
          <a:xfrm>
            <a:off x="467544" y="1569623"/>
            <a:ext cx="3709328" cy="4739697"/>
          </a:xfrm>
          <a:prstGeom prst="rect">
            <a:avLst/>
          </a:prstGeom>
        </p:spPr>
      </p:pic>
      <p:sp>
        <p:nvSpPr>
          <p:cNvPr id="4" name="Text Placeholder 3"/>
          <p:cNvSpPr>
            <a:spLocks noGrp="1"/>
          </p:cNvSpPr>
          <p:nvPr>
            <p:ph type="body" sz="quarter" idx="14"/>
          </p:nvPr>
        </p:nvSpPr>
        <p:spPr>
          <a:xfrm>
            <a:off x="4576812" y="2888099"/>
            <a:ext cx="4171901" cy="498016"/>
          </a:xfrm>
        </p:spPr>
        <p:txBody>
          <a:bodyPr wrap="square" lIns="0" tIns="18000" rIns="0" bIns="18000">
            <a:spAutoFit/>
          </a:bodyPr>
          <a:lstStyle/>
          <a:p>
            <a:r>
              <a:rPr lang="en-US" dirty="0"/>
              <a:t>Chapter 1</a:t>
            </a:r>
          </a:p>
        </p:txBody>
      </p:sp>
      <p:sp>
        <p:nvSpPr>
          <p:cNvPr id="5" name="Text Placeholder 4"/>
          <p:cNvSpPr>
            <a:spLocks noGrp="1"/>
          </p:cNvSpPr>
          <p:nvPr>
            <p:ph type="body" sz="quarter" idx="15"/>
          </p:nvPr>
        </p:nvSpPr>
        <p:spPr>
          <a:xfrm>
            <a:off x="4580142" y="3528119"/>
            <a:ext cx="4168571" cy="713460"/>
          </a:xfrm>
        </p:spPr>
        <p:txBody>
          <a:bodyPr wrap="square" lIns="0" tIns="18000" rIns="0" bIns="18000">
            <a:spAutoFit/>
          </a:bodyPr>
          <a:lstStyle/>
          <a:p>
            <a:r>
              <a:rPr lang="en-US" dirty="0">
                <a:ea typeface="Verdana" panose="020B0604030504040204" pitchFamily="34" charset="0"/>
                <a:cs typeface="Arial" panose="020B0604020202020204" pitchFamily="34" charset="0"/>
              </a:rPr>
              <a:t>Managers and Management in Today’s Workplace</a:t>
            </a:r>
            <a:endParaRPr lang="en-US" dirty="0"/>
          </a:p>
        </p:txBody>
      </p:sp>
      <p:pic>
        <p:nvPicPr>
          <p:cNvPr id="30" name="Picture Placeholder 29" descr="Pearson Logo">
            <a:extLst>
              <a:ext uri="{FF2B5EF4-FFF2-40B4-BE49-F238E27FC236}">
                <a16:creationId xmlns:a16="http://schemas.microsoft.com/office/drawing/2014/main" id="{55E920AB-A07A-4031-92B0-F06A28CEC914}"/>
              </a:ext>
            </a:extLst>
          </p:cNvPr>
          <p:cNvPicPr>
            <a:picLocks noGrp="1" noChangeAspect="1"/>
          </p:cNvPicPr>
          <p:nvPr>
            <p:ph type="pic" sz="quarter" idx="17"/>
          </p:nvPr>
        </p:nvPicPr>
        <p:blipFill>
          <a:blip r:embed="rId4">
            <a:extLst>
              <a:ext uri="{28A0092B-C50C-407E-A947-70E740481C1C}">
                <a14:useLocalDpi xmlns:a14="http://schemas.microsoft.com/office/drawing/2010/main" val="0"/>
              </a:ext>
            </a:extLst>
          </a:blip>
          <a:stretch>
            <a:fillRect/>
          </a:stretch>
        </p:blipFill>
        <p:spPr>
          <a:xfrm>
            <a:off x="323528" y="6476400"/>
            <a:ext cx="1152144" cy="292608"/>
          </a:xfrm>
          <a:prstGeom prst="rect">
            <a:avLst/>
          </a:prstGeom>
        </p:spPr>
      </p:pic>
      <p:sp>
        <p:nvSpPr>
          <p:cNvPr id="10" name="Text Placeholder 6">
            <a:extLst>
              <a:ext uri="{FF2B5EF4-FFF2-40B4-BE49-F238E27FC236}">
                <a16:creationId xmlns:a16="http://schemas.microsoft.com/office/drawing/2014/main" id="{0B04EFB7-542A-402D-936C-8831E4008A3B}"/>
              </a:ext>
            </a:extLst>
          </p:cNvPr>
          <p:cNvSpPr>
            <a:spLocks noGrp="1"/>
          </p:cNvSpPr>
          <p:nvPr>
            <p:ph type="body" sz="quarter" idx="4294967295"/>
          </p:nvPr>
        </p:nvSpPr>
        <p:spPr>
          <a:xfrm>
            <a:off x="2635250" y="6530975"/>
            <a:ext cx="6080125" cy="220663"/>
          </a:xfrm>
        </p:spPr>
        <p:txBody>
          <a:bodyPr lIns="0" tIns="18000" rIns="0" bIns="18000">
            <a:spAutoFit/>
          </a:bodyPr>
          <a:lstStyle/>
          <a:p>
            <a:pPr marL="0" indent="0" algn="r">
              <a:buClrTx/>
              <a:buNone/>
              <a:defRPr/>
            </a:pPr>
            <a:r>
              <a:rPr lang="en-US" altLang="en-US" sz="1200" dirty="0">
                <a:latin typeface="Verdana" pitchFamily="34" charset="0"/>
                <a:ea typeface="Verdana" pitchFamily="34" charset="0"/>
                <a:cs typeface="Verdana" pitchFamily="34" charset="0"/>
              </a:rPr>
              <a:t>Copyright © 2020, 2017, 2015 Pearson Education, Inc. All Rights Reserved</a:t>
            </a:r>
          </a:p>
        </p:txBody>
      </p:sp>
    </p:spTree>
    <p:extLst>
      <p:ext uri="{BB962C8B-B14F-4D97-AF65-F5344CB8AC3E}">
        <p14:creationId xmlns:p14="http://schemas.microsoft.com/office/powerpoint/2010/main" val="22586800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712" cy="590349"/>
          </a:xfrm>
        </p:spPr>
        <p:txBody>
          <a:bodyPr vert="horz" wrap="square" lIns="0" tIns="18000" rIns="0" bIns="18000" rtlCol="0" anchor="b">
            <a:spAutoFit/>
          </a:bodyPr>
          <a:lstStyle/>
          <a:p>
            <a:r>
              <a:rPr lang="en-US" sz="3600" dirty="0">
                <a:latin typeface="+mj-lt"/>
              </a:rPr>
              <a:t>Learning Objectives</a:t>
            </a:r>
            <a:endParaRPr lang="en-US" sz="2800" dirty="0">
              <a:latin typeface="+mj-lt"/>
            </a:endParaRPr>
          </a:p>
        </p:txBody>
      </p:sp>
      <p:sp>
        <p:nvSpPr>
          <p:cNvPr id="3" name="Content Placeholder 2"/>
          <p:cNvSpPr>
            <a:spLocks noGrp="1"/>
          </p:cNvSpPr>
          <p:nvPr>
            <p:ph idx="1"/>
          </p:nvPr>
        </p:nvSpPr>
        <p:spPr>
          <a:xfrm>
            <a:off x="468000" y="1274400"/>
            <a:ext cx="8280713" cy="4285789"/>
          </a:xfrm>
        </p:spPr>
        <p:txBody>
          <a:bodyPr wrap="square" tIns="18000" bIns="18000">
            <a:spAutoFit/>
          </a:bodyPr>
          <a:lstStyle/>
          <a:p>
            <a:pPr marL="720000" indent="-720000">
              <a:buClr>
                <a:schemeClr val="bg2"/>
              </a:buClr>
              <a:buSzPct val="100000"/>
              <a:buNone/>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1.1	</a:t>
            </a:r>
            <a:r>
              <a:rPr lang="en-US" altLang="en-US" sz="2400" dirty="0">
                <a:latin typeface="Arial" panose="020B0604020202020204" pitchFamily="34" charset="0"/>
                <a:ea typeface="ＭＳ Ｐゴシック" pitchFamily="34" charset="-128"/>
                <a:cs typeface="Arial" panose="020B0604020202020204" pitchFamily="34" charset="0"/>
              </a:rPr>
              <a:t>Tell</a:t>
            </a: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 </a:t>
            </a:r>
            <a:r>
              <a:rPr lang="en-US" altLang="en-US" sz="2400" dirty="0">
                <a:latin typeface="Arial" panose="020B0604020202020204" pitchFamily="34" charset="0"/>
                <a:ea typeface="ＭＳ Ｐゴシック" pitchFamily="34" charset="-128"/>
                <a:cs typeface="Arial" panose="020B0604020202020204" pitchFamily="34" charset="0"/>
              </a:rPr>
              <a:t>who managers are and where they work.</a:t>
            </a:r>
          </a:p>
          <a:p>
            <a:pPr marL="720000" indent="-720000">
              <a:buClr>
                <a:schemeClr val="bg2"/>
              </a:buClr>
              <a:buSzPct val="100000"/>
              <a:buNone/>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1.2	</a:t>
            </a:r>
            <a:r>
              <a:rPr lang="en-US" altLang="en-US" sz="2400" dirty="0">
                <a:latin typeface="Arial" panose="020B0604020202020204" pitchFamily="34" charset="0"/>
                <a:ea typeface="ＭＳ Ｐゴシック" pitchFamily="34" charset="-128"/>
                <a:cs typeface="Arial" panose="020B0604020202020204" pitchFamily="34" charset="0"/>
              </a:rPr>
              <a:t>Define</a:t>
            </a: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 </a:t>
            </a:r>
            <a:r>
              <a:rPr lang="en-US" altLang="en-US" sz="2400" i="1" dirty="0">
                <a:latin typeface="Arial" panose="020B0604020202020204" pitchFamily="34" charset="0"/>
                <a:ea typeface="ＭＳ Ｐゴシック" pitchFamily="34" charset="-128"/>
                <a:cs typeface="Arial" panose="020B0604020202020204" pitchFamily="34" charset="0"/>
              </a:rPr>
              <a:t>management</a:t>
            </a:r>
            <a:r>
              <a:rPr lang="en-US" altLang="en-US" sz="2400" dirty="0">
                <a:latin typeface="Arial" panose="020B0604020202020204" pitchFamily="34" charset="0"/>
                <a:ea typeface="ＭＳ Ｐゴシック" pitchFamily="34" charset="-128"/>
                <a:cs typeface="Arial" panose="020B0604020202020204" pitchFamily="34" charset="0"/>
              </a:rPr>
              <a:t>.</a:t>
            </a:r>
          </a:p>
          <a:p>
            <a:pPr marL="720000" indent="-720000">
              <a:buClr>
                <a:schemeClr val="bg2"/>
              </a:buClr>
              <a:buSzPct val="100000"/>
              <a:buNone/>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1.3	</a:t>
            </a:r>
            <a:r>
              <a:rPr lang="en-US" altLang="en-US" sz="2400" dirty="0">
                <a:latin typeface="Arial" panose="020B0604020202020204" pitchFamily="34" charset="0"/>
                <a:ea typeface="ＭＳ Ｐゴシック" pitchFamily="34" charset="-128"/>
                <a:cs typeface="Arial" panose="020B0604020202020204" pitchFamily="34" charset="0"/>
              </a:rPr>
              <a:t>Describe what managers do.</a:t>
            </a:r>
          </a:p>
          <a:p>
            <a:pPr marL="720000" indent="-720000">
              <a:buClr>
                <a:schemeClr val="bg2"/>
              </a:buClr>
              <a:buSzPct val="100000"/>
              <a:buNone/>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1.4	</a:t>
            </a:r>
            <a:r>
              <a:rPr lang="en-US" altLang="en-US" sz="2400" dirty="0">
                <a:latin typeface="Arial" panose="020B0604020202020204" pitchFamily="34" charset="0"/>
                <a:ea typeface="ＭＳ Ｐゴシック" pitchFamily="34" charset="-128"/>
                <a:cs typeface="Arial" panose="020B0604020202020204" pitchFamily="34" charset="0"/>
              </a:rPr>
              <a:t>Explain</a:t>
            </a: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 </a:t>
            </a:r>
            <a:r>
              <a:rPr lang="en-US" altLang="en-US" sz="2400" dirty="0">
                <a:latin typeface="Arial" panose="020B0604020202020204" pitchFamily="34" charset="0"/>
                <a:ea typeface="ＭＳ Ｐゴシック" pitchFamily="34" charset="-128"/>
                <a:cs typeface="Arial" panose="020B0604020202020204" pitchFamily="34" charset="0"/>
              </a:rPr>
              <a:t>why it’s important to study management.</a:t>
            </a:r>
          </a:p>
          <a:p>
            <a:pPr marL="720000" indent="-720000">
              <a:buClr>
                <a:schemeClr val="bg2"/>
              </a:buClr>
              <a:buSzPct val="100000"/>
              <a:buNone/>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1.5	</a:t>
            </a:r>
            <a:r>
              <a:rPr lang="en-US" altLang="en-US" sz="2400" dirty="0">
                <a:latin typeface="Arial" panose="020B0604020202020204" pitchFamily="34" charset="0"/>
                <a:ea typeface="ＭＳ Ｐゴシック" pitchFamily="34" charset="-128"/>
                <a:cs typeface="Arial" panose="020B0604020202020204" pitchFamily="34" charset="0"/>
              </a:rPr>
              <a:t>Describe</a:t>
            </a: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 </a:t>
            </a:r>
            <a:r>
              <a:rPr lang="en-US" altLang="en-US" sz="2400" dirty="0">
                <a:latin typeface="Arial" panose="020B0604020202020204" pitchFamily="34" charset="0"/>
                <a:ea typeface="ＭＳ Ｐゴシック" pitchFamily="34" charset="-128"/>
                <a:cs typeface="Arial" panose="020B0604020202020204" pitchFamily="34" charset="0"/>
              </a:rPr>
              <a:t>the factors that are reshaping and redefining management.</a:t>
            </a:r>
          </a:p>
          <a:p>
            <a:pPr marL="720000" indent="-720000">
              <a:buClr>
                <a:schemeClr val="bg2"/>
              </a:buClr>
              <a:buSzPct val="100000"/>
              <a:buNone/>
            </a:pP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1.6	</a:t>
            </a:r>
            <a:r>
              <a:rPr lang="en-US" altLang="en-US" sz="2400" dirty="0">
                <a:latin typeface="Arial" panose="020B0604020202020204" pitchFamily="34" charset="0"/>
                <a:ea typeface="ＭＳ Ｐゴシック" pitchFamily="34" charset="-128"/>
                <a:cs typeface="Arial" panose="020B0604020202020204" pitchFamily="34" charset="0"/>
              </a:rPr>
              <a:t>Describe</a:t>
            </a:r>
            <a:r>
              <a:rPr lang="en-US" altLang="en-US" sz="2400" b="1" dirty="0">
                <a:solidFill>
                  <a:srgbClr val="007FA3"/>
                </a:solidFill>
                <a:latin typeface="Arial" panose="020B0604020202020204" pitchFamily="34" charset="0"/>
                <a:ea typeface="ＭＳ Ｐゴシック" pitchFamily="34" charset="-128"/>
                <a:cs typeface="Arial" panose="020B0604020202020204" pitchFamily="34" charset="0"/>
              </a:rPr>
              <a:t> </a:t>
            </a:r>
            <a:r>
              <a:rPr lang="en-US" altLang="en-US" sz="2400" dirty="0">
                <a:latin typeface="Arial" panose="020B0604020202020204" pitchFamily="34" charset="0"/>
                <a:ea typeface="ＭＳ Ｐゴシック" pitchFamily="34" charset="-128"/>
                <a:cs typeface="Arial" panose="020B0604020202020204" pitchFamily="34" charset="0"/>
              </a:rPr>
              <a:t>the key employability skills gained from studying management that are applicable to your future career, regardless of your major.</a:t>
            </a:r>
          </a:p>
        </p:txBody>
      </p:sp>
    </p:spTree>
    <p:extLst>
      <p:ext uri="{BB962C8B-B14F-4D97-AF65-F5344CB8AC3E}">
        <p14:creationId xmlns:p14="http://schemas.microsoft.com/office/powerpoint/2010/main" val="3925979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Learning Objective 1.1</a:t>
            </a:r>
            <a:endParaRPr lang="en-IN" sz="2800" dirty="0">
              <a:latin typeface="+mj-lt"/>
            </a:endParaRPr>
          </a:p>
        </p:txBody>
      </p:sp>
      <p:sp>
        <p:nvSpPr>
          <p:cNvPr id="3" name="Content Placeholder 2"/>
          <p:cNvSpPr>
            <a:spLocks noGrp="1"/>
          </p:cNvSpPr>
          <p:nvPr>
            <p:ph idx="1"/>
          </p:nvPr>
        </p:nvSpPr>
        <p:spPr>
          <a:xfrm>
            <a:off x="468000" y="1274400"/>
            <a:ext cx="8280712" cy="405683"/>
          </a:xfrm>
        </p:spPr>
        <p:txBody>
          <a:bodyPr wrap="square" tIns="18000" bIns="18000">
            <a:spAutoFit/>
          </a:bodyPr>
          <a:lstStyle/>
          <a:p>
            <a:pPr marL="0" indent="0">
              <a:buClr>
                <a:schemeClr val="bg2"/>
              </a:buClr>
              <a:buSzPct val="100000"/>
              <a:buNone/>
            </a:pPr>
            <a:r>
              <a:rPr lang="en-US" altLang="en-US" sz="2400" dirty="0">
                <a:latin typeface="Arial" panose="020B0604020202020204" pitchFamily="34" charset="0"/>
                <a:cs typeface="Arial" panose="020B0604020202020204" pitchFamily="34" charset="0"/>
              </a:rPr>
              <a:t>Tell who managers are and where they work.</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941927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712" cy="1144347"/>
          </a:xfrm>
        </p:spPr>
        <p:txBody>
          <a:bodyPr vert="horz" wrap="square" lIns="0" tIns="18000" rIns="0" bIns="18000" rtlCol="0" anchor="b">
            <a:spAutoFit/>
          </a:bodyPr>
          <a:lstStyle/>
          <a:p>
            <a:r>
              <a:rPr lang="en-US" sz="3600" dirty="0">
                <a:latin typeface="+mj-lt"/>
              </a:rPr>
              <a:t>Who Are Managers? Where Do They Work?</a:t>
            </a:r>
            <a:endParaRPr lang="en-US" sz="2800" dirty="0">
              <a:latin typeface="+mj-lt"/>
            </a:endParaRPr>
          </a:p>
        </p:txBody>
      </p:sp>
      <p:sp>
        <p:nvSpPr>
          <p:cNvPr id="3" name="Content Placeholder 2"/>
          <p:cNvSpPr>
            <a:spLocks noGrp="1"/>
          </p:cNvSpPr>
          <p:nvPr>
            <p:ph idx="1"/>
          </p:nvPr>
        </p:nvSpPr>
        <p:spPr>
          <a:xfrm>
            <a:off x="467999" y="1600200"/>
            <a:ext cx="8280713" cy="1336708"/>
          </a:xfrm>
        </p:spPr>
        <p:txBody>
          <a:bodyPr wrap="square" tIns="18000" bIns="18000">
            <a:spAutoFit/>
          </a:bodyPr>
          <a:lstStyle/>
          <a:p>
            <a:pPr marL="0" indent="0">
              <a:buSzPct val="100000"/>
              <a:buNone/>
            </a:pPr>
            <a:r>
              <a:rPr lang="en-US" altLang="en-US" sz="2400" b="1" dirty="0">
                <a:latin typeface="Arial" panose="020B0604020202020204" pitchFamily="34" charset="0"/>
                <a:ea typeface="ＭＳ Ｐゴシック" pitchFamily="34" charset="-128"/>
                <a:cs typeface="Arial" panose="020B0604020202020204" pitchFamily="34" charset="0"/>
              </a:rPr>
              <a:t>Organization</a:t>
            </a:r>
          </a:p>
          <a:p>
            <a:pPr marL="266400" indent="-266400">
              <a:buSzPct val="100000"/>
            </a:pPr>
            <a:r>
              <a:rPr lang="en-US" altLang="en-US" sz="2400" dirty="0">
                <a:latin typeface="Arial" panose="020B0604020202020204" pitchFamily="34" charset="0"/>
                <a:ea typeface="ＭＳ Ｐゴシック" pitchFamily="34" charset="-128"/>
                <a:cs typeface="Arial" panose="020B0604020202020204" pitchFamily="34" charset="0"/>
              </a:rPr>
              <a:t>A deliberate collection of people brought together to accomplish some specific purpose</a:t>
            </a:r>
          </a:p>
        </p:txBody>
      </p:sp>
      <p:sp>
        <p:nvSpPr>
          <p:cNvPr id="4" name="Content Placeholder 3"/>
          <p:cNvSpPr>
            <a:spLocks noGrp="1"/>
          </p:cNvSpPr>
          <p:nvPr>
            <p:ph idx="13"/>
          </p:nvPr>
        </p:nvSpPr>
        <p:spPr>
          <a:xfrm>
            <a:off x="467999" y="3054706"/>
            <a:ext cx="8280713" cy="2090760"/>
          </a:xfrm>
        </p:spPr>
        <p:txBody>
          <a:bodyPr tIns="18000" bIns="18000">
            <a:spAutoFit/>
          </a:bodyPr>
          <a:lstStyle/>
          <a:p>
            <a:pPr marL="0" indent="0">
              <a:buNone/>
            </a:pPr>
            <a:r>
              <a:rPr lang="en-US" sz="2400" b="1" dirty="0">
                <a:latin typeface="Arial" panose="020B0604020202020204" pitchFamily="34" charset="0"/>
                <a:cs typeface="Arial" panose="020B0604020202020204" pitchFamily="34" charset="0"/>
              </a:rPr>
              <a:t>Common Characteristics of Organizations</a:t>
            </a:r>
          </a:p>
          <a:p>
            <a:pPr marL="266400" indent="-266400"/>
            <a:r>
              <a:rPr lang="en-US" sz="2400" dirty="0">
                <a:latin typeface="Arial" panose="020B0604020202020204" pitchFamily="34" charset="0"/>
                <a:cs typeface="Arial" panose="020B0604020202020204" pitchFamily="34" charset="0"/>
              </a:rPr>
              <a:t>Goals</a:t>
            </a:r>
          </a:p>
          <a:p>
            <a:pPr marL="266400" indent="-266400"/>
            <a:r>
              <a:rPr lang="en-US" sz="2400" dirty="0">
                <a:latin typeface="Arial" panose="020B0604020202020204" pitchFamily="34" charset="0"/>
                <a:cs typeface="Arial" panose="020B0604020202020204" pitchFamily="34" charset="0"/>
              </a:rPr>
              <a:t>People </a:t>
            </a:r>
          </a:p>
          <a:p>
            <a:pPr marL="266400" indent="-266400"/>
            <a:r>
              <a:rPr lang="en-US" sz="2400" dirty="0">
                <a:latin typeface="Arial" panose="020B0604020202020204" pitchFamily="34" charset="0"/>
                <a:cs typeface="Arial" panose="020B0604020202020204" pitchFamily="34" charset="0"/>
              </a:rPr>
              <a:t>Structure </a:t>
            </a:r>
          </a:p>
        </p:txBody>
      </p:sp>
    </p:spTree>
    <p:extLst>
      <p:ext uri="{BB962C8B-B14F-4D97-AF65-F5344CB8AC3E}">
        <p14:creationId xmlns:p14="http://schemas.microsoft.com/office/powerpoint/2010/main" val="20209922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vert="horz" wrap="square" lIns="0" tIns="18000" rIns="0" bIns="18000" rtlCol="0" anchor="b">
            <a:spAutoFit/>
          </a:bodyPr>
          <a:lstStyle/>
          <a:p>
            <a:r>
              <a:rPr lang="en-US" sz="3600" dirty="0">
                <a:latin typeface="+mj-lt"/>
              </a:rPr>
              <a:t>What Three Characteristics Do All Organizations Share?</a:t>
            </a:r>
            <a:endParaRPr lang="en-US" sz="2800" dirty="0">
              <a:latin typeface="+mj-lt"/>
            </a:endParaRPr>
          </a:p>
        </p:txBody>
      </p:sp>
      <p:sp>
        <p:nvSpPr>
          <p:cNvPr id="3" name="Content Placeholder 2">
            <a:extLst>
              <a:ext uri="{FF2B5EF4-FFF2-40B4-BE49-F238E27FC236}">
                <a16:creationId xmlns:a16="http://schemas.microsoft.com/office/drawing/2014/main" id="{A514C57A-2F5A-4627-A000-B2F31FAFD608}"/>
              </a:ext>
            </a:extLst>
          </p:cNvPr>
          <p:cNvSpPr>
            <a:spLocks noGrp="1"/>
          </p:cNvSpPr>
          <p:nvPr>
            <p:ph sz="quarter" idx="13"/>
          </p:nvPr>
        </p:nvSpPr>
        <p:spPr>
          <a:xfrm>
            <a:off x="468000" y="1602000"/>
            <a:ext cx="8280712" cy="282573"/>
          </a:xfrm>
        </p:spPr>
        <p:txBody>
          <a:bodyPr wrap="square" tIns="18000" bIns="18000">
            <a:spAutoFit/>
          </a:bodyPr>
          <a:lstStyle/>
          <a:p>
            <a:pPr marL="0" indent="0">
              <a:buNone/>
            </a:pPr>
            <a:r>
              <a:rPr lang="en-US" altLang="en-US" sz="1600" b="1" dirty="0">
                <a:latin typeface="Arial" panose="020B0604020202020204" pitchFamily="34" charset="0"/>
                <a:cs typeface="Arial" panose="020B0604020202020204" pitchFamily="34" charset="0"/>
              </a:rPr>
              <a:t>Exhibit 1.1 </a:t>
            </a:r>
            <a:r>
              <a:rPr lang="en-US" altLang="en-US" sz="1600" dirty="0">
                <a:latin typeface="Arial" panose="020B0604020202020204" pitchFamily="34" charset="0"/>
                <a:cs typeface="Arial" panose="020B0604020202020204" pitchFamily="34" charset="0"/>
              </a:rPr>
              <a:t>Three Characteristics of Organizations</a:t>
            </a:r>
            <a:endParaRPr lang="en-US" dirty="0">
              <a:latin typeface="Arial" panose="020B0604020202020204" pitchFamily="34" charset="0"/>
              <a:cs typeface="Arial" panose="020B0604020202020204" pitchFamily="34" charset="0"/>
            </a:endParaRPr>
          </a:p>
        </p:txBody>
      </p:sp>
      <p:pic>
        <p:nvPicPr>
          <p:cNvPr id="26" name="Picture Placeholder 25" descr="An illustration shows three characteristics of an organization, as follows. Goals: An arrow goes from point A to point B. People: Silhouettes of people in business suits and briefcases. Structure: An organization chart.">
            <a:extLst>
              <a:ext uri="{FF2B5EF4-FFF2-40B4-BE49-F238E27FC236}">
                <a16:creationId xmlns:a16="http://schemas.microsoft.com/office/drawing/2014/main" id="{32196825-921F-4CC7-9E94-92CDE8E8C644}"/>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683048" y="2312551"/>
            <a:ext cx="7886700" cy="2400300"/>
          </a:xfrm>
          <a:prstGeom prst="rect">
            <a:avLst/>
          </a:prstGeom>
        </p:spPr>
      </p:pic>
    </p:spTree>
    <p:extLst>
      <p:ext uri="{BB962C8B-B14F-4D97-AF65-F5344CB8AC3E}">
        <p14:creationId xmlns:p14="http://schemas.microsoft.com/office/powerpoint/2010/main" val="3384477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712" cy="1144347"/>
          </a:xfrm>
        </p:spPr>
        <p:txBody>
          <a:bodyPr vert="horz" wrap="square" lIns="0" tIns="18000" rIns="0" bIns="18000" rtlCol="0" anchor="b">
            <a:spAutoFit/>
          </a:bodyPr>
          <a:lstStyle/>
          <a:p>
            <a:r>
              <a:rPr lang="en-US" sz="3600" dirty="0">
                <a:latin typeface="+mj-lt"/>
              </a:rPr>
              <a:t>How Are Managers Different from Nonmanagerial Employees?</a:t>
            </a:r>
            <a:endParaRPr lang="en-US" sz="2800" dirty="0">
              <a:latin typeface="+mj-lt"/>
            </a:endParaRPr>
          </a:p>
        </p:txBody>
      </p:sp>
      <p:sp>
        <p:nvSpPr>
          <p:cNvPr id="3" name="Content Placeholder 2"/>
          <p:cNvSpPr>
            <a:spLocks noGrp="1"/>
          </p:cNvSpPr>
          <p:nvPr>
            <p:ph idx="1"/>
          </p:nvPr>
        </p:nvSpPr>
        <p:spPr>
          <a:xfrm>
            <a:off x="467999" y="1602000"/>
            <a:ext cx="8280713" cy="1529068"/>
          </a:xfrm>
        </p:spPr>
        <p:txBody>
          <a:bodyPr wrap="square" tIns="18000" bIns="18000">
            <a:spAutoFit/>
          </a:bodyPr>
          <a:lstStyle/>
          <a:p>
            <a:pPr marL="0" indent="0">
              <a:buSzPct val="100000"/>
              <a:buNone/>
            </a:pPr>
            <a:r>
              <a:rPr lang="en-US" altLang="en-US" sz="2400" b="1" dirty="0">
                <a:latin typeface="Arial" panose="020B0604020202020204" pitchFamily="34" charset="0"/>
                <a:ea typeface="ＭＳ Ｐゴシック" pitchFamily="34" charset="-128"/>
                <a:cs typeface="Arial" panose="020B0604020202020204" pitchFamily="34" charset="0"/>
              </a:rPr>
              <a:t>Nonmanagerial Employees </a:t>
            </a:r>
          </a:p>
          <a:p>
            <a:pPr marL="266400" indent="-266400">
              <a:buSzPct val="100000"/>
            </a:pPr>
            <a:r>
              <a:rPr lang="en-US" altLang="en-US" sz="2400" dirty="0">
                <a:latin typeface="Arial" panose="020B0604020202020204" pitchFamily="34" charset="0"/>
                <a:ea typeface="ＭＳ Ｐゴシック" pitchFamily="34" charset="-128"/>
                <a:cs typeface="Arial" panose="020B0604020202020204" pitchFamily="34" charset="0"/>
              </a:rPr>
              <a:t>Work directly on tasks</a:t>
            </a:r>
          </a:p>
          <a:p>
            <a:pPr marL="266400" indent="-266400">
              <a:buSzPct val="100000"/>
            </a:pPr>
            <a:r>
              <a:rPr lang="en-US" altLang="en-US" sz="2400" dirty="0">
                <a:latin typeface="Arial" panose="020B0604020202020204" pitchFamily="34" charset="0"/>
                <a:ea typeface="ＭＳ Ｐゴシック" pitchFamily="34" charset="-128"/>
                <a:cs typeface="Arial" panose="020B0604020202020204" pitchFamily="34" charset="0"/>
              </a:rPr>
              <a:t>Not responsible for overseeing others’ work </a:t>
            </a:r>
          </a:p>
        </p:txBody>
      </p:sp>
      <p:sp>
        <p:nvSpPr>
          <p:cNvPr id="4" name="Content Placeholder 3"/>
          <p:cNvSpPr>
            <a:spLocks noGrp="1"/>
          </p:cNvSpPr>
          <p:nvPr>
            <p:ph idx="13"/>
          </p:nvPr>
        </p:nvSpPr>
        <p:spPr>
          <a:xfrm>
            <a:off x="468000" y="3313857"/>
            <a:ext cx="8280712" cy="1529068"/>
          </a:xfrm>
        </p:spPr>
        <p:txBody>
          <a:bodyPr tIns="18000" bIns="18000">
            <a:spAutoFit/>
          </a:bodyPr>
          <a:lstStyle/>
          <a:p>
            <a:pPr marL="0" indent="0">
              <a:buNone/>
            </a:pPr>
            <a:r>
              <a:rPr lang="en-US" sz="2400" b="1" dirty="0">
                <a:latin typeface="Arial" panose="020B0604020202020204" pitchFamily="34" charset="0"/>
                <a:cs typeface="Arial" panose="020B0604020202020204" pitchFamily="34" charset="0"/>
              </a:rPr>
              <a:t>Managers </a:t>
            </a:r>
          </a:p>
          <a:p>
            <a:pPr marL="266400" indent="-266400"/>
            <a:r>
              <a:rPr lang="en-US" sz="2400" dirty="0">
                <a:latin typeface="Arial" panose="020B0604020202020204" pitchFamily="34" charset="0"/>
                <a:cs typeface="Arial" panose="020B0604020202020204" pitchFamily="34" charset="0"/>
              </a:rPr>
              <a:t>Direct and oversee the activities of others</a:t>
            </a:r>
          </a:p>
          <a:p>
            <a:pPr marL="266400" indent="-266400"/>
            <a:r>
              <a:rPr lang="en-US" sz="2400" dirty="0">
                <a:latin typeface="Arial" panose="020B0604020202020204" pitchFamily="34" charset="0"/>
                <a:cs typeface="Arial" panose="020B0604020202020204" pitchFamily="34" charset="0"/>
              </a:rPr>
              <a:t>May have work duties not related to overseeing others</a:t>
            </a:r>
          </a:p>
        </p:txBody>
      </p:sp>
    </p:spTree>
    <p:extLst>
      <p:ext uri="{BB962C8B-B14F-4D97-AF65-F5344CB8AC3E}">
        <p14:creationId xmlns:p14="http://schemas.microsoft.com/office/powerpoint/2010/main" val="32880524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What Titles Do Managers Have? </a:t>
            </a:r>
            <a:r>
              <a:rPr lang="en-US" sz="2800" dirty="0">
                <a:latin typeface="+mj-lt"/>
              </a:rPr>
              <a:t>(1 of 2)</a:t>
            </a:r>
          </a:p>
        </p:txBody>
      </p:sp>
      <p:sp>
        <p:nvSpPr>
          <p:cNvPr id="3" name="Content Placeholder 2">
            <a:extLst>
              <a:ext uri="{FF2B5EF4-FFF2-40B4-BE49-F238E27FC236}">
                <a16:creationId xmlns:a16="http://schemas.microsoft.com/office/drawing/2014/main" id="{A514C57A-2F5A-4627-A000-B2F31FAFD608}"/>
              </a:ext>
            </a:extLst>
          </p:cNvPr>
          <p:cNvSpPr>
            <a:spLocks noGrp="1"/>
          </p:cNvSpPr>
          <p:nvPr>
            <p:ph sz="quarter" idx="13"/>
          </p:nvPr>
        </p:nvSpPr>
        <p:spPr>
          <a:xfrm>
            <a:off x="468000" y="1274400"/>
            <a:ext cx="8280712" cy="282573"/>
          </a:xfrm>
        </p:spPr>
        <p:txBody>
          <a:bodyPr wrap="square" tIns="18000" bIns="18000">
            <a:spAutoFit/>
          </a:bodyPr>
          <a:lstStyle/>
          <a:p>
            <a:pPr marL="0" indent="0">
              <a:buNone/>
            </a:pPr>
            <a:r>
              <a:rPr lang="en-US" altLang="en-US" sz="1600" b="1" dirty="0">
                <a:latin typeface="Arial" panose="020B0604020202020204" pitchFamily="34" charset="0"/>
                <a:cs typeface="Arial" panose="020B0604020202020204" pitchFamily="34" charset="0"/>
              </a:rPr>
              <a:t>Exhibit 1.2 </a:t>
            </a:r>
            <a:r>
              <a:rPr lang="en-US" sz="1600" dirty="0">
                <a:latin typeface="Arial" panose="020B0604020202020204" pitchFamily="34" charset="0"/>
                <a:cs typeface="Arial" panose="020B0604020202020204" pitchFamily="34" charset="0"/>
              </a:rPr>
              <a:t>Management Levels</a:t>
            </a:r>
            <a:endParaRPr lang="en-US" dirty="0">
              <a:latin typeface="Arial" panose="020B0604020202020204" pitchFamily="34" charset="0"/>
              <a:cs typeface="Arial" panose="020B0604020202020204" pitchFamily="34" charset="0"/>
            </a:endParaRPr>
          </a:p>
        </p:txBody>
      </p:sp>
      <p:pic>
        <p:nvPicPr>
          <p:cNvPr id="7" name="Picture Placeholder 6" descr="An illustration of a pyramid shows the following four levels of management from bottom to top: Team leaders, first-line managers, middle managers, and top managers.">
            <a:extLst>
              <a:ext uri="{FF2B5EF4-FFF2-40B4-BE49-F238E27FC236}">
                <a16:creationId xmlns:a16="http://schemas.microsoft.com/office/drawing/2014/main" id="{1100DF06-93A1-4697-B0B7-E50A45BC120A}"/>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043648" y="1916832"/>
            <a:ext cx="5120640" cy="4340352"/>
          </a:xfrm>
          <a:prstGeom prst="rect">
            <a:avLst/>
          </a:prstGeom>
        </p:spPr>
      </p:pic>
    </p:spTree>
    <p:extLst>
      <p:ext uri="{BB962C8B-B14F-4D97-AF65-F5344CB8AC3E}">
        <p14:creationId xmlns:p14="http://schemas.microsoft.com/office/powerpoint/2010/main" val="49613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75938" cy="590349"/>
          </a:xfrm>
        </p:spPr>
        <p:txBody>
          <a:bodyPr vert="horz" wrap="square" lIns="0" tIns="18000" rIns="0" bIns="18000" rtlCol="0" anchor="b">
            <a:spAutoFit/>
          </a:bodyPr>
          <a:lstStyle/>
          <a:p>
            <a:r>
              <a:rPr lang="en-US" sz="3600" dirty="0">
                <a:latin typeface="+mj-lt"/>
              </a:rPr>
              <a:t>What Titles Do Managers Have? </a:t>
            </a:r>
            <a:r>
              <a:rPr lang="en-US" sz="2800" dirty="0">
                <a:latin typeface="+mj-lt"/>
              </a:rPr>
              <a:t>(2 of 2)</a:t>
            </a:r>
          </a:p>
        </p:txBody>
      </p:sp>
      <p:sp>
        <p:nvSpPr>
          <p:cNvPr id="3" name="Content Placeholder 2"/>
          <p:cNvSpPr>
            <a:spLocks noGrp="1"/>
          </p:cNvSpPr>
          <p:nvPr>
            <p:ph idx="1"/>
          </p:nvPr>
        </p:nvSpPr>
        <p:spPr>
          <a:xfrm>
            <a:off x="468000" y="1274400"/>
            <a:ext cx="8275938" cy="967376"/>
          </a:xfrm>
        </p:spPr>
        <p:txBody>
          <a:bodyPr wrap="square" tIns="18000" bIns="18000">
            <a:spAutoFit/>
          </a:bodyPr>
          <a:lstStyle/>
          <a:p>
            <a:pPr marL="266700" indent="-266700">
              <a:buSzPct val="100000"/>
            </a:pPr>
            <a:r>
              <a:rPr lang="en-US" altLang="en-US" sz="2400" b="1" dirty="0">
                <a:latin typeface="Arial" panose="020B0604020202020204" pitchFamily="34" charset="0"/>
                <a:ea typeface="ＭＳ Ｐゴシック" pitchFamily="34" charset="-128"/>
                <a:cs typeface="Arial" panose="020B0604020202020204" pitchFamily="34" charset="0"/>
              </a:rPr>
              <a:t>Top Managers</a:t>
            </a:r>
          </a:p>
          <a:p>
            <a:pPr marL="266700" indent="-266700">
              <a:buSzPct val="100000"/>
            </a:pPr>
            <a:r>
              <a:rPr lang="en-US" altLang="en-US" sz="2400" dirty="0">
                <a:latin typeface="Arial" panose="020B0604020202020204" pitchFamily="34" charset="0"/>
                <a:ea typeface="ＭＳ Ｐゴシック" pitchFamily="34" charset="-128"/>
                <a:cs typeface="Arial" panose="020B0604020202020204" pitchFamily="34" charset="0"/>
              </a:rPr>
              <a:t>Make decisions about the direction of an organization</a:t>
            </a:r>
          </a:p>
        </p:txBody>
      </p:sp>
      <p:sp>
        <p:nvSpPr>
          <p:cNvPr id="4" name="Content Placeholder 3"/>
          <p:cNvSpPr>
            <a:spLocks noGrp="1"/>
          </p:cNvSpPr>
          <p:nvPr>
            <p:ph sz="quarter" idx="13"/>
          </p:nvPr>
        </p:nvSpPr>
        <p:spPr>
          <a:xfrm>
            <a:off x="468313" y="2348880"/>
            <a:ext cx="8275625" cy="967376"/>
          </a:xfrm>
        </p:spPr>
        <p:txBody>
          <a:bodyPr tIns="18000" bIns="18000">
            <a:spAutoFit/>
          </a:bodyPr>
          <a:lstStyle/>
          <a:p>
            <a:pPr marL="0" indent="0">
              <a:buNone/>
            </a:pPr>
            <a:r>
              <a:rPr lang="en-US" sz="2400" b="1" dirty="0">
                <a:latin typeface="Arial" panose="020B0604020202020204" pitchFamily="34" charset="0"/>
                <a:cs typeface="Arial" panose="020B0604020202020204" pitchFamily="34" charset="0"/>
              </a:rPr>
              <a:t>Middle Managers </a:t>
            </a:r>
          </a:p>
          <a:p>
            <a:pPr marL="266400" indent="-266400"/>
            <a:r>
              <a:rPr lang="en-US" sz="2400" dirty="0">
                <a:latin typeface="Arial" panose="020B0604020202020204" pitchFamily="34" charset="0"/>
                <a:cs typeface="Arial" panose="020B0604020202020204" pitchFamily="34" charset="0"/>
              </a:rPr>
              <a:t>Manage other managers </a:t>
            </a:r>
          </a:p>
        </p:txBody>
      </p:sp>
      <p:sp>
        <p:nvSpPr>
          <p:cNvPr id="5" name="Content Placeholder 4"/>
          <p:cNvSpPr>
            <a:spLocks noGrp="1"/>
          </p:cNvSpPr>
          <p:nvPr>
            <p:ph sz="quarter" idx="14"/>
          </p:nvPr>
        </p:nvSpPr>
        <p:spPr>
          <a:xfrm>
            <a:off x="468313" y="3374714"/>
            <a:ext cx="8275625" cy="967376"/>
          </a:xfrm>
        </p:spPr>
        <p:txBody>
          <a:bodyPr tIns="18000" bIns="18000">
            <a:spAutoFit/>
          </a:bodyPr>
          <a:lstStyle/>
          <a:p>
            <a:pPr marL="0" indent="0">
              <a:buNone/>
            </a:pPr>
            <a:r>
              <a:rPr lang="en-US" sz="2400" b="1" dirty="0">
                <a:latin typeface="Arial" panose="020B0604020202020204" pitchFamily="34" charset="0"/>
                <a:cs typeface="Arial" panose="020B0604020202020204" pitchFamily="34" charset="0"/>
              </a:rPr>
              <a:t>First-line Managers </a:t>
            </a:r>
          </a:p>
          <a:p>
            <a:pPr marL="266400" indent="-266400"/>
            <a:r>
              <a:rPr lang="en-US" sz="2400" dirty="0">
                <a:latin typeface="Arial" panose="020B0604020202020204" pitchFamily="34" charset="0"/>
                <a:cs typeface="Arial" panose="020B0604020202020204" pitchFamily="34" charset="0"/>
              </a:rPr>
              <a:t>Direct nonmanagerial employees</a:t>
            </a:r>
          </a:p>
        </p:txBody>
      </p:sp>
      <p:sp>
        <p:nvSpPr>
          <p:cNvPr id="6" name="Content Placeholder 5"/>
          <p:cNvSpPr>
            <a:spLocks noGrp="1"/>
          </p:cNvSpPr>
          <p:nvPr>
            <p:ph sz="quarter" idx="15"/>
          </p:nvPr>
        </p:nvSpPr>
        <p:spPr>
          <a:xfrm>
            <a:off x="468313" y="4461308"/>
            <a:ext cx="8280400" cy="964427"/>
          </a:xfrm>
        </p:spPr>
        <p:txBody>
          <a:bodyPr tIns="18000" bIns="18000">
            <a:spAutoFit/>
          </a:bodyPr>
          <a:lstStyle/>
          <a:p>
            <a:pPr marL="0" indent="0">
              <a:buNone/>
            </a:pPr>
            <a:r>
              <a:rPr lang="en-US" sz="2400" b="1" dirty="0">
                <a:latin typeface="Arial" panose="020B0604020202020204" pitchFamily="34" charset="0"/>
                <a:cs typeface="Arial" panose="020B0604020202020204" pitchFamily="34" charset="0"/>
              </a:rPr>
              <a:t>Team Leaders </a:t>
            </a:r>
          </a:p>
          <a:p>
            <a:pPr marL="266400" indent="-266400"/>
            <a:r>
              <a:rPr lang="en-US" sz="2400" dirty="0">
                <a:latin typeface="Arial" panose="020B0604020202020204" pitchFamily="34" charset="0"/>
                <a:cs typeface="Arial" panose="020B0604020202020204" pitchFamily="34" charset="0"/>
              </a:rPr>
              <a:t>Manage activities of a work team</a:t>
            </a:r>
          </a:p>
        </p:txBody>
      </p:sp>
    </p:spTree>
    <p:extLst>
      <p:ext uri="{BB962C8B-B14F-4D97-AF65-F5344CB8AC3E}">
        <p14:creationId xmlns:p14="http://schemas.microsoft.com/office/powerpoint/2010/main" val="134935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712" cy="590349"/>
          </a:xfrm>
        </p:spPr>
        <p:txBody>
          <a:bodyPr vert="horz" wrap="square" lIns="0" tIns="18000" rIns="0" bIns="18000" rtlCol="0" anchor="b">
            <a:spAutoFit/>
          </a:bodyPr>
          <a:lstStyle/>
          <a:p>
            <a:r>
              <a:rPr lang="en-US" sz="3600" dirty="0">
                <a:latin typeface="+mj-lt"/>
              </a:rPr>
              <a:t>Learning Objective 1.2</a:t>
            </a:r>
            <a:endParaRPr lang="en-US" sz="2800" dirty="0">
              <a:latin typeface="+mj-lt"/>
            </a:endParaRPr>
          </a:p>
        </p:txBody>
      </p:sp>
      <p:sp>
        <p:nvSpPr>
          <p:cNvPr id="3" name="Content Placeholder 2"/>
          <p:cNvSpPr>
            <a:spLocks noGrp="1"/>
          </p:cNvSpPr>
          <p:nvPr>
            <p:ph idx="1"/>
          </p:nvPr>
        </p:nvSpPr>
        <p:spPr>
          <a:xfrm>
            <a:off x="467999" y="1274400"/>
            <a:ext cx="8280713" cy="405683"/>
          </a:xfrm>
        </p:spPr>
        <p:txBody>
          <a:bodyPr wrap="square" tIns="18000" bIns="18000">
            <a:spAutoFit/>
          </a:bodyPr>
          <a:lstStyle/>
          <a:p>
            <a:pPr marL="0" indent="0">
              <a:buNone/>
            </a:pPr>
            <a:r>
              <a:rPr lang="en-US" altLang="en-US" sz="2400" dirty="0">
                <a:latin typeface="Arial" panose="020B0604020202020204" pitchFamily="34" charset="0"/>
                <a:cs typeface="Arial" panose="020B0604020202020204" pitchFamily="34" charset="0"/>
              </a:rPr>
              <a:t>Define </a:t>
            </a:r>
            <a:r>
              <a:rPr lang="en-US" altLang="en-US" sz="2400" i="1" dirty="0">
                <a:latin typeface="Arial" panose="020B0604020202020204" pitchFamily="34" charset="0"/>
                <a:cs typeface="Arial" panose="020B0604020202020204" pitchFamily="34" charset="0"/>
              </a:rPr>
              <a:t>management</a:t>
            </a:r>
            <a:r>
              <a:rPr lang="en-US" altLang="en-US" sz="2400" dirty="0">
                <a:latin typeface="Arial" panose="020B0604020202020204" pitchFamily="34" charset="0"/>
                <a:cs typeface="Arial" panose="020B0604020202020204" pitchFamily="34" charset="0"/>
              </a:rPr>
              <a: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948646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What Is Management? </a:t>
            </a:r>
            <a:r>
              <a:rPr lang="en-US" sz="2800" dirty="0">
                <a:latin typeface="+mj-lt"/>
              </a:rPr>
              <a:t>(1 of 2)</a:t>
            </a:r>
          </a:p>
        </p:txBody>
      </p:sp>
      <p:sp>
        <p:nvSpPr>
          <p:cNvPr id="3" name="Content Placeholder 2"/>
          <p:cNvSpPr>
            <a:spLocks noGrp="1"/>
          </p:cNvSpPr>
          <p:nvPr>
            <p:ph idx="1"/>
          </p:nvPr>
        </p:nvSpPr>
        <p:spPr>
          <a:xfrm>
            <a:off x="468000" y="1274400"/>
            <a:ext cx="8280712" cy="2460092"/>
          </a:xfrm>
        </p:spPr>
        <p:txBody>
          <a:bodyPr wrap="square" tIns="18000" bIns="18000">
            <a:spAutoFit/>
          </a:bodyPr>
          <a:lstStyle/>
          <a:p>
            <a:pPr marL="0" indent="0">
              <a:buNone/>
            </a:pPr>
            <a:r>
              <a:rPr lang="en-US" altLang="en-US" sz="2400" b="1" dirty="0">
                <a:latin typeface="Arial" panose="020B0604020202020204" pitchFamily="34" charset="0"/>
                <a:ea typeface="ＭＳ Ｐゴシック" pitchFamily="34" charset="-128"/>
                <a:cs typeface="Arial" panose="020B0604020202020204" pitchFamily="34" charset="0"/>
              </a:rPr>
              <a:t>Management</a:t>
            </a:r>
          </a:p>
          <a:p>
            <a:pPr marL="266700" indent="-266700">
              <a:buSzPct val="100000"/>
            </a:pPr>
            <a:r>
              <a:rPr lang="en-US" altLang="en-US" sz="2400" dirty="0">
                <a:latin typeface="Arial" panose="020B0604020202020204" pitchFamily="34" charset="0"/>
                <a:ea typeface="ＭＳ Ｐゴシック" pitchFamily="34" charset="-128"/>
                <a:cs typeface="Arial" panose="020B0604020202020204" pitchFamily="34" charset="0"/>
              </a:rPr>
              <a:t>The</a:t>
            </a:r>
            <a:r>
              <a:rPr lang="en-US" altLang="en-US" sz="2400" b="1" dirty="0">
                <a:latin typeface="Arial" panose="020B0604020202020204" pitchFamily="34" charset="0"/>
                <a:ea typeface="ＭＳ Ｐゴシック" pitchFamily="34" charset="-128"/>
                <a:cs typeface="Arial" panose="020B0604020202020204" pitchFamily="34" charset="0"/>
              </a:rPr>
              <a:t> process </a:t>
            </a:r>
            <a:r>
              <a:rPr lang="en-US" altLang="en-US" sz="2400" dirty="0">
                <a:latin typeface="Arial" panose="020B0604020202020204" pitchFamily="34" charset="0"/>
                <a:ea typeface="ＭＳ Ｐゴシック" pitchFamily="34" charset="-128"/>
                <a:cs typeface="Arial" panose="020B0604020202020204" pitchFamily="34" charset="0"/>
              </a:rPr>
              <a:t>of getting things done </a:t>
            </a:r>
            <a:r>
              <a:rPr lang="en-US" altLang="en-US" sz="2400" b="1" dirty="0">
                <a:latin typeface="Arial" panose="020B0604020202020204" pitchFamily="34" charset="0"/>
                <a:ea typeface="ＭＳ Ｐゴシック" pitchFamily="34" charset="-128"/>
                <a:cs typeface="Arial" panose="020B0604020202020204" pitchFamily="34" charset="0"/>
              </a:rPr>
              <a:t>effectively</a:t>
            </a:r>
            <a:r>
              <a:rPr lang="en-US" altLang="en-US" sz="2400" dirty="0">
                <a:latin typeface="Arial" panose="020B0604020202020204" pitchFamily="34" charset="0"/>
                <a:ea typeface="ＭＳ Ｐゴシック" pitchFamily="34" charset="-128"/>
                <a:cs typeface="Arial" panose="020B0604020202020204" pitchFamily="34" charset="0"/>
              </a:rPr>
              <a:t> and </a:t>
            </a:r>
            <a:r>
              <a:rPr lang="en-US" altLang="en-US" sz="2400" b="1" dirty="0">
                <a:latin typeface="Arial" panose="020B0604020202020204" pitchFamily="34" charset="0"/>
                <a:ea typeface="ＭＳ Ｐゴシック" pitchFamily="34" charset="-128"/>
                <a:cs typeface="Arial" panose="020B0604020202020204" pitchFamily="34" charset="0"/>
              </a:rPr>
              <a:t>efficiently</a:t>
            </a:r>
            <a:r>
              <a:rPr lang="en-US" altLang="en-US" sz="2400" dirty="0">
                <a:latin typeface="Arial" panose="020B0604020202020204" pitchFamily="34" charset="0"/>
                <a:ea typeface="ＭＳ Ｐゴシック" pitchFamily="34" charset="-128"/>
                <a:cs typeface="Arial" panose="020B0604020202020204" pitchFamily="34" charset="0"/>
              </a:rPr>
              <a:t>, with and through people.</a:t>
            </a:r>
          </a:p>
          <a:p>
            <a:pPr marL="266700" indent="-266700">
              <a:buSzPct val="100000"/>
            </a:pPr>
            <a:r>
              <a:rPr lang="en-US" altLang="en-US" sz="2400" b="1" dirty="0">
                <a:latin typeface="Arial" panose="020B0604020202020204" pitchFamily="34" charset="0"/>
                <a:ea typeface="ＭＳ Ｐゴシック" pitchFamily="34" charset="-128"/>
                <a:cs typeface="Arial" panose="020B0604020202020204" pitchFamily="34" charset="0"/>
              </a:rPr>
              <a:t>Effectiveness:</a:t>
            </a:r>
            <a:r>
              <a:rPr lang="en-US" altLang="en-US" sz="2400" dirty="0">
                <a:latin typeface="Arial" panose="020B0604020202020204" pitchFamily="34" charset="0"/>
                <a:ea typeface="ＭＳ Ｐゴシック" pitchFamily="34" charset="-128"/>
                <a:cs typeface="Arial" panose="020B0604020202020204" pitchFamily="34" charset="0"/>
              </a:rPr>
              <a:t> Doing the right things</a:t>
            </a:r>
          </a:p>
          <a:p>
            <a:pPr marL="266700" indent="-266700">
              <a:buSzPct val="100000"/>
            </a:pPr>
            <a:r>
              <a:rPr lang="en-US" altLang="en-US" sz="2400" b="1" dirty="0">
                <a:latin typeface="Arial" panose="020B0604020202020204" pitchFamily="34" charset="0"/>
                <a:ea typeface="ＭＳ Ｐゴシック" pitchFamily="34" charset="-128"/>
                <a:cs typeface="Arial" panose="020B0604020202020204" pitchFamily="34" charset="0"/>
              </a:rPr>
              <a:t>Efficiency</a:t>
            </a:r>
            <a:r>
              <a:rPr lang="en-US" altLang="en-US" sz="2400" dirty="0">
                <a:latin typeface="Arial" panose="020B0604020202020204" pitchFamily="34" charset="0"/>
                <a:ea typeface="ＭＳ Ｐゴシック" pitchFamily="34" charset="-128"/>
                <a:cs typeface="Arial" panose="020B0604020202020204" pitchFamily="34" charset="0"/>
              </a:rPr>
              <a:t>: Doing things right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2665927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What Is Management? </a:t>
            </a:r>
            <a:r>
              <a:rPr lang="en-US" sz="2800" dirty="0">
                <a:latin typeface="+mj-lt"/>
              </a:rPr>
              <a:t>(2 of 2)</a:t>
            </a:r>
          </a:p>
        </p:txBody>
      </p:sp>
      <p:sp>
        <p:nvSpPr>
          <p:cNvPr id="3" name="Content Placeholder 2">
            <a:extLst>
              <a:ext uri="{FF2B5EF4-FFF2-40B4-BE49-F238E27FC236}">
                <a16:creationId xmlns:a16="http://schemas.microsoft.com/office/drawing/2014/main" id="{A514C57A-2F5A-4627-A000-B2F31FAFD608}"/>
              </a:ext>
            </a:extLst>
          </p:cNvPr>
          <p:cNvSpPr>
            <a:spLocks noGrp="1"/>
          </p:cNvSpPr>
          <p:nvPr>
            <p:ph sz="quarter" idx="13"/>
          </p:nvPr>
        </p:nvSpPr>
        <p:spPr>
          <a:xfrm>
            <a:off x="468000" y="1274219"/>
            <a:ext cx="8280712" cy="282573"/>
          </a:xfrm>
        </p:spPr>
        <p:txBody>
          <a:bodyPr wrap="square" tIns="18000" bIns="18000">
            <a:spAutoFit/>
          </a:bodyPr>
          <a:lstStyle/>
          <a:p>
            <a:pPr marL="0" indent="0">
              <a:buNone/>
            </a:pPr>
            <a:r>
              <a:rPr lang="en-US" altLang="en-US" sz="1600" b="1" dirty="0">
                <a:latin typeface="Arial" panose="020B0604020202020204" pitchFamily="34" charset="0"/>
                <a:cs typeface="Arial" panose="020B0604020202020204" pitchFamily="34" charset="0"/>
              </a:rPr>
              <a:t>Exhibit 1.3 </a:t>
            </a:r>
            <a:r>
              <a:rPr lang="en-US" sz="1600" dirty="0">
                <a:latin typeface="Arial" panose="020B0604020202020204" pitchFamily="34" charset="0"/>
                <a:cs typeface="Arial" panose="020B0604020202020204" pitchFamily="34" charset="0"/>
              </a:rPr>
              <a:t>Efficiency and Effectiveness</a:t>
            </a:r>
            <a:endParaRPr lang="en-US" dirty="0">
              <a:latin typeface="Arial" panose="020B0604020202020204" pitchFamily="34" charset="0"/>
              <a:cs typeface="Arial" panose="020B0604020202020204" pitchFamily="34" charset="0"/>
            </a:endParaRPr>
          </a:p>
        </p:txBody>
      </p:sp>
      <p:pic>
        <p:nvPicPr>
          <p:cNvPr id="8" name="Picture Placeholder 7" descr="An illustration shows how efficiency and effectiveness affect goals.&#10;Long description is available in notes, press F6.">
            <a:extLst>
              <a:ext uri="{FF2B5EF4-FFF2-40B4-BE49-F238E27FC236}">
                <a16:creationId xmlns:a16="http://schemas.microsoft.com/office/drawing/2014/main" id="{48BF495C-8DC6-47CF-AFA8-0E37A52A2F30}"/>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195736" y="1844824"/>
            <a:ext cx="4733925" cy="4210050"/>
          </a:xfrm>
          <a:prstGeom prst="rect">
            <a:avLst/>
          </a:prstGeom>
        </p:spPr>
      </p:pic>
    </p:spTree>
    <p:extLst>
      <p:ext uri="{BB962C8B-B14F-4D97-AF65-F5344CB8AC3E}">
        <p14:creationId xmlns:p14="http://schemas.microsoft.com/office/powerpoint/2010/main" val="12113044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713" cy="590349"/>
          </a:xfrm>
        </p:spPr>
        <p:txBody>
          <a:bodyPr vert="horz" wrap="square" lIns="0" tIns="18000" rIns="0" bIns="18000" rtlCol="0" anchor="b">
            <a:spAutoFit/>
          </a:bodyPr>
          <a:lstStyle/>
          <a:p>
            <a:r>
              <a:rPr lang="en-US" sz="3600" dirty="0">
                <a:latin typeface="+mj-lt"/>
              </a:rPr>
              <a:t>Is the Manager’s Job Universal? </a:t>
            </a:r>
            <a:r>
              <a:rPr lang="en-US" sz="2800" dirty="0">
                <a:latin typeface="+mj-lt"/>
              </a:rPr>
              <a:t>(1 of 5)</a:t>
            </a:r>
          </a:p>
        </p:txBody>
      </p:sp>
      <p:sp>
        <p:nvSpPr>
          <p:cNvPr id="3" name="Content Placeholder 2"/>
          <p:cNvSpPr>
            <a:spLocks noGrp="1"/>
          </p:cNvSpPr>
          <p:nvPr>
            <p:ph idx="1"/>
          </p:nvPr>
        </p:nvSpPr>
        <p:spPr>
          <a:xfrm>
            <a:off x="468000" y="1274400"/>
            <a:ext cx="8280712" cy="2090760"/>
          </a:xfrm>
        </p:spPr>
        <p:txBody>
          <a:bodyPr wrap="square" tIns="18000" bIns="18000">
            <a:spAutoFit/>
          </a:bodyPr>
          <a:lstStyle/>
          <a:p>
            <a:pPr marL="266700" indent="-266700">
              <a:buSzPct val="100000"/>
            </a:pPr>
            <a:r>
              <a:rPr lang="en-US" altLang="en-US" sz="2400" dirty="0">
                <a:latin typeface="Arial" panose="020B0604020202020204" pitchFamily="34" charset="0"/>
                <a:ea typeface="ＭＳ Ｐゴシック" pitchFamily="34" charset="-128"/>
                <a:cs typeface="Arial" panose="020B0604020202020204" pitchFamily="34" charset="0"/>
              </a:rPr>
              <a:t>Level in the Organization</a:t>
            </a:r>
          </a:p>
          <a:p>
            <a:pPr marL="266700" indent="-266700">
              <a:buSzPct val="100000"/>
            </a:pPr>
            <a:r>
              <a:rPr lang="en-US" altLang="en-US" sz="2400" dirty="0">
                <a:latin typeface="Arial" panose="020B0604020202020204" pitchFamily="34" charset="0"/>
                <a:ea typeface="ＭＳ Ｐゴシック" pitchFamily="34" charset="-128"/>
                <a:cs typeface="Arial" panose="020B0604020202020204" pitchFamily="34" charset="0"/>
              </a:rPr>
              <a:t>Profit v</a:t>
            </a:r>
            <a:r>
              <a:rPr lang="en-US" altLang="en-US" sz="100" dirty="0">
                <a:latin typeface="Arial" panose="020B0604020202020204" pitchFamily="34" charset="0"/>
                <a:ea typeface="ＭＳ Ｐゴシック" pitchFamily="34" charset="-128"/>
                <a:cs typeface="Arial" panose="020B0604020202020204" pitchFamily="34" charset="0"/>
              </a:rPr>
              <a:t>ersu</a:t>
            </a:r>
            <a:r>
              <a:rPr lang="en-US" altLang="en-US" sz="2400" dirty="0">
                <a:latin typeface="Arial" panose="020B0604020202020204" pitchFamily="34" charset="0"/>
                <a:ea typeface="ＭＳ Ｐゴシック" pitchFamily="34" charset="-128"/>
                <a:cs typeface="Arial" panose="020B0604020202020204" pitchFamily="34" charset="0"/>
              </a:rPr>
              <a:t>s. Not-for-profit</a:t>
            </a:r>
          </a:p>
          <a:p>
            <a:pPr marL="266700" indent="-266700">
              <a:buSzPct val="100000"/>
            </a:pPr>
            <a:r>
              <a:rPr lang="en-US" altLang="en-US" sz="2400" dirty="0">
                <a:latin typeface="Arial" panose="020B0604020202020204" pitchFamily="34" charset="0"/>
                <a:ea typeface="ＭＳ Ｐゴシック" pitchFamily="34" charset="-128"/>
                <a:cs typeface="Arial" panose="020B0604020202020204" pitchFamily="34" charset="0"/>
              </a:rPr>
              <a:t>Size of the Organization</a:t>
            </a:r>
          </a:p>
          <a:p>
            <a:pPr marL="266700" indent="-266700">
              <a:buSzPct val="100000"/>
            </a:pPr>
            <a:r>
              <a:rPr lang="en-US" altLang="en-US" sz="2400" dirty="0">
                <a:latin typeface="Arial" panose="020B0604020202020204" pitchFamily="34" charset="0"/>
                <a:ea typeface="ＭＳ Ｐゴシック" pitchFamily="34" charset="-128"/>
                <a:cs typeface="Arial" panose="020B0604020202020204" pitchFamily="34" charset="0"/>
              </a:rPr>
              <a:t>Management Concepts and National Borders</a:t>
            </a:r>
          </a:p>
        </p:txBody>
      </p:sp>
    </p:spTree>
    <p:extLst>
      <p:ext uri="{BB962C8B-B14F-4D97-AF65-F5344CB8AC3E}">
        <p14:creationId xmlns:p14="http://schemas.microsoft.com/office/powerpoint/2010/main" val="18251305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Is the Manager’s Job Universal? </a:t>
            </a:r>
            <a:r>
              <a:rPr lang="en-US" sz="2800" dirty="0">
                <a:latin typeface="+mj-lt"/>
              </a:rPr>
              <a:t>(2 of 5)</a:t>
            </a:r>
          </a:p>
        </p:txBody>
      </p:sp>
      <p:sp>
        <p:nvSpPr>
          <p:cNvPr id="7" name="Content Placeholder 6">
            <a:extLst>
              <a:ext uri="{FF2B5EF4-FFF2-40B4-BE49-F238E27FC236}">
                <a16:creationId xmlns:a16="http://schemas.microsoft.com/office/drawing/2014/main" id="{B23BF6F1-A0DB-4BE3-AD4D-F4C896BB0EA4}"/>
              </a:ext>
            </a:extLst>
          </p:cNvPr>
          <p:cNvSpPr>
            <a:spLocks noGrp="1"/>
          </p:cNvSpPr>
          <p:nvPr>
            <p:ph sz="quarter" idx="13"/>
          </p:nvPr>
        </p:nvSpPr>
        <p:spPr>
          <a:xfrm>
            <a:off x="468000" y="1274400"/>
            <a:ext cx="8266926" cy="405683"/>
          </a:xfrm>
        </p:spPr>
        <p:txBody>
          <a:bodyPr tIns="18000" bIns="18000">
            <a:spAutoFit/>
          </a:bodyPr>
          <a:lstStyle/>
          <a:p>
            <a:pPr marL="266400" indent="-266400"/>
            <a:r>
              <a:rPr lang="en-US" altLang="en-US" sz="2400" dirty="0">
                <a:latin typeface="Arial" panose="020B0604020202020204" pitchFamily="34" charset="0"/>
                <a:ea typeface="ＭＳ Ｐゴシック" pitchFamily="34" charset="-128"/>
                <a:cs typeface="Arial" panose="020B0604020202020204" pitchFamily="34" charset="0"/>
              </a:rPr>
              <a:t>Level in the Organization</a:t>
            </a:r>
            <a:endParaRPr lang="en-US" sz="24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14F0E0CC-CE90-4118-8EB9-307A1EC136BB}"/>
              </a:ext>
            </a:extLst>
          </p:cNvPr>
          <p:cNvSpPr>
            <a:spLocks noGrp="1"/>
          </p:cNvSpPr>
          <p:nvPr>
            <p:ph sz="quarter" idx="14"/>
          </p:nvPr>
        </p:nvSpPr>
        <p:spPr>
          <a:xfrm>
            <a:off x="468000" y="1916832"/>
            <a:ext cx="8266926" cy="282573"/>
          </a:xfrm>
        </p:spPr>
        <p:txBody>
          <a:bodyPr wrap="square" tIns="18000" bIns="18000">
            <a:spAutoFit/>
          </a:bodyPr>
          <a:lstStyle/>
          <a:p>
            <a:pPr marL="0" indent="0">
              <a:buNone/>
            </a:pPr>
            <a:r>
              <a:rPr lang="en-US" altLang="en-US" b="1" dirty="0">
                <a:latin typeface="Arial" panose="020B0604020202020204" pitchFamily="34" charset="0"/>
                <a:cs typeface="Arial" panose="020B0604020202020204" pitchFamily="34" charset="0"/>
              </a:rPr>
              <a:t>Exhibit 1.6 </a:t>
            </a:r>
            <a:r>
              <a:rPr lang="en-US" dirty="0">
                <a:latin typeface="Arial" panose="020B0604020202020204" pitchFamily="34" charset="0"/>
                <a:cs typeface="Arial" panose="020B0604020202020204" pitchFamily="34" charset="0"/>
              </a:rPr>
              <a:t>Management Activities by Organizational Level</a:t>
            </a:r>
          </a:p>
        </p:txBody>
      </p:sp>
      <p:pic>
        <p:nvPicPr>
          <p:cNvPr id="32" name="Picture Placeholder 31" descr="Three pie charts show the percentage of different activities performed by first-level managers, middle managers, and top managers.&#10;Long description is available in notes, press F6.">
            <a:extLst>
              <a:ext uri="{FF2B5EF4-FFF2-40B4-BE49-F238E27FC236}">
                <a16:creationId xmlns:a16="http://schemas.microsoft.com/office/drawing/2014/main" id="{90C4E1F2-E048-4679-A3E5-D22642C830E6}"/>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611560" y="2424658"/>
            <a:ext cx="7943850" cy="2876550"/>
          </a:xfrm>
          <a:prstGeom prst="rect">
            <a:avLst/>
          </a:prstGeom>
        </p:spPr>
      </p:pic>
      <p:sp>
        <p:nvSpPr>
          <p:cNvPr id="9" name="Content Placeholder 8">
            <a:extLst>
              <a:ext uri="{FF2B5EF4-FFF2-40B4-BE49-F238E27FC236}">
                <a16:creationId xmlns:a16="http://schemas.microsoft.com/office/drawing/2014/main" id="{759F4D0D-CCD8-4EB2-ABC3-B7F1A1A21A76}"/>
              </a:ext>
            </a:extLst>
          </p:cNvPr>
          <p:cNvSpPr>
            <a:spLocks noGrp="1"/>
          </p:cNvSpPr>
          <p:nvPr>
            <p:ph sz="quarter" idx="15"/>
          </p:nvPr>
        </p:nvSpPr>
        <p:spPr>
          <a:xfrm>
            <a:off x="468000" y="5759621"/>
            <a:ext cx="8266926" cy="405683"/>
          </a:xfrm>
        </p:spPr>
        <p:txBody>
          <a:bodyPr wrap="square" tIns="18000" bIns="18000">
            <a:spAutoFit/>
          </a:bodyPr>
          <a:lstStyle/>
          <a:p>
            <a:pPr marL="0" indent="0">
              <a:buNone/>
            </a:pPr>
            <a:r>
              <a:rPr lang="en-US" sz="1200" i="1" dirty="0">
                <a:latin typeface="Arial" panose="020B0604020202020204" pitchFamily="34" charset="0"/>
                <a:cs typeface="Arial" panose="020B0604020202020204" pitchFamily="34" charset="0"/>
              </a:rPr>
              <a:t>Source:</a:t>
            </a:r>
            <a:r>
              <a:rPr lang="en-US" sz="1200" dirty="0">
                <a:latin typeface="Arial" panose="020B0604020202020204" pitchFamily="34" charset="0"/>
                <a:cs typeface="Arial" panose="020B0604020202020204" pitchFamily="34" charset="0"/>
              </a:rPr>
              <a:t> Based on T. A. Mahoney, T. H. </a:t>
            </a:r>
            <a:r>
              <a:rPr lang="en-US" sz="1200" dirty="0" err="1">
                <a:latin typeface="Arial" panose="020B0604020202020204" pitchFamily="34" charset="0"/>
                <a:cs typeface="Arial" panose="020B0604020202020204" pitchFamily="34" charset="0"/>
              </a:rPr>
              <a:t>Jerdee</a:t>
            </a:r>
            <a:r>
              <a:rPr lang="en-US" sz="1200" dirty="0">
                <a:latin typeface="Arial" panose="020B0604020202020204" pitchFamily="34" charset="0"/>
                <a:cs typeface="Arial" panose="020B0604020202020204" pitchFamily="34" charset="0"/>
              </a:rPr>
              <a:t>, and S. J. Carroll, “The Job(s) of Management,” Industrial Relations 4, n</a:t>
            </a:r>
            <a:r>
              <a:rPr lang="en-US" sz="100" dirty="0">
                <a:latin typeface="Arial" panose="020B0604020202020204" pitchFamily="34" charset="0"/>
                <a:cs typeface="Arial" panose="020B0604020202020204" pitchFamily="34" charset="0"/>
              </a:rPr>
              <a:t> </a:t>
            </a:r>
            <a:r>
              <a:rPr lang="en-US" sz="1200" dirty="0">
                <a:latin typeface="Arial" panose="020B0604020202020204" pitchFamily="34" charset="0"/>
                <a:cs typeface="Arial" panose="020B0604020202020204" pitchFamily="34" charset="0"/>
              </a:rPr>
              <a:t>o. 2 (1965), p. 103</a:t>
            </a:r>
          </a:p>
        </p:txBody>
      </p:sp>
    </p:spTree>
    <p:extLst>
      <p:ext uri="{BB962C8B-B14F-4D97-AF65-F5344CB8AC3E}">
        <p14:creationId xmlns:p14="http://schemas.microsoft.com/office/powerpoint/2010/main" val="15636165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Is the Manager’s Job Universal? </a:t>
            </a:r>
            <a:r>
              <a:rPr lang="en-US" sz="2800" dirty="0">
                <a:latin typeface="+mj-lt"/>
              </a:rPr>
              <a:t>(3 of 5)</a:t>
            </a:r>
          </a:p>
        </p:txBody>
      </p:sp>
      <p:sp>
        <p:nvSpPr>
          <p:cNvPr id="3" name="Content Placeholder 2">
            <a:extLst>
              <a:ext uri="{FF2B5EF4-FFF2-40B4-BE49-F238E27FC236}">
                <a16:creationId xmlns:a16="http://schemas.microsoft.com/office/drawing/2014/main" id="{A514C57A-2F5A-4627-A000-B2F31FAFD608}"/>
              </a:ext>
            </a:extLst>
          </p:cNvPr>
          <p:cNvSpPr>
            <a:spLocks noGrp="1"/>
          </p:cNvSpPr>
          <p:nvPr>
            <p:ph sz="quarter" idx="13"/>
          </p:nvPr>
        </p:nvSpPr>
        <p:spPr>
          <a:xfrm>
            <a:off x="468000" y="1274219"/>
            <a:ext cx="8280712" cy="405683"/>
          </a:xfrm>
        </p:spPr>
        <p:txBody>
          <a:bodyPr wrap="square" tIns="18000" bIns="18000">
            <a:spAutoFit/>
          </a:bodyPr>
          <a:lstStyle/>
          <a:p>
            <a:pPr marL="266400" indent="-266400"/>
            <a:r>
              <a:rPr lang="en-US" altLang="en-US" sz="2400" dirty="0">
                <a:latin typeface="Arial" panose="020B0604020202020204" pitchFamily="34" charset="0"/>
                <a:ea typeface="ＭＳ Ｐゴシック" pitchFamily="34" charset="-128"/>
                <a:cs typeface="Arial" panose="020B0604020202020204" pitchFamily="34" charset="0"/>
              </a:rPr>
              <a:t>Profit v</a:t>
            </a:r>
            <a:r>
              <a:rPr lang="en-US" altLang="en-US" sz="100" dirty="0">
                <a:latin typeface="Arial" panose="020B0604020202020204" pitchFamily="34" charset="0"/>
                <a:ea typeface="ＭＳ Ｐゴシック" pitchFamily="34" charset="-128"/>
                <a:cs typeface="Arial" panose="020B0604020202020204" pitchFamily="34" charset="0"/>
              </a:rPr>
              <a:t>ersu</a:t>
            </a:r>
            <a:r>
              <a:rPr lang="en-US" altLang="en-US" sz="2400" dirty="0">
                <a:latin typeface="Arial" panose="020B0604020202020204" pitchFamily="34" charset="0"/>
                <a:ea typeface="ＭＳ Ｐゴシック" pitchFamily="34" charset="-128"/>
                <a:cs typeface="Arial" panose="020B0604020202020204" pitchFamily="34" charset="0"/>
              </a:rPr>
              <a:t>s. Not-for-profit</a:t>
            </a:r>
            <a:endParaRPr lang="en-US" sz="2400" dirty="0">
              <a:latin typeface="Arial" panose="020B0604020202020204" pitchFamily="34" charset="0"/>
              <a:cs typeface="Arial" panose="020B0604020202020204" pitchFamily="34" charset="0"/>
            </a:endParaRPr>
          </a:p>
        </p:txBody>
      </p:sp>
      <p:pic>
        <p:nvPicPr>
          <p:cNvPr id="7" name="Picture Placeholder 6" descr="A photo shows a person holding a spinning top and standing in front of four other people in a room.">
            <a:extLst>
              <a:ext uri="{FF2B5EF4-FFF2-40B4-BE49-F238E27FC236}">
                <a16:creationId xmlns:a16="http://schemas.microsoft.com/office/drawing/2014/main" id="{E8DCD54F-DB77-41E7-965A-9E0B6F4A2FB4}"/>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1524000" y="2079372"/>
            <a:ext cx="6096000" cy="3752850"/>
          </a:xfrm>
          <a:prstGeom prst="rect">
            <a:avLst/>
          </a:prstGeom>
        </p:spPr>
      </p:pic>
    </p:spTree>
    <p:extLst>
      <p:ext uri="{BB962C8B-B14F-4D97-AF65-F5344CB8AC3E}">
        <p14:creationId xmlns:p14="http://schemas.microsoft.com/office/powerpoint/2010/main" val="10698187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Is the Manager’s Job Universal? </a:t>
            </a:r>
            <a:r>
              <a:rPr lang="en-US" sz="2800" dirty="0">
                <a:latin typeface="+mj-lt"/>
              </a:rPr>
              <a:t>(4 of 5)</a:t>
            </a:r>
          </a:p>
        </p:txBody>
      </p:sp>
      <p:sp>
        <p:nvSpPr>
          <p:cNvPr id="7" name="Content Placeholder 6">
            <a:extLst>
              <a:ext uri="{FF2B5EF4-FFF2-40B4-BE49-F238E27FC236}">
                <a16:creationId xmlns:a16="http://schemas.microsoft.com/office/drawing/2014/main" id="{B23BF6F1-A0DB-4BE3-AD4D-F4C896BB0EA4}"/>
              </a:ext>
            </a:extLst>
          </p:cNvPr>
          <p:cNvSpPr>
            <a:spLocks noGrp="1"/>
          </p:cNvSpPr>
          <p:nvPr>
            <p:ph sz="quarter" idx="13"/>
          </p:nvPr>
        </p:nvSpPr>
        <p:spPr>
          <a:xfrm>
            <a:off x="468000" y="1274400"/>
            <a:ext cx="8266926" cy="405683"/>
          </a:xfrm>
        </p:spPr>
        <p:txBody>
          <a:bodyPr tIns="18000" bIns="18000">
            <a:spAutoFit/>
          </a:bodyPr>
          <a:lstStyle/>
          <a:p>
            <a:pPr marL="266400" indent="-266400"/>
            <a:r>
              <a:rPr lang="en-US" altLang="en-US" sz="2400" dirty="0">
                <a:latin typeface="Arial" panose="020B0604020202020204" pitchFamily="34" charset="0"/>
                <a:ea typeface="ＭＳ Ｐゴシック" pitchFamily="34" charset="-128"/>
                <a:cs typeface="Arial" panose="020B0604020202020204" pitchFamily="34" charset="0"/>
              </a:rPr>
              <a:t>Size of the Organization</a:t>
            </a:r>
            <a:endParaRPr lang="en-US" sz="2400" dirty="0">
              <a:latin typeface="Arial" panose="020B0604020202020204" pitchFamily="34" charset="0"/>
              <a:cs typeface="Arial" panose="020B0604020202020204" pitchFamily="34" charset="0"/>
            </a:endParaRPr>
          </a:p>
        </p:txBody>
      </p:sp>
      <p:sp>
        <p:nvSpPr>
          <p:cNvPr id="8" name="Content Placeholder 7">
            <a:extLst>
              <a:ext uri="{FF2B5EF4-FFF2-40B4-BE49-F238E27FC236}">
                <a16:creationId xmlns:a16="http://schemas.microsoft.com/office/drawing/2014/main" id="{14F0E0CC-CE90-4118-8EB9-307A1EC136BB}"/>
              </a:ext>
            </a:extLst>
          </p:cNvPr>
          <p:cNvSpPr>
            <a:spLocks noGrp="1"/>
          </p:cNvSpPr>
          <p:nvPr>
            <p:ph sz="quarter" idx="14"/>
          </p:nvPr>
        </p:nvSpPr>
        <p:spPr>
          <a:xfrm>
            <a:off x="468000" y="1916832"/>
            <a:ext cx="8266926" cy="282573"/>
          </a:xfrm>
        </p:spPr>
        <p:txBody>
          <a:bodyPr wrap="square" tIns="18000" bIns="18000">
            <a:spAutoFit/>
          </a:bodyPr>
          <a:lstStyle/>
          <a:p>
            <a:pPr marL="0" indent="0">
              <a:buNone/>
            </a:pPr>
            <a:r>
              <a:rPr lang="en-US" altLang="en-US" sz="1600" b="1" dirty="0">
                <a:latin typeface="Arial" panose="020B0604020202020204" pitchFamily="34" charset="0"/>
                <a:cs typeface="Arial" panose="020B0604020202020204" pitchFamily="34" charset="0"/>
              </a:rPr>
              <a:t>Exhibit 1.7 </a:t>
            </a:r>
            <a:r>
              <a:rPr lang="en-US" altLang="en-US" sz="1600" dirty="0">
                <a:latin typeface="Arial" panose="020B0604020202020204" pitchFamily="34" charset="0"/>
                <a:cs typeface="Arial" panose="020B0604020202020204" pitchFamily="34" charset="0"/>
              </a:rPr>
              <a:t>Managerial Roles in Small and Large Businesses</a:t>
            </a:r>
            <a:endParaRPr lang="en-US" dirty="0">
              <a:latin typeface="Arial" panose="020B0604020202020204" pitchFamily="34" charset="0"/>
              <a:cs typeface="Arial" panose="020B0604020202020204" pitchFamily="34" charset="0"/>
            </a:endParaRPr>
          </a:p>
        </p:txBody>
      </p:sp>
      <p:pic>
        <p:nvPicPr>
          <p:cNvPr id="6" name="Picture Placeholder 5" descr="A continuum shows the roles played by managers in small and large firms by the level of importance.&#10;Long description is available in notes, press F6.">
            <a:extLst>
              <a:ext uri="{FF2B5EF4-FFF2-40B4-BE49-F238E27FC236}">
                <a16:creationId xmlns:a16="http://schemas.microsoft.com/office/drawing/2014/main" id="{7C00DD90-E8EF-45FA-9CAB-9948A461DCE4}"/>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136334" y="2348880"/>
            <a:ext cx="4894252" cy="3219903"/>
          </a:xfrm>
          <a:prstGeom prst="rect">
            <a:avLst/>
          </a:prstGeom>
        </p:spPr>
      </p:pic>
      <p:sp>
        <p:nvSpPr>
          <p:cNvPr id="9" name="Content Placeholder 8">
            <a:extLst>
              <a:ext uri="{FF2B5EF4-FFF2-40B4-BE49-F238E27FC236}">
                <a16:creationId xmlns:a16="http://schemas.microsoft.com/office/drawing/2014/main" id="{759F4D0D-CCD8-4EB2-ABC3-B7F1A1A21A76}"/>
              </a:ext>
            </a:extLst>
          </p:cNvPr>
          <p:cNvSpPr>
            <a:spLocks noGrp="1"/>
          </p:cNvSpPr>
          <p:nvPr>
            <p:ph sz="quarter" idx="15"/>
          </p:nvPr>
        </p:nvSpPr>
        <p:spPr>
          <a:xfrm>
            <a:off x="468000" y="5759621"/>
            <a:ext cx="8266926" cy="405683"/>
          </a:xfrm>
        </p:spPr>
        <p:txBody>
          <a:bodyPr wrap="square" tIns="18000" bIns="18000">
            <a:spAutoFit/>
          </a:bodyPr>
          <a:lstStyle/>
          <a:p>
            <a:pPr marL="0" indent="0">
              <a:buNone/>
            </a:pPr>
            <a:r>
              <a:rPr lang="en-US" sz="1200" i="1" dirty="0">
                <a:latin typeface="Arial" panose="020B0604020202020204" pitchFamily="34" charset="0"/>
                <a:cs typeface="Arial" panose="020B0604020202020204" pitchFamily="34" charset="0"/>
              </a:rPr>
              <a:t>Source:</a:t>
            </a:r>
            <a:r>
              <a:rPr lang="en-US" sz="1200" dirty="0">
                <a:latin typeface="Arial" panose="020B0604020202020204" pitchFamily="34" charset="0"/>
                <a:cs typeface="Arial" panose="020B0604020202020204" pitchFamily="34" charset="0"/>
              </a:rPr>
              <a:t> Based on J. G. P. Paolillo, “The Manager’s Self-Assessments of Managerial Roles: Small v</a:t>
            </a:r>
            <a:r>
              <a:rPr lang="en-US" sz="100" dirty="0">
                <a:latin typeface="Arial" panose="020B0604020202020204" pitchFamily="34" charset="0"/>
                <a:cs typeface="Arial" panose="020B0604020202020204" pitchFamily="34" charset="0"/>
              </a:rPr>
              <a:t>ersu</a:t>
            </a:r>
            <a:r>
              <a:rPr lang="en-US" sz="1200" dirty="0">
                <a:latin typeface="Arial" panose="020B0604020202020204" pitchFamily="34" charset="0"/>
                <a:cs typeface="Arial" panose="020B0604020202020204" pitchFamily="34" charset="0"/>
              </a:rPr>
              <a:t>s. Large Firms,” American Journal of Small Business, January–March 1984, p</a:t>
            </a:r>
            <a:r>
              <a:rPr lang="en-US" sz="100" dirty="0">
                <a:latin typeface="Arial" panose="020B0604020202020204" pitchFamily="34" charset="0"/>
                <a:cs typeface="Arial" panose="020B0604020202020204" pitchFamily="34" charset="0"/>
              </a:rPr>
              <a:t> </a:t>
            </a:r>
            <a:r>
              <a:rPr lang="en-US" sz="1200" dirty="0" err="1">
                <a:latin typeface="Arial" panose="020B0604020202020204" pitchFamily="34" charset="0"/>
                <a:cs typeface="Arial" panose="020B0604020202020204" pitchFamily="34" charset="0"/>
              </a:rPr>
              <a:t>p</a:t>
            </a:r>
            <a:r>
              <a:rPr lang="en-US" sz="1200" dirty="0">
                <a:latin typeface="Arial" panose="020B0604020202020204" pitchFamily="34" charset="0"/>
                <a:cs typeface="Arial" panose="020B0604020202020204" pitchFamily="34" charset="0"/>
              </a:rPr>
              <a:t>. 61–62</a:t>
            </a:r>
          </a:p>
        </p:txBody>
      </p:sp>
    </p:spTree>
    <p:extLst>
      <p:ext uri="{BB962C8B-B14F-4D97-AF65-F5344CB8AC3E}">
        <p14:creationId xmlns:p14="http://schemas.microsoft.com/office/powerpoint/2010/main" val="2346802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1" y="284400"/>
            <a:ext cx="8280712" cy="590349"/>
          </a:xfrm>
        </p:spPr>
        <p:txBody>
          <a:bodyPr vert="horz" wrap="square" lIns="0" tIns="18000" rIns="0" bIns="18000" rtlCol="0" anchor="b">
            <a:spAutoFit/>
          </a:bodyPr>
          <a:lstStyle/>
          <a:p>
            <a:r>
              <a:rPr lang="en-US" sz="3600" dirty="0">
                <a:latin typeface="+mj-lt"/>
              </a:rPr>
              <a:t>Is the Manager’s Job Universal? </a:t>
            </a:r>
            <a:r>
              <a:rPr lang="en-US" sz="2800" dirty="0">
                <a:latin typeface="+mj-lt"/>
              </a:rPr>
              <a:t>(5 of 5)</a:t>
            </a:r>
          </a:p>
        </p:txBody>
      </p:sp>
      <p:sp>
        <p:nvSpPr>
          <p:cNvPr id="3" name="Content Placeholder 2"/>
          <p:cNvSpPr>
            <a:spLocks noGrp="1"/>
          </p:cNvSpPr>
          <p:nvPr>
            <p:ph idx="1"/>
          </p:nvPr>
        </p:nvSpPr>
        <p:spPr>
          <a:xfrm>
            <a:off x="467999" y="1274400"/>
            <a:ext cx="8280713" cy="405683"/>
          </a:xfrm>
        </p:spPr>
        <p:txBody>
          <a:bodyPr wrap="square" tIns="18000" bIns="18000">
            <a:spAutoFit/>
          </a:bodyPr>
          <a:lstStyle/>
          <a:p>
            <a:pPr marL="266700" indent="-266700">
              <a:buSzPct val="100000"/>
              <a:defRPr/>
            </a:pPr>
            <a:r>
              <a:rPr lang="en-US" altLang="en-US" sz="2400" dirty="0">
                <a:latin typeface="Arial" panose="020B0604020202020204" pitchFamily="34" charset="0"/>
                <a:ea typeface="ＭＳ Ｐゴシック" pitchFamily="34" charset="-128"/>
                <a:cs typeface="Arial" panose="020B0604020202020204" pitchFamily="34" charset="0"/>
              </a:rPr>
              <a:t>Management Concepts and National Borders</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8018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712" cy="590349"/>
          </a:xfrm>
        </p:spPr>
        <p:txBody>
          <a:bodyPr vert="horz" wrap="square" lIns="0" tIns="18000" rIns="0" bIns="18000" rtlCol="0" anchor="b">
            <a:spAutoFit/>
          </a:bodyPr>
          <a:lstStyle/>
          <a:p>
            <a:r>
              <a:rPr lang="en-US" sz="3600" dirty="0">
                <a:latin typeface="+mj-lt"/>
              </a:rPr>
              <a:t>Learning Objective 1.3</a:t>
            </a:r>
          </a:p>
        </p:txBody>
      </p:sp>
      <p:sp>
        <p:nvSpPr>
          <p:cNvPr id="3" name="Content Placeholder 2"/>
          <p:cNvSpPr>
            <a:spLocks noGrp="1"/>
          </p:cNvSpPr>
          <p:nvPr>
            <p:ph idx="1"/>
          </p:nvPr>
        </p:nvSpPr>
        <p:spPr>
          <a:xfrm>
            <a:off x="467999" y="1274400"/>
            <a:ext cx="8280713" cy="405683"/>
          </a:xfrm>
        </p:spPr>
        <p:txBody>
          <a:bodyPr wrap="square" tIns="18000" bIns="18000">
            <a:spAutoFit/>
          </a:bodyPr>
          <a:lstStyle/>
          <a:p>
            <a:pPr marL="0" indent="0">
              <a:buNone/>
            </a:pPr>
            <a:r>
              <a:rPr lang="en-US" altLang="en-US" sz="2400" dirty="0">
                <a:latin typeface="Arial" panose="020B0604020202020204" pitchFamily="34" charset="0"/>
                <a:cs typeface="Arial" panose="020B0604020202020204" pitchFamily="34" charset="0"/>
              </a:rPr>
              <a:t>Describe what managers do.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24212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What Do Managers Do?</a:t>
            </a:r>
            <a:endParaRPr lang="en-US" sz="2800" dirty="0">
              <a:latin typeface="+mj-lt"/>
            </a:endParaRPr>
          </a:p>
        </p:txBody>
      </p:sp>
      <p:sp>
        <p:nvSpPr>
          <p:cNvPr id="3" name="Content Placeholder 2"/>
          <p:cNvSpPr>
            <a:spLocks noGrp="1"/>
          </p:cNvSpPr>
          <p:nvPr>
            <p:ph idx="1"/>
          </p:nvPr>
        </p:nvSpPr>
        <p:spPr>
          <a:xfrm>
            <a:off x="484741" y="1274400"/>
            <a:ext cx="8263971" cy="2090760"/>
          </a:xfrm>
        </p:spPr>
        <p:txBody>
          <a:bodyPr wrap="square" tIns="18000" bIns="18000">
            <a:spAutoFit/>
          </a:bodyPr>
          <a:lstStyle/>
          <a:p>
            <a:pPr marL="0" indent="0">
              <a:buSzPct val="100000"/>
              <a:buNone/>
            </a:pPr>
            <a:r>
              <a:rPr lang="en-US" altLang="en-US" sz="2400" dirty="0">
                <a:latin typeface="Arial" panose="020B0604020202020204" pitchFamily="34" charset="0"/>
                <a:ea typeface="ＭＳ Ｐゴシック" pitchFamily="34" charset="-128"/>
                <a:cs typeface="Arial" panose="020B0604020202020204" pitchFamily="34" charset="0"/>
              </a:rPr>
              <a:t>Ways to Look at What Managers Do</a:t>
            </a:r>
          </a:p>
          <a:p>
            <a:pPr marL="266700" indent="-266700">
              <a:buSzPct val="100000"/>
            </a:pPr>
            <a:r>
              <a:rPr lang="en-US" altLang="en-US" sz="2400" dirty="0">
                <a:latin typeface="Arial" panose="020B0604020202020204" pitchFamily="34" charset="0"/>
                <a:ea typeface="ＭＳ Ｐゴシック" pitchFamily="34" charset="-128"/>
                <a:cs typeface="Arial" panose="020B0604020202020204" pitchFamily="34" charset="0"/>
              </a:rPr>
              <a:t>4 Functions Approach</a:t>
            </a:r>
          </a:p>
          <a:p>
            <a:pPr marL="266700" indent="-266700">
              <a:buSzPct val="100000"/>
            </a:pPr>
            <a:r>
              <a:rPr lang="en-US" altLang="en-US" sz="2400" dirty="0">
                <a:latin typeface="Arial" panose="020B0604020202020204" pitchFamily="34" charset="0"/>
                <a:ea typeface="ＭＳ Ｐゴシック" pitchFamily="34" charset="-128"/>
                <a:cs typeface="Arial" panose="020B0604020202020204" pitchFamily="34" charset="0"/>
              </a:rPr>
              <a:t>Management Roles Approach</a:t>
            </a:r>
          </a:p>
          <a:p>
            <a:pPr marL="266700" indent="-266700">
              <a:buSzPct val="100000"/>
            </a:pPr>
            <a:r>
              <a:rPr lang="en-US" altLang="en-US" sz="2400" dirty="0">
                <a:latin typeface="Arial" panose="020B0604020202020204" pitchFamily="34" charset="0"/>
                <a:ea typeface="ＭＳ Ｐゴシック" pitchFamily="34" charset="-128"/>
                <a:cs typeface="Arial" panose="020B0604020202020204" pitchFamily="34" charset="0"/>
              </a:rPr>
              <a:t>Skills and Competencies</a:t>
            </a:r>
          </a:p>
        </p:txBody>
      </p:sp>
    </p:spTree>
    <p:extLst>
      <p:ext uri="{BB962C8B-B14F-4D97-AF65-F5344CB8AC3E}">
        <p14:creationId xmlns:p14="http://schemas.microsoft.com/office/powerpoint/2010/main" val="12323382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53623"/>
            <a:ext cx="8280713" cy="590349"/>
          </a:xfrm>
        </p:spPr>
        <p:txBody>
          <a:bodyPr vert="horz" wrap="square" lIns="0" tIns="18000" rIns="0" bIns="18000" rtlCol="0" anchor="b">
            <a:spAutoFit/>
          </a:bodyPr>
          <a:lstStyle/>
          <a:p>
            <a:r>
              <a:rPr lang="en-US" sz="3600" dirty="0">
                <a:latin typeface="+mj-lt"/>
              </a:rPr>
              <a:t>4 Functions Approach</a:t>
            </a:r>
          </a:p>
        </p:txBody>
      </p:sp>
      <p:sp>
        <p:nvSpPr>
          <p:cNvPr id="7" name="Content Placeholder 6">
            <a:extLst>
              <a:ext uri="{FF2B5EF4-FFF2-40B4-BE49-F238E27FC236}">
                <a16:creationId xmlns:a16="http://schemas.microsoft.com/office/drawing/2014/main" id="{B23BF6F1-A0DB-4BE3-AD4D-F4C896BB0EA4}"/>
              </a:ext>
            </a:extLst>
          </p:cNvPr>
          <p:cNvSpPr>
            <a:spLocks noGrp="1"/>
          </p:cNvSpPr>
          <p:nvPr>
            <p:ph sz="quarter" idx="13"/>
          </p:nvPr>
        </p:nvSpPr>
        <p:spPr>
          <a:xfrm>
            <a:off x="468000" y="1274400"/>
            <a:ext cx="2375808" cy="1744511"/>
          </a:xfrm>
        </p:spPr>
        <p:txBody>
          <a:bodyPr wrap="square" tIns="18000" bIns="18000">
            <a:spAutoFit/>
          </a:bodyPr>
          <a:lstStyle/>
          <a:p>
            <a:pPr marL="266400" indent="-266400">
              <a:spcBef>
                <a:spcPts val="600"/>
              </a:spcBef>
            </a:pPr>
            <a:r>
              <a:rPr lang="en-US" altLang="en-US" sz="2400" dirty="0">
                <a:latin typeface="Arial" panose="020B0604020202020204" pitchFamily="34" charset="0"/>
                <a:ea typeface="ＭＳ Ｐゴシック" pitchFamily="34" charset="-128"/>
                <a:cs typeface="Arial" panose="020B0604020202020204" pitchFamily="34" charset="0"/>
              </a:rPr>
              <a:t>Planning</a:t>
            </a:r>
          </a:p>
          <a:p>
            <a:pPr marL="266400" indent="-266400">
              <a:spcBef>
                <a:spcPts val="600"/>
              </a:spcBef>
            </a:pPr>
            <a:r>
              <a:rPr lang="en-US" altLang="en-US" sz="2400" dirty="0">
                <a:latin typeface="Arial" panose="020B0604020202020204" pitchFamily="34" charset="0"/>
                <a:ea typeface="ＭＳ Ｐゴシック" pitchFamily="34" charset="-128"/>
                <a:cs typeface="Arial" panose="020B0604020202020204" pitchFamily="34" charset="0"/>
              </a:rPr>
              <a:t>Organizing</a:t>
            </a:r>
          </a:p>
          <a:p>
            <a:pPr marL="266400" indent="-266400">
              <a:spcBef>
                <a:spcPts val="600"/>
              </a:spcBef>
            </a:pPr>
            <a:r>
              <a:rPr lang="en-US" altLang="en-US" sz="2400" dirty="0">
                <a:latin typeface="Arial" panose="020B0604020202020204" pitchFamily="34" charset="0"/>
                <a:ea typeface="ＭＳ Ｐゴシック" pitchFamily="34" charset="-128"/>
                <a:cs typeface="Arial" panose="020B0604020202020204" pitchFamily="34" charset="0"/>
              </a:rPr>
              <a:t>Leading</a:t>
            </a:r>
          </a:p>
          <a:p>
            <a:pPr marL="266400" indent="-266400">
              <a:spcBef>
                <a:spcPts val="600"/>
              </a:spcBef>
            </a:pPr>
            <a:r>
              <a:rPr lang="en-US" altLang="en-US" sz="2400" dirty="0">
                <a:latin typeface="Arial" panose="020B0604020202020204" pitchFamily="34" charset="0"/>
                <a:ea typeface="ＭＳ Ｐゴシック" pitchFamily="34" charset="-128"/>
                <a:cs typeface="Arial" panose="020B0604020202020204" pitchFamily="34" charset="0"/>
              </a:rPr>
              <a:t>Controlling</a:t>
            </a:r>
            <a:endParaRPr lang="en-US" sz="2400" dirty="0">
              <a:latin typeface="Arial" panose="020B0604020202020204" pitchFamily="34" charset="0"/>
              <a:cs typeface="Arial" panose="020B0604020202020204" pitchFamily="34" charset="0"/>
            </a:endParaRPr>
          </a:p>
        </p:txBody>
      </p:sp>
      <p:sp>
        <p:nvSpPr>
          <p:cNvPr id="4" name="Content Placeholder 3">
            <a:extLst>
              <a:ext uri="{FF2B5EF4-FFF2-40B4-BE49-F238E27FC236}">
                <a16:creationId xmlns:a16="http://schemas.microsoft.com/office/drawing/2014/main" id="{0801C043-3FB0-476D-AAE1-40F9A1E53C5B}"/>
              </a:ext>
            </a:extLst>
          </p:cNvPr>
          <p:cNvSpPr>
            <a:spLocks noGrp="1"/>
          </p:cNvSpPr>
          <p:nvPr>
            <p:ph sz="quarter" idx="14"/>
          </p:nvPr>
        </p:nvSpPr>
        <p:spPr>
          <a:xfrm>
            <a:off x="3419872" y="1268760"/>
            <a:ext cx="5328840" cy="282573"/>
          </a:xfrm>
        </p:spPr>
        <p:txBody>
          <a:bodyPr wrap="square" tIns="18000" bIns="18000">
            <a:spAutoFit/>
          </a:bodyPr>
          <a:lstStyle/>
          <a:p>
            <a:pPr marL="0" indent="0">
              <a:buNone/>
            </a:pPr>
            <a:r>
              <a:rPr lang="en-US" altLang="en-US" sz="1600" b="1" dirty="0">
                <a:latin typeface="Arial" panose="020B0604020202020204" pitchFamily="34" charset="0"/>
                <a:cs typeface="Arial" panose="020B0604020202020204" pitchFamily="34" charset="0"/>
              </a:rPr>
              <a:t>Exhibit 1.4 </a:t>
            </a:r>
            <a:r>
              <a:rPr lang="en-US" sz="1600" dirty="0">
                <a:latin typeface="Arial" panose="020B0604020202020204" pitchFamily="34" charset="0"/>
                <a:cs typeface="Arial" panose="020B0604020202020204" pitchFamily="34" charset="0"/>
              </a:rPr>
              <a:t>Four Management Functions</a:t>
            </a:r>
            <a:endParaRPr lang="en-US" dirty="0">
              <a:latin typeface="Arial" panose="020B0604020202020204" pitchFamily="34" charset="0"/>
              <a:cs typeface="Arial" panose="020B0604020202020204" pitchFamily="34" charset="0"/>
            </a:endParaRPr>
          </a:p>
        </p:txBody>
      </p:sp>
      <p:pic>
        <p:nvPicPr>
          <p:cNvPr id="20" name="Picture Placeholder 19" descr="A cyclic diagram shows four management functions for achieving the organization’s stated purpose.&#10;Long description is available in notes, press F6.">
            <a:extLst>
              <a:ext uri="{FF2B5EF4-FFF2-40B4-BE49-F238E27FC236}">
                <a16:creationId xmlns:a16="http://schemas.microsoft.com/office/drawing/2014/main" id="{9499488B-92DF-4400-AB39-1041251EC661}"/>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3620219" y="1891630"/>
            <a:ext cx="4048125" cy="4057650"/>
          </a:xfrm>
          <a:prstGeom prst="rect">
            <a:avLst/>
          </a:prstGeom>
        </p:spPr>
      </p:pic>
    </p:spTree>
    <p:extLst>
      <p:ext uri="{BB962C8B-B14F-4D97-AF65-F5344CB8AC3E}">
        <p14:creationId xmlns:p14="http://schemas.microsoft.com/office/powerpoint/2010/main" val="408470597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Management Roles Approach</a:t>
            </a:r>
          </a:p>
        </p:txBody>
      </p:sp>
      <p:sp>
        <p:nvSpPr>
          <p:cNvPr id="7" name="Content Placeholder 6">
            <a:extLst>
              <a:ext uri="{FF2B5EF4-FFF2-40B4-BE49-F238E27FC236}">
                <a16:creationId xmlns:a16="http://schemas.microsoft.com/office/drawing/2014/main" id="{B23BF6F1-A0DB-4BE3-AD4D-F4C896BB0EA4}"/>
              </a:ext>
            </a:extLst>
          </p:cNvPr>
          <p:cNvSpPr>
            <a:spLocks noGrp="1"/>
          </p:cNvSpPr>
          <p:nvPr>
            <p:ph sz="quarter" idx="13"/>
          </p:nvPr>
        </p:nvSpPr>
        <p:spPr>
          <a:xfrm>
            <a:off x="468000" y="1274400"/>
            <a:ext cx="8266926" cy="282573"/>
          </a:xfrm>
        </p:spPr>
        <p:txBody>
          <a:bodyPr tIns="18000" bIns="18000">
            <a:spAutoFit/>
          </a:bodyPr>
          <a:lstStyle/>
          <a:p>
            <a:pPr marL="0" indent="0">
              <a:buNone/>
            </a:pPr>
            <a:r>
              <a:rPr lang="en-US" altLang="en-US" b="1" dirty="0">
                <a:latin typeface="Arial" panose="020B0604020202020204" pitchFamily="34" charset="0"/>
                <a:cs typeface="Arial" panose="020B0604020202020204" pitchFamily="34" charset="0"/>
              </a:rPr>
              <a:t>Exhibit 1.5 </a:t>
            </a:r>
            <a:r>
              <a:rPr lang="en-US" dirty="0">
                <a:latin typeface="Arial" panose="020B0604020202020204" pitchFamily="34" charset="0"/>
                <a:cs typeface="Arial" panose="020B0604020202020204" pitchFamily="34" charset="0"/>
              </a:rPr>
              <a:t>Mintzberg’s Managerial Roles</a:t>
            </a:r>
          </a:p>
        </p:txBody>
      </p:sp>
      <p:pic>
        <p:nvPicPr>
          <p:cNvPr id="9" name="Picture Placeholder 8" descr="An illustration shows three types of Mintzberg’s managerial roles.&#10;Long description is available in notes, press F6.">
            <a:extLst>
              <a:ext uri="{FF2B5EF4-FFF2-40B4-BE49-F238E27FC236}">
                <a16:creationId xmlns:a16="http://schemas.microsoft.com/office/drawing/2014/main" id="{985969A4-B9B1-484E-899E-C766E7A2F6DB}"/>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562225" y="1871319"/>
            <a:ext cx="4019550" cy="3733800"/>
          </a:xfrm>
          <a:prstGeom prst="rect">
            <a:avLst/>
          </a:prstGeom>
        </p:spPr>
      </p:pic>
      <p:sp>
        <p:nvSpPr>
          <p:cNvPr id="8" name="Content Placeholder 7">
            <a:extLst>
              <a:ext uri="{FF2B5EF4-FFF2-40B4-BE49-F238E27FC236}">
                <a16:creationId xmlns:a16="http://schemas.microsoft.com/office/drawing/2014/main" id="{14F0E0CC-CE90-4118-8EB9-307A1EC136BB}"/>
              </a:ext>
            </a:extLst>
          </p:cNvPr>
          <p:cNvSpPr>
            <a:spLocks noGrp="1"/>
          </p:cNvSpPr>
          <p:nvPr>
            <p:ph sz="quarter" idx="14"/>
          </p:nvPr>
        </p:nvSpPr>
        <p:spPr>
          <a:xfrm>
            <a:off x="468000" y="5954824"/>
            <a:ext cx="8266926" cy="221018"/>
          </a:xfrm>
        </p:spPr>
        <p:txBody>
          <a:bodyPr wrap="square" tIns="18000" bIns="18000">
            <a:spAutoFit/>
          </a:bodyPr>
          <a:lstStyle/>
          <a:p>
            <a:pPr marL="0" indent="0">
              <a:buNone/>
            </a:pPr>
            <a:r>
              <a:rPr lang="en-US" sz="1200" i="1">
                <a:latin typeface="Arial" panose="020B0604020202020204" pitchFamily="34" charset="0"/>
                <a:cs typeface="Arial" panose="020B0604020202020204" pitchFamily="34" charset="0"/>
              </a:rPr>
              <a:t>Source: </a:t>
            </a:r>
            <a:r>
              <a:rPr lang="en-US" sz="1200">
                <a:latin typeface="Arial" panose="020B0604020202020204" pitchFamily="34" charset="0"/>
                <a:cs typeface="Arial" panose="020B0604020202020204" pitchFamily="34" charset="0"/>
              </a:rPr>
              <a:t>Based on Mintzberg, Henry, </a:t>
            </a:r>
            <a:r>
              <a:rPr lang="en-US" sz="1200" i="1">
                <a:latin typeface="Arial" panose="020B0604020202020204" pitchFamily="34" charset="0"/>
                <a:cs typeface="Arial" panose="020B0604020202020204" pitchFamily="34" charset="0"/>
              </a:rPr>
              <a:t>The Nature of Managerial Work, </a:t>
            </a:r>
            <a:r>
              <a:rPr lang="en-US" sz="1200">
                <a:latin typeface="Arial" panose="020B0604020202020204" pitchFamily="34" charset="0"/>
                <a:cs typeface="Arial" panose="020B0604020202020204" pitchFamily="34" charset="0"/>
              </a:rPr>
              <a:t>1st edition, © 1973</a:t>
            </a:r>
          </a:p>
        </p:txBody>
      </p:sp>
    </p:spTree>
    <p:extLst>
      <p:ext uri="{BB962C8B-B14F-4D97-AF65-F5344CB8AC3E}">
        <p14:creationId xmlns:p14="http://schemas.microsoft.com/office/powerpoint/2010/main" val="23074077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hlinkClick r:id="" action="ppaction://hlinkshowjump?jump=previousslide" highlightClick="1"/>
          </p:cNvPr>
          <p:cNvSpPr>
            <a:spLocks noGrp="1"/>
          </p:cNvSpPr>
          <p:nvPr>
            <p:ph type="title"/>
          </p:nvPr>
        </p:nvSpPr>
        <p:spPr>
          <a:xfrm>
            <a:off x="467999" y="284400"/>
            <a:ext cx="8280713" cy="590349"/>
          </a:xfrm>
          <a:prstGeom prst="actionButtonBackPrevious">
            <a:avLst/>
          </a:prstGeom>
        </p:spPr>
        <p:txBody>
          <a:bodyPr vert="horz" wrap="square" lIns="0" tIns="18000" rIns="0" bIns="18000" rtlCol="0" anchor="b">
            <a:spAutoFit/>
          </a:bodyPr>
          <a:lstStyle/>
          <a:p>
            <a:r>
              <a:rPr lang="en-US" sz="3600" dirty="0">
                <a:latin typeface="+mj-lt"/>
              </a:rPr>
              <a:t>Which Approach Takes the Prize?</a:t>
            </a:r>
          </a:p>
        </p:txBody>
      </p:sp>
      <p:sp>
        <p:nvSpPr>
          <p:cNvPr id="11" name="Content Placeholder 10">
            <a:extLst>
              <a:ext uri="{FF2B5EF4-FFF2-40B4-BE49-F238E27FC236}">
                <a16:creationId xmlns:a16="http://schemas.microsoft.com/office/drawing/2014/main" id="{E5627629-5E4F-4372-A1BC-1E8A47D1DB14}"/>
              </a:ext>
            </a:extLst>
          </p:cNvPr>
          <p:cNvSpPr>
            <a:spLocks noGrp="1"/>
          </p:cNvSpPr>
          <p:nvPr>
            <p:ph sz="quarter" idx="13"/>
          </p:nvPr>
        </p:nvSpPr>
        <p:spPr>
          <a:xfrm>
            <a:off x="468000" y="1268760"/>
            <a:ext cx="1522512" cy="405683"/>
          </a:xfrm>
        </p:spPr>
        <p:txBody>
          <a:bodyPr wrap="square" tIns="18000" bIns="18000">
            <a:spAutoFit/>
          </a:bodyPr>
          <a:lstStyle/>
          <a:p>
            <a:pPr marL="0" indent="0">
              <a:buNone/>
            </a:pPr>
            <a:r>
              <a:rPr lang="en-US" sz="2400" b="1" dirty="0">
                <a:latin typeface="Arial" panose="020B0604020202020204" pitchFamily="34" charset="0"/>
                <a:cs typeface="Arial" panose="020B0604020202020204" pitchFamily="34" charset="0"/>
              </a:rPr>
              <a:t>Functions</a:t>
            </a:r>
            <a:endParaRPr lang="en-US" sz="2400" dirty="0">
              <a:latin typeface="Arial" panose="020B0604020202020204" pitchFamily="34" charset="0"/>
              <a:cs typeface="Arial" panose="020B0604020202020204" pitchFamily="34" charset="0"/>
            </a:endParaRPr>
          </a:p>
        </p:txBody>
      </p:sp>
      <p:pic>
        <p:nvPicPr>
          <p:cNvPr id="33" name="Picture Placeholder 32" descr="The square box followed by the word “Functions” is checked.">
            <a:extLst>
              <a:ext uri="{FF2B5EF4-FFF2-40B4-BE49-F238E27FC236}">
                <a16:creationId xmlns:a16="http://schemas.microsoft.com/office/drawing/2014/main" id="{CE8095AC-1A64-4F64-89D6-07C4F80D67A9}"/>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123728" y="1268760"/>
            <a:ext cx="347472" cy="335280"/>
          </a:xfrm>
          <a:prstGeom prst="rect">
            <a:avLst/>
          </a:prstGeom>
        </p:spPr>
      </p:pic>
      <p:sp>
        <p:nvSpPr>
          <p:cNvPr id="12" name="Content Placeholder 11">
            <a:extLst>
              <a:ext uri="{FF2B5EF4-FFF2-40B4-BE49-F238E27FC236}">
                <a16:creationId xmlns:a16="http://schemas.microsoft.com/office/drawing/2014/main" id="{ED36884F-B78A-4B57-8D64-AC49EB62AAC7}"/>
              </a:ext>
            </a:extLst>
          </p:cNvPr>
          <p:cNvSpPr>
            <a:spLocks noGrp="1"/>
          </p:cNvSpPr>
          <p:nvPr>
            <p:ph sz="quarter" idx="14"/>
          </p:nvPr>
        </p:nvSpPr>
        <p:spPr>
          <a:xfrm>
            <a:off x="467544" y="1844824"/>
            <a:ext cx="936625" cy="405683"/>
          </a:xfrm>
        </p:spPr>
        <p:txBody>
          <a:bodyPr tIns="18000" bIns="18000">
            <a:spAutoFit/>
          </a:bodyPr>
          <a:lstStyle/>
          <a:p>
            <a:pPr marL="0" indent="0">
              <a:buNone/>
            </a:pPr>
            <a:r>
              <a:rPr lang="en-US" sz="2400" b="1" dirty="0">
                <a:latin typeface="Arial" panose="020B0604020202020204" pitchFamily="34" charset="0"/>
                <a:cs typeface="Arial" panose="020B0604020202020204" pitchFamily="34" charset="0"/>
              </a:rPr>
              <a:t>Roles</a:t>
            </a:r>
          </a:p>
        </p:txBody>
      </p:sp>
      <p:pic>
        <p:nvPicPr>
          <p:cNvPr id="35" name="Picture Placeholder 34" descr="The square box followed by the word “Roles” is unchecked.">
            <a:extLst>
              <a:ext uri="{FF2B5EF4-FFF2-40B4-BE49-F238E27FC236}">
                <a16:creationId xmlns:a16="http://schemas.microsoft.com/office/drawing/2014/main" id="{DE937901-3262-48AF-9C1B-8ACCC39DF121}"/>
              </a:ext>
            </a:extLst>
          </p:cNvPr>
          <p:cNvPicPr>
            <a:picLocks noGrp="1" noChangeAspect="1"/>
          </p:cNvPicPr>
          <p:nvPr>
            <p:ph type="pic" sz="quarter" idx="31"/>
          </p:nvPr>
        </p:nvPicPr>
        <p:blipFill>
          <a:blip r:embed="rId4">
            <a:extLst>
              <a:ext uri="{28A0092B-C50C-407E-A947-70E740481C1C}">
                <a14:useLocalDpi xmlns:a14="http://schemas.microsoft.com/office/drawing/2010/main" val="0"/>
              </a:ext>
            </a:extLst>
          </a:blip>
          <a:stretch>
            <a:fillRect/>
          </a:stretch>
        </p:blipFill>
        <p:spPr>
          <a:xfrm>
            <a:off x="2136296" y="1903035"/>
            <a:ext cx="347472" cy="347472"/>
          </a:xfrm>
          <a:prstGeom prst="rect">
            <a:avLst/>
          </a:prstGeom>
        </p:spPr>
      </p:pic>
    </p:spTree>
    <p:extLst>
      <p:ext uri="{BB962C8B-B14F-4D97-AF65-F5344CB8AC3E}">
        <p14:creationId xmlns:p14="http://schemas.microsoft.com/office/powerpoint/2010/main" val="23598447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Skills and Competencies</a:t>
            </a:r>
          </a:p>
        </p:txBody>
      </p:sp>
      <p:pic>
        <p:nvPicPr>
          <p:cNvPr id="35" name="Picture Placeholder 34" descr="An illustration shows a person presenting a graph. Text below reads analyze and diagnose.">
            <a:extLst>
              <a:ext uri="{FF2B5EF4-FFF2-40B4-BE49-F238E27FC236}">
                <a16:creationId xmlns:a16="http://schemas.microsoft.com/office/drawing/2014/main" id="{4982575A-E389-4EAE-9FBB-0B60DEA160B9}"/>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1619672" y="1196752"/>
            <a:ext cx="2070100" cy="1739900"/>
          </a:xfrm>
          <a:prstGeom prst="rect">
            <a:avLst/>
          </a:prstGeom>
        </p:spPr>
      </p:pic>
      <p:sp>
        <p:nvSpPr>
          <p:cNvPr id="13" name="Content Placeholder 12">
            <a:extLst>
              <a:ext uri="{FF2B5EF4-FFF2-40B4-BE49-F238E27FC236}">
                <a16:creationId xmlns:a16="http://schemas.microsoft.com/office/drawing/2014/main" id="{4D963342-8440-446C-AF64-26026074FEA5}"/>
              </a:ext>
            </a:extLst>
          </p:cNvPr>
          <p:cNvSpPr>
            <a:spLocks noGrp="1"/>
          </p:cNvSpPr>
          <p:nvPr>
            <p:ph sz="quarter" idx="13"/>
          </p:nvPr>
        </p:nvSpPr>
        <p:spPr>
          <a:xfrm>
            <a:off x="1115616" y="3068960"/>
            <a:ext cx="3011227" cy="313350"/>
          </a:xfrm>
        </p:spPr>
        <p:txBody>
          <a:bodyPr wrap="square" tIns="18000" bIns="18000">
            <a:spAutoFit/>
          </a:bodyPr>
          <a:lstStyle/>
          <a:p>
            <a:pPr marL="0" indent="0">
              <a:buNone/>
            </a:pPr>
            <a:r>
              <a:rPr lang="en-US" sz="1800" dirty="0">
                <a:latin typeface="Arial" panose="020B0604020202020204" pitchFamily="34" charset="0"/>
                <a:cs typeface="Arial" panose="020B0604020202020204" pitchFamily="34" charset="0"/>
              </a:rPr>
              <a:t>Analyze and diagnose</a:t>
            </a:r>
          </a:p>
        </p:txBody>
      </p:sp>
      <p:pic>
        <p:nvPicPr>
          <p:cNvPr id="37" name="Picture Placeholder 36" descr="An illustration shows three people sitting around a table. Text below reads working well with others.">
            <a:extLst>
              <a:ext uri="{FF2B5EF4-FFF2-40B4-BE49-F238E27FC236}">
                <a16:creationId xmlns:a16="http://schemas.microsoft.com/office/drawing/2014/main" id="{A9FA0FA7-B094-4119-BD99-ECA55B4CD57B}"/>
              </a:ext>
            </a:extLst>
          </p:cNvPr>
          <p:cNvPicPr>
            <a:picLocks noGrp="1" noChangeAspect="1"/>
          </p:cNvPicPr>
          <p:nvPr>
            <p:ph type="pic" sz="quarter" idx="31"/>
          </p:nvPr>
        </p:nvPicPr>
        <p:blipFill>
          <a:blip r:embed="rId4">
            <a:extLst>
              <a:ext uri="{28A0092B-C50C-407E-A947-70E740481C1C}">
                <a14:useLocalDpi xmlns:a14="http://schemas.microsoft.com/office/drawing/2010/main" val="0"/>
              </a:ext>
            </a:extLst>
          </a:blip>
          <a:stretch>
            <a:fillRect/>
          </a:stretch>
        </p:blipFill>
        <p:spPr>
          <a:xfrm>
            <a:off x="5214172" y="1485330"/>
            <a:ext cx="2222500" cy="1168400"/>
          </a:xfrm>
          <a:prstGeom prst="rect">
            <a:avLst/>
          </a:prstGeom>
        </p:spPr>
      </p:pic>
      <p:sp>
        <p:nvSpPr>
          <p:cNvPr id="14" name="Content Placeholder 13">
            <a:extLst>
              <a:ext uri="{FF2B5EF4-FFF2-40B4-BE49-F238E27FC236}">
                <a16:creationId xmlns:a16="http://schemas.microsoft.com/office/drawing/2014/main" id="{20600CA4-6475-41C3-8961-EAC04C449760}"/>
              </a:ext>
            </a:extLst>
          </p:cNvPr>
          <p:cNvSpPr>
            <a:spLocks noGrp="1"/>
          </p:cNvSpPr>
          <p:nvPr>
            <p:ph sz="quarter" idx="14"/>
          </p:nvPr>
        </p:nvSpPr>
        <p:spPr>
          <a:xfrm>
            <a:off x="5017158" y="3084872"/>
            <a:ext cx="3155241" cy="313350"/>
          </a:xfrm>
        </p:spPr>
        <p:txBody>
          <a:bodyPr wrap="square" tIns="18000" bIns="18000">
            <a:spAutoFit/>
          </a:bodyPr>
          <a:lstStyle/>
          <a:p>
            <a:pPr marL="0" indent="0">
              <a:buNone/>
            </a:pPr>
            <a:r>
              <a:rPr lang="en-US" sz="1800" dirty="0">
                <a:latin typeface="Arial" panose="020B0604020202020204" pitchFamily="34" charset="0"/>
                <a:cs typeface="Arial" panose="020B0604020202020204" pitchFamily="34" charset="0"/>
              </a:rPr>
              <a:t>Working well with others</a:t>
            </a:r>
          </a:p>
        </p:txBody>
      </p:sp>
      <p:pic>
        <p:nvPicPr>
          <p:cNvPr id="39" name="Picture Placeholder 38" descr="An illustration shows a person inside a location pin. Text below reads possessing expert job knowledge.">
            <a:extLst>
              <a:ext uri="{FF2B5EF4-FFF2-40B4-BE49-F238E27FC236}">
                <a16:creationId xmlns:a16="http://schemas.microsoft.com/office/drawing/2014/main" id="{E4C293BC-E330-4BE9-A349-AA6DF0D45F38}"/>
              </a:ext>
            </a:extLst>
          </p:cNvPr>
          <p:cNvPicPr>
            <a:picLocks noGrp="1" noChangeAspect="1"/>
          </p:cNvPicPr>
          <p:nvPr>
            <p:ph type="pic" sz="quarter" idx="32"/>
          </p:nvPr>
        </p:nvPicPr>
        <p:blipFill>
          <a:blip r:embed="rId5">
            <a:extLst>
              <a:ext uri="{28A0092B-C50C-407E-A947-70E740481C1C}">
                <a14:useLocalDpi xmlns:a14="http://schemas.microsoft.com/office/drawing/2010/main" val="0"/>
              </a:ext>
            </a:extLst>
          </a:blip>
          <a:stretch>
            <a:fillRect/>
          </a:stretch>
        </p:blipFill>
        <p:spPr>
          <a:xfrm>
            <a:off x="1619672" y="3501008"/>
            <a:ext cx="1625600" cy="2082800"/>
          </a:xfrm>
          <a:prstGeom prst="rect">
            <a:avLst/>
          </a:prstGeom>
        </p:spPr>
      </p:pic>
      <p:sp>
        <p:nvSpPr>
          <p:cNvPr id="15" name="Content Placeholder 14">
            <a:extLst>
              <a:ext uri="{FF2B5EF4-FFF2-40B4-BE49-F238E27FC236}">
                <a16:creationId xmlns:a16="http://schemas.microsoft.com/office/drawing/2014/main" id="{A0B2721B-D9F4-4C50-ABF3-A74F41BACF49}"/>
              </a:ext>
            </a:extLst>
          </p:cNvPr>
          <p:cNvSpPr>
            <a:spLocks noGrp="1"/>
          </p:cNvSpPr>
          <p:nvPr>
            <p:ph sz="quarter" idx="15"/>
          </p:nvPr>
        </p:nvSpPr>
        <p:spPr>
          <a:xfrm>
            <a:off x="755576" y="5661248"/>
            <a:ext cx="3816423" cy="313350"/>
          </a:xfrm>
        </p:spPr>
        <p:txBody>
          <a:bodyPr wrap="square" tIns="18000" bIns="18000">
            <a:spAutoFit/>
          </a:bodyPr>
          <a:lstStyle/>
          <a:p>
            <a:pPr marL="0" indent="0">
              <a:buNone/>
            </a:pPr>
            <a:r>
              <a:rPr lang="en-US" sz="1800" dirty="0">
                <a:latin typeface="Arial" panose="020B0604020202020204" pitchFamily="34" charset="0"/>
                <a:cs typeface="Arial" panose="020B0604020202020204" pitchFamily="34" charset="0"/>
              </a:rPr>
              <a:t>Possessing expert job knowledge</a:t>
            </a:r>
          </a:p>
        </p:txBody>
      </p:sp>
      <p:pic>
        <p:nvPicPr>
          <p:cNvPr id="41" name="Picture Placeholder 40" descr="An illustration shows a person standing at a lectern and speaking. Text below reads political adeptness.">
            <a:extLst>
              <a:ext uri="{FF2B5EF4-FFF2-40B4-BE49-F238E27FC236}">
                <a16:creationId xmlns:a16="http://schemas.microsoft.com/office/drawing/2014/main" id="{18E13210-2B23-421F-92E9-8332B935EE0C}"/>
              </a:ext>
            </a:extLst>
          </p:cNvPr>
          <p:cNvPicPr>
            <a:picLocks noGrp="1" noChangeAspect="1"/>
          </p:cNvPicPr>
          <p:nvPr>
            <p:ph type="pic" sz="quarter" idx="33"/>
          </p:nvPr>
        </p:nvPicPr>
        <p:blipFill>
          <a:blip r:embed="rId6">
            <a:extLst>
              <a:ext uri="{28A0092B-C50C-407E-A947-70E740481C1C}">
                <a14:useLocalDpi xmlns:a14="http://schemas.microsoft.com/office/drawing/2010/main" val="0"/>
              </a:ext>
            </a:extLst>
          </a:blip>
          <a:stretch>
            <a:fillRect/>
          </a:stretch>
        </p:blipFill>
        <p:spPr>
          <a:xfrm>
            <a:off x="5766622" y="3928616"/>
            <a:ext cx="1117600" cy="1371600"/>
          </a:xfrm>
          <a:prstGeom prst="rect">
            <a:avLst/>
          </a:prstGeom>
        </p:spPr>
      </p:pic>
      <p:sp>
        <p:nvSpPr>
          <p:cNvPr id="16" name="Content Placeholder 15">
            <a:extLst>
              <a:ext uri="{FF2B5EF4-FFF2-40B4-BE49-F238E27FC236}">
                <a16:creationId xmlns:a16="http://schemas.microsoft.com/office/drawing/2014/main" id="{ED476D95-8CAC-4F93-9027-92A550789D6E}"/>
              </a:ext>
            </a:extLst>
          </p:cNvPr>
          <p:cNvSpPr>
            <a:spLocks noGrp="1"/>
          </p:cNvSpPr>
          <p:nvPr>
            <p:ph sz="quarter" idx="16"/>
          </p:nvPr>
        </p:nvSpPr>
        <p:spPr>
          <a:xfrm>
            <a:off x="5004048" y="5661248"/>
            <a:ext cx="3744664" cy="313350"/>
          </a:xfrm>
        </p:spPr>
        <p:txBody>
          <a:bodyPr wrap="square" tIns="18000" bIns="18000">
            <a:spAutoFit/>
          </a:bodyPr>
          <a:lstStyle/>
          <a:p>
            <a:pPr marL="0" indent="0">
              <a:buNone/>
            </a:pPr>
            <a:r>
              <a:rPr lang="en-US" sz="1800" dirty="0">
                <a:latin typeface="Arial" panose="020B0604020202020204" pitchFamily="34" charset="0"/>
                <a:cs typeface="Arial" panose="020B0604020202020204" pitchFamily="34" charset="0"/>
              </a:rPr>
              <a:t>Political adeptness</a:t>
            </a:r>
          </a:p>
        </p:txBody>
      </p:sp>
      <p:sp>
        <p:nvSpPr>
          <p:cNvPr id="17" name="Content Placeholder 16">
            <a:extLst>
              <a:ext uri="{FF2B5EF4-FFF2-40B4-BE49-F238E27FC236}">
                <a16:creationId xmlns:a16="http://schemas.microsoft.com/office/drawing/2014/main" id="{52070E99-5043-4904-89DC-897C0874FE79}"/>
              </a:ext>
            </a:extLst>
          </p:cNvPr>
          <p:cNvSpPr>
            <a:spLocks noGrp="1"/>
          </p:cNvSpPr>
          <p:nvPr>
            <p:ph sz="quarter" idx="17"/>
          </p:nvPr>
        </p:nvSpPr>
        <p:spPr>
          <a:xfrm>
            <a:off x="467544" y="6165304"/>
            <a:ext cx="8280713" cy="221018"/>
          </a:xfrm>
        </p:spPr>
        <p:txBody>
          <a:bodyPr wrap="square" tIns="18000" bIns="18000">
            <a:spAutoFit/>
          </a:bodyPr>
          <a:lstStyle/>
          <a:p>
            <a:pPr marL="0" indent="0">
              <a:buNone/>
            </a:pPr>
            <a:r>
              <a:rPr lang="en-US" sz="1200" i="1" dirty="0">
                <a:latin typeface="Arial" panose="020B0604020202020204" pitchFamily="34" charset="0"/>
                <a:cs typeface="Arial" panose="020B0604020202020204" pitchFamily="34" charset="0"/>
              </a:rPr>
              <a:t>Source: </a:t>
            </a:r>
            <a:r>
              <a:rPr lang="en-US" sz="1200" dirty="0">
                <a:latin typeface="Arial" panose="020B0604020202020204" pitchFamily="34" charset="0"/>
                <a:cs typeface="Arial" panose="020B0604020202020204" pitchFamily="34" charset="0"/>
              </a:rPr>
              <a:t>Simon/Fotolia</a:t>
            </a:r>
          </a:p>
        </p:txBody>
      </p:sp>
    </p:spTree>
    <p:extLst>
      <p:ext uri="{BB962C8B-B14F-4D97-AF65-F5344CB8AC3E}">
        <p14:creationId xmlns:p14="http://schemas.microsoft.com/office/powerpoint/2010/main" val="642494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Learning Objective 1.4</a:t>
            </a:r>
          </a:p>
        </p:txBody>
      </p:sp>
      <p:sp>
        <p:nvSpPr>
          <p:cNvPr id="3" name="Content Placeholder 2"/>
          <p:cNvSpPr>
            <a:spLocks noGrp="1"/>
          </p:cNvSpPr>
          <p:nvPr>
            <p:ph idx="1"/>
          </p:nvPr>
        </p:nvSpPr>
        <p:spPr>
          <a:xfrm>
            <a:off x="468000" y="1274400"/>
            <a:ext cx="8280712" cy="405683"/>
          </a:xfrm>
        </p:spPr>
        <p:txBody>
          <a:bodyPr wrap="square" tIns="18000" bIns="18000">
            <a:spAutoFit/>
          </a:bodyPr>
          <a:lstStyle/>
          <a:p>
            <a:pPr marL="0" indent="0">
              <a:buNone/>
            </a:pPr>
            <a:r>
              <a:rPr lang="en-US" altLang="en-US" sz="2400" dirty="0">
                <a:latin typeface="Arial" panose="020B0604020202020204" pitchFamily="34" charset="0"/>
                <a:cs typeface="Arial" panose="020B0604020202020204" pitchFamily="34" charset="0"/>
              </a:rPr>
              <a:t>Explain why it’s important to study management.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32351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712" cy="590349"/>
          </a:xfrm>
        </p:spPr>
        <p:txBody>
          <a:bodyPr vert="horz" wrap="square" lIns="0" tIns="18000" rIns="0" bIns="18000" rtlCol="0" anchor="b">
            <a:spAutoFit/>
          </a:bodyPr>
          <a:lstStyle/>
          <a:p>
            <a:r>
              <a:rPr lang="en-US" sz="3600" dirty="0">
                <a:latin typeface="+mj-lt"/>
              </a:rPr>
              <a:t>Why Study Management? </a:t>
            </a:r>
            <a:r>
              <a:rPr lang="en-US" sz="2800" dirty="0">
                <a:latin typeface="+mj-lt"/>
              </a:rPr>
              <a:t>(1 of 2)</a:t>
            </a:r>
          </a:p>
        </p:txBody>
      </p:sp>
      <p:sp>
        <p:nvSpPr>
          <p:cNvPr id="3" name="Content Placeholder 2"/>
          <p:cNvSpPr>
            <a:spLocks noGrp="1"/>
          </p:cNvSpPr>
          <p:nvPr>
            <p:ph idx="1"/>
          </p:nvPr>
        </p:nvSpPr>
        <p:spPr>
          <a:xfrm>
            <a:off x="467999" y="1274400"/>
            <a:ext cx="8280713" cy="775015"/>
          </a:xfrm>
        </p:spPr>
        <p:txBody>
          <a:bodyPr wrap="square" tIns="18000" bIns="18000">
            <a:spAutoFit/>
          </a:bodyPr>
          <a:lstStyle/>
          <a:p>
            <a:pPr marL="0" indent="0">
              <a:buNone/>
            </a:pPr>
            <a:r>
              <a:rPr lang="en-US" altLang="en-US" sz="2400" dirty="0">
                <a:latin typeface="Arial" panose="020B0604020202020204" pitchFamily="34" charset="0"/>
                <a:cs typeface="Arial" panose="020B0604020202020204" pitchFamily="34" charset="0"/>
              </a:rPr>
              <a:t>We all have a vested interest in improving how organizations are managed.</a:t>
            </a:r>
          </a:p>
        </p:txBody>
      </p:sp>
    </p:spTree>
    <p:extLst>
      <p:ext uri="{BB962C8B-B14F-4D97-AF65-F5344CB8AC3E}">
        <p14:creationId xmlns:p14="http://schemas.microsoft.com/office/powerpoint/2010/main" val="32467735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712" cy="590349"/>
          </a:xfrm>
        </p:spPr>
        <p:txBody>
          <a:bodyPr vert="horz" wrap="square" lIns="0" tIns="18000" rIns="0" bIns="18000" rtlCol="0" anchor="b">
            <a:spAutoFit/>
          </a:bodyPr>
          <a:lstStyle/>
          <a:p>
            <a:r>
              <a:rPr lang="en-US" sz="3600" dirty="0">
                <a:latin typeface="+mj-lt"/>
              </a:rPr>
              <a:t>Why Study Management? </a:t>
            </a:r>
            <a:r>
              <a:rPr lang="en-US" sz="2800" dirty="0">
                <a:latin typeface="+mj-lt"/>
              </a:rPr>
              <a:t>(2 of 2)</a:t>
            </a:r>
          </a:p>
        </p:txBody>
      </p:sp>
      <p:sp>
        <p:nvSpPr>
          <p:cNvPr id="3" name="Content Placeholder 2"/>
          <p:cNvSpPr>
            <a:spLocks noGrp="1"/>
          </p:cNvSpPr>
          <p:nvPr>
            <p:ph idx="1"/>
          </p:nvPr>
        </p:nvSpPr>
        <p:spPr>
          <a:xfrm>
            <a:off x="467999" y="1274400"/>
            <a:ext cx="8280713" cy="405683"/>
          </a:xfrm>
        </p:spPr>
        <p:txBody>
          <a:bodyPr wrap="square" tIns="18000" bIns="18000">
            <a:spAutoFit/>
          </a:bodyPr>
          <a:lstStyle/>
          <a:p>
            <a:pPr marL="0" indent="0">
              <a:buNone/>
            </a:pPr>
            <a:r>
              <a:rPr lang="en-US" altLang="en-US" sz="2400" dirty="0">
                <a:latin typeface="Arial" panose="020B0604020202020204" pitchFamily="34" charset="0"/>
                <a:ea typeface="ＭＳ Ｐゴシック" pitchFamily="34" charset="-128"/>
                <a:cs typeface="Arial" panose="020B0604020202020204" pitchFamily="34" charset="0"/>
              </a:rPr>
              <a:t>Most people will either manage or be managed.</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80727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000" y="284400"/>
            <a:ext cx="8280712" cy="590349"/>
          </a:xfrm>
        </p:spPr>
        <p:txBody>
          <a:bodyPr vert="horz" wrap="square" lIns="0" tIns="18000" rIns="0" bIns="18000" rtlCol="0" anchor="b">
            <a:spAutoFit/>
          </a:bodyPr>
          <a:lstStyle/>
          <a:p>
            <a:r>
              <a:rPr lang="en-US" sz="3600" dirty="0">
                <a:latin typeface="+mj-lt"/>
              </a:rPr>
              <a:t>Learning Objective 1.5</a:t>
            </a:r>
          </a:p>
        </p:txBody>
      </p:sp>
      <p:sp>
        <p:nvSpPr>
          <p:cNvPr id="3" name="Content Placeholder 2"/>
          <p:cNvSpPr>
            <a:spLocks noGrp="1"/>
          </p:cNvSpPr>
          <p:nvPr>
            <p:ph idx="1"/>
          </p:nvPr>
        </p:nvSpPr>
        <p:spPr>
          <a:xfrm>
            <a:off x="467999" y="1274400"/>
            <a:ext cx="8280713" cy="775015"/>
          </a:xfrm>
        </p:spPr>
        <p:txBody>
          <a:bodyPr wrap="square" tIns="18000" bIns="18000">
            <a:spAutoFit/>
          </a:bodyPr>
          <a:lstStyle/>
          <a:p>
            <a:pPr marL="0" indent="0">
              <a:buNone/>
            </a:pPr>
            <a:r>
              <a:rPr lang="en-US" altLang="en-US" sz="2400" dirty="0">
                <a:latin typeface="Arial" panose="020B0604020202020204" pitchFamily="34" charset="0"/>
                <a:cs typeface="Arial" panose="020B0604020202020204" pitchFamily="34" charset="0"/>
              </a:rPr>
              <a:t>Describe the factors that are reshaping and redefining management.</a:t>
            </a:r>
          </a:p>
        </p:txBody>
      </p:sp>
    </p:spTree>
    <p:extLst>
      <p:ext uri="{BB962C8B-B14F-4D97-AF65-F5344CB8AC3E}">
        <p14:creationId xmlns:p14="http://schemas.microsoft.com/office/powerpoint/2010/main" val="2309084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284400"/>
            <a:ext cx="8280713" cy="1144347"/>
          </a:xfrm>
        </p:spPr>
        <p:txBody>
          <a:bodyPr vert="horz" wrap="square" lIns="0" tIns="18000" rIns="0" bIns="18000" rtlCol="0" anchor="b">
            <a:spAutoFit/>
          </a:bodyPr>
          <a:lstStyle/>
          <a:p>
            <a:r>
              <a:rPr lang="en-US" sz="3600" dirty="0">
                <a:latin typeface="+mj-lt"/>
              </a:rPr>
              <a:t>What Factors are Reshaping and Redefining Management</a:t>
            </a:r>
          </a:p>
        </p:txBody>
      </p:sp>
      <p:sp>
        <p:nvSpPr>
          <p:cNvPr id="5" name="Content Placeholder 4">
            <a:extLst>
              <a:ext uri="{FF2B5EF4-FFF2-40B4-BE49-F238E27FC236}">
                <a16:creationId xmlns:a16="http://schemas.microsoft.com/office/drawing/2014/main" id="{CD9206D3-C5CC-4C34-9251-43749AA44282}"/>
              </a:ext>
            </a:extLst>
          </p:cNvPr>
          <p:cNvSpPr>
            <a:spLocks noGrp="1"/>
          </p:cNvSpPr>
          <p:nvPr>
            <p:ph sz="quarter" idx="13"/>
          </p:nvPr>
        </p:nvSpPr>
        <p:spPr>
          <a:xfrm>
            <a:off x="468000" y="1602000"/>
            <a:ext cx="8280713" cy="967376"/>
          </a:xfrm>
        </p:spPr>
        <p:txBody>
          <a:bodyPr wrap="square" tIns="18000" bIns="18000">
            <a:spAutoFit/>
          </a:bodyPr>
          <a:lstStyle/>
          <a:p>
            <a:pPr>
              <a:buNone/>
            </a:pPr>
            <a:r>
              <a:rPr lang="en-US" altLang="en-US" sz="2400" dirty="0">
                <a:latin typeface="Arial" panose="020B0604020202020204" pitchFamily="34" charset="0"/>
                <a:ea typeface="ＭＳ Ｐゴシック" pitchFamily="34" charset="-128"/>
                <a:cs typeface="Arial" panose="020B0604020202020204" pitchFamily="34" charset="0"/>
              </a:rPr>
              <a:t>Welcome to the New World of Management!</a:t>
            </a:r>
          </a:p>
          <a:p>
            <a:pPr marL="266400" indent="-266400"/>
            <a:r>
              <a:rPr lang="en-US" altLang="en-US" sz="2400" dirty="0">
                <a:latin typeface="Arial" panose="020B0604020202020204" pitchFamily="34" charset="0"/>
                <a:ea typeface="ＭＳ Ｐゴシック" pitchFamily="34" charset="-128"/>
                <a:cs typeface="Arial" panose="020B0604020202020204" pitchFamily="34" charset="0"/>
              </a:rPr>
              <a:t>Changing Workplaces + Changing Workforce</a:t>
            </a:r>
            <a:endParaRPr lang="en-US" sz="2400" dirty="0">
              <a:latin typeface="Arial" panose="020B0604020202020204" pitchFamily="34" charset="0"/>
              <a:cs typeface="Arial" panose="020B0604020202020204" pitchFamily="34" charset="0"/>
            </a:endParaRPr>
          </a:p>
        </p:txBody>
      </p:sp>
      <p:pic>
        <p:nvPicPr>
          <p:cNvPr id="27" name="Picture Placeholder 26" descr="A photo shows a woman wearing futuristic glasses that has illumination along the inner side of the frame.">
            <a:extLst>
              <a:ext uri="{FF2B5EF4-FFF2-40B4-BE49-F238E27FC236}">
                <a16:creationId xmlns:a16="http://schemas.microsoft.com/office/drawing/2014/main" id="{46FE868C-1835-4548-BBE5-81E5F60CAA20}"/>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2101180" y="2794595"/>
            <a:ext cx="4991100" cy="3514725"/>
          </a:xfrm>
          <a:prstGeom prst="rect">
            <a:avLst/>
          </a:prstGeom>
        </p:spPr>
      </p:pic>
    </p:spTree>
    <p:extLst>
      <p:ext uri="{BB962C8B-B14F-4D97-AF65-F5344CB8AC3E}">
        <p14:creationId xmlns:p14="http://schemas.microsoft.com/office/powerpoint/2010/main" val="15510685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vert="horz" wrap="square" lIns="0" tIns="18000" rIns="0" bIns="18000" rtlCol="0" anchor="b">
            <a:spAutoFit/>
          </a:bodyPr>
          <a:lstStyle/>
          <a:p>
            <a:r>
              <a:rPr lang="en-US" sz="3600" dirty="0">
                <a:latin typeface="+mj-lt"/>
              </a:rPr>
              <a:t>Why Are Customers Important to the Manager’s Job?</a:t>
            </a:r>
          </a:p>
        </p:txBody>
      </p:sp>
      <p:sp>
        <p:nvSpPr>
          <p:cNvPr id="3" name="Content Placeholder 2"/>
          <p:cNvSpPr>
            <a:spLocks noGrp="1"/>
          </p:cNvSpPr>
          <p:nvPr>
            <p:ph idx="1"/>
          </p:nvPr>
        </p:nvSpPr>
        <p:spPr>
          <a:xfrm>
            <a:off x="467999" y="1602000"/>
            <a:ext cx="8280713" cy="775015"/>
          </a:xfrm>
        </p:spPr>
        <p:txBody>
          <a:bodyPr wrap="square" tIns="18000" bIns="18000">
            <a:spAutoFit/>
          </a:bodyPr>
          <a:lstStyle/>
          <a:p>
            <a:pPr marL="0" indent="0">
              <a:buNone/>
            </a:pPr>
            <a:r>
              <a:rPr lang="en-US" altLang="en-US" sz="2400" dirty="0">
                <a:latin typeface="Arial" panose="020B0604020202020204" pitchFamily="34" charset="0"/>
                <a:ea typeface="ＭＳ Ｐゴシック" pitchFamily="34" charset="-128"/>
                <a:cs typeface="Arial" panose="020B0604020202020204" pitchFamily="34" charset="0"/>
              </a:rPr>
              <a:t>Consistent, high-quality customer service is essential to survival.</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30127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vert="horz" wrap="square" lIns="0" tIns="18000" rIns="0" bIns="18000" rtlCol="0" anchor="b">
            <a:spAutoFit/>
          </a:bodyPr>
          <a:lstStyle/>
          <a:p>
            <a:r>
              <a:rPr lang="en-US" sz="3600" dirty="0">
                <a:latin typeface="+mj-lt"/>
              </a:rPr>
              <a:t>Why Is Innovation Important to the Manager’s Job?</a:t>
            </a:r>
          </a:p>
        </p:txBody>
      </p:sp>
      <p:sp>
        <p:nvSpPr>
          <p:cNvPr id="3" name="Content Placeholder 2"/>
          <p:cNvSpPr>
            <a:spLocks noGrp="1"/>
          </p:cNvSpPr>
          <p:nvPr>
            <p:ph idx="1"/>
          </p:nvPr>
        </p:nvSpPr>
        <p:spPr>
          <a:xfrm>
            <a:off x="468000" y="1602000"/>
            <a:ext cx="8280712" cy="405683"/>
          </a:xfrm>
        </p:spPr>
        <p:txBody>
          <a:bodyPr wrap="square" tIns="18000" bIns="18000">
            <a:spAutoFit/>
          </a:bodyPr>
          <a:lstStyle/>
          <a:p>
            <a:pPr marL="0" indent="0">
              <a:buNone/>
            </a:pPr>
            <a:r>
              <a:rPr lang="en-US" altLang="en-US" sz="2400" dirty="0">
                <a:latin typeface="Arial" panose="020B0604020202020204" pitchFamily="34" charset="0"/>
                <a:ea typeface="ＭＳ Ｐゴシック" pitchFamily="34" charset="-128"/>
                <a:cs typeface="Arial" panose="020B0604020202020204" pitchFamily="34" charset="0"/>
              </a:rPr>
              <a:t>“Nothing is more risky than not innovating.”</a:t>
            </a:r>
            <a:endParaRPr lang="en-US" sz="20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49963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vert="horz" wrap="square" lIns="0" tIns="18000" rIns="0" bIns="18000" rtlCol="0" anchor="b">
            <a:spAutoFit/>
          </a:bodyPr>
          <a:lstStyle/>
          <a:p>
            <a:r>
              <a:rPr lang="en-US" sz="3600" dirty="0">
                <a:latin typeface="+mj-lt"/>
              </a:rPr>
              <a:t>Importance of Social Media to the Manager’s Job</a:t>
            </a:r>
          </a:p>
        </p:txBody>
      </p:sp>
      <p:sp>
        <p:nvSpPr>
          <p:cNvPr id="5" name="Content Placeholder 4">
            <a:extLst>
              <a:ext uri="{FF2B5EF4-FFF2-40B4-BE49-F238E27FC236}">
                <a16:creationId xmlns:a16="http://schemas.microsoft.com/office/drawing/2014/main" id="{5E74C2F9-3B14-4C25-B2CC-869B0C6429FD}"/>
              </a:ext>
            </a:extLst>
          </p:cNvPr>
          <p:cNvSpPr>
            <a:spLocks noGrp="1"/>
          </p:cNvSpPr>
          <p:nvPr>
            <p:ph sz="quarter" idx="13"/>
          </p:nvPr>
        </p:nvSpPr>
        <p:spPr>
          <a:xfrm>
            <a:off x="468000" y="1602000"/>
            <a:ext cx="3754760" cy="2760174"/>
          </a:xfrm>
        </p:spPr>
        <p:txBody>
          <a:bodyPr wrap="square" tIns="18000" bIns="18000">
            <a:spAutoFit/>
          </a:bodyPr>
          <a:lstStyle/>
          <a:p>
            <a:pPr marL="0" indent="0">
              <a:spcBef>
                <a:spcPts val="600"/>
              </a:spcBef>
              <a:buSzPct val="100000"/>
              <a:buNone/>
              <a:defRPr/>
            </a:pPr>
            <a:r>
              <a:rPr lang="en-US" altLang="en-US" sz="1800" b="1" dirty="0">
                <a:latin typeface="Arial" panose="020B0604020202020204" pitchFamily="34" charset="0"/>
                <a:ea typeface="ＭＳ Ｐゴシック" pitchFamily="34" charset="-128"/>
                <a:cs typeface="Arial" panose="020B0604020202020204" pitchFamily="34" charset="0"/>
              </a:rPr>
              <a:t>Social media</a:t>
            </a:r>
          </a:p>
          <a:p>
            <a:pPr lvl="1">
              <a:defRPr/>
            </a:pPr>
            <a:r>
              <a:rPr lang="en-US" altLang="en-US" sz="1800" dirty="0">
                <a:latin typeface="Arial" panose="020B0604020202020204" pitchFamily="34" charset="0"/>
                <a:ea typeface="ＭＳ Ｐゴシック" pitchFamily="34" charset="-128"/>
                <a:cs typeface="Arial" panose="020B0604020202020204" pitchFamily="34" charset="0"/>
              </a:rPr>
              <a:t>Forms of electronic communication through which users create communities to share ideas, information, personal messages, and other content</a:t>
            </a:r>
          </a:p>
          <a:p>
            <a:pPr marL="266700" indent="-266700">
              <a:spcBef>
                <a:spcPts val="600"/>
              </a:spcBef>
              <a:buSzPct val="100000"/>
              <a:defRPr/>
            </a:pPr>
            <a:r>
              <a:rPr lang="en-US" altLang="en-US" sz="1800" dirty="0">
                <a:latin typeface="Arial" panose="020B0604020202020204" pitchFamily="34" charset="0"/>
                <a:ea typeface="ＭＳ Ｐゴシック" pitchFamily="34" charset="-128"/>
                <a:cs typeface="Arial" panose="020B0604020202020204" pitchFamily="34" charset="0"/>
              </a:rPr>
              <a:t>Connecting with customers</a:t>
            </a:r>
          </a:p>
          <a:p>
            <a:pPr marL="266700" indent="-266700">
              <a:spcBef>
                <a:spcPts val="600"/>
              </a:spcBef>
              <a:buSzPct val="100000"/>
              <a:defRPr/>
            </a:pPr>
            <a:r>
              <a:rPr lang="en-US" altLang="en-US" sz="1800" dirty="0">
                <a:latin typeface="Arial" panose="020B0604020202020204" pitchFamily="34" charset="0"/>
                <a:ea typeface="ＭＳ Ｐゴシック" pitchFamily="34" charset="-128"/>
                <a:cs typeface="Arial" panose="020B0604020202020204" pitchFamily="34" charset="0"/>
              </a:rPr>
              <a:t>Managing human resources</a:t>
            </a:r>
            <a:endParaRPr lang="en-US" sz="1800" dirty="0">
              <a:latin typeface="Arial" panose="020B0604020202020204" pitchFamily="34" charset="0"/>
              <a:cs typeface="Arial" panose="020B0604020202020204" pitchFamily="34" charset="0"/>
            </a:endParaRPr>
          </a:p>
        </p:txBody>
      </p:sp>
      <p:pic>
        <p:nvPicPr>
          <p:cNvPr id="27" name="Picture Placeholder 26" descr="A photo shows a man standing in front of a poster with the text, Clean your room, house, neighborhood, city, planet. There is a check mark next to the planet.">
            <a:extLst>
              <a:ext uri="{FF2B5EF4-FFF2-40B4-BE49-F238E27FC236}">
                <a16:creationId xmlns:a16="http://schemas.microsoft.com/office/drawing/2014/main" id="{89592C8F-E2B5-4872-AC11-B0D901C13C8A}"/>
              </a:ext>
            </a:extLst>
          </p:cNvPr>
          <p:cNvPicPr>
            <a:picLocks noGrp="1" noChangeAspect="1"/>
          </p:cNvPicPr>
          <p:nvPr>
            <p:ph type="pic" sz="quarter" idx="30"/>
          </p:nvPr>
        </p:nvPicPr>
        <p:blipFill>
          <a:blip r:embed="rId3">
            <a:extLst>
              <a:ext uri="{28A0092B-C50C-407E-A947-70E740481C1C}">
                <a14:useLocalDpi xmlns:a14="http://schemas.microsoft.com/office/drawing/2010/main" val="0"/>
              </a:ext>
            </a:extLst>
          </a:blip>
          <a:stretch>
            <a:fillRect/>
          </a:stretch>
        </p:blipFill>
        <p:spPr>
          <a:xfrm>
            <a:off x="4571184" y="1772816"/>
            <a:ext cx="3889248" cy="2602992"/>
          </a:xfrm>
          <a:prstGeom prst="rect">
            <a:avLst/>
          </a:prstGeom>
        </p:spPr>
      </p:pic>
    </p:spTree>
    <p:extLst>
      <p:ext uri="{BB962C8B-B14F-4D97-AF65-F5344CB8AC3E}">
        <p14:creationId xmlns:p14="http://schemas.microsoft.com/office/powerpoint/2010/main" val="339127394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4347"/>
          </a:xfrm>
        </p:spPr>
        <p:txBody>
          <a:bodyPr vert="horz" wrap="square" lIns="0" tIns="18000" rIns="0" bIns="18000" rtlCol="0" anchor="b">
            <a:spAutoFit/>
          </a:bodyPr>
          <a:lstStyle/>
          <a:p>
            <a:r>
              <a:rPr lang="en-US" sz="3600" dirty="0">
                <a:latin typeface="+mj-lt"/>
              </a:rPr>
              <a:t>Importance of Sustainability to the Manger’s Job</a:t>
            </a:r>
          </a:p>
        </p:txBody>
      </p:sp>
      <p:sp>
        <p:nvSpPr>
          <p:cNvPr id="3" name="Content Placeholder 2"/>
          <p:cNvSpPr>
            <a:spLocks noGrp="1"/>
          </p:cNvSpPr>
          <p:nvPr>
            <p:ph idx="1"/>
          </p:nvPr>
        </p:nvSpPr>
        <p:spPr>
          <a:xfrm>
            <a:off x="468000" y="1602000"/>
            <a:ext cx="8280712" cy="1959955"/>
          </a:xfrm>
        </p:spPr>
        <p:txBody>
          <a:bodyPr wrap="square" tIns="18000" bIns="18000">
            <a:spAutoFit/>
          </a:bodyPr>
          <a:lstStyle/>
          <a:p>
            <a:pPr marL="0" indent="0">
              <a:buNone/>
            </a:pPr>
            <a:r>
              <a:rPr lang="en-US" altLang="en-US" sz="2400" b="1" dirty="0">
                <a:latin typeface="Arial" panose="020B0604020202020204" pitchFamily="34" charset="0"/>
                <a:ea typeface="ＭＳ Ｐゴシック" pitchFamily="34" charset="-128"/>
                <a:cs typeface="Arial" panose="020B0604020202020204" pitchFamily="34" charset="0"/>
              </a:rPr>
              <a:t>Sustainability</a:t>
            </a:r>
          </a:p>
          <a:p>
            <a:pPr marL="735441" lvl="1" indent="-284400">
              <a:buSzPct val="100000"/>
            </a:pPr>
            <a:r>
              <a:rPr lang="en-US" altLang="en-US" sz="2400" dirty="0">
                <a:latin typeface="Arial" panose="020B0604020202020204" pitchFamily="34" charset="0"/>
                <a:ea typeface="ＭＳ Ｐゴシック" pitchFamily="34" charset="-128"/>
                <a:cs typeface="Arial" panose="020B0604020202020204" pitchFamily="34" charset="0"/>
              </a:rPr>
              <a:t>A company’s ability to achieve its business goals and increase long-term shareholder value by integrating economic, environmental, and social opportunities into its business strategies</a:t>
            </a:r>
            <a:endParaRPr lang="en-US" altLang="en-US" sz="2400" b="1" dirty="0">
              <a:latin typeface="Arial" panose="020B0604020202020204" pitchFamily="34" charset="0"/>
              <a:ea typeface="ＭＳ Ｐゴシック" pitchFamily="34" charset="-128"/>
              <a:cs typeface="Arial" panose="020B0604020202020204" pitchFamily="34" charset="0"/>
            </a:endParaRPr>
          </a:p>
        </p:txBody>
      </p:sp>
    </p:spTree>
    <p:extLst>
      <p:ext uri="{BB962C8B-B14F-4D97-AF65-F5344CB8AC3E}">
        <p14:creationId xmlns:p14="http://schemas.microsoft.com/office/powerpoint/2010/main" val="16726244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Learning Objective 1.6</a:t>
            </a:r>
          </a:p>
        </p:txBody>
      </p:sp>
      <p:sp>
        <p:nvSpPr>
          <p:cNvPr id="3" name="Content Placeholder 2"/>
          <p:cNvSpPr>
            <a:spLocks noGrp="1"/>
          </p:cNvSpPr>
          <p:nvPr>
            <p:ph idx="1"/>
          </p:nvPr>
        </p:nvSpPr>
        <p:spPr>
          <a:xfrm>
            <a:off x="468001" y="1274400"/>
            <a:ext cx="8280712" cy="1144347"/>
          </a:xfrm>
        </p:spPr>
        <p:txBody>
          <a:bodyPr wrap="square" tIns="18000" bIns="18000">
            <a:spAutoFit/>
          </a:bodyPr>
          <a:lstStyle/>
          <a:p>
            <a:pPr marL="0" indent="0">
              <a:buNone/>
            </a:pPr>
            <a:r>
              <a:rPr lang="en-US" altLang="en-US" sz="2400" dirty="0">
                <a:latin typeface="Arial" panose="020B0604020202020204" pitchFamily="34" charset="0"/>
                <a:cs typeface="Arial" panose="020B0604020202020204" pitchFamily="34" charset="0"/>
              </a:rPr>
              <a:t>Describe the key employability skills gained from studying management that are applicable to your future career, regardless of your major </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066319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1147982"/>
          </a:xfrm>
        </p:spPr>
        <p:txBody>
          <a:bodyPr vert="horz" wrap="square" lIns="0" tIns="18000" rIns="0" bIns="18000" rtlCol="0" anchor="b">
            <a:spAutoFit/>
          </a:bodyPr>
          <a:lstStyle/>
          <a:p>
            <a:r>
              <a:rPr lang="en-US" sz="3600" dirty="0">
                <a:latin typeface="+mj-lt"/>
              </a:rPr>
              <a:t>What Employability Skills Are Critical for Getting and Keeping a Job?</a:t>
            </a:r>
          </a:p>
        </p:txBody>
      </p:sp>
      <p:sp>
        <p:nvSpPr>
          <p:cNvPr id="3" name="Content Placeholder 2"/>
          <p:cNvSpPr>
            <a:spLocks noGrp="1"/>
          </p:cNvSpPr>
          <p:nvPr>
            <p:ph idx="1"/>
          </p:nvPr>
        </p:nvSpPr>
        <p:spPr>
          <a:xfrm>
            <a:off x="468000" y="1602000"/>
            <a:ext cx="8280712" cy="2656088"/>
          </a:xfrm>
        </p:spPr>
        <p:txBody>
          <a:bodyPr wrap="square" tIns="18000" bIns="18000">
            <a:spAutoFit/>
          </a:bodyPr>
          <a:lstStyle/>
          <a:p>
            <a:pPr marL="266400" indent="-266400">
              <a:buSzPct val="100000"/>
            </a:pPr>
            <a:r>
              <a:rPr lang="en-US" altLang="en-US" sz="2400" dirty="0">
                <a:latin typeface="Arial" panose="020B0604020202020204" pitchFamily="34" charset="0"/>
                <a:cs typeface="Arial" panose="020B0604020202020204" pitchFamily="34" charset="0"/>
              </a:rPr>
              <a:t>Critical thinking </a:t>
            </a:r>
          </a:p>
          <a:p>
            <a:pPr marL="266400" indent="-266400">
              <a:buSzPct val="100000"/>
            </a:pPr>
            <a:r>
              <a:rPr lang="en-US" sz="2400" dirty="0">
                <a:latin typeface="Arial" panose="020B0604020202020204" pitchFamily="34" charset="0"/>
                <a:cs typeface="Arial" panose="020B0604020202020204" pitchFamily="34" charset="0"/>
              </a:rPr>
              <a:t>Communication</a:t>
            </a:r>
          </a:p>
          <a:p>
            <a:pPr marL="266400" indent="-266400">
              <a:buSzPct val="100000"/>
            </a:pPr>
            <a:r>
              <a:rPr lang="en-US" sz="2400" dirty="0">
                <a:latin typeface="Arial" panose="020B0604020202020204" pitchFamily="34" charset="0"/>
                <a:cs typeface="Arial" panose="020B0604020202020204" pitchFamily="34" charset="0"/>
              </a:rPr>
              <a:t>Collaboration</a:t>
            </a:r>
          </a:p>
          <a:p>
            <a:pPr marL="266400" indent="-266400">
              <a:buSzPct val="100000"/>
            </a:pPr>
            <a:r>
              <a:rPr lang="en-US" sz="2400" dirty="0">
                <a:latin typeface="Arial" panose="020B0604020202020204" pitchFamily="34" charset="0"/>
                <a:cs typeface="Arial" panose="020B0604020202020204" pitchFamily="34" charset="0"/>
              </a:rPr>
              <a:t>Knowledge application and analysis</a:t>
            </a:r>
          </a:p>
          <a:p>
            <a:pPr marL="266400" indent="-266400">
              <a:buSzPct val="100000"/>
            </a:pPr>
            <a:r>
              <a:rPr lang="en-US" sz="2400" dirty="0">
                <a:latin typeface="Arial" panose="020B0604020202020204" pitchFamily="34" charset="0"/>
                <a:cs typeface="Arial" panose="020B0604020202020204" pitchFamily="34" charset="0"/>
              </a:rPr>
              <a:t>Social responsibility</a:t>
            </a:r>
          </a:p>
        </p:txBody>
      </p:sp>
    </p:spTree>
    <p:extLst>
      <p:ext uri="{BB962C8B-B14F-4D97-AF65-F5344CB8AC3E}">
        <p14:creationId xmlns:p14="http://schemas.microsoft.com/office/powerpoint/2010/main" val="188448485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999" y="284400"/>
            <a:ext cx="8280713" cy="590349"/>
          </a:xfrm>
        </p:spPr>
        <p:txBody>
          <a:bodyPr vert="horz" wrap="square" lIns="0" tIns="18000" rIns="0" bIns="18000" rtlCol="0" anchor="b">
            <a:spAutoFit/>
          </a:bodyPr>
          <a:lstStyle/>
          <a:p>
            <a:r>
              <a:rPr lang="en-US" sz="3600" dirty="0">
                <a:latin typeface="+mj-lt"/>
              </a:rPr>
              <a:t>Managers Matter!</a:t>
            </a:r>
          </a:p>
        </p:txBody>
      </p:sp>
      <p:sp>
        <p:nvSpPr>
          <p:cNvPr id="3" name="Content Placeholder 2"/>
          <p:cNvSpPr>
            <a:spLocks noGrp="1"/>
          </p:cNvSpPr>
          <p:nvPr>
            <p:ph idx="1"/>
          </p:nvPr>
        </p:nvSpPr>
        <p:spPr>
          <a:xfrm>
            <a:off x="468000" y="1274400"/>
            <a:ext cx="8280712" cy="2152315"/>
          </a:xfrm>
        </p:spPr>
        <p:txBody>
          <a:bodyPr wrap="square" tIns="18000" bIns="18000">
            <a:spAutoFit/>
          </a:bodyPr>
          <a:lstStyle/>
          <a:p>
            <a:pPr marL="0" indent="0">
              <a:buNone/>
            </a:pPr>
            <a:r>
              <a:rPr lang="en-US" altLang="en-US" sz="2400" dirty="0">
                <a:latin typeface="Arial" panose="020B0604020202020204" pitchFamily="34" charset="0"/>
                <a:ea typeface="ＭＳ Ｐゴシック" pitchFamily="34" charset="-128"/>
                <a:cs typeface="Arial" panose="020B0604020202020204" pitchFamily="34" charset="0"/>
              </a:rPr>
              <a:t>Employee productivity, loyalty, and engagement hinge on employee/manager relationships.</a:t>
            </a:r>
          </a:p>
          <a:p>
            <a:pPr marL="0" indent="0">
              <a:buNone/>
            </a:pPr>
            <a:r>
              <a:rPr lang="en-US" sz="2400" b="1" dirty="0">
                <a:latin typeface="Arial" panose="020B0604020202020204" pitchFamily="34" charset="0"/>
                <a:ea typeface="ＭＳ Ｐゴシック" pitchFamily="34" charset="-128"/>
                <a:cs typeface="Arial" panose="020B0604020202020204" pitchFamily="34" charset="0"/>
              </a:rPr>
              <a:t>Employee engagement</a:t>
            </a:r>
          </a:p>
          <a:p>
            <a:pPr marL="735441" lvl="1" indent="-284400">
              <a:buSzPct val="100000"/>
            </a:pPr>
            <a:r>
              <a:rPr lang="en-US" sz="2400" dirty="0">
                <a:latin typeface="Arial" panose="020B0604020202020204" pitchFamily="34" charset="0"/>
                <a:ea typeface="ＭＳ Ｐゴシック" pitchFamily="34" charset="-128"/>
                <a:cs typeface="Arial" panose="020B0604020202020204" pitchFamily="34" charset="0"/>
              </a:rPr>
              <a:t>When employees are connected to, satisfied with, and enthusiastic about their jobs</a:t>
            </a:r>
          </a:p>
        </p:txBody>
      </p:sp>
    </p:spTree>
    <p:extLst>
      <p:ext uri="{BB962C8B-B14F-4D97-AF65-F5344CB8AC3E}">
        <p14:creationId xmlns:p14="http://schemas.microsoft.com/office/powerpoint/2010/main" val="13905224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67999" y="284400"/>
            <a:ext cx="8280713" cy="590349"/>
          </a:xfrm>
        </p:spPr>
        <p:txBody>
          <a:bodyPr wrap="square" lIns="0" tIns="18000" rIns="0" bIns="18000" rtlCol="0" anchor="ctr">
            <a:spAutoFit/>
          </a:bodyPr>
          <a:lstStyle/>
          <a:p>
            <a:pPr eaLnBrk="1" fontAlgn="auto" hangingPunct="1">
              <a:spcAft>
                <a:spcPts val="0"/>
              </a:spcAft>
              <a:defRPr/>
            </a:pPr>
            <a:r>
              <a:rPr lang="en-US" sz="3600" dirty="0">
                <a:latin typeface="+mj-lt"/>
              </a:rPr>
              <a:t>Copyright</a:t>
            </a:r>
            <a:endParaRPr lang="en-US" sz="3600" b="0" dirty="0">
              <a:latin typeface="+mj-lt"/>
            </a:endParaRPr>
          </a:p>
        </p:txBody>
      </p:sp>
      <p:pic>
        <p:nvPicPr>
          <p:cNvPr id="47107" name="Picture Placeholder 9" descr="Warning">
            <a:extLst>
              <a:ext uri="{FF2B5EF4-FFF2-40B4-BE49-F238E27FC236}">
                <a16:creationId xmlns:a16="http://schemas.microsoft.com/office/drawing/2014/main" id="{39143CDC-0F5E-4B76-B367-735F3520DE46}"/>
              </a:ext>
            </a:extLst>
          </p:cNvPr>
          <p:cNvPicPr>
            <a:picLocks noGrp="1" noChangeAspect="1" noChangeArrowheads="1"/>
          </p:cNvPicPr>
          <p:nvPr>
            <p:ph type="pic" sz="quarter" idx="14"/>
          </p:nvPr>
        </p:nvPicPr>
        <p:blipFill>
          <a:blip r:embed="rId3" cstate="print">
            <a:extLst>
              <a:ext uri="{28A0092B-C50C-407E-A947-70E740481C1C}">
                <a14:useLocalDpi xmlns:a14="http://schemas.microsoft.com/office/drawing/2010/main" val="0"/>
              </a:ext>
            </a:extLst>
          </a:blip>
          <a:srcRect/>
          <a:stretch>
            <a:fillRect/>
          </a:stretch>
        </p:blipFill>
        <p:spPr bwMode="auto">
          <a:xfrm>
            <a:off x="467544" y="2780928"/>
            <a:ext cx="1269677" cy="1269677"/>
          </a:xfr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2218181" y="1846017"/>
            <a:ext cx="6530532" cy="3239167"/>
          </a:xfrm>
          <a:ln w="28575">
            <a:solidFill>
              <a:schemeClr val="tx1"/>
            </a:solidFill>
            <a:miter lim="800000"/>
            <a:headEnd/>
            <a:tailEnd/>
          </a:ln>
        </p:spPr>
        <p:txBody>
          <a:bodyPr wrap="square" lIns="273600" tIns="273600" rIns="273600" bIns="273600" numCol="1" anchor="t" anchorCtr="0" compatLnSpc="1">
            <a:prstTxWarp prst="textNoShape">
              <a:avLst/>
            </a:prstTxWarp>
            <a:spAutoFit/>
          </a:bodyPr>
          <a:lstStyle/>
          <a:p>
            <a:pPr marL="0" indent="0" eaLnBrk="1" hangingPunct="1">
              <a:buFont typeface="Arial" panose="020B0604020202020204" pitchFamily="34" charset="0"/>
              <a:buNone/>
            </a:pPr>
            <a:r>
              <a:rPr lang="en-US" altLang="en-US" b="1" dirty="0">
                <a:latin typeface="Arial" panose="020B0604020202020204" pitchFamily="34" charset="0"/>
                <a:cs typeface="Arial" panose="020B0604020202020204" pitchFamily="34" charset="0"/>
              </a:rPr>
              <a:t>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3117443060"/>
      </p:ext>
    </p:extLst>
  </p:cSld>
  <p:clrMapOvr>
    <a:masterClrMapping/>
  </p:clrMapOvr>
</p:sld>
</file>

<file path=ppt/theme/theme1.xml><?xml version="1.0" encoding="utf-8"?>
<a:theme xmlns:a="http://schemas.openxmlformats.org/drawingml/2006/main" name="1_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508 Lecture">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6D90B95B22DD945BDFF45EB84A5E21C" ma:contentTypeVersion="16" ma:contentTypeDescription="Create a new document." ma:contentTypeScope="" ma:versionID="29a186ed1e65123c1a0879605a93f476">
  <xsd:schema xmlns:xsd="http://www.w3.org/2001/XMLSchema" xmlns:xs="http://www.w3.org/2001/XMLSchema" xmlns:p="http://schemas.microsoft.com/office/2006/metadata/properties" xmlns:ns2="7c1bd8dc-4e40-424f-a15f-9ffcd522197f" xmlns:ns3="6125ffc9-2c56-435e-8267-1393444907b2" targetNamespace="http://schemas.microsoft.com/office/2006/metadata/properties" ma:root="true" ma:fieldsID="d0b181892f94accdb799936a4747b12d" ns2:_="" ns3:_="">
    <xsd:import namespace="7c1bd8dc-4e40-424f-a15f-9ffcd522197f"/>
    <xsd:import namespace="6125ffc9-2c56-435e-8267-1393444907b2"/>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lcf76f155ced4ddcb4097134ff3c332f" minOccurs="0"/>
                <xsd:element ref="ns2: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c1bd8dc-4e40-424f-a15f-9ffcd522197f"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db6de40a-7f9e-437f-b1fb-43a1e580b69e}" ma:internalName="TaxCatchAll" ma:showField="CatchAllData" ma:web="7c1bd8dc-4e40-424f-a15f-9ffcd522197f">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6125ffc9-2c56-435e-8267-1393444907b2"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7c1bd8dc-4e40-424f-a15f-9ffcd522197f" xsi:nil="true"/>
    <lcf76f155ced4ddcb4097134ff3c332f xmlns="6125ffc9-2c56-435e-8267-1393444907b2">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2D5E5C3-89C0-49ED-B454-42157302F6E0}"/>
</file>

<file path=customXml/itemProps2.xml><?xml version="1.0" encoding="utf-8"?>
<ds:datastoreItem xmlns:ds="http://schemas.openxmlformats.org/officeDocument/2006/customXml" ds:itemID="{F5C2EFD2-23C3-4F0F-85C4-C36A37D6446C}"/>
</file>

<file path=customXml/itemProps3.xml><?xml version="1.0" encoding="utf-8"?>
<ds:datastoreItem xmlns:ds="http://schemas.openxmlformats.org/officeDocument/2006/customXml" ds:itemID="{A62742E1-410F-45A7-AFA5-5580F157CC5C}"/>
</file>

<file path=docProps/app.xml><?xml version="1.0" encoding="utf-8"?>
<Properties xmlns="http://schemas.openxmlformats.org/officeDocument/2006/extended-properties" xmlns:vt="http://schemas.openxmlformats.org/officeDocument/2006/docPropsVTypes">
  <Template/>
  <TotalTime>3979</TotalTime>
  <Words>3931</Words>
  <Application>Microsoft Office PowerPoint</Application>
  <PresentationFormat>On-screen Show (4:3)</PresentationFormat>
  <Paragraphs>286</Paragraphs>
  <Slides>35</Slides>
  <Notes>35</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35</vt:i4>
      </vt:variant>
    </vt:vector>
  </HeadingPairs>
  <TitlesOfParts>
    <vt:vector size="43" baseType="lpstr">
      <vt:lpstr>Arial</vt:lpstr>
      <vt:lpstr>Calibri</vt:lpstr>
      <vt:lpstr>Noto Sans Symbols</vt:lpstr>
      <vt:lpstr>Times New Roman</vt:lpstr>
      <vt:lpstr>Verdana</vt:lpstr>
      <vt:lpstr>Wingdings</vt:lpstr>
      <vt:lpstr>1_508 Lecture</vt:lpstr>
      <vt:lpstr>508 Lecture</vt:lpstr>
      <vt:lpstr>Fundamentals of Management</vt:lpstr>
      <vt:lpstr>Learning Objectives</vt:lpstr>
      <vt:lpstr>Learning Objective 1.1</vt:lpstr>
      <vt:lpstr>Who Are Managers? Where Do They Work?</vt:lpstr>
      <vt:lpstr>What Three Characteristics Do All Organizations Share?</vt:lpstr>
      <vt:lpstr>How Are Managers Different from Nonmanagerial Employees?</vt:lpstr>
      <vt:lpstr>What Titles Do Managers Have? (1 of 2)</vt:lpstr>
      <vt:lpstr>What Titles Do Managers Have? (2 of 2)</vt:lpstr>
      <vt:lpstr>Learning Objective 1.2</vt:lpstr>
      <vt:lpstr>What Is Management? (1 of 2)</vt:lpstr>
      <vt:lpstr>What Is Management? (2 of 2)</vt:lpstr>
      <vt:lpstr>Is the Manager’s Job Universal? (1 of 5)</vt:lpstr>
      <vt:lpstr>Is the Manager’s Job Universal? (2 of 5)</vt:lpstr>
      <vt:lpstr>Is the Manager’s Job Universal? (3 of 5)</vt:lpstr>
      <vt:lpstr>Is the Manager’s Job Universal? (4 of 5)</vt:lpstr>
      <vt:lpstr>Is the Manager’s Job Universal? (5 of 5)</vt:lpstr>
      <vt:lpstr>Learning Objective 1.3</vt:lpstr>
      <vt:lpstr>What Do Managers Do?</vt:lpstr>
      <vt:lpstr>4 Functions Approach</vt:lpstr>
      <vt:lpstr>Management Roles Approach</vt:lpstr>
      <vt:lpstr>Which Approach Takes the Prize?</vt:lpstr>
      <vt:lpstr>Skills and Competencies</vt:lpstr>
      <vt:lpstr>Learning Objective 1.4</vt:lpstr>
      <vt:lpstr>Why Study Management? (1 of 2)</vt:lpstr>
      <vt:lpstr>Why Study Management? (2 of 2)</vt:lpstr>
      <vt:lpstr>Learning Objective 1.5</vt:lpstr>
      <vt:lpstr>What Factors are Reshaping and Redefining Management</vt:lpstr>
      <vt:lpstr>Why Are Customers Important to the Manager’s Job?</vt:lpstr>
      <vt:lpstr>Why Is Innovation Important to the Manager’s Job?</vt:lpstr>
      <vt:lpstr>Importance of Social Media to the Manager’s Job</vt:lpstr>
      <vt:lpstr>Importance of Sustainability to the Manger’s Job</vt:lpstr>
      <vt:lpstr>Learning Objective 1.6</vt:lpstr>
      <vt:lpstr>What Employability Skills Are Critical for Getting and Keeping a Job?</vt:lpstr>
      <vt:lpstr>Managers Matter!</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of Management, Eleventh Edition, Chapter 1</dc:title>
  <dc:subject>Fundamentals of Management</dc:subject>
  <dc:creator>Robbins, Coulter and DeCenzo</dc:creator>
  <cp:keywords/>
  <dc:description>Additional information may be found in the Notes Pane of each slide by pressing F6.</dc:description>
  <cp:lastModifiedBy>Shankar Ganeshan</cp:lastModifiedBy>
  <cp:revision>1511</cp:revision>
  <dcterms:created xsi:type="dcterms:W3CDTF">2014-07-14T20:04:21Z</dcterms:created>
  <dcterms:modified xsi:type="dcterms:W3CDTF">2022-01-21T11:05:32Z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0x01010086D90B95B22DD945BDFF45EB84A5E21C</vt:lpwstr>
  </property>
</Properties>
</file>