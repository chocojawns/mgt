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6" r:id="rId5"/>
  </p:sldMasterIdLst>
  <p:notesMasterIdLst>
    <p:notesMasterId r:id="rId42"/>
  </p:notesMasterIdLst>
  <p:handoutMasterIdLst>
    <p:handoutMasterId r:id="rId43"/>
  </p:handoutMasterIdLst>
  <p:sldIdLst>
    <p:sldId id="619" r:id="rId6"/>
    <p:sldId id="380" r:id="rId7"/>
    <p:sldId id="577" r:id="rId8"/>
    <p:sldId id="578" r:id="rId9"/>
    <p:sldId id="579" r:id="rId10"/>
    <p:sldId id="580" r:id="rId11"/>
    <p:sldId id="581" r:id="rId12"/>
    <p:sldId id="582" r:id="rId13"/>
    <p:sldId id="621" r:id="rId14"/>
    <p:sldId id="584" r:id="rId15"/>
    <p:sldId id="625" r:id="rId16"/>
    <p:sldId id="622" r:id="rId17"/>
    <p:sldId id="587" r:id="rId18"/>
    <p:sldId id="588" r:id="rId19"/>
    <p:sldId id="623" r:id="rId20"/>
    <p:sldId id="590" r:id="rId21"/>
    <p:sldId id="591" r:id="rId22"/>
    <p:sldId id="592" r:id="rId23"/>
    <p:sldId id="593" r:id="rId24"/>
    <p:sldId id="594" r:id="rId25"/>
    <p:sldId id="595" r:id="rId26"/>
    <p:sldId id="596" r:id="rId27"/>
    <p:sldId id="597" r:id="rId28"/>
    <p:sldId id="598" r:id="rId29"/>
    <p:sldId id="599" r:id="rId30"/>
    <p:sldId id="600" r:id="rId31"/>
    <p:sldId id="624" r:id="rId32"/>
    <p:sldId id="602" r:id="rId33"/>
    <p:sldId id="603" r:id="rId34"/>
    <p:sldId id="604" r:id="rId35"/>
    <p:sldId id="606" r:id="rId36"/>
    <p:sldId id="617" r:id="rId37"/>
    <p:sldId id="616" r:id="rId38"/>
    <p:sldId id="618" r:id="rId39"/>
    <p:sldId id="605" r:id="rId40"/>
    <p:sldId id="687" r:id="rId41"/>
  </p:sldIdLst>
  <p:sldSz cx="9144000" cy="6858000" type="screen4x3"/>
  <p:notesSz cx="6858000" cy="9144000"/>
  <p:custDataLst>
    <p:tags r:id="rId4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432">
          <p15:clr>
            <a:srgbClr val="A4A3A4"/>
          </p15:clr>
        </p15:guide>
        <p15:guide id="4" orient="horz" pos="768">
          <p15:clr>
            <a:srgbClr val="A4A3A4"/>
          </p15:clr>
        </p15:guide>
        <p15:guide id="5" orient="horz" pos="4032">
          <p15:clr>
            <a:srgbClr val="A4A3A4"/>
          </p15:clr>
        </p15:guide>
        <p15:guide id="6" orient="horz" pos="1056">
          <p15:clr>
            <a:srgbClr val="A4A3A4"/>
          </p15:clr>
        </p15:guide>
        <p15:guide id="7" pos="288">
          <p15:clr>
            <a:srgbClr val="A4A3A4"/>
          </p15:clr>
        </p15:guide>
        <p15:guide id="8" pos="542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eronica bashian" initials="v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32993"/>
    <a:srgbClr val="007FA3"/>
    <a:srgbClr val="FDB940"/>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3" autoAdjust="0"/>
    <p:restoredTop sz="61935" autoAdjust="0"/>
  </p:normalViewPr>
  <p:slideViewPr>
    <p:cSldViewPr>
      <p:cViewPr varScale="1">
        <p:scale>
          <a:sx n="53" d="100"/>
          <a:sy n="53" d="100"/>
        </p:scale>
        <p:origin x="2333" y="48"/>
      </p:cViewPr>
      <p:guideLst>
        <p:guide orient="horz" pos="2160"/>
        <p:guide pos="2880"/>
        <p:guide orient="horz" pos="432"/>
        <p:guide orient="horz" pos="768"/>
        <p:guide orient="horz" pos="4032"/>
        <p:guide orient="horz" pos="1056"/>
        <p:guide pos="288"/>
        <p:guide pos="5424"/>
      </p:guideLst>
    </p:cSldViewPr>
  </p:slideViewPr>
  <p:outlineViewPr>
    <p:cViewPr>
      <p:scale>
        <a:sx n="33" d="100"/>
        <a:sy n="33" d="100"/>
      </p:scale>
      <p:origin x="0" y="0"/>
    </p:cViewPr>
  </p:outlineViewPr>
  <p:notesTextViewPr>
    <p:cViewPr>
      <p:scale>
        <a:sx n="1" d="1"/>
        <a:sy n="1" d="1"/>
      </p:scale>
      <p:origin x="0" y="0"/>
    </p:cViewPr>
  </p:notesTextViewPr>
  <p:notesViewPr>
    <p:cSldViewPr>
      <p:cViewPr>
        <p:scale>
          <a:sx n="125" d="100"/>
          <a:sy n="125" d="100"/>
        </p:scale>
        <p:origin x="-301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47"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handoutMaster" Target="handoutMasters/handoutMaster1.xml"/><Relationship Id="rId48"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8/8/2023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8/8/2023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1) Math Type Plugin</a:t>
            </a:r>
          </a:p>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3) NVDA Reader (free versions available)</a:t>
            </a:r>
            <a:endParaRPr lang="en-US" noProof="0" dirty="0">
              <a:latin typeface="Arial" panose="020B0604020202020204" pitchFamily="34" charset="0"/>
              <a:ea typeface="ＭＳ Ｐゴシック" pitchFamily="34" charset="-128"/>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noProof="0" dirty="0">
              <a:latin typeface="Arial" panose="020B0604020202020204" pitchFamily="34" charset="0"/>
              <a:ea typeface="ＭＳ Ｐゴシック" pitchFamily="34" charset="-128"/>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1200" dirty="0">
              <a:solidFill>
                <a:schemeClr val="tx1">
                  <a:lumMod val="75000"/>
                  <a:lumOff val="25000"/>
                </a:schemeClr>
              </a:solidFill>
              <a:latin typeface="Arial" panose="020B0604020202020204" pitchFamily="34" charset="0"/>
              <a:ea typeface="ＭＳ Ｐゴシック" pitchFamily="34" charset="-128"/>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2571225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endParaRPr lang="en-US" sz="1200" dirty="0">
              <a:latin typeface="Arial" panose="020B0604020202020204" pitchFamily="34" charset="0"/>
              <a:ea typeface="ＭＳ Ｐゴシック" pitchFamily="34" charset="-128"/>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dirty="0">
              <a:latin typeface="Arial" panose="020B0604020202020204" pitchFamily="34" charset="0"/>
              <a:ea typeface="ＭＳ Ｐゴシック" pitchFamily="34" charset="-128"/>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lnSpc>
                <a:spcPct val="80000"/>
              </a:lnSpc>
            </a:pPr>
            <a:endParaRPr lang="en-US" sz="1200" noProof="0" dirty="0">
              <a:latin typeface="Arial" panose="020B0604020202020204" pitchFamily="34" charset="0"/>
              <a:ea typeface="ＭＳ Ｐゴシック" pitchFamily="34" charset="-128"/>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13961606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7743992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a:lnSpc>
                <a:spcPct val="80000"/>
              </a:lnSpc>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29299028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70000"/>
              </a:lnSpc>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7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20935742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20935742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lnSpc>
                <a:spcPct val="80000"/>
              </a:lnSpc>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42147644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lnSpc>
                <a:spcPct val="80000"/>
              </a:lnSpc>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14013151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26504124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40205787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36</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1" name="TextBox 10"/>
          <p:cNvSpPr txBox="1"/>
          <p:nvPr userDrawn="1"/>
        </p:nvSpPr>
        <p:spPr>
          <a:xfrm>
            <a:off x="2743200" y="6400800"/>
            <a:ext cx="6096000" cy="276999"/>
          </a:xfrm>
          <a:prstGeom prst="rect">
            <a:avLst/>
          </a:prstGeom>
          <a:noFill/>
        </p:spPr>
        <p:txBody>
          <a:bodyPr wrap="square" rtlCol="0">
            <a:spAutoFit/>
          </a:bodyPr>
          <a:lstStyle/>
          <a:p>
            <a:pPr algn="r">
              <a:buClrTx/>
              <a:defRPr/>
            </a:pPr>
            <a:r>
              <a:rPr lang="en-US" altLang="en-US" sz="1200" dirty="0">
                <a:latin typeface="Verdana" panose="020B0604030504040204" pitchFamily="34" charset="0"/>
                <a:ea typeface="Verdana" panose="020B0604030504040204" pitchFamily="34" charset="0"/>
                <a:cs typeface="Verdana" panose="020B0604030504040204" pitchFamily="34" charset="0"/>
              </a:rPr>
              <a:t>Copyright © 2017, 2015, 2013 Pearson Education, Inc. All Rights Reserved.</a:t>
            </a:r>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434394"/>
            <a:ext cx="918000" cy="279915"/>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2" name="TextBox 11"/>
          <p:cNvSpPr txBox="1"/>
          <p:nvPr userDrawn="1"/>
        </p:nvSpPr>
        <p:spPr>
          <a:xfrm>
            <a:off x="2743200" y="6400800"/>
            <a:ext cx="6096000" cy="276999"/>
          </a:xfrm>
          <a:prstGeom prst="rect">
            <a:avLst/>
          </a:prstGeom>
          <a:noFill/>
        </p:spPr>
        <p:txBody>
          <a:bodyPr wrap="square" rtlCol="0">
            <a:spAutoFit/>
          </a:bodyPr>
          <a:lstStyle/>
          <a:p>
            <a:pPr algn="r">
              <a:buClrTx/>
              <a:defRPr/>
            </a:pPr>
            <a:r>
              <a:rPr lang="en-US" altLang="en-US" sz="1200" dirty="0">
                <a:latin typeface="Verdana" panose="020B0604030504040204" pitchFamily="34" charset="0"/>
                <a:ea typeface="Verdana" panose="020B0604030504040204" pitchFamily="34" charset="0"/>
                <a:cs typeface="Verdana" panose="020B0604030504040204" pitchFamily="34" charset="0"/>
              </a:rPr>
              <a:t>Copyright © 2017, 2015, 2013 Pearson Education, Inc. All Rights Reserved.</a:t>
            </a:r>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434394"/>
            <a:ext cx="918000" cy="279915"/>
          </a:xfrm>
          <a:prstGeom prst="rect">
            <a:avLst/>
          </a:prstGeom>
        </p:spPr>
      </p:pic>
    </p:spTree>
    <p:extLst>
      <p:ext uri="{BB962C8B-B14F-4D97-AF65-F5344CB8AC3E}">
        <p14:creationId xmlns:p14="http://schemas.microsoft.com/office/powerpoint/2010/main" val="2981062836"/>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8/8/2023</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9" name="TextBox 8"/>
          <p:cNvSpPr txBox="1"/>
          <p:nvPr userDrawn="1"/>
        </p:nvSpPr>
        <p:spPr>
          <a:xfrm>
            <a:off x="2743200" y="6400800"/>
            <a:ext cx="6096000" cy="276999"/>
          </a:xfrm>
          <a:prstGeom prst="rect">
            <a:avLst/>
          </a:prstGeom>
          <a:noFill/>
        </p:spPr>
        <p:txBody>
          <a:bodyPr wrap="square" rtlCol="0">
            <a:spAutoFit/>
          </a:bodyPr>
          <a:lstStyle/>
          <a:p>
            <a:pPr algn="r">
              <a:buClrTx/>
              <a:defRPr/>
            </a:pPr>
            <a:r>
              <a:rPr lang="en-US" altLang="en-US" sz="1200" dirty="0">
                <a:latin typeface="Verdana" panose="020B0604030504040204" pitchFamily="34" charset="0"/>
                <a:ea typeface="Verdana" panose="020B0604030504040204" pitchFamily="34" charset="0"/>
                <a:cs typeface="Verdana" panose="020B0604030504040204" pitchFamily="34" charset="0"/>
              </a:rPr>
              <a:t>Copyright © 2017, 2015, 2013 Pearson Education, Inc. All Rights Reserved.</a:t>
            </a:r>
          </a:p>
        </p:txBody>
      </p:sp>
      <p:pic>
        <p:nvPicPr>
          <p:cNvPr id="14" name="Picture 13"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434394"/>
            <a:ext cx="918000" cy="279915"/>
          </a:xfrm>
          <a:prstGeom prst="rect">
            <a:avLst/>
          </a:prstGeom>
        </p:spPr>
      </p:pic>
    </p:spTree>
    <p:extLst>
      <p:ext uri="{BB962C8B-B14F-4D97-AF65-F5344CB8AC3E}">
        <p14:creationId xmlns:p14="http://schemas.microsoft.com/office/powerpoint/2010/main" val="2203796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153400" cy="1097280"/>
          </a:xfrm>
        </p:spPr>
        <p:txBody>
          <a:bodyPr/>
          <a:lstStyle/>
          <a:p>
            <a:r>
              <a:rPr lang="en-US" dirty="0"/>
              <a:t>Click to edit Master title style</a:t>
            </a:r>
          </a:p>
        </p:txBody>
      </p:sp>
      <p:sp>
        <p:nvSpPr>
          <p:cNvPr id="3" name="Content Placeholder 2"/>
          <p:cNvSpPr>
            <a:spLocks noGrp="1"/>
          </p:cNvSpPr>
          <p:nvPr>
            <p:ph idx="1"/>
          </p:nvPr>
        </p:nvSpPr>
        <p:spPr>
          <a:xfrm>
            <a:off x="457200" y="1600200"/>
            <a:ext cx="8153400" cy="160019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276601"/>
            <a:ext cx="8153400" cy="129539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4800600"/>
            <a:ext cx="8153400" cy="121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Content Placeholder 8">
            <a:extLst>
              <a:ext uri="{FF2B5EF4-FFF2-40B4-BE49-F238E27FC236}">
                <a16:creationId xmlns:a16="http://schemas.microsoft.com/office/drawing/2014/main" id="{4372F5DD-299B-4D3D-AFAE-74D3ACE942A7}"/>
              </a:ext>
            </a:extLst>
          </p:cNvPr>
          <p:cNvSpPr>
            <a:spLocks noGrp="1"/>
          </p:cNvSpPr>
          <p:nvPr>
            <p:ph sz="quarter" idx="15"/>
          </p:nvPr>
        </p:nvSpPr>
        <p:spPr>
          <a:xfrm>
            <a:off x="3733800" y="1600200"/>
            <a:ext cx="1371600" cy="68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0292120-2F5D-449C-BCF8-EDB07E2F7FEB}"/>
              </a:ext>
            </a:extLst>
          </p:cNvPr>
          <p:cNvSpPr>
            <a:spLocks noGrp="1"/>
          </p:cNvSpPr>
          <p:nvPr>
            <p:ph sz="quarter" idx="16"/>
          </p:nvPr>
        </p:nvSpPr>
        <p:spPr>
          <a:xfrm>
            <a:off x="3581400" y="2697163"/>
            <a:ext cx="1371600" cy="960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EDF6B6F-4951-40AA-802F-1E6857EA0040}"/>
              </a:ext>
            </a:extLst>
          </p:cNvPr>
          <p:cNvSpPr>
            <a:spLocks noGrp="1"/>
          </p:cNvSpPr>
          <p:nvPr>
            <p:ph sz="quarter" idx="17"/>
          </p:nvPr>
        </p:nvSpPr>
        <p:spPr>
          <a:xfrm>
            <a:off x="3657600" y="3992563"/>
            <a:ext cx="1295400" cy="579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6AACCC7-EA6F-4770-9985-88D9C9BA7BBE}"/>
              </a:ext>
            </a:extLst>
          </p:cNvPr>
          <p:cNvSpPr>
            <a:spLocks noGrp="1"/>
          </p:cNvSpPr>
          <p:nvPr>
            <p:ph sz="quarter" idx="18"/>
          </p:nvPr>
        </p:nvSpPr>
        <p:spPr>
          <a:xfrm>
            <a:off x="3657600" y="4800600"/>
            <a:ext cx="1295400" cy="68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9800DDCE-8005-4918-9711-502228AA5CB3}"/>
              </a:ext>
            </a:extLst>
          </p:cNvPr>
          <p:cNvSpPr>
            <a:spLocks noGrp="1"/>
          </p:cNvSpPr>
          <p:nvPr>
            <p:ph sz="quarter" idx="19"/>
          </p:nvPr>
        </p:nvSpPr>
        <p:spPr>
          <a:xfrm>
            <a:off x="5867400" y="1905000"/>
            <a:ext cx="1524000" cy="792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4505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6" name="Title 7"/>
          <p:cNvSpPr>
            <a:spLocks noGrp="1"/>
          </p:cNvSpPr>
          <p:nvPr>
            <p:ph type="title"/>
          </p:nvPr>
        </p:nvSpPr>
        <p:spPr>
          <a:xfrm>
            <a:off x="457200" y="215372"/>
            <a:ext cx="8229600" cy="1097280"/>
          </a:xfrm>
        </p:spPr>
        <p:txBody>
          <a:bodyPr/>
          <a:lstStyle/>
          <a:p>
            <a:r>
              <a:rPr lang="en-US" dirty="0"/>
              <a:t>Click to edit Master title style</a:t>
            </a:r>
          </a:p>
        </p:txBody>
      </p:sp>
      <p:sp>
        <p:nvSpPr>
          <p:cNvPr id="7" name="Content Placeholder 2"/>
          <p:cNvSpPr>
            <a:spLocks noGrp="1"/>
          </p:cNvSpPr>
          <p:nvPr>
            <p:ph idx="1"/>
          </p:nvPr>
        </p:nvSpPr>
        <p:spPr>
          <a:xfrm>
            <a:off x="457200" y="1600201"/>
            <a:ext cx="8229600" cy="914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idx="13"/>
          </p:nvPr>
        </p:nvSpPr>
        <p:spPr>
          <a:xfrm>
            <a:off x="457200" y="2667000"/>
            <a:ext cx="3886200" cy="2438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419600" y="2667000"/>
            <a:ext cx="4267200" cy="2438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14" name="Date Placeholder 13"/>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4" name="Content Placeholder 3">
            <a:extLst>
              <a:ext uri="{FF2B5EF4-FFF2-40B4-BE49-F238E27FC236}">
                <a16:creationId xmlns:a16="http://schemas.microsoft.com/office/drawing/2014/main" id="{CEAA9457-76C9-4D9F-A4A0-D2893F78A65D}"/>
              </a:ext>
            </a:extLst>
          </p:cNvPr>
          <p:cNvSpPr>
            <a:spLocks noGrp="1"/>
          </p:cNvSpPr>
          <p:nvPr>
            <p:ph sz="quarter" idx="13"/>
          </p:nvPr>
        </p:nvSpPr>
        <p:spPr>
          <a:xfrm>
            <a:off x="457200" y="1676400"/>
            <a:ext cx="8077200"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88984095-B64F-4078-A3F6-3755C1DD71E5}"/>
              </a:ext>
            </a:extLst>
          </p:cNvPr>
          <p:cNvSpPr>
            <a:spLocks noGrp="1"/>
          </p:cNvSpPr>
          <p:nvPr>
            <p:ph type="pic" sz="quarter" idx="14"/>
          </p:nvPr>
        </p:nvSpPr>
        <p:spPr>
          <a:xfrm>
            <a:off x="5867400" y="2151063"/>
            <a:ext cx="1905000" cy="1582737"/>
          </a:xfrm>
        </p:spPr>
        <p:txBody>
          <a:bodyPr/>
          <a:lstStyle/>
          <a:p>
            <a:endParaRPr lang="en-US"/>
          </a:p>
        </p:txBody>
      </p:sp>
      <p:sp>
        <p:nvSpPr>
          <p:cNvPr id="11" name="Content Placeholder 10">
            <a:extLst>
              <a:ext uri="{FF2B5EF4-FFF2-40B4-BE49-F238E27FC236}">
                <a16:creationId xmlns:a16="http://schemas.microsoft.com/office/drawing/2014/main" id="{C6C7ECC4-5D2A-4505-84EE-5D4D96C7D9A0}"/>
              </a:ext>
            </a:extLst>
          </p:cNvPr>
          <p:cNvSpPr>
            <a:spLocks noGrp="1"/>
          </p:cNvSpPr>
          <p:nvPr>
            <p:ph sz="quarter" idx="15"/>
          </p:nvPr>
        </p:nvSpPr>
        <p:spPr>
          <a:xfrm>
            <a:off x="1143000" y="4495800"/>
            <a:ext cx="57150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a:extLst>
              <a:ext uri="{FF2B5EF4-FFF2-40B4-BE49-F238E27FC236}">
                <a16:creationId xmlns:a16="http://schemas.microsoft.com/office/drawing/2014/main" id="{E4C46043-3BF0-48B4-BE26-49A3B8145759}"/>
              </a:ext>
            </a:extLst>
          </p:cNvPr>
          <p:cNvSpPr>
            <a:spLocks noGrp="1"/>
          </p:cNvSpPr>
          <p:nvPr>
            <p:ph type="pic" sz="quarter" idx="16"/>
          </p:nvPr>
        </p:nvSpPr>
        <p:spPr>
          <a:xfrm>
            <a:off x="6335713" y="4038600"/>
            <a:ext cx="1665287" cy="1524000"/>
          </a:xfrm>
        </p:spPr>
        <p:txBody>
          <a:bodyPr/>
          <a:lstStyle/>
          <a:p>
            <a:endParaRPr lang="en-US"/>
          </a:p>
        </p:txBody>
      </p:sp>
    </p:spTree>
    <p:extLst>
      <p:ext uri="{BB962C8B-B14F-4D97-AF65-F5344CB8AC3E}">
        <p14:creationId xmlns:p14="http://schemas.microsoft.com/office/powerpoint/2010/main" val="18551265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8/8/2023</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1" name="TextBox 10"/>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2017, 2015, 2013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2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8/8/2023</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18" name="Text Placeholder 17"/>
          <p:cNvSpPr>
            <a:spLocks noGrp="1"/>
          </p:cNvSpPr>
          <p:nvPr>
            <p:ph type="body" sz="quarter" idx="16" hasCustomPrompt="1"/>
          </p:nvPr>
        </p:nvSpPr>
        <p:spPr>
          <a:xfrm>
            <a:off x="1752600" y="6529254"/>
            <a:ext cx="5867400" cy="187537"/>
          </a:xfrm>
        </p:spPr>
        <p:txBody>
          <a:bodyPr/>
          <a:lstStyle>
            <a:lvl1pPr marL="0" indent="0">
              <a:buNone/>
              <a:defRPr sz="1200" baseline="0"/>
            </a:lvl1pPr>
          </a:lstStyle>
          <a:p>
            <a:pPr lvl="0"/>
            <a:r>
              <a:rPr lang="en-US" dirty="0"/>
              <a:t>Click to add copyright line</a:t>
            </a:r>
            <a:endParaRPr lang="en-IN" dirty="0"/>
          </a:p>
        </p:txBody>
      </p:sp>
      <p:pic>
        <p:nvPicPr>
          <p:cNvPr id="14" name="Picture 13"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429119"/>
            <a:ext cx="918000" cy="279915"/>
          </a:xfrm>
          <a:prstGeom prst="rect">
            <a:avLst/>
          </a:prstGeom>
        </p:spPr>
      </p:pic>
    </p:spTree>
    <p:extLst>
      <p:ext uri="{BB962C8B-B14F-4D97-AF65-F5344CB8AC3E}">
        <p14:creationId xmlns:p14="http://schemas.microsoft.com/office/powerpoint/2010/main" val="30247958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6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8/8/2023</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38917951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Figure + Captio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033AD-BE5C-406D-991C-6AC56003E70C}"/>
              </a:ext>
            </a:extLst>
          </p:cNvPr>
          <p:cNvSpPr>
            <a:spLocks noGrp="1"/>
          </p:cNvSpPr>
          <p:nvPr>
            <p:ph type="title" hasCustomPrompt="1"/>
          </p:nvPr>
        </p:nvSpPr>
        <p:spPr>
          <a:xfrm>
            <a:off x="457200" y="215372"/>
            <a:ext cx="4484688" cy="994304"/>
          </a:xfrm>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p:nvPr>
        </p:nvSpPr>
        <p:spPr>
          <a:xfrm>
            <a:off x="457200" y="1481138"/>
            <a:ext cx="4484688" cy="4408487"/>
          </a:xfrm>
        </p:spPr>
        <p:txBody>
          <a:bodyPr/>
          <a:lstStyle/>
          <a:p>
            <a:pPr lvl="0"/>
            <a:r>
              <a:rPr lang="en-US" dirty="0"/>
              <a:t>Edit Master text styles</a:t>
            </a:r>
          </a:p>
        </p:txBody>
      </p:sp>
      <p:sp>
        <p:nvSpPr>
          <p:cNvPr id="9" name="Picture Placeholder 8">
            <a:extLst>
              <a:ext uri="{FF2B5EF4-FFF2-40B4-BE49-F238E27FC236}">
                <a16:creationId xmlns:a16="http://schemas.microsoft.com/office/drawing/2014/main" id="{F95A3C12-C176-4C2E-9820-6A6035C43AF5}"/>
              </a:ext>
            </a:extLst>
          </p:cNvPr>
          <p:cNvSpPr>
            <a:spLocks noGrp="1"/>
          </p:cNvSpPr>
          <p:nvPr>
            <p:ph type="pic" sz="quarter" idx="14"/>
          </p:nvPr>
        </p:nvSpPr>
        <p:spPr>
          <a:xfrm>
            <a:off x="5192713" y="1481138"/>
            <a:ext cx="3592512" cy="3754437"/>
          </a:xfrm>
        </p:spPr>
        <p:txBody>
          <a:bodyPr/>
          <a:lstStyle/>
          <a:p>
            <a:endParaRPr lang="en-US"/>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5" name="Footer Placeholder 4">
            <a:extLst>
              <a:ext uri="{FF2B5EF4-FFF2-40B4-BE49-F238E27FC236}">
                <a16:creationId xmlns:a16="http://schemas.microsoft.com/office/drawing/2014/main" id="{A6FA6EBD-95B8-4957-AE05-FC01EF65059B}"/>
              </a:ext>
            </a:extLst>
          </p:cNvPr>
          <p:cNvSpPr>
            <a:spLocks noGrp="1"/>
          </p:cNvSpPr>
          <p:nvPr>
            <p:ph type="ftr" sz="quarter" idx="12"/>
          </p:nvPr>
        </p:nvSpPr>
        <p:spPr/>
        <p:txBody>
          <a:bodyPr/>
          <a:lstStyle/>
          <a:p>
            <a:endParaRPr lang="en-US" dirty="0"/>
          </a:p>
        </p:txBody>
      </p:sp>
      <p:sp>
        <p:nvSpPr>
          <p:cNvPr id="14" name="Content Placeholder 13"/>
          <p:cNvSpPr>
            <a:spLocks noGrp="1"/>
          </p:cNvSpPr>
          <p:nvPr>
            <p:ph sz="quarter" idx="16"/>
          </p:nvPr>
        </p:nvSpPr>
        <p:spPr>
          <a:xfrm>
            <a:off x="5192713" y="295275"/>
            <a:ext cx="3684587" cy="830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Content Placeholder 7"/>
          <p:cNvSpPr>
            <a:spLocks noGrp="1"/>
          </p:cNvSpPr>
          <p:nvPr>
            <p:ph sz="quarter" idx="17"/>
          </p:nvPr>
        </p:nvSpPr>
        <p:spPr>
          <a:xfrm>
            <a:off x="5192713" y="5324475"/>
            <a:ext cx="3592512" cy="565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540005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3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lvl1pPr>
              <a:defRPr>
                <a:latin typeface="+mj-lt"/>
              </a:defRPr>
            </a:lvl1pPr>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latin typeface="+mj-lt"/>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p:nvPr>
        </p:nvSpPr>
        <p:spPr>
          <a:xfrm>
            <a:off x="5029200" y="1600201"/>
            <a:ext cx="3260725" cy="715961"/>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endParaRPr lang="en-US" dirty="0"/>
          </a:p>
        </p:txBody>
      </p:sp>
      <p:sp>
        <p:nvSpPr>
          <p:cNvPr id="10" name="Text Placeholder 8"/>
          <p:cNvSpPr>
            <a:spLocks noGrp="1"/>
          </p:cNvSpPr>
          <p:nvPr>
            <p:ph type="body" sz="quarter" idx="15"/>
          </p:nvPr>
        </p:nvSpPr>
        <p:spPr>
          <a:xfrm>
            <a:off x="4926651" y="2552700"/>
            <a:ext cx="3456774" cy="593724"/>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endParaRPr lang="en-US" dirty="0"/>
          </a:p>
        </p:txBody>
      </p:sp>
      <p:sp>
        <p:nvSpPr>
          <p:cNvPr id="8" name="Text Placeholder 22"/>
          <p:cNvSpPr>
            <a:spLocks noGrp="1"/>
          </p:cNvSpPr>
          <p:nvPr>
            <p:ph type="body" sz="quarter" idx="16" hasCustomPrompt="1"/>
          </p:nvPr>
        </p:nvSpPr>
        <p:spPr>
          <a:xfrm>
            <a:off x="2834640" y="6400800"/>
            <a:ext cx="6080760" cy="274320"/>
          </a:xfrm>
        </p:spPr>
        <p:txBody>
          <a:bodyPr anchor="ctr"/>
          <a:lstStyle>
            <a:lvl1pPr marL="0" indent="0">
              <a:spcBef>
                <a:spcPts val="0"/>
              </a:spcBef>
              <a:buFontTx/>
              <a:buNone/>
              <a:defRPr sz="1200">
                <a:latin typeface="Verdana" pitchFamily="34" charset="0"/>
                <a:ea typeface="Verdana" pitchFamily="34" charset="0"/>
                <a:cs typeface="Verdana" pitchFamily="34" charset="0"/>
              </a:defRPr>
            </a:lvl1pPr>
          </a:lstStyle>
          <a:p>
            <a:pPr lvl="0"/>
            <a:r>
              <a:rPr lang="en-US" dirty="0"/>
              <a:t>Copyright</a:t>
            </a:r>
          </a:p>
        </p:txBody>
      </p:sp>
      <p:sp>
        <p:nvSpPr>
          <p:cNvPr id="3" name="Picture Placeholder 2">
            <a:extLst>
              <a:ext uri="{FF2B5EF4-FFF2-40B4-BE49-F238E27FC236}">
                <a16:creationId xmlns:a16="http://schemas.microsoft.com/office/drawing/2014/main" id="{23FD2E48-136F-40C9-9ADA-7A7217D010A2}"/>
              </a:ext>
            </a:extLst>
          </p:cNvPr>
          <p:cNvSpPr>
            <a:spLocks noGrp="1"/>
          </p:cNvSpPr>
          <p:nvPr>
            <p:ph type="pic" sz="quarter" idx="17"/>
          </p:nvPr>
        </p:nvSpPr>
        <p:spPr>
          <a:xfrm>
            <a:off x="457200" y="6400800"/>
            <a:ext cx="1162050" cy="274638"/>
          </a:xfrm>
        </p:spPr>
        <p:txBody>
          <a:bodyPr/>
          <a:lstStyle/>
          <a:p>
            <a:endParaRPr lang="en-US"/>
          </a:p>
        </p:txBody>
      </p:sp>
      <p:sp>
        <p:nvSpPr>
          <p:cNvPr id="5" name="Picture Placeholder 4">
            <a:extLst>
              <a:ext uri="{FF2B5EF4-FFF2-40B4-BE49-F238E27FC236}">
                <a16:creationId xmlns:a16="http://schemas.microsoft.com/office/drawing/2014/main" id="{8AB0C605-5BFC-421D-BD7D-97B95EA6190A}"/>
              </a:ext>
            </a:extLst>
          </p:cNvPr>
          <p:cNvSpPr>
            <a:spLocks noGrp="1"/>
          </p:cNvSpPr>
          <p:nvPr>
            <p:ph type="pic" sz="quarter" idx="18"/>
          </p:nvPr>
        </p:nvSpPr>
        <p:spPr>
          <a:xfrm>
            <a:off x="584200" y="1685925"/>
            <a:ext cx="3260725" cy="4440238"/>
          </a:xfrm>
        </p:spPr>
        <p:txBody>
          <a:bodyPr/>
          <a:lstStyle/>
          <a:p>
            <a:endParaRPr lang="en-US"/>
          </a:p>
        </p:txBody>
      </p:sp>
    </p:spTree>
    <p:extLst>
      <p:ext uri="{BB962C8B-B14F-4D97-AF65-F5344CB8AC3E}">
        <p14:creationId xmlns:p14="http://schemas.microsoft.com/office/powerpoint/2010/main" val="1782379800"/>
      </p:ext>
    </p:extLst>
  </p:cSld>
  <p:clrMapOvr>
    <a:masterClrMapping/>
  </p:clrMapOvr>
  <p:hf sldNum="0" hd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Shape 69"/>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387454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8/8/2023</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9" name="Picture Placeholder 12">
            <a:extLst>
              <a:ext uri="{FF2B5EF4-FFF2-40B4-BE49-F238E27FC236}">
                <a16:creationId xmlns:a16="http://schemas.microsoft.com/office/drawing/2014/main" id="{1D5B5B9E-0D49-42AC-81CA-86C3FF7E4EBE}"/>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457200" y="6469919"/>
            <a:ext cx="914400" cy="276225"/>
          </a:xfrm>
          <a:prstGeom prst="rect">
            <a:avLst/>
          </a:prstGeom>
        </p:spPr>
      </p:pic>
      <p:sp>
        <p:nvSpPr>
          <p:cNvPr id="14" name="Text Placeholder 4">
            <a:extLst>
              <a:ext uri="{FF2B5EF4-FFF2-40B4-BE49-F238E27FC236}">
                <a16:creationId xmlns:a16="http://schemas.microsoft.com/office/drawing/2014/main" id="{E275DA91-703A-45D1-BACA-5F72585735F0}"/>
              </a:ext>
            </a:extLst>
          </p:cNvPr>
          <p:cNvSpPr txBox="1">
            <a:spLocks/>
          </p:cNvSpPr>
          <p:nvPr userDrawn="1"/>
        </p:nvSpPr>
        <p:spPr>
          <a:xfrm>
            <a:off x="2529840" y="6484582"/>
            <a:ext cx="6080760" cy="221018"/>
          </a:xfrm>
          <a:prstGeom prst="rect">
            <a:avLst/>
          </a:prstGeom>
        </p:spPr>
        <p:txBody>
          <a:bodyPr vert="horz" wrap="square" lIns="0" tIns="18000" rIns="0" bIns="18000" rtlCol="0">
            <a:sp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None/>
            </a:pPr>
            <a:r>
              <a:rPr lang="en-US" altLang="en-US" sz="1200" dirty="0">
                <a:latin typeface="Verdana"/>
                <a:ea typeface="Verdana" panose="020B0604030504040204" pitchFamily="34" charset="0"/>
                <a:cs typeface="Verdana" panose="020B0604030504040204" pitchFamily="34" charset="0"/>
              </a:rPr>
              <a:t>Copyright © 2020, 2017, 2015 Pearson Education, Inc. All Rights Reserved</a:t>
            </a:r>
            <a:endParaRPr lang="en-US" altLang="en-US" sz="12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1" r:id="rId3"/>
    <p:sldLayoutId id="2147483656" r:id="rId4"/>
    <p:sldLayoutId id="2147483650" r:id="rId5"/>
    <p:sldLayoutId id="2147483659" r:id="rId6"/>
    <p:sldLayoutId id="2147483658" r:id="rId7"/>
    <p:sldLayoutId id="2147483660" r:id="rId8"/>
    <p:sldLayoutId id="2147483665" r:id="rId9"/>
    <p:sldLayoutId id="2147483662" r:id="rId10"/>
    <p:sldLayoutId id="2147483651" r:id="rId11"/>
    <p:sldLayoutId id="2147483654" r:id="rId12"/>
    <p:sldLayoutId id="2147483655" r:id="rId13"/>
    <p:sldLayoutId id="2147483664" r:id="rId14"/>
    <p:sldLayoutId id="2147483670" r:id="rId15"/>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2" name="Footer Placeholder 1">
            <a:extLst>
              <a:ext uri="{FF2B5EF4-FFF2-40B4-BE49-F238E27FC236}">
                <a16:creationId xmlns:a16="http://schemas.microsoft.com/office/drawing/2014/main" id="{7B8A108E-B0AF-4869-B5B8-3D3BB7BC725E}"/>
              </a:ext>
            </a:extLst>
          </p:cNvPr>
          <p:cNvSpPr>
            <a:spLocks noGrp="1"/>
          </p:cNvSpPr>
          <p:nvPr>
            <p:ph type="ftr" sz="quarter" idx="3"/>
          </p:nvPr>
        </p:nvSpPr>
        <p:spPr>
          <a:xfrm>
            <a:off x="457200" y="6028611"/>
            <a:ext cx="82296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2896271992"/>
      </p:ext>
    </p:extLst>
  </p:cSld>
  <p:clrMap bg1="lt1" tx1="dk1" bg2="dk2" tx2="lt2" accent1="accent1" accent2="accent2" accent3="accent3" accent4="accent4" accent5="accent5" accent6="accent6" hlink="hlink" folHlink="folHlink"/>
  <p:sldLayoutIdLst>
    <p:sldLayoutId id="2147483667" r:id="rId1"/>
    <p:sldLayoutId id="2147483668" r:id="rId2"/>
    <p:sldLayoutId id="2147483669"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7.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image" Target="../media/image8.wmf"/><Relationship Id="rId5" Type="http://schemas.openxmlformats.org/officeDocument/2006/relationships/oleObject" Target="../embeddings/oleObject2.bin"/><Relationship Id="rId4" Type="http://schemas.openxmlformats.org/officeDocument/2006/relationships/image" Target="../media/image7.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9.w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8" Type="http://schemas.openxmlformats.org/officeDocument/2006/relationships/image" Target="../media/image15.wmf"/><Relationship Id="rId7" Type="http://schemas.openxmlformats.org/officeDocument/2006/relationships/oleObject" Target="../embeddings/oleObject5.bin"/><Relationship Id="rId2" Type="http://schemas.openxmlformats.org/officeDocument/2006/relationships/notesSlide" Target="../notesSlides/notesSlide25.xml"/><Relationship Id="rId1" Type="http://schemas.openxmlformats.org/officeDocument/2006/relationships/slideLayout" Target="../slideLayouts/slideLayout5.xml"/><Relationship Id="rId6" Type="http://schemas.openxmlformats.org/officeDocument/2006/relationships/image" Target="../media/image14.wmf"/><Relationship Id="rId5" Type="http://schemas.openxmlformats.org/officeDocument/2006/relationships/oleObject" Target="../embeddings/oleObject4.bin"/><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17.jpg"/></Relationships>
</file>

<file path=ppt/slides/_rels/slide2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30.xml"/><Relationship Id="rId1" Type="http://schemas.openxmlformats.org/officeDocument/2006/relationships/slideLayout" Target="../slideLayouts/slideLayout9.xml"/><Relationship Id="rId4" Type="http://schemas.openxmlformats.org/officeDocument/2006/relationships/image" Target="../media/image19.wmf"/></Relationships>
</file>

<file path=ppt/slides/_rels/slide3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90349"/>
          </a:xfrm>
        </p:spPr>
        <p:txBody>
          <a:bodyPr lIns="0" tIns="18000" rIns="0" bIns="18000">
            <a:spAutoFit/>
          </a:bodyPr>
          <a:lstStyle/>
          <a:p>
            <a:r>
              <a:rPr lang="en-US" sz="3600" dirty="0">
                <a:latin typeface="+mj-lt"/>
              </a:rPr>
              <a:t>Fundamentals of Management</a:t>
            </a:r>
          </a:p>
        </p:txBody>
      </p:sp>
      <p:sp>
        <p:nvSpPr>
          <p:cNvPr id="3" name="Text Placeholder 2"/>
          <p:cNvSpPr>
            <a:spLocks noGrp="1"/>
          </p:cNvSpPr>
          <p:nvPr>
            <p:ph type="body" sz="quarter" idx="13"/>
          </p:nvPr>
        </p:nvSpPr>
        <p:spPr>
          <a:xfrm>
            <a:off x="457200" y="951272"/>
            <a:ext cx="8229600" cy="344128"/>
          </a:xfrm>
        </p:spPr>
        <p:txBody>
          <a:bodyPr lIns="0" tIns="18000" rIns="0" bIns="18000">
            <a:spAutoFit/>
          </a:bodyPr>
          <a:lstStyle/>
          <a:p>
            <a:r>
              <a:rPr lang="en-US">
                <a:latin typeface="Arial" panose="020B0604020202020204" pitchFamily="34" charset="0"/>
                <a:cs typeface="Arial" panose="020B0604020202020204" pitchFamily="34" charset="0"/>
              </a:rPr>
              <a:t>Eleventh Edition</a:t>
            </a:r>
          </a:p>
        </p:txBody>
      </p:sp>
      <p:pic>
        <p:nvPicPr>
          <p:cNvPr id="11" name="Picture Placeholder 10" descr="Front Cover: Fundamentals of Management Eleventh Edition by Robbins, Coulter and DeCenzo.">
            <a:extLst>
              <a:ext uri="{FF2B5EF4-FFF2-40B4-BE49-F238E27FC236}">
                <a16:creationId xmlns:a16="http://schemas.microsoft.com/office/drawing/2014/main" id="{B0631FA1-DB1B-48C8-914A-B86393E0CC75}"/>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tretch>
            <a:fillRect/>
          </a:stretch>
        </p:blipFill>
        <p:spPr>
          <a:xfrm>
            <a:off x="533400" y="1593966"/>
            <a:ext cx="3261360" cy="4437888"/>
          </a:xfrm>
        </p:spPr>
      </p:pic>
      <p:sp>
        <p:nvSpPr>
          <p:cNvPr id="10" name="Text Placeholder 1">
            <a:extLst>
              <a:ext uri="{FF2B5EF4-FFF2-40B4-BE49-F238E27FC236}">
                <a16:creationId xmlns:a16="http://schemas.microsoft.com/office/drawing/2014/main" id="{B90BF7CC-C13E-4975-9A72-17609AD86A49}"/>
              </a:ext>
            </a:extLst>
          </p:cNvPr>
          <p:cNvSpPr>
            <a:spLocks noGrp="1"/>
          </p:cNvSpPr>
          <p:nvPr>
            <p:ph type="body" sz="quarter" idx="14"/>
          </p:nvPr>
        </p:nvSpPr>
        <p:spPr>
          <a:xfrm>
            <a:off x="4572000" y="2321384"/>
            <a:ext cx="3260725" cy="498016"/>
          </a:xfrm>
        </p:spPr>
        <p:txBody>
          <a:bodyPr wrap="square" lIns="0" tIns="18000" rIns="0" bIns="18000">
            <a:spAutoFit/>
          </a:bodyPr>
          <a:lstStyle/>
          <a:p>
            <a:pPr>
              <a:buNone/>
            </a:pPr>
            <a:r>
              <a:rPr lang="en-US" altLang="en-US" dirty="0">
                <a:solidFill>
                  <a:schemeClr val="tx1"/>
                </a:solidFill>
                <a:latin typeface="Arial" panose="020B0604020202020204" pitchFamily="34" charset="0"/>
                <a:ea typeface="Verdana" panose="020B0604030504040204" pitchFamily="34" charset="0"/>
                <a:cs typeface="Arial" panose="020B0604020202020204" pitchFamily="34" charset="0"/>
              </a:rPr>
              <a:t>Chapter 9</a:t>
            </a:r>
          </a:p>
        </p:txBody>
      </p:sp>
      <p:sp>
        <p:nvSpPr>
          <p:cNvPr id="4" name="Text Placeholder 3"/>
          <p:cNvSpPr>
            <a:spLocks noGrp="1"/>
          </p:cNvSpPr>
          <p:nvPr>
            <p:ph type="body" sz="quarter" idx="15"/>
          </p:nvPr>
        </p:nvSpPr>
        <p:spPr>
          <a:xfrm>
            <a:off x="4572000" y="3134640"/>
            <a:ext cx="3456774" cy="713460"/>
          </a:xfrm>
        </p:spPr>
        <p:txBody>
          <a:bodyPr vert="horz" wrap="square" lIns="0" tIns="18000" rIns="0" bIns="18000" rtlCol="0" anchor="b">
            <a:spAutoFit/>
          </a:bodyPr>
          <a:lstStyle/>
          <a:p>
            <a:r>
              <a:rPr lang="en-US" altLang="en-US">
                <a:ea typeface="Malgun Gothic" pitchFamily="34" charset="-127"/>
              </a:rPr>
              <a:t>Managing Human Resources and Diversity</a:t>
            </a:r>
          </a:p>
        </p:txBody>
      </p:sp>
      <p:pic>
        <p:nvPicPr>
          <p:cNvPr id="13" name="Picture Placeholder 12" descr="Pearson Logo">
            <a:extLst>
              <a:ext uri="{FF2B5EF4-FFF2-40B4-BE49-F238E27FC236}">
                <a16:creationId xmlns:a16="http://schemas.microsoft.com/office/drawing/2014/main" id="{3F3D7E2E-0CB9-4DFC-A2E9-49E9AFFE6DC1}"/>
              </a:ext>
            </a:extLst>
          </p:cNvPr>
          <p:cNvPicPr>
            <a:picLocks noGrp="1" noChangeAspect="1"/>
          </p:cNvPicPr>
          <p:nvPr>
            <p:ph type="pic" sz="quarter" idx="17"/>
          </p:nvPr>
        </p:nvPicPr>
        <p:blipFill>
          <a:blip r:embed="rId4">
            <a:extLst>
              <a:ext uri="{28A0092B-C50C-407E-A947-70E740481C1C}">
                <a14:useLocalDpi xmlns:a14="http://schemas.microsoft.com/office/drawing/2010/main" val="0"/>
              </a:ext>
            </a:extLst>
          </a:blip>
          <a:stretch>
            <a:fillRect/>
          </a:stretch>
        </p:blipFill>
        <p:spPr>
          <a:xfrm>
            <a:off x="457200" y="6469919"/>
            <a:ext cx="914400" cy="276225"/>
          </a:xfrm>
        </p:spPr>
      </p:pic>
      <p:sp>
        <p:nvSpPr>
          <p:cNvPr id="5" name="Text Placeholder 4"/>
          <p:cNvSpPr>
            <a:spLocks noGrp="1"/>
          </p:cNvSpPr>
          <p:nvPr>
            <p:ph type="body" sz="quarter" idx="16"/>
          </p:nvPr>
        </p:nvSpPr>
        <p:spPr>
          <a:xfrm>
            <a:off x="2529840" y="6484582"/>
            <a:ext cx="6080760" cy="221018"/>
          </a:xfrm>
        </p:spPr>
        <p:txBody>
          <a:bodyPr vert="horz" wrap="square" lIns="0" tIns="18000" rIns="0" bIns="18000" rtlCol="0">
            <a:spAutoFit/>
          </a:bodyPr>
          <a:lstStyle/>
          <a:p>
            <a:pPr algn="r"/>
            <a:r>
              <a:rPr lang="en-US" altLang="en-US" dirty="0">
                <a:latin typeface="Verdana"/>
                <a:ea typeface="Verdana" panose="020B0604030504040204" pitchFamily="34" charset="0"/>
                <a:cs typeface="Verdana" panose="020B0604030504040204" pitchFamily="34" charset="0"/>
              </a:rPr>
              <a:t>Copyright © 2020, 2017, 2015 Pearson Education, Inc. All Rights Reserved</a:t>
            </a:r>
            <a:endParaRPr lang="en-US" altLang="en-US"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806147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30508"/>
            <a:ext cx="8229600" cy="590349"/>
          </a:xfrm>
        </p:spPr>
        <p:txBody>
          <a:bodyPr wrap="square" tIns="18000" bIns="18000" anchor="t" anchorCtr="0">
            <a:spAutoFit/>
          </a:bodyPr>
          <a:lstStyle/>
          <a:p>
            <a:r>
              <a:rPr lang="en-US" sz="3600" dirty="0">
                <a:latin typeface="+mj-lt"/>
                <a:ea typeface="ＭＳ Ｐゴシック" panose="020B0600070205080204" pitchFamily="34" charset="-128"/>
                <a:cs typeface="Arial" panose="020B0604020202020204" pitchFamily="34" charset="0"/>
              </a:rPr>
              <a:t>Learning Objectives </a:t>
            </a:r>
            <a:r>
              <a:rPr lang="en-US" sz="2800" dirty="0">
                <a:latin typeface="+mj-lt"/>
                <a:ea typeface="ＭＳ Ｐゴシック" panose="020B0600070205080204" pitchFamily="34" charset="-128"/>
                <a:cs typeface="Arial" panose="020B0604020202020204" pitchFamily="34" charset="0"/>
              </a:rPr>
              <a:t>(1 of 2)</a:t>
            </a:r>
            <a:endParaRPr lang="en-US" sz="2800" dirty="0">
              <a:latin typeface="+mj-lt"/>
            </a:endParaRPr>
          </a:p>
        </p:txBody>
      </p:sp>
      <p:sp>
        <p:nvSpPr>
          <p:cNvPr id="5" name="Content Placeholder 4"/>
          <p:cNvSpPr>
            <a:spLocks noGrp="1"/>
          </p:cNvSpPr>
          <p:nvPr>
            <p:ph idx="1"/>
          </p:nvPr>
        </p:nvSpPr>
        <p:spPr>
          <a:xfrm>
            <a:off x="457200" y="1219200"/>
            <a:ext cx="8153400" cy="3006395"/>
          </a:xfrm>
        </p:spPr>
        <p:txBody>
          <a:bodyPr tIns="18000" bIns="18000">
            <a:spAutoFit/>
          </a:bodyPr>
          <a:lstStyle/>
          <a:p>
            <a:pPr marL="541338" indent="-541338">
              <a:buClr>
                <a:schemeClr val="bg2"/>
              </a:buClr>
              <a:buSzPct val="100000"/>
              <a:buNone/>
              <a:defRPr/>
            </a:pPr>
            <a:r>
              <a:rPr lang="en-US" altLang="en-US" sz="2400" b="1" dirty="0">
                <a:solidFill>
                  <a:schemeClr val="bg2"/>
                </a:solidFill>
                <a:latin typeface="Arial" panose="020B0604020202020204" pitchFamily="34" charset="0"/>
                <a:ea typeface="ＭＳ Ｐゴシック" pitchFamily="34" charset="-128"/>
                <a:cs typeface="Arial" panose="020B0604020202020204" pitchFamily="34" charset="0"/>
              </a:rPr>
              <a:t>9.1</a:t>
            </a:r>
            <a:r>
              <a:rPr lang="en-US" altLang="en-US" sz="2400" b="1" dirty="0">
                <a:latin typeface="Arial" panose="020B0604020202020204" pitchFamily="34" charset="0"/>
                <a:ea typeface="ＭＳ Ｐゴシック" pitchFamily="34" charset="-128"/>
                <a:cs typeface="Arial" panose="020B0604020202020204" pitchFamily="34" charset="0"/>
              </a:rPr>
              <a:t> Describe </a:t>
            </a:r>
            <a:r>
              <a:rPr lang="en-US" altLang="en-US" sz="2400" dirty="0">
                <a:latin typeface="Arial" panose="020B0604020202020204" pitchFamily="34" charset="0"/>
                <a:ea typeface="ＭＳ Ｐゴシック" pitchFamily="34" charset="-128"/>
                <a:cs typeface="Arial" panose="020B0604020202020204" pitchFamily="34" charset="0"/>
              </a:rPr>
              <a:t>the key components of the human resource management process and the important influences on that process.</a:t>
            </a:r>
          </a:p>
          <a:p>
            <a:pPr marL="541338" indent="-541338">
              <a:buClr>
                <a:schemeClr val="bg2"/>
              </a:buClr>
              <a:buSzPct val="100000"/>
              <a:buNone/>
              <a:defRPr/>
            </a:pPr>
            <a:r>
              <a:rPr lang="en-US" altLang="en-US" sz="2400" b="1" dirty="0">
                <a:solidFill>
                  <a:schemeClr val="bg2"/>
                </a:solidFill>
                <a:latin typeface="Arial" panose="020B0604020202020204" pitchFamily="34" charset="0"/>
                <a:ea typeface="ＭＳ Ｐゴシック" pitchFamily="34" charset="-128"/>
                <a:cs typeface="Arial" panose="020B0604020202020204" pitchFamily="34" charset="0"/>
              </a:rPr>
              <a:t>9.2 </a:t>
            </a:r>
            <a:r>
              <a:rPr lang="en-US" altLang="en-US" sz="2400" b="1" dirty="0">
                <a:latin typeface="Arial" panose="020B0604020202020204" pitchFamily="34" charset="0"/>
                <a:ea typeface="ＭＳ Ｐゴシック" pitchFamily="34" charset="-128"/>
                <a:cs typeface="Arial" panose="020B0604020202020204" pitchFamily="34" charset="0"/>
              </a:rPr>
              <a:t>Discuss</a:t>
            </a:r>
            <a:r>
              <a:rPr lang="en-US" altLang="en-US" sz="2400" dirty="0">
                <a:latin typeface="Arial" panose="020B0604020202020204" pitchFamily="34" charset="0"/>
                <a:ea typeface="ＭＳ Ｐゴシック" pitchFamily="34" charset="-128"/>
                <a:cs typeface="Arial" panose="020B0604020202020204" pitchFamily="34" charset="0"/>
              </a:rPr>
              <a:t> the tasks associated with identifying and selecting competent employees.</a:t>
            </a:r>
          </a:p>
          <a:p>
            <a:pPr marL="541338" indent="-541338">
              <a:buClr>
                <a:schemeClr val="bg2"/>
              </a:buClr>
              <a:buSzPct val="100000"/>
              <a:buNone/>
              <a:defRPr/>
            </a:pPr>
            <a:r>
              <a:rPr lang="en-US" altLang="en-US" sz="2400" b="1" dirty="0">
                <a:solidFill>
                  <a:schemeClr val="bg2"/>
                </a:solidFill>
                <a:latin typeface="Arial" panose="020B0604020202020204" pitchFamily="34" charset="0"/>
                <a:ea typeface="ＭＳ Ｐゴシック" pitchFamily="34" charset="-128"/>
                <a:cs typeface="Arial" panose="020B0604020202020204" pitchFamily="34" charset="0"/>
              </a:rPr>
              <a:t>9.3 </a:t>
            </a:r>
            <a:r>
              <a:rPr lang="en-US" altLang="en-US" sz="2400" b="1" dirty="0">
                <a:latin typeface="Arial" panose="020B0604020202020204" pitchFamily="34" charset="0"/>
                <a:ea typeface="ＭＳ Ｐゴシック" pitchFamily="34" charset="-128"/>
                <a:cs typeface="Arial" panose="020B0604020202020204" pitchFamily="34" charset="0"/>
              </a:rPr>
              <a:t>Explain </a:t>
            </a:r>
            <a:r>
              <a:rPr lang="en-US" altLang="en-US" sz="2400" dirty="0">
                <a:latin typeface="Arial" panose="020B0604020202020204" pitchFamily="34" charset="0"/>
                <a:ea typeface="ＭＳ Ｐゴシック" pitchFamily="34" charset="-128"/>
                <a:cs typeface="Arial" panose="020B0604020202020204" pitchFamily="34" charset="0"/>
              </a:rPr>
              <a:t>how employees are provided with needed skills and knowledge.</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597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90349"/>
          </a:xfrm>
        </p:spPr>
        <p:txBody>
          <a:bodyPr tIns="18000" bIns="18000" anchor="t" anchorCtr="0">
            <a:spAutoFit/>
          </a:bodyPr>
          <a:lstStyle/>
          <a:p>
            <a:r>
              <a:rPr lang="en-US" sz="3600" dirty="0">
                <a:latin typeface="+mj-lt"/>
                <a:ea typeface="ＭＳ Ｐゴシック" panose="020B0600070205080204" pitchFamily="34" charset="-128"/>
                <a:cs typeface="Arial" panose="020B0604020202020204" pitchFamily="34" charset="0"/>
              </a:rPr>
              <a:t>Learning Objectives</a:t>
            </a:r>
            <a:r>
              <a:rPr lang="en-US" sz="3600" b="0" dirty="0">
                <a:latin typeface="+mj-lt"/>
                <a:ea typeface="ＭＳ Ｐゴシック" panose="020B0600070205080204" pitchFamily="34" charset="-128"/>
                <a:cs typeface="Arial" panose="020B0604020202020204" pitchFamily="34" charset="0"/>
              </a:rPr>
              <a:t> </a:t>
            </a:r>
            <a:r>
              <a:rPr lang="en-US" sz="2800" dirty="0">
                <a:latin typeface="+mj-lt"/>
                <a:ea typeface="ＭＳ Ｐゴシック" panose="020B0600070205080204" pitchFamily="34" charset="-128"/>
                <a:cs typeface="Arial" panose="020B0604020202020204" pitchFamily="34" charset="0"/>
              </a:rPr>
              <a:t>(2 of 2)</a:t>
            </a:r>
            <a:endParaRPr lang="en-US" sz="2800" dirty="0">
              <a:latin typeface="+mj-lt"/>
            </a:endParaRPr>
          </a:p>
        </p:txBody>
      </p:sp>
      <p:sp>
        <p:nvSpPr>
          <p:cNvPr id="3" name="Content Placeholder 2"/>
          <p:cNvSpPr>
            <a:spLocks noGrp="1"/>
          </p:cNvSpPr>
          <p:nvPr>
            <p:ph idx="1"/>
          </p:nvPr>
        </p:nvSpPr>
        <p:spPr>
          <a:xfrm>
            <a:off x="457200" y="1219200"/>
            <a:ext cx="8153400" cy="2637064"/>
          </a:xfrm>
        </p:spPr>
        <p:txBody>
          <a:bodyPr tIns="18000" bIns="18000">
            <a:spAutoFit/>
          </a:bodyPr>
          <a:lstStyle/>
          <a:p>
            <a:pPr marL="541338" indent="-541338">
              <a:buClr>
                <a:schemeClr val="bg2"/>
              </a:buClr>
              <a:buSzPct val="100000"/>
              <a:buNone/>
              <a:defRPr/>
            </a:pPr>
            <a:r>
              <a:rPr lang="en-US" altLang="en-US" sz="2400" b="1" dirty="0">
                <a:solidFill>
                  <a:schemeClr val="bg2"/>
                </a:solidFill>
                <a:latin typeface="Arial" panose="020B0604020202020204" pitchFamily="34" charset="0"/>
                <a:ea typeface="ＭＳ Ｐゴシック" pitchFamily="34" charset="-128"/>
                <a:cs typeface="Arial" panose="020B0604020202020204" pitchFamily="34" charset="0"/>
              </a:rPr>
              <a:t>9.4 </a:t>
            </a:r>
            <a:r>
              <a:rPr lang="en-US" altLang="en-US" sz="2400" b="1" dirty="0">
                <a:latin typeface="Arial" panose="020B0604020202020204" pitchFamily="34" charset="0"/>
                <a:ea typeface="ＭＳ Ｐゴシック" pitchFamily="34" charset="-128"/>
                <a:cs typeface="Arial" panose="020B0604020202020204" pitchFamily="34" charset="0"/>
              </a:rPr>
              <a:t>Describe </a:t>
            </a:r>
            <a:r>
              <a:rPr lang="en-US" altLang="en-US" sz="2400" dirty="0">
                <a:latin typeface="Arial" panose="020B0604020202020204" pitchFamily="34" charset="0"/>
                <a:ea typeface="ＭＳ Ｐゴシック" pitchFamily="34" charset="-128"/>
                <a:cs typeface="Arial" panose="020B0604020202020204" pitchFamily="34" charset="0"/>
              </a:rPr>
              <a:t>strategies for retaining competent, high-performing employees.</a:t>
            </a:r>
          </a:p>
          <a:p>
            <a:pPr marL="541338" indent="-541338">
              <a:buClr>
                <a:schemeClr val="bg2"/>
              </a:buClr>
              <a:buSzPct val="100000"/>
              <a:buNone/>
              <a:defRPr/>
            </a:pPr>
            <a:r>
              <a:rPr lang="en-US" altLang="en-US" sz="2400" b="1" dirty="0">
                <a:solidFill>
                  <a:schemeClr val="bg2"/>
                </a:solidFill>
                <a:latin typeface="Arial" panose="020B0604020202020204" pitchFamily="34" charset="0"/>
                <a:ea typeface="ＭＳ Ｐゴシック" pitchFamily="34" charset="-128"/>
                <a:cs typeface="Arial" panose="020B0604020202020204" pitchFamily="34" charset="0"/>
              </a:rPr>
              <a:t>9.5 </a:t>
            </a:r>
            <a:r>
              <a:rPr lang="en-US" altLang="en-US" sz="2400" b="1" dirty="0">
                <a:latin typeface="Arial" panose="020B0604020202020204" pitchFamily="34" charset="0"/>
                <a:ea typeface="ＭＳ Ｐゴシック" pitchFamily="34" charset="-128"/>
                <a:cs typeface="Arial" panose="020B0604020202020204" pitchFamily="34" charset="0"/>
              </a:rPr>
              <a:t>Discuss </a:t>
            </a:r>
            <a:r>
              <a:rPr lang="en-US" altLang="en-US" sz="2400" dirty="0">
                <a:latin typeface="Arial" panose="020B0604020202020204" pitchFamily="34" charset="0"/>
                <a:ea typeface="ＭＳ Ｐゴシック" pitchFamily="34" charset="-128"/>
                <a:cs typeface="Arial" panose="020B0604020202020204" pitchFamily="34" charset="0"/>
              </a:rPr>
              <a:t>contemporary issues in managing human resources.</a:t>
            </a:r>
          </a:p>
          <a:p>
            <a:pPr marL="541338" indent="-541338">
              <a:buClr>
                <a:schemeClr val="bg2"/>
              </a:buClr>
              <a:buSzPct val="100000"/>
              <a:buNone/>
              <a:defRPr/>
            </a:pPr>
            <a:r>
              <a:rPr lang="en-US" altLang="en-US" sz="2400" b="1" dirty="0">
                <a:solidFill>
                  <a:schemeClr val="bg2"/>
                </a:solidFill>
                <a:latin typeface="Arial" panose="020B0604020202020204" pitchFamily="34" charset="0"/>
                <a:ea typeface="ＭＳ Ｐゴシック" pitchFamily="34" charset="-128"/>
                <a:cs typeface="Arial" panose="020B0604020202020204" pitchFamily="34" charset="0"/>
              </a:rPr>
              <a:t>9.6 </a:t>
            </a:r>
            <a:r>
              <a:rPr lang="en-US" altLang="en-US" sz="2400" b="1" dirty="0">
                <a:latin typeface="Arial" panose="020B0604020202020204" pitchFamily="34" charset="0"/>
                <a:ea typeface="ＭＳ Ｐゴシック" pitchFamily="34" charset="-128"/>
                <a:cs typeface="Arial" panose="020B0604020202020204" pitchFamily="34" charset="0"/>
              </a:rPr>
              <a:t>Explain </a:t>
            </a:r>
            <a:r>
              <a:rPr lang="en-US" altLang="en-US" sz="2400" dirty="0">
                <a:latin typeface="Arial" panose="020B0604020202020204" pitchFamily="34" charset="0"/>
                <a:ea typeface="ＭＳ Ｐゴシック" pitchFamily="34" charset="-128"/>
                <a:cs typeface="Arial" panose="020B0604020202020204" pitchFamily="34" charset="0"/>
              </a:rPr>
              <a:t>what workforce diversity and inclusion are and how they affect the HRM process.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2783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90349"/>
          </a:xfrm>
        </p:spPr>
        <p:txBody>
          <a:bodyPr tIns="18000" bIns="18000" anchor="t" anchorCtr="0">
            <a:spAutoFit/>
          </a:bodyPr>
          <a:lstStyle/>
          <a:p>
            <a:r>
              <a:rPr lang="en-US" altLang="en-US" sz="3600" dirty="0">
                <a:solidFill>
                  <a:schemeClr val="bg2"/>
                </a:solidFill>
                <a:latin typeface="+mj-lt"/>
                <a:cs typeface="Arial" pitchFamily="34" charset="0"/>
              </a:rPr>
              <a:t>Learning Objective 9.1</a:t>
            </a:r>
            <a:endParaRPr lang="en-US" dirty="0">
              <a:solidFill>
                <a:schemeClr val="bg2"/>
              </a:solidFill>
              <a:latin typeface="+mj-lt"/>
            </a:endParaRPr>
          </a:p>
        </p:txBody>
      </p:sp>
      <p:sp>
        <p:nvSpPr>
          <p:cNvPr id="3" name="Content Placeholder 2"/>
          <p:cNvSpPr>
            <a:spLocks noGrp="1"/>
          </p:cNvSpPr>
          <p:nvPr>
            <p:ph idx="1"/>
          </p:nvPr>
        </p:nvSpPr>
        <p:spPr>
          <a:xfrm>
            <a:off x="457200" y="1217853"/>
            <a:ext cx="8153400" cy="1144347"/>
          </a:xfrm>
        </p:spPr>
        <p:txBody>
          <a:bodyPr tIns="18000" bIns="18000">
            <a:spAutoFit/>
          </a:bodyPr>
          <a:lstStyle/>
          <a:p>
            <a:pPr marL="355600" indent="-355600">
              <a:buSzPct val="100000"/>
            </a:pPr>
            <a:r>
              <a:rPr lang="en-US" sz="2400" dirty="0">
                <a:latin typeface="Arial" panose="020B0604020202020204" pitchFamily="34" charset="0"/>
                <a:cs typeface="Arial" panose="020B0604020202020204" pitchFamily="34" charset="0"/>
              </a:rPr>
              <a:t>Describe the key components of the human resource management process and the important influences on that process.</a:t>
            </a:r>
          </a:p>
        </p:txBody>
      </p:sp>
    </p:spTree>
    <p:extLst>
      <p:ext uri="{BB962C8B-B14F-4D97-AF65-F5344CB8AC3E}">
        <p14:creationId xmlns:p14="http://schemas.microsoft.com/office/powerpoint/2010/main" val="1683904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90349"/>
          </a:xfrm>
        </p:spPr>
        <p:txBody>
          <a:bodyPr tIns="18000" bIns="18000" anchor="t" anchorCtr="0">
            <a:spAutoFit/>
          </a:bodyPr>
          <a:lstStyle/>
          <a:p>
            <a:r>
              <a:rPr lang="en-US" sz="3600">
                <a:latin typeface="+mj-lt"/>
                <a:ea typeface="ＭＳ Ｐゴシック" panose="020B0600070205080204" pitchFamily="34" charset="-128"/>
                <a:cs typeface="Arial" panose="020B0604020202020204" pitchFamily="34" charset="0"/>
              </a:rPr>
              <a:t>Human Resource Management</a:t>
            </a:r>
            <a:endParaRPr lang="en-US">
              <a:latin typeface="+mj-lt"/>
            </a:endParaRPr>
          </a:p>
        </p:txBody>
      </p:sp>
      <p:sp>
        <p:nvSpPr>
          <p:cNvPr id="3" name="Content Placeholder 2"/>
          <p:cNvSpPr>
            <a:spLocks noGrp="1"/>
          </p:cNvSpPr>
          <p:nvPr>
            <p:ph idx="1"/>
          </p:nvPr>
        </p:nvSpPr>
        <p:spPr>
          <a:xfrm>
            <a:off x="457200" y="1066800"/>
            <a:ext cx="8153400" cy="775015"/>
          </a:xfrm>
        </p:spPr>
        <p:txBody>
          <a:bodyPr tIns="18000" bIns="18000">
            <a:spAutoFit/>
          </a:bodyPr>
          <a:lstStyle/>
          <a:p>
            <a:pPr marL="0" indent="0">
              <a:buNone/>
            </a:pPr>
            <a:r>
              <a:rPr lang="en-US" sz="2400">
                <a:latin typeface="Arial" panose="020B0604020202020204" pitchFamily="34" charset="0"/>
                <a:cs typeface="Arial" panose="020B0604020202020204" pitchFamily="34" charset="0"/>
              </a:rPr>
              <a:t>The management function concerned with getting, training, motivating, and keeping competent employees.</a:t>
            </a:r>
          </a:p>
        </p:txBody>
      </p:sp>
      <p:sp>
        <p:nvSpPr>
          <p:cNvPr id="4" name="Content Placeholder 3"/>
          <p:cNvSpPr>
            <a:spLocks noGrp="1"/>
          </p:cNvSpPr>
          <p:nvPr>
            <p:ph idx="13"/>
          </p:nvPr>
        </p:nvSpPr>
        <p:spPr>
          <a:xfrm>
            <a:off x="1425054" y="2362200"/>
            <a:ext cx="6293893" cy="405683"/>
          </a:xfrm>
        </p:spPr>
        <p:txBody>
          <a:bodyPr wrap="square" tIns="18000" bIns="18000">
            <a:spAutoFit/>
          </a:bodyPr>
          <a:lstStyle/>
          <a:p>
            <a:pPr marL="0" indent="0">
              <a:buNone/>
            </a:pPr>
            <a:r>
              <a:rPr lang="en-US" sz="2400" dirty="0">
                <a:solidFill>
                  <a:schemeClr val="bg2"/>
                </a:solidFill>
                <a:latin typeface="Arial" panose="020B0604020202020204" pitchFamily="34" charset="0"/>
                <a:cs typeface="Arial" panose="020B0604020202020204" pitchFamily="34" charset="0"/>
              </a:rPr>
              <a:t>HRM = Right People, Right Place, Right Time</a:t>
            </a:r>
          </a:p>
        </p:txBody>
      </p:sp>
    </p:spTree>
    <p:extLst>
      <p:ext uri="{BB962C8B-B14F-4D97-AF65-F5344CB8AC3E}">
        <p14:creationId xmlns:p14="http://schemas.microsoft.com/office/powerpoint/2010/main" val="1597323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90349"/>
          </a:xfrm>
        </p:spPr>
        <p:txBody>
          <a:bodyPr tIns="18000" bIns="18000" anchor="t" anchorCtr="0">
            <a:spAutoFit/>
          </a:bodyPr>
          <a:lstStyle/>
          <a:p>
            <a:r>
              <a:rPr lang="en-US" sz="3600">
                <a:latin typeface="+mj-lt"/>
                <a:ea typeface="ＭＳ Ｐゴシック" panose="020B0600070205080204" pitchFamily="34" charset="-128"/>
                <a:cs typeface="Arial" panose="020B0604020202020204" pitchFamily="34" charset="0"/>
              </a:rPr>
              <a:t>HRM Process and Influences</a:t>
            </a:r>
            <a:endParaRPr lang="en-US">
              <a:latin typeface="+mj-lt"/>
            </a:endParaRPr>
          </a:p>
        </p:txBody>
      </p:sp>
      <p:sp>
        <p:nvSpPr>
          <p:cNvPr id="4" name="Content Placeholder 3"/>
          <p:cNvSpPr>
            <a:spLocks noGrp="1"/>
          </p:cNvSpPr>
          <p:nvPr>
            <p:ph sz="quarter" idx="13"/>
          </p:nvPr>
        </p:nvSpPr>
        <p:spPr>
          <a:xfrm>
            <a:off x="457200" y="1042117"/>
            <a:ext cx="8153400" cy="282573"/>
          </a:xfrm>
        </p:spPr>
        <p:txBody>
          <a:bodyPr wrap="square" tIns="18000" bIns="18000">
            <a:spAutoFit/>
          </a:bodyPr>
          <a:lstStyle/>
          <a:p>
            <a:pPr marL="0" indent="0">
              <a:buNone/>
            </a:pPr>
            <a:r>
              <a:rPr lang="en-US" b="1" dirty="0">
                <a:latin typeface="Arial" panose="020B0604020202020204" pitchFamily="34" charset="0"/>
                <a:cs typeface="Arial" panose="020B0604020202020204" pitchFamily="34" charset="0"/>
              </a:rPr>
              <a:t>Exhibit 9.1 </a:t>
            </a:r>
            <a:r>
              <a:rPr lang="en-US" dirty="0">
                <a:latin typeface="Arial" panose="020B0604020202020204" pitchFamily="34" charset="0"/>
                <a:cs typeface="Arial" panose="020B0604020202020204" pitchFamily="34" charset="0"/>
              </a:rPr>
              <a:t>The Human Resource Management Process</a:t>
            </a:r>
          </a:p>
        </p:txBody>
      </p:sp>
      <p:pic>
        <p:nvPicPr>
          <p:cNvPr id="6" name="Picture Placeholder 5" descr="An illustration shows the steps in the human resource management process.&#10;Long description is available in notes, press F6.">
            <a:extLst>
              <a:ext uri="{FF2B5EF4-FFF2-40B4-BE49-F238E27FC236}">
                <a16:creationId xmlns:a16="http://schemas.microsoft.com/office/drawing/2014/main" id="{FA3AA484-53C0-4CF7-BD5D-4F90B69565AC}"/>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2457450" y="1676400"/>
            <a:ext cx="4152900" cy="4162425"/>
          </a:xfrm>
        </p:spPr>
      </p:pic>
    </p:spTree>
    <p:extLst>
      <p:ext uri="{BB962C8B-B14F-4D97-AF65-F5344CB8AC3E}">
        <p14:creationId xmlns:p14="http://schemas.microsoft.com/office/powerpoint/2010/main" val="3302277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0400"/>
            <a:ext cx="8229600" cy="590349"/>
          </a:xfrm>
        </p:spPr>
        <p:txBody>
          <a:bodyPr wrap="square" tIns="18000" bIns="18000" anchor="t" anchorCtr="0">
            <a:spAutoFit/>
          </a:bodyPr>
          <a:lstStyle/>
          <a:p>
            <a:r>
              <a:rPr lang="en-US" sz="3600">
                <a:latin typeface="+mj-lt"/>
                <a:ea typeface="ＭＳ Ｐゴシック" panose="020B0600070205080204" pitchFamily="34" charset="-128"/>
                <a:cs typeface="Arial" panose="020B0604020202020204" pitchFamily="34" charset="0"/>
              </a:rPr>
              <a:t>The Legal Environment</a:t>
            </a:r>
            <a:endParaRPr lang="en-US" sz="2000" b="0">
              <a:latin typeface="+mj-lt"/>
            </a:endParaRPr>
          </a:p>
        </p:txBody>
      </p:sp>
      <p:sp>
        <p:nvSpPr>
          <p:cNvPr id="3" name="Content Placeholder 2"/>
          <p:cNvSpPr>
            <a:spLocks noGrp="1"/>
          </p:cNvSpPr>
          <p:nvPr>
            <p:ph sz="quarter" idx="13"/>
          </p:nvPr>
        </p:nvSpPr>
        <p:spPr>
          <a:xfrm>
            <a:off x="457200" y="1042117"/>
            <a:ext cx="8002411" cy="282573"/>
          </a:xfrm>
        </p:spPr>
        <p:txBody>
          <a:bodyPr wrap="square" tIns="18000" bIns="18000">
            <a:spAutoFit/>
          </a:bodyPr>
          <a:lstStyle/>
          <a:p>
            <a:pPr marL="0" indent="0">
              <a:buNone/>
            </a:pPr>
            <a:r>
              <a:rPr lang="en-US" b="1" dirty="0">
                <a:latin typeface="Arial" panose="020B0604020202020204" pitchFamily="34" charset="0"/>
                <a:cs typeface="Arial" panose="020B0604020202020204" pitchFamily="34" charset="0"/>
              </a:rPr>
              <a:t>Exhibit 9.2 </a:t>
            </a:r>
            <a:r>
              <a:rPr lang="en-US" dirty="0">
                <a:latin typeface="Arial" panose="020B0604020202020204" pitchFamily="34" charset="0"/>
                <a:cs typeface="Arial" panose="020B0604020202020204" pitchFamily="34" charset="0"/>
              </a:rPr>
              <a:t>Major </a:t>
            </a:r>
            <a:r>
              <a:rPr lang="en-US" spc="-200" dirty="0">
                <a:latin typeface="Arial" panose="020B0604020202020204" pitchFamily="34" charset="0"/>
                <a:cs typeface="Arial" panose="020B0604020202020204" pitchFamily="34" charset="0"/>
              </a:rPr>
              <a:t>H R </a:t>
            </a:r>
            <a:r>
              <a:rPr lang="en-US" dirty="0">
                <a:latin typeface="Arial" panose="020B0604020202020204" pitchFamily="34" charset="0"/>
                <a:cs typeface="Arial" panose="020B0604020202020204" pitchFamily="34" charset="0"/>
              </a:rPr>
              <a:t>M Laws</a:t>
            </a:r>
          </a:p>
        </p:txBody>
      </p:sp>
      <p:pic>
        <p:nvPicPr>
          <p:cNvPr id="8" name="Picture Placeholder 7" descr="A table lists three types of major H R M laws and ruling and their description.&#10;Long description is available in notes, press F6.">
            <a:extLst>
              <a:ext uri="{FF2B5EF4-FFF2-40B4-BE49-F238E27FC236}">
                <a16:creationId xmlns:a16="http://schemas.microsoft.com/office/drawing/2014/main" id="{91FF1680-A5BC-424E-A940-80741E641492}"/>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2438400" y="1654383"/>
            <a:ext cx="4419600" cy="3400425"/>
          </a:xfrm>
        </p:spPr>
      </p:pic>
      <p:sp>
        <p:nvSpPr>
          <p:cNvPr id="4" name="Content Placeholder 3"/>
          <p:cNvSpPr>
            <a:spLocks noGrp="1"/>
          </p:cNvSpPr>
          <p:nvPr>
            <p:ph sz="quarter" idx="15"/>
          </p:nvPr>
        </p:nvSpPr>
        <p:spPr>
          <a:xfrm>
            <a:off x="486770" y="5520708"/>
            <a:ext cx="8123830" cy="405683"/>
          </a:xfrm>
        </p:spPr>
        <p:txBody>
          <a:bodyPr wrap="square" tIns="18000" bIns="18000">
            <a:spAutoFit/>
          </a:bodyPr>
          <a:lstStyle/>
          <a:p>
            <a:pPr marL="0" indent="0">
              <a:buNone/>
            </a:pPr>
            <a:r>
              <a:rPr lang="en-US" sz="1200" i="1">
                <a:latin typeface="Arial" panose="020B0604020202020204" pitchFamily="34" charset="0"/>
                <a:cs typeface="Arial" panose="020B0604020202020204" pitchFamily="34" charset="0"/>
              </a:rPr>
              <a:t>Source: </a:t>
            </a:r>
            <a:r>
              <a:rPr lang="en-US" sz="1200">
                <a:latin typeface="Arial" panose="020B0604020202020204" pitchFamily="34" charset="0"/>
                <a:cs typeface="Arial" panose="020B0604020202020204" pitchFamily="34" charset="0"/>
              </a:rPr>
              <a:t>Robbins, Stephen P., Coulter, Mary, </a:t>
            </a:r>
            <a:r>
              <a:rPr lang="en-US" sz="1200" i="1">
                <a:latin typeface="Arial" panose="020B0604020202020204" pitchFamily="34" charset="0"/>
                <a:cs typeface="Arial" panose="020B0604020202020204" pitchFamily="34" charset="0"/>
              </a:rPr>
              <a:t>Management</a:t>
            </a:r>
            <a:r>
              <a:rPr lang="en-US" sz="1200">
                <a:latin typeface="Arial" panose="020B0604020202020204" pitchFamily="34" charset="0"/>
                <a:cs typeface="Arial" panose="020B0604020202020204" pitchFamily="34" charset="0"/>
              </a:rPr>
              <a:t>, 13th </a:t>
            </a:r>
            <a:r>
              <a:rPr lang="en-US" sz="1200" spc="-160">
                <a:latin typeface="Arial" panose="020B0604020202020204" pitchFamily="34" charset="0"/>
                <a:cs typeface="Arial" panose="020B0604020202020204" pitchFamily="34" charset="0"/>
              </a:rPr>
              <a:t>E </a:t>
            </a:r>
            <a:r>
              <a:rPr lang="en-US" sz="1200">
                <a:latin typeface="Arial" panose="020B0604020202020204" pitchFamily="34" charset="0"/>
                <a:cs typeface="Arial" panose="020B0604020202020204" pitchFamily="34" charset="0"/>
              </a:rPr>
              <a:t>d., © 2016, p. 341. Reprinted and electronically reproduced by permission of Pearson Education, Inc., New York, </a:t>
            </a:r>
            <a:r>
              <a:rPr lang="en-US" sz="1200" spc="-160">
                <a:latin typeface="Arial" panose="020B0604020202020204" pitchFamily="34" charset="0"/>
                <a:cs typeface="Arial" panose="020B0604020202020204" pitchFamily="34" charset="0"/>
              </a:rPr>
              <a:t>N </a:t>
            </a:r>
            <a:r>
              <a:rPr lang="en-US" sz="120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3040144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153400" cy="590349"/>
          </a:xfrm>
        </p:spPr>
        <p:txBody>
          <a:bodyPr wrap="square" tIns="18000" bIns="18000" anchor="t" anchorCtr="0">
            <a:spAutoFit/>
          </a:bodyPr>
          <a:lstStyle/>
          <a:p>
            <a:r>
              <a:rPr lang="en-US" sz="3600" dirty="0">
                <a:latin typeface="+mj-lt"/>
                <a:ea typeface="ＭＳ Ｐゴシック" panose="020B0600070205080204" pitchFamily="34" charset="-128"/>
                <a:cs typeface="Arial" panose="020B0604020202020204" pitchFamily="34" charset="0"/>
              </a:rPr>
              <a:t>Affirmative Action</a:t>
            </a:r>
            <a:endParaRPr lang="en-US" sz="3600" dirty="0">
              <a:latin typeface="+mj-lt"/>
            </a:endParaRPr>
          </a:p>
        </p:txBody>
      </p:sp>
      <p:sp>
        <p:nvSpPr>
          <p:cNvPr id="3" name="Content Placeholder 2"/>
          <p:cNvSpPr>
            <a:spLocks noGrp="1"/>
          </p:cNvSpPr>
          <p:nvPr>
            <p:ph idx="1"/>
          </p:nvPr>
        </p:nvSpPr>
        <p:spPr>
          <a:xfrm>
            <a:off x="457200" y="1065453"/>
            <a:ext cx="8153400" cy="1144347"/>
          </a:xfrm>
        </p:spPr>
        <p:txBody>
          <a:bodyPr tIns="18000" bIns="18000">
            <a:spAutoFit/>
          </a:bodyPr>
          <a:lstStyle/>
          <a:p>
            <a:pPr marL="355600" indent="-355600">
              <a:buSzPct val="100000"/>
            </a:pPr>
            <a:r>
              <a:rPr lang="en-US" sz="24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Programs that ensure that decisions and practices enhance the employment, upgrading, and retention of members </a:t>
            </a:r>
            <a:r>
              <a:rPr lang="en-US" sz="2400" dirty="0">
                <a:latin typeface="Arial" panose="020B0604020202020204" pitchFamily="34" charset="0"/>
                <a:ea typeface="ＭＳ Ｐゴシック" panose="020B0600070205080204" pitchFamily="34" charset="-128"/>
                <a:cs typeface="Arial" panose="020B0604020202020204" pitchFamily="34" charset="0"/>
              </a:rPr>
              <a:t>of protected groups.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63165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1743"/>
            <a:ext cx="8229600" cy="590349"/>
          </a:xfrm>
        </p:spPr>
        <p:txBody>
          <a:bodyPr wrap="square" tIns="18000" bIns="18000" anchor="t" anchorCtr="0">
            <a:spAutoFit/>
          </a:bodyPr>
          <a:lstStyle/>
          <a:p>
            <a:r>
              <a:rPr lang="en-US" sz="3600" dirty="0">
                <a:latin typeface="+mj-lt"/>
                <a:ea typeface="ＭＳ Ｐゴシック" panose="020B0600070205080204" pitchFamily="34" charset="-128"/>
                <a:cs typeface="Arial" panose="020B0604020202020204" pitchFamily="34" charset="0"/>
              </a:rPr>
              <a:t>Differences in </a:t>
            </a:r>
            <a:r>
              <a:rPr lang="en-US" sz="3600" spc="-500" dirty="0">
                <a:latin typeface="+mj-lt"/>
                <a:ea typeface="ＭＳ Ｐゴシック" panose="020B0600070205080204" pitchFamily="34" charset="-128"/>
                <a:cs typeface="Arial" panose="020B0604020202020204" pitchFamily="34" charset="0"/>
              </a:rPr>
              <a:t>H R </a:t>
            </a:r>
            <a:r>
              <a:rPr lang="en-US" sz="3600" dirty="0">
                <a:latin typeface="+mj-lt"/>
                <a:ea typeface="ＭＳ Ｐゴシック" panose="020B0600070205080204" pitchFamily="34" charset="-128"/>
                <a:cs typeface="Arial" panose="020B0604020202020204" pitchFamily="34" charset="0"/>
              </a:rPr>
              <a:t>M Laws</a:t>
            </a:r>
            <a:endParaRPr lang="en-US" sz="3600" dirty="0">
              <a:latin typeface="+mj-lt"/>
            </a:endParaRPr>
          </a:p>
        </p:txBody>
      </p:sp>
      <p:sp>
        <p:nvSpPr>
          <p:cNvPr id="3" name="Content Placeholder 2"/>
          <p:cNvSpPr>
            <a:spLocks noGrp="1"/>
          </p:cNvSpPr>
          <p:nvPr>
            <p:ph sz="quarter" idx="13"/>
          </p:nvPr>
        </p:nvSpPr>
        <p:spPr>
          <a:xfrm>
            <a:off x="457200" y="1033440"/>
            <a:ext cx="2209800" cy="2090760"/>
          </a:xfrm>
        </p:spPr>
        <p:txBody>
          <a:bodyPr wrap="square" tIns="18000" bIns="18000">
            <a:spAutoFit/>
          </a:bodyPr>
          <a:lstStyle/>
          <a:p>
            <a:pPr marL="355600" indent="-355600">
              <a:buSzPct val="100000"/>
            </a:pPr>
            <a:r>
              <a:rPr lang="en-US" sz="24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Canada</a:t>
            </a:r>
          </a:p>
          <a:p>
            <a:pPr marL="355600" indent="-355600">
              <a:buSzPct val="100000"/>
            </a:pPr>
            <a:r>
              <a:rPr lang="en-US" sz="24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Mexico</a:t>
            </a:r>
          </a:p>
          <a:p>
            <a:pPr marL="355600" indent="-355600">
              <a:buSzPct val="100000"/>
            </a:pPr>
            <a:r>
              <a:rPr lang="en-US" sz="24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Australia</a:t>
            </a:r>
          </a:p>
          <a:p>
            <a:pPr marL="355600" indent="-355600">
              <a:buSzPct val="100000"/>
            </a:pPr>
            <a:r>
              <a:rPr lang="en-US" sz="24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Germany</a:t>
            </a:r>
          </a:p>
        </p:txBody>
      </p:sp>
      <p:pic>
        <p:nvPicPr>
          <p:cNvPr id="7" name="Picture Placeholder 6" descr="A photo shows east Asian employees in uniforms sitting on chairs arranged in rows.">
            <a:extLst>
              <a:ext uri="{FF2B5EF4-FFF2-40B4-BE49-F238E27FC236}">
                <a16:creationId xmlns:a16="http://schemas.microsoft.com/office/drawing/2014/main" id="{7B2DE47D-AA9A-4EA2-86FF-CBB4FD6821ED}"/>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3752850" y="1077795"/>
            <a:ext cx="4857750" cy="3257550"/>
          </a:xfrm>
        </p:spPr>
      </p:pic>
    </p:spTree>
    <p:extLst>
      <p:ext uri="{BB962C8B-B14F-4D97-AF65-F5344CB8AC3E}">
        <p14:creationId xmlns:p14="http://schemas.microsoft.com/office/powerpoint/2010/main" val="1068694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0400"/>
            <a:ext cx="8229600" cy="590349"/>
          </a:xfrm>
        </p:spPr>
        <p:txBody>
          <a:bodyPr tIns="18000" bIns="18000" anchor="t" anchorCtr="0">
            <a:spAutoFit/>
          </a:bodyPr>
          <a:lstStyle/>
          <a:p>
            <a:r>
              <a:rPr lang="en-US" altLang="en-US" sz="3600" dirty="0">
                <a:solidFill>
                  <a:schemeClr val="bg2"/>
                </a:solidFill>
                <a:latin typeface="+mj-lt"/>
                <a:cs typeface="Arial" pitchFamily="34" charset="0"/>
              </a:rPr>
              <a:t>Learning Objective 9.2</a:t>
            </a:r>
            <a:endParaRPr lang="en-US" dirty="0">
              <a:solidFill>
                <a:schemeClr val="bg2"/>
              </a:solidFill>
              <a:latin typeface="+mj-lt"/>
            </a:endParaRPr>
          </a:p>
        </p:txBody>
      </p:sp>
      <p:sp>
        <p:nvSpPr>
          <p:cNvPr id="3" name="Content Placeholder 2"/>
          <p:cNvSpPr>
            <a:spLocks noGrp="1"/>
          </p:cNvSpPr>
          <p:nvPr>
            <p:ph idx="1"/>
          </p:nvPr>
        </p:nvSpPr>
        <p:spPr>
          <a:xfrm>
            <a:off x="457200" y="1042879"/>
            <a:ext cx="8153400" cy="785921"/>
          </a:xfrm>
        </p:spPr>
        <p:txBody>
          <a:bodyPr tIns="18000" bIns="18000">
            <a:spAutoFit/>
          </a:bodyPr>
          <a:lstStyle/>
          <a:p>
            <a:pPr marL="355600" indent="-355600">
              <a:buSzPct val="100000"/>
            </a:pPr>
            <a:r>
              <a:rPr lang="en-US" sz="2400" dirty="0">
                <a:latin typeface="Arial" panose="020B0604020202020204" pitchFamily="34" charset="0"/>
                <a:cs typeface="Arial" panose="020B0604020202020204" pitchFamily="34" charset="0"/>
              </a:rPr>
              <a:t>Discuss tasks associated with identifying and selecting competent employees.</a:t>
            </a:r>
          </a:p>
        </p:txBody>
      </p:sp>
    </p:spTree>
    <p:extLst>
      <p:ext uri="{BB962C8B-B14F-4D97-AF65-F5344CB8AC3E}">
        <p14:creationId xmlns:p14="http://schemas.microsoft.com/office/powerpoint/2010/main" val="3449385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153400" cy="590349"/>
          </a:xfrm>
        </p:spPr>
        <p:txBody>
          <a:bodyPr wrap="square" tIns="18000" bIns="18000" anchor="t" anchorCtr="0">
            <a:spAutoFit/>
          </a:bodyPr>
          <a:lstStyle/>
          <a:p>
            <a:r>
              <a:rPr lang="en-US" altLang="en-US" sz="3600">
                <a:solidFill>
                  <a:schemeClr val="bg2"/>
                </a:solidFill>
                <a:latin typeface="+mj-lt"/>
                <a:cs typeface="Arial" pitchFamily="34" charset="0"/>
              </a:rPr>
              <a:t>Identifying and Selecting Employees</a:t>
            </a:r>
            <a:endParaRPr lang="en-US">
              <a:solidFill>
                <a:schemeClr val="bg2"/>
              </a:solidFill>
              <a:latin typeface="+mj-lt"/>
            </a:endParaRPr>
          </a:p>
        </p:txBody>
      </p:sp>
      <p:sp>
        <p:nvSpPr>
          <p:cNvPr id="3" name="Content Placeholder 2"/>
          <p:cNvSpPr>
            <a:spLocks noGrp="1"/>
          </p:cNvSpPr>
          <p:nvPr>
            <p:ph idx="1"/>
          </p:nvPr>
        </p:nvSpPr>
        <p:spPr>
          <a:xfrm>
            <a:off x="457200" y="1066800"/>
            <a:ext cx="8153400" cy="2090760"/>
          </a:xfrm>
        </p:spPr>
        <p:txBody>
          <a:bodyPr tIns="18000" bIns="18000">
            <a:spAutoFit/>
          </a:bodyPr>
          <a:lstStyle/>
          <a:p>
            <a:pPr marL="0" indent="0">
              <a:buSzPct val="100000"/>
              <a:buNone/>
            </a:pPr>
            <a:r>
              <a:rPr lang="en-US" sz="2400" b="1" spc="-300" dirty="0">
                <a:latin typeface="Arial" panose="020B0604020202020204" pitchFamily="34" charset="0"/>
                <a:cs typeface="Arial" panose="020B0604020202020204" pitchFamily="34" charset="0"/>
              </a:rPr>
              <a:t>H R </a:t>
            </a:r>
            <a:r>
              <a:rPr lang="en-US" sz="2400" b="1" dirty="0">
                <a:latin typeface="Arial" panose="020B0604020202020204" pitchFamily="34" charset="0"/>
                <a:cs typeface="Arial" panose="020B0604020202020204" pitchFamily="34" charset="0"/>
              </a:rPr>
              <a:t>M Process:</a:t>
            </a:r>
          </a:p>
          <a:p>
            <a:pPr marL="457200" indent="-457200">
              <a:buSzPct val="100000"/>
              <a:buFont typeface="+mj-lt"/>
              <a:buAutoNum type="arabicPeriod"/>
            </a:pPr>
            <a:r>
              <a:rPr lang="en-US" sz="2400" dirty="0">
                <a:latin typeface="Arial" panose="020B0604020202020204" pitchFamily="34" charset="0"/>
                <a:cs typeface="Arial" panose="020B0604020202020204" pitchFamily="34" charset="0"/>
              </a:rPr>
              <a:t>Employment planning </a:t>
            </a:r>
          </a:p>
          <a:p>
            <a:pPr marL="457200" indent="-457200">
              <a:buSzPct val="100000"/>
              <a:buFont typeface="+mj-lt"/>
              <a:buAutoNum type="arabicPeriod"/>
            </a:pPr>
            <a:r>
              <a:rPr lang="en-US" sz="2400" dirty="0">
                <a:latin typeface="Arial" panose="020B0604020202020204" pitchFamily="34" charset="0"/>
                <a:cs typeface="Arial" panose="020B0604020202020204" pitchFamily="34" charset="0"/>
              </a:rPr>
              <a:t>Recruitment and downsizing</a:t>
            </a:r>
          </a:p>
          <a:p>
            <a:pPr marL="457200" indent="-457200">
              <a:buSzPct val="100000"/>
              <a:buFont typeface="+mj-lt"/>
              <a:buAutoNum type="arabicPeriod"/>
            </a:pPr>
            <a:r>
              <a:rPr lang="en-US" sz="2400" dirty="0">
                <a:latin typeface="Arial" panose="020B0604020202020204" pitchFamily="34" charset="0"/>
                <a:cs typeface="Arial" panose="020B0604020202020204" pitchFamily="34" charset="0"/>
              </a:rPr>
              <a:t>Selection</a:t>
            </a:r>
          </a:p>
        </p:txBody>
      </p:sp>
      <p:sp>
        <p:nvSpPr>
          <p:cNvPr id="5" name="Content Placeholder 4"/>
          <p:cNvSpPr>
            <a:spLocks noGrp="1"/>
          </p:cNvSpPr>
          <p:nvPr>
            <p:ph idx="13"/>
          </p:nvPr>
        </p:nvSpPr>
        <p:spPr>
          <a:xfrm>
            <a:off x="457200" y="3299824"/>
            <a:ext cx="8153400" cy="967376"/>
          </a:xfrm>
        </p:spPr>
        <p:txBody>
          <a:bodyPr wrap="square" tIns="18000" bIns="18000">
            <a:spAutoFit/>
          </a:bodyPr>
          <a:lstStyle/>
          <a:p>
            <a:pPr marL="0" indent="0">
              <a:buNone/>
            </a:pPr>
            <a:r>
              <a:rPr lang="en-US" sz="2400" b="1" dirty="0">
                <a:solidFill>
                  <a:schemeClr val="bg2"/>
                </a:solidFill>
                <a:latin typeface="Arial" panose="020B0604020202020204" pitchFamily="34" charset="0"/>
                <a:cs typeface="Arial" panose="020B0604020202020204" pitchFamily="34" charset="0"/>
              </a:rPr>
              <a:t>Supply and Demand </a:t>
            </a:r>
            <a:r>
              <a:rPr lang="en-US" sz="2400" dirty="0">
                <a:solidFill>
                  <a:schemeClr val="bg2"/>
                </a:solidFill>
                <a:latin typeface="Arial" panose="020B0604020202020204" pitchFamily="34" charset="0"/>
                <a:cs typeface="Arial" panose="020B0604020202020204" pitchFamily="34" charset="0"/>
              </a:rPr>
              <a:t>aren’t just for economics—they’re</a:t>
            </a:r>
          </a:p>
          <a:p>
            <a:pPr marL="0" indent="0">
              <a:buNone/>
            </a:pPr>
            <a:r>
              <a:rPr lang="en-US" sz="2400" dirty="0">
                <a:solidFill>
                  <a:schemeClr val="bg2"/>
                </a:solidFill>
                <a:latin typeface="Arial" panose="020B0604020202020204" pitchFamily="34" charset="0"/>
                <a:cs typeface="Arial" panose="020B0604020202020204" pitchFamily="34" charset="0"/>
              </a:rPr>
              <a:t>also important to </a:t>
            </a:r>
            <a:r>
              <a:rPr lang="en-US" sz="2400" spc="-300" dirty="0">
                <a:solidFill>
                  <a:schemeClr val="bg2"/>
                </a:solidFill>
                <a:latin typeface="Arial" panose="020B0604020202020204" pitchFamily="34" charset="0"/>
                <a:cs typeface="Arial" panose="020B0604020202020204" pitchFamily="34" charset="0"/>
              </a:rPr>
              <a:t>H R </a:t>
            </a:r>
            <a:r>
              <a:rPr lang="en-US" sz="2400" dirty="0">
                <a:solidFill>
                  <a:schemeClr val="bg2"/>
                </a:solidFill>
                <a:latin typeface="Arial" panose="020B0604020202020204" pitchFamily="34" charset="0"/>
                <a:cs typeface="Arial" panose="020B0604020202020204" pitchFamily="34" charset="0"/>
              </a:rPr>
              <a:t>M!</a:t>
            </a:r>
          </a:p>
        </p:txBody>
      </p:sp>
    </p:spTree>
    <p:extLst>
      <p:ext uri="{BB962C8B-B14F-4D97-AF65-F5344CB8AC3E}">
        <p14:creationId xmlns:p14="http://schemas.microsoft.com/office/powerpoint/2010/main" val="1408370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153400" cy="590349"/>
          </a:xfrm>
        </p:spPr>
        <p:txBody>
          <a:bodyPr tIns="18000" bIns="18000" anchor="t" anchorCtr="0">
            <a:spAutoFit/>
          </a:bodyPr>
          <a:lstStyle/>
          <a:p>
            <a:r>
              <a:rPr lang="en-US" altLang="en-US" sz="3600">
                <a:solidFill>
                  <a:schemeClr val="bg2"/>
                </a:solidFill>
                <a:latin typeface="+mj-lt"/>
                <a:cs typeface="Arial" pitchFamily="34" charset="0"/>
              </a:rPr>
              <a:t>Conducting Employee Assessments</a:t>
            </a:r>
            <a:endParaRPr lang="en-US">
              <a:solidFill>
                <a:schemeClr val="bg2"/>
              </a:solidFill>
              <a:latin typeface="+mj-lt"/>
            </a:endParaRPr>
          </a:p>
        </p:txBody>
      </p:sp>
      <p:sp>
        <p:nvSpPr>
          <p:cNvPr id="3" name="Content Placeholder 2"/>
          <p:cNvSpPr>
            <a:spLocks noGrp="1"/>
          </p:cNvSpPr>
          <p:nvPr>
            <p:ph idx="1"/>
          </p:nvPr>
        </p:nvSpPr>
        <p:spPr>
          <a:xfrm>
            <a:off x="457200" y="1042117"/>
            <a:ext cx="8153400" cy="405683"/>
          </a:xfrm>
        </p:spPr>
        <p:txBody>
          <a:bodyPr tIns="18000" bIns="18000">
            <a:spAutoFit/>
          </a:bodyPr>
          <a:lstStyle/>
          <a:p>
            <a:pPr marL="355600" indent="-355600">
              <a:buSzPct val="100000"/>
              <a:tabLst>
                <a:tab pos="355600" algn="l"/>
              </a:tabLst>
            </a:pPr>
            <a:r>
              <a:rPr lang="en-US" sz="2400">
                <a:latin typeface="Arial" panose="020B0604020202020204" pitchFamily="34" charset="0"/>
                <a:cs typeface="Arial" panose="020B0604020202020204" pitchFamily="34" charset="0"/>
              </a:rPr>
              <a:t>How does an organization do a current </a:t>
            </a:r>
            <a:r>
              <a:rPr lang="en-US" sz="2400" spc="-300">
                <a:latin typeface="Arial" panose="020B0604020202020204" pitchFamily="34" charset="0"/>
                <a:cs typeface="Arial" panose="020B0604020202020204" pitchFamily="34" charset="0"/>
              </a:rPr>
              <a:t>H </a:t>
            </a:r>
            <a:r>
              <a:rPr lang="en-US" sz="2400">
                <a:latin typeface="Arial" panose="020B0604020202020204" pitchFamily="34" charset="0"/>
                <a:cs typeface="Arial" panose="020B0604020202020204" pitchFamily="34" charset="0"/>
              </a:rPr>
              <a:t>R assessment?</a:t>
            </a:r>
          </a:p>
        </p:txBody>
      </p:sp>
      <p:sp>
        <p:nvSpPr>
          <p:cNvPr id="4" name="Content Placeholder 3"/>
          <p:cNvSpPr>
            <a:spLocks noGrp="1"/>
          </p:cNvSpPr>
          <p:nvPr>
            <p:ph idx="13"/>
          </p:nvPr>
        </p:nvSpPr>
        <p:spPr>
          <a:xfrm>
            <a:off x="1943100" y="1618950"/>
            <a:ext cx="5257800" cy="405683"/>
          </a:xfrm>
        </p:spPr>
        <p:txBody>
          <a:bodyPr wrap="square" tIns="18000" bIns="18000">
            <a:spAutoFit/>
          </a:bodyPr>
          <a:lstStyle/>
          <a:p>
            <a:pPr marL="0" indent="0">
              <a:buNone/>
            </a:pPr>
            <a:r>
              <a:rPr lang="en-US" sz="2400" dirty="0">
                <a:solidFill>
                  <a:schemeClr val="bg2"/>
                </a:solidFill>
                <a:latin typeface="Arial" panose="020B0604020202020204" pitchFamily="34" charset="0"/>
                <a:cs typeface="Arial" panose="020B0604020202020204" pitchFamily="34" charset="0"/>
              </a:rPr>
              <a:t>Why IS </a:t>
            </a:r>
            <a:r>
              <a:rPr lang="en-US" sz="2400" b="1" dirty="0">
                <a:solidFill>
                  <a:schemeClr val="bg2"/>
                </a:solidFill>
                <a:latin typeface="Arial" panose="020B0604020202020204" pitchFamily="34" charset="0"/>
                <a:cs typeface="Arial" panose="020B0604020202020204" pitchFamily="34" charset="0"/>
              </a:rPr>
              <a:t>JOB ANALYSIS </a:t>
            </a:r>
            <a:r>
              <a:rPr lang="en-US" sz="2400" dirty="0">
                <a:solidFill>
                  <a:schemeClr val="bg2"/>
                </a:solidFill>
                <a:latin typeface="Arial" panose="020B0604020202020204" pitchFamily="34" charset="0"/>
                <a:cs typeface="Arial" panose="020B0604020202020204" pitchFamily="34" charset="0"/>
              </a:rPr>
              <a:t>so important?</a:t>
            </a:r>
          </a:p>
        </p:txBody>
      </p:sp>
      <p:sp>
        <p:nvSpPr>
          <p:cNvPr id="6" name="Content Placeholder 5">
            <a:extLst>
              <a:ext uri="{FF2B5EF4-FFF2-40B4-BE49-F238E27FC236}">
                <a16:creationId xmlns:a16="http://schemas.microsoft.com/office/drawing/2014/main" id="{0C2B876B-D7A3-454C-BEAE-F1C0FF65FE63}"/>
              </a:ext>
            </a:extLst>
          </p:cNvPr>
          <p:cNvSpPr>
            <a:spLocks noGrp="1"/>
          </p:cNvSpPr>
          <p:nvPr>
            <p:ph sz="quarter" idx="14"/>
          </p:nvPr>
        </p:nvSpPr>
        <p:spPr>
          <a:xfrm>
            <a:off x="457200" y="2237437"/>
            <a:ext cx="5257800" cy="405683"/>
          </a:xfrm>
        </p:spPr>
        <p:txBody>
          <a:bodyPr wrap="square" tIns="18000" bIns="18000">
            <a:spAutoFit/>
          </a:bodyPr>
          <a:lstStyle/>
          <a:p>
            <a:pPr marL="0" indent="0">
              <a:buNone/>
            </a:pPr>
            <a:r>
              <a:rPr lang="en-US" sz="2400" dirty="0">
                <a:latin typeface="Arial" panose="020B0604020202020204" pitchFamily="34" charset="0"/>
                <a:cs typeface="Arial" panose="020B0604020202020204" pitchFamily="34" charset="0"/>
              </a:rPr>
              <a:t>Job analysis results in: Job description</a:t>
            </a:r>
          </a:p>
        </p:txBody>
      </p:sp>
      <p:graphicFrame>
        <p:nvGraphicFramePr>
          <p:cNvPr id="12" name="Object 11" descr="An arrow pointing toward right.">
            <a:extLst>
              <a:ext uri="{FF2B5EF4-FFF2-40B4-BE49-F238E27FC236}">
                <a16:creationId xmlns:a16="http://schemas.microsoft.com/office/drawing/2014/main" id="{1FB5DCD5-47FE-426A-844C-7E51B4B40199}"/>
              </a:ext>
            </a:extLst>
          </p:cNvPr>
          <p:cNvGraphicFramePr>
            <a:graphicFrameLocks noGrp="1" noChangeAspect="1"/>
          </p:cNvGraphicFramePr>
          <p:nvPr>
            <p:extLst>
              <p:ext uri="{D42A27DB-BD31-4B8C-83A1-F6EECF244321}">
                <p14:modId xmlns:p14="http://schemas.microsoft.com/office/powerpoint/2010/main" val="3681213179"/>
              </p:ext>
            </p:extLst>
          </p:nvPr>
        </p:nvGraphicFramePr>
        <p:xfrm>
          <a:off x="5791200" y="2311400"/>
          <a:ext cx="381000" cy="279400"/>
        </p:xfrm>
        <a:graphic>
          <a:graphicData uri="http://schemas.openxmlformats.org/presentationml/2006/ole">
            <mc:AlternateContent xmlns:mc="http://schemas.openxmlformats.org/markup-compatibility/2006">
              <mc:Choice xmlns:v="urn:schemas-microsoft-com:vml" Requires="v">
                <p:oleObj name="Equation" r:id="rId3" imgW="190440" imgH="139680" progId="Equation.DSMT4">
                  <p:embed/>
                </p:oleObj>
              </mc:Choice>
              <mc:Fallback>
                <p:oleObj name="Equation" r:id="rId3" imgW="190440" imgH="139680" progId="Equation.DSMT4">
                  <p:embed/>
                  <p:pic>
                    <p:nvPicPr>
                      <p:cNvPr id="6" name="Object 5">
                        <a:extLst>
                          <a:ext uri="{FF2B5EF4-FFF2-40B4-BE49-F238E27FC236}">
                            <a16:creationId xmlns:a16="http://schemas.microsoft.com/office/drawing/2014/main" id="{35BB0089-331D-4C53-94B6-08D5D00E667B}"/>
                          </a:ext>
                        </a:extLst>
                      </p:cNvPr>
                      <p:cNvPicPr>
                        <a:picLocks noGrp="1" noChangeAspect="1" noChangeArrowheads="1"/>
                      </p:cNvPicPr>
                      <p:nvPr/>
                    </p:nvPicPr>
                    <p:blipFill>
                      <a:blip r:embed="rId4"/>
                      <a:srcRect/>
                      <a:stretch>
                        <a:fillRect/>
                      </a:stretch>
                    </p:blipFill>
                    <p:spPr bwMode="auto">
                      <a:xfrm>
                        <a:off x="5791200" y="2311400"/>
                        <a:ext cx="3810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Content Placeholder 6">
            <a:extLst>
              <a:ext uri="{FF2B5EF4-FFF2-40B4-BE49-F238E27FC236}">
                <a16:creationId xmlns:a16="http://schemas.microsoft.com/office/drawing/2014/main" id="{AB9EE8B0-0D05-48E6-B818-A724001B25E1}"/>
              </a:ext>
            </a:extLst>
          </p:cNvPr>
          <p:cNvSpPr>
            <a:spLocks noGrp="1"/>
          </p:cNvSpPr>
          <p:nvPr>
            <p:ph sz="quarter" idx="15"/>
          </p:nvPr>
        </p:nvSpPr>
        <p:spPr>
          <a:xfrm>
            <a:off x="6248400" y="2237437"/>
            <a:ext cx="2362200" cy="405683"/>
          </a:xfrm>
        </p:spPr>
        <p:txBody>
          <a:bodyPr wrap="square" tIns="18000" bIns="18000">
            <a:spAutoFit/>
          </a:bodyPr>
          <a:lstStyle/>
          <a:p>
            <a:pPr marL="0" indent="0">
              <a:buNone/>
            </a:pPr>
            <a:r>
              <a:rPr lang="en-US" sz="2400" dirty="0">
                <a:latin typeface="Arial" panose="020B0604020202020204" pitchFamily="34" charset="0"/>
                <a:cs typeface="Arial" panose="020B0604020202020204" pitchFamily="34" charset="0"/>
              </a:rPr>
              <a:t>describes the job</a:t>
            </a:r>
          </a:p>
        </p:txBody>
      </p:sp>
      <p:sp>
        <p:nvSpPr>
          <p:cNvPr id="8" name="Content Placeholder 7">
            <a:extLst>
              <a:ext uri="{FF2B5EF4-FFF2-40B4-BE49-F238E27FC236}">
                <a16:creationId xmlns:a16="http://schemas.microsoft.com/office/drawing/2014/main" id="{5811A481-985E-488A-8299-6D55787470E1}"/>
              </a:ext>
            </a:extLst>
          </p:cNvPr>
          <p:cNvSpPr>
            <a:spLocks noGrp="1"/>
          </p:cNvSpPr>
          <p:nvPr>
            <p:ph sz="quarter" idx="16"/>
          </p:nvPr>
        </p:nvSpPr>
        <p:spPr>
          <a:xfrm>
            <a:off x="6134100" y="2852258"/>
            <a:ext cx="228600" cy="405683"/>
          </a:xfrm>
        </p:spPr>
        <p:txBody>
          <a:bodyPr wrap="square" tIns="18000" bIns="18000">
            <a:spAutoFit/>
          </a:bodyPr>
          <a:lstStyle/>
          <a:p>
            <a:pPr marL="0" indent="0">
              <a:buNone/>
            </a:pPr>
            <a:r>
              <a:rPr lang="en-US" sz="2400" dirty="0">
                <a:latin typeface="Arial" panose="020B0604020202020204" pitchFamily="34" charset="0"/>
                <a:cs typeface="Arial" panose="020B0604020202020204" pitchFamily="34" charset="0"/>
              </a:rPr>
              <a:t>&amp;</a:t>
            </a:r>
          </a:p>
        </p:txBody>
      </p:sp>
      <p:sp>
        <p:nvSpPr>
          <p:cNvPr id="9" name="Content Placeholder 8">
            <a:extLst>
              <a:ext uri="{FF2B5EF4-FFF2-40B4-BE49-F238E27FC236}">
                <a16:creationId xmlns:a16="http://schemas.microsoft.com/office/drawing/2014/main" id="{FC4DE6BF-78FC-4E5C-B67F-DF703F3C5F69}"/>
              </a:ext>
            </a:extLst>
          </p:cNvPr>
          <p:cNvSpPr>
            <a:spLocks noGrp="1"/>
          </p:cNvSpPr>
          <p:nvPr>
            <p:ph sz="quarter" idx="17"/>
          </p:nvPr>
        </p:nvSpPr>
        <p:spPr>
          <a:xfrm>
            <a:off x="2802056" y="3390801"/>
            <a:ext cx="2303344" cy="405683"/>
          </a:xfrm>
        </p:spPr>
        <p:txBody>
          <a:bodyPr wrap="square" tIns="18000" bIns="18000">
            <a:spAutoFit/>
          </a:bodyPr>
          <a:lstStyle/>
          <a:p>
            <a:pPr marL="0" indent="0">
              <a:buNone/>
            </a:pPr>
            <a:r>
              <a:rPr lang="en-US" sz="2400">
                <a:latin typeface="Arial" panose="020B0604020202020204" pitchFamily="34" charset="0"/>
                <a:cs typeface="Arial" panose="020B0604020202020204" pitchFamily="34" charset="0"/>
              </a:rPr>
              <a:t>Job specification</a:t>
            </a:r>
          </a:p>
        </p:txBody>
      </p:sp>
      <p:graphicFrame>
        <p:nvGraphicFramePr>
          <p:cNvPr id="13" name="Object 12" descr="An arrow pointing toward right.">
            <a:extLst>
              <a:ext uri="{FF2B5EF4-FFF2-40B4-BE49-F238E27FC236}">
                <a16:creationId xmlns:a16="http://schemas.microsoft.com/office/drawing/2014/main" id="{6C37623E-35D2-4EFA-A175-9339E0588BA6}"/>
              </a:ext>
            </a:extLst>
          </p:cNvPr>
          <p:cNvGraphicFramePr>
            <a:graphicFrameLocks noGrp="1" noChangeAspect="1"/>
          </p:cNvGraphicFramePr>
          <p:nvPr>
            <p:extLst>
              <p:ext uri="{D42A27DB-BD31-4B8C-83A1-F6EECF244321}">
                <p14:modId xmlns:p14="http://schemas.microsoft.com/office/powerpoint/2010/main" val="3072195036"/>
              </p:ext>
            </p:extLst>
          </p:nvPr>
        </p:nvGraphicFramePr>
        <p:xfrm>
          <a:off x="5181600" y="3444367"/>
          <a:ext cx="419100" cy="307340"/>
        </p:xfrm>
        <a:graphic>
          <a:graphicData uri="http://schemas.openxmlformats.org/presentationml/2006/ole">
            <mc:AlternateContent xmlns:mc="http://schemas.openxmlformats.org/markup-compatibility/2006">
              <mc:Choice xmlns:v="urn:schemas-microsoft-com:vml" Requires="v">
                <p:oleObj name="Equation" r:id="rId5" imgW="190440" imgH="139680" progId="Equation.DSMT4">
                  <p:embed/>
                </p:oleObj>
              </mc:Choice>
              <mc:Fallback>
                <p:oleObj name="Equation" r:id="rId5" imgW="190440" imgH="139680" progId="Equation.DSMT4">
                  <p:embed/>
                  <p:pic>
                    <p:nvPicPr>
                      <p:cNvPr id="12" name="Object 11">
                        <a:extLst>
                          <a:ext uri="{FF2B5EF4-FFF2-40B4-BE49-F238E27FC236}">
                            <a16:creationId xmlns:a16="http://schemas.microsoft.com/office/drawing/2014/main" id="{1FB5DCD5-47FE-426A-844C-7E51B4B40199}"/>
                          </a:ext>
                        </a:extLst>
                      </p:cNvPr>
                      <p:cNvPicPr>
                        <a:picLocks noGrp="1" noChangeAspect="1" noChangeArrowheads="1"/>
                      </p:cNvPicPr>
                      <p:nvPr/>
                    </p:nvPicPr>
                    <p:blipFill>
                      <a:blip r:embed="rId6"/>
                      <a:srcRect/>
                      <a:stretch>
                        <a:fillRect/>
                      </a:stretch>
                    </p:blipFill>
                    <p:spPr bwMode="auto">
                      <a:xfrm>
                        <a:off x="5181600" y="3444367"/>
                        <a:ext cx="419100"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Content Placeholder 9">
            <a:extLst>
              <a:ext uri="{FF2B5EF4-FFF2-40B4-BE49-F238E27FC236}">
                <a16:creationId xmlns:a16="http://schemas.microsoft.com/office/drawing/2014/main" id="{AA764986-DA65-4D5A-8D9F-BF8972BD0511}"/>
              </a:ext>
            </a:extLst>
          </p:cNvPr>
          <p:cNvSpPr>
            <a:spLocks noGrp="1"/>
          </p:cNvSpPr>
          <p:nvPr>
            <p:ph sz="quarter" idx="18"/>
          </p:nvPr>
        </p:nvSpPr>
        <p:spPr>
          <a:xfrm>
            <a:off x="5715000" y="3429000"/>
            <a:ext cx="2895600" cy="405683"/>
          </a:xfrm>
        </p:spPr>
        <p:txBody>
          <a:bodyPr wrap="square" tIns="18000" bIns="18000">
            <a:spAutoFit/>
          </a:bodyPr>
          <a:lstStyle/>
          <a:p>
            <a:pPr marL="0" indent="0">
              <a:buNone/>
            </a:pPr>
            <a:r>
              <a:rPr lang="en-US" sz="2400" dirty="0">
                <a:latin typeface="Arial" panose="020B0604020202020204" pitchFamily="34" charset="0"/>
                <a:cs typeface="Arial" panose="020B0604020202020204" pitchFamily="34" charset="0"/>
              </a:rPr>
              <a:t>describes the person</a:t>
            </a:r>
          </a:p>
        </p:txBody>
      </p:sp>
    </p:spTree>
    <p:extLst>
      <p:ext uri="{BB962C8B-B14F-4D97-AF65-F5344CB8AC3E}">
        <p14:creationId xmlns:p14="http://schemas.microsoft.com/office/powerpoint/2010/main" val="3015148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153400" cy="1144347"/>
          </a:xfrm>
        </p:spPr>
        <p:txBody>
          <a:bodyPr wrap="square" tIns="18000" bIns="18000" anchor="t" anchorCtr="0">
            <a:spAutoFit/>
          </a:bodyPr>
          <a:lstStyle/>
          <a:p>
            <a:r>
              <a:rPr lang="en-US" sz="3600" dirty="0">
                <a:latin typeface="+mj-lt"/>
                <a:ea typeface="ＭＳ Ｐゴシック" panose="020B0600070205080204" pitchFamily="34" charset="-128"/>
                <a:cs typeface="Arial" panose="020B0604020202020204" pitchFamily="34" charset="0"/>
              </a:rPr>
              <a:t>Determining Future Employment Needs</a:t>
            </a:r>
            <a:endParaRPr lang="en-US" sz="3600" dirty="0">
              <a:latin typeface="+mj-lt"/>
            </a:endParaRPr>
          </a:p>
        </p:txBody>
      </p:sp>
      <p:sp>
        <p:nvSpPr>
          <p:cNvPr id="3" name="Content Placeholder 2"/>
          <p:cNvSpPr>
            <a:spLocks noGrp="1"/>
          </p:cNvSpPr>
          <p:nvPr>
            <p:ph idx="1"/>
          </p:nvPr>
        </p:nvSpPr>
        <p:spPr>
          <a:xfrm>
            <a:off x="457200" y="1510985"/>
            <a:ext cx="8153400" cy="775015"/>
          </a:xfrm>
        </p:spPr>
        <p:txBody>
          <a:bodyPr tIns="18000" bIns="18000">
            <a:spAutoFit/>
          </a:bodyPr>
          <a:lstStyle/>
          <a:p>
            <a:pPr marL="355600" indent="-355600">
              <a:buSzPct val="100000"/>
            </a:pPr>
            <a:r>
              <a:rPr lang="en-US" sz="2400">
                <a:latin typeface="Arial" panose="020B0604020202020204" pitchFamily="34" charset="0"/>
                <a:ea typeface="ＭＳ Ｐゴシック" panose="020B0600070205080204" pitchFamily="34" charset="-128"/>
                <a:cs typeface="Arial" panose="020B0604020202020204" pitchFamily="34" charset="0"/>
              </a:rPr>
              <a:t>Demand for human resources (employees) is a result of the demand for the organization</a:t>
            </a:r>
            <a:r>
              <a:rPr lang="en-US" altLang="en-US" sz="2400">
                <a:latin typeface="Arial" panose="020B0604020202020204" pitchFamily="34" charset="0"/>
                <a:ea typeface="ＭＳ Ｐゴシック" panose="020B0600070205080204" pitchFamily="34" charset="-128"/>
                <a:cs typeface="Arial" panose="020B0604020202020204" pitchFamily="34" charset="0"/>
              </a:rPr>
              <a:t>’</a:t>
            </a:r>
            <a:r>
              <a:rPr lang="en-US" sz="2400">
                <a:latin typeface="Arial" panose="020B0604020202020204" pitchFamily="34" charset="0"/>
                <a:ea typeface="ＭＳ Ｐゴシック" panose="020B0600070205080204" pitchFamily="34" charset="-128"/>
                <a:cs typeface="Arial" panose="020B0604020202020204" pitchFamily="34" charset="0"/>
              </a:rPr>
              <a:t>s products or services.</a:t>
            </a:r>
            <a:endParaRPr lang="en-US" sz="2400">
              <a:latin typeface="Arial" panose="020B0604020202020204" pitchFamily="34" charset="0"/>
              <a:cs typeface="Arial" panose="020B0604020202020204" pitchFamily="34" charset="0"/>
            </a:endParaRPr>
          </a:p>
        </p:txBody>
      </p:sp>
      <p:sp>
        <p:nvSpPr>
          <p:cNvPr id="4" name="Content Placeholder 3"/>
          <p:cNvSpPr>
            <a:spLocks noGrp="1"/>
          </p:cNvSpPr>
          <p:nvPr>
            <p:ph idx="13"/>
          </p:nvPr>
        </p:nvSpPr>
        <p:spPr>
          <a:xfrm>
            <a:off x="1828800" y="2653984"/>
            <a:ext cx="5486400" cy="967376"/>
          </a:xfrm>
        </p:spPr>
        <p:txBody>
          <a:bodyPr wrap="square" tIns="18000" bIns="18000">
            <a:spAutoFit/>
          </a:bodyPr>
          <a:lstStyle/>
          <a:p>
            <a:pPr marL="0" indent="0">
              <a:buNone/>
            </a:pPr>
            <a:r>
              <a:rPr lang="en-US" sz="2400" dirty="0">
                <a:solidFill>
                  <a:schemeClr val="bg2"/>
                </a:solidFill>
                <a:latin typeface="Arial" panose="020B0604020202020204" pitchFamily="34" charset="0"/>
                <a:cs typeface="Arial" panose="020B0604020202020204" pitchFamily="34" charset="0"/>
              </a:rPr>
              <a:t>Needed! </a:t>
            </a:r>
            <a:r>
              <a:rPr lang="en-US" sz="2400" b="1" dirty="0">
                <a:solidFill>
                  <a:schemeClr val="bg2"/>
                </a:solidFill>
                <a:latin typeface="Arial" panose="020B0604020202020204" pitchFamily="34" charset="0"/>
                <a:cs typeface="Arial" panose="020B0604020202020204" pitchFamily="34" charset="0"/>
              </a:rPr>
              <a:t>Outstanding Job Applicants!</a:t>
            </a:r>
          </a:p>
          <a:p>
            <a:pPr marL="0" indent="0">
              <a:buNone/>
            </a:pPr>
            <a:r>
              <a:rPr lang="en-US" sz="2400" dirty="0">
                <a:solidFill>
                  <a:schemeClr val="bg2"/>
                </a:solidFill>
                <a:latin typeface="Arial" panose="020B0604020202020204" pitchFamily="34" charset="0"/>
                <a:cs typeface="Arial" panose="020B0604020202020204" pitchFamily="34" charset="0"/>
              </a:rPr>
              <a:t>Now . . . how do we get those?</a:t>
            </a:r>
          </a:p>
        </p:txBody>
      </p:sp>
    </p:spTree>
    <p:extLst>
      <p:ext uri="{BB962C8B-B14F-4D97-AF65-F5344CB8AC3E}">
        <p14:creationId xmlns:p14="http://schemas.microsoft.com/office/powerpoint/2010/main" val="713556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90349"/>
          </a:xfrm>
        </p:spPr>
        <p:txBody>
          <a:bodyPr wrap="square" tIns="18000" bIns="18000" anchor="t" anchorCtr="0">
            <a:spAutoFit/>
          </a:bodyPr>
          <a:lstStyle/>
          <a:p>
            <a:r>
              <a:rPr lang="en-US" sz="3600" dirty="0">
                <a:latin typeface="+mj-lt"/>
                <a:ea typeface="ＭＳ Ｐゴシック" panose="020B0600070205080204" pitchFamily="34" charset="-128"/>
                <a:cs typeface="Arial" panose="020B0604020202020204" pitchFamily="34" charset="0"/>
              </a:rPr>
              <a:t>Recruiting Applicants</a:t>
            </a:r>
            <a:endParaRPr lang="en-US" sz="3600" dirty="0">
              <a:latin typeface="+mj-lt"/>
            </a:endParaRPr>
          </a:p>
        </p:txBody>
      </p:sp>
      <p:sp>
        <p:nvSpPr>
          <p:cNvPr id="3" name="Content Placeholder 2"/>
          <p:cNvSpPr>
            <a:spLocks noGrp="1"/>
          </p:cNvSpPr>
          <p:nvPr>
            <p:ph idx="1"/>
          </p:nvPr>
        </p:nvSpPr>
        <p:spPr>
          <a:xfrm>
            <a:off x="457200" y="914400"/>
            <a:ext cx="8153400" cy="282573"/>
          </a:xfrm>
        </p:spPr>
        <p:txBody>
          <a:bodyPr wrap="square" tIns="18000" bIns="18000">
            <a:spAutoFit/>
          </a:bodyPr>
          <a:lstStyle/>
          <a:p>
            <a:pPr marL="0" indent="0">
              <a:buNone/>
            </a:pPr>
            <a:r>
              <a:rPr lang="en-US" b="1" dirty="0">
                <a:latin typeface="Arial" panose="020B0604020202020204" pitchFamily="34" charset="0"/>
                <a:cs typeface="Arial" panose="020B0604020202020204" pitchFamily="34" charset="0"/>
              </a:rPr>
              <a:t>Exhibit 9.3 </a:t>
            </a:r>
            <a:r>
              <a:rPr lang="en-US" dirty="0">
                <a:latin typeface="Arial" panose="020B0604020202020204" pitchFamily="34" charset="0"/>
                <a:cs typeface="Arial" panose="020B0604020202020204" pitchFamily="34" charset="0"/>
              </a:rPr>
              <a:t>Recruiting Sources</a:t>
            </a:r>
          </a:p>
        </p:txBody>
      </p:sp>
      <p:graphicFrame>
        <p:nvGraphicFramePr>
          <p:cNvPr id="7" name="Table"/>
          <p:cNvGraphicFramePr>
            <a:graphicFrameLocks/>
          </p:cNvGraphicFramePr>
          <p:nvPr>
            <p:extLst>
              <p:ext uri="{D42A27DB-BD31-4B8C-83A1-F6EECF244321}">
                <p14:modId xmlns:p14="http://schemas.microsoft.com/office/powerpoint/2010/main" val="1431624118"/>
              </p:ext>
            </p:extLst>
          </p:nvPr>
        </p:nvGraphicFramePr>
        <p:xfrm>
          <a:off x="685800" y="1511658"/>
          <a:ext cx="7772399" cy="3830145"/>
        </p:xfrm>
        <a:graphic>
          <a:graphicData uri="http://schemas.openxmlformats.org/drawingml/2006/table">
            <a:tbl>
              <a:tblPr firstRow="1" bandRow="1">
                <a:tableStyleId>{9D7B26C5-4107-4FEC-AEDC-1716B250A1EF}</a:tableStyleId>
              </a:tblPr>
              <a:tblGrid>
                <a:gridCol w="1712236">
                  <a:extLst>
                    <a:ext uri="{9D8B030D-6E8A-4147-A177-3AD203B41FA5}">
                      <a16:colId xmlns:a16="http://schemas.microsoft.com/office/drawing/2014/main" val="20000"/>
                    </a:ext>
                  </a:extLst>
                </a:gridCol>
                <a:gridCol w="4363318">
                  <a:extLst>
                    <a:ext uri="{9D8B030D-6E8A-4147-A177-3AD203B41FA5}">
                      <a16:colId xmlns:a16="http://schemas.microsoft.com/office/drawing/2014/main" val="20001"/>
                    </a:ext>
                  </a:extLst>
                </a:gridCol>
                <a:gridCol w="1696845">
                  <a:extLst>
                    <a:ext uri="{9D8B030D-6E8A-4147-A177-3AD203B41FA5}">
                      <a16:colId xmlns:a16="http://schemas.microsoft.com/office/drawing/2014/main" val="20002"/>
                    </a:ext>
                  </a:extLst>
                </a:gridCol>
              </a:tblGrid>
              <a:tr h="326450">
                <a:tc>
                  <a:txBody>
                    <a:bodyPr/>
                    <a:lstStyle/>
                    <a:p>
                      <a:pPr algn="l"/>
                      <a:r>
                        <a:rPr lang="en-US" sz="1400" b="1" i="0" u="none" strike="noStrike" kern="1200" baseline="0" noProof="0">
                          <a:solidFill>
                            <a:schemeClr val="bg1"/>
                          </a:solidFill>
                          <a:latin typeface="Arial" panose="020B0604020202020204" pitchFamily="34" charset="0"/>
                          <a:ea typeface="+mn-ea"/>
                          <a:cs typeface="Arial" panose="020B0604020202020204" pitchFamily="34" charset="0"/>
                        </a:rPr>
                        <a:t>SOURCE</a:t>
                      </a:r>
                    </a:p>
                  </a:txBody>
                  <a:tcPr marL="55990" marR="55990" marT="25450" marB="25450">
                    <a:lnL w="12700" cap="flat" cmpd="sng" algn="ctr">
                      <a:no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i="0" u="none" strike="noStrike" kern="1200" baseline="0" noProof="0">
                          <a:solidFill>
                            <a:schemeClr val="bg1"/>
                          </a:solidFill>
                          <a:latin typeface="Arial" panose="020B0604020202020204" pitchFamily="34" charset="0"/>
                          <a:ea typeface="+mn-ea"/>
                          <a:cs typeface="Arial" panose="020B0604020202020204" pitchFamily="34" charset="0"/>
                        </a:rPr>
                        <a:t>ADVANTAGES</a:t>
                      </a:r>
                      <a:endParaRPr lang="en-US" sz="1400" noProof="0">
                        <a:solidFill>
                          <a:schemeClr val="bg1"/>
                        </a:solidFill>
                        <a:latin typeface="Arial" panose="020B0604020202020204" pitchFamily="34" charset="0"/>
                        <a:cs typeface="Arial" panose="020B0604020202020204" pitchFamily="34" charset="0"/>
                      </a:endParaRPr>
                    </a:p>
                  </a:txBody>
                  <a:tcPr marL="55990" marR="55990" marT="25450" marB="25450">
                    <a:lnL>
                      <a:noFill/>
                    </a:lnL>
                    <a:lnR>
                      <a:noFill/>
                    </a:lnR>
                    <a:lnT w="12700" cmpd="sng">
                      <a:noFill/>
                    </a:lnT>
                    <a:lnB w="12700" cmpd="sng">
                      <a:noFill/>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a:solidFill>
                            <a:schemeClr val="bg1"/>
                          </a:solidFill>
                          <a:latin typeface="Arial" panose="020B0604020202020204" pitchFamily="34" charset="0"/>
                          <a:cs typeface="Arial" panose="020B0604020202020204" pitchFamily="34" charset="0"/>
                        </a:rPr>
                        <a:t>DISADVANTAGES</a:t>
                      </a:r>
                    </a:p>
                  </a:txBody>
                  <a:tcPr marL="55990" marR="55990" marT="25450" marB="25450">
                    <a:lnL>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3481463362"/>
                  </a:ext>
                </a:extLst>
              </a:tr>
              <a:tr h="632791">
                <a:tc>
                  <a:txBody>
                    <a:bodyPr/>
                    <a:lstStyle/>
                    <a:p>
                      <a:r>
                        <a:rPr lang="en-US" sz="1400" b="0" i="0" u="none" strike="noStrike" kern="1200" baseline="0" noProof="0" dirty="0">
                          <a:solidFill>
                            <a:schemeClr val="tx1"/>
                          </a:solidFill>
                          <a:latin typeface="Arial" panose="020B0604020202020204" pitchFamily="34" charset="0"/>
                          <a:ea typeface="+mn-ea"/>
                          <a:cs typeface="Arial" panose="020B0604020202020204" pitchFamily="34" charset="0"/>
                        </a:rPr>
                        <a:t>Internet/social media</a:t>
                      </a:r>
                      <a:endParaRPr lang="en-US" sz="1400" noProof="0" dirty="0">
                        <a:latin typeface="Arial" panose="020B0604020202020204" pitchFamily="34" charset="0"/>
                        <a:cs typeface="Arial" panose="020B0604020202020204" pitchFamily="34" charset="0"/>
                      </a:endParaRPr>
                    </a:p>
                  </a:txBody>
                  <a:tcPr marL="55990" marR="55990" marT="25450" marB="25450">
                    <a:lnL w="12700" cap="flat" cmpd="sng" algn="ctr">
                      <a:no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algn="l"/>
                      <a:r>
                        <a:rPr lang="en-US" sz="1400" noProof="0" dirty="0">
                          <a:latin typeface="Arial" panose="020B0604020202020204" pitchFamily="34" charset="0"/>
                          <a:cs typeface="Arial" panose="020B0604020202020204" pitchFamily="34" charset="0"/>
                        </a:rPr>
                        <a:t>Reaches large numbers of</a:t>
                      </a:r>
                      <a:r>
                        <a:rPr lang="en-US" sz="1400" baseline="0" noProof="0" dirty="0">
                          <a:latin typeface="Arial" panose="020B0604020202020204" pitchFamily="34" charset="0"/>
                          <a:cs typeface="Arial" panose="020B0604020202020204" pitchFamily="34" charset="0"/>
                        </a:rPr>
                        <a:t> </a:t>
                      </a:r>
                      <a:r>
                        <a:rPr lang="en-US" sz="1400" noProof="0" dirty="0">
                          <a:latin typeface="Arial" panose="020B0604020202020204" pitchFamily="34" charset="0"/>
                          <a:cs typeface="Arial" panose="020B0604020202020204" pitchFamily="34" charset="0"/>
                        </a:rPr>
                        <a:t>people; can get immediate</a:t>
                      </a:r>
                      <a:r>
                        <a:rPr lang="en-US" sz="1400" baseline="0" noProof="0" dirty="0">
                          <a:latin typeface="Arial" panose="020B0604020202020204" pitchFamily="34" charset="0"/>
                          <a:cs typeface="Arial" panose="020B0604020202020204" pitchFamily="34" charset="0"/>
                        </a:rPr>
                        <a:t> f</a:t>
                      </a:r>
                      <a:r>
                        <a:rPr lang="en-US" sz="1400" noProof="0" dirty="0">
                          <a:latin typeface="Arial" panose="020B0604020202020204" pitchFamily="34" charset="0"/>
                          <a:cs typeface="Arial" panose="020B0604020202020204" pitchFamily="34" charset="0"/>
                        </a:rPr>
                        <a:t>eedback 92 percent of recruiters use</a:t>
                      </a:r>
                      <a:r>
                        <a:rPr lang="en-US" sz="1400" baseline="0" noProof="0" dirty="0">
                          <a:latin typeface="Arial" panose="020B0604020202020204" pitchFamily="34" charset="0"/>
                          <a:cs typeface="Arial" panose="020B0604020202020204" pitchFamily="34" charset="0"/>
                        </a:rPr>
                        <a:t> </a:t>
                      </a:r>
                      <a:r>
                        <a:rPr lang="en-US" sz="1400" noProof="0" dirty="0">
                          <a:latin typeface="Arial" panose="020B0604020202020204" pitchFamily="34" charset="0"/>
                          <a:cs typeface="Arial" panose="020B0604020202020204" pitchFamily="34" charset="0"/>
                        </a:rPr>
                        <a:t>social media when looking</a:t>
                      </a:r>
                      <a:r>
                        <a:rPr lang="en-US" sz="1400" baseline="0" noProof="0" dirty="0">
                          <a:latin typeface="Arial" panose="020B0604020202020204" pitchFamily="34" charset="0"/>
                          <a:cs typeface="Arial" panose="020B0604020202020204" pitchFamily="34" charset="0"/>
                        </a:rPr>
                        <a:t> </a:t>
                      </a:r>
                      <a:r>
                        <a:rPr lang="en-US" sz="1400" noProof="0" dirty="0">
                          <a:latin typeface="Arial" panose="020B0604020202020204" pitchFamily="34" charset="0"/>
                          <a:cs typeface="Arial" panose="020B0604020202020204" pitchFamily="34" charset="0"/>
                        </a:rPr>
                        <a:t>for potential </a:t>
                      </a:r>
                      <a:r>
                        <a:rPr lang="en-US" sz="100" noProof="0" dirty="0">
                          <a:latin typeface="Arial" panose="020B0604020202020204" pitchFamily="34" charset="0"/>
                          <a:cs typeface="Arial" panose="020B0604020202020204" pitchFamily="34" charset="0"/>
                        </a:rPr>
                        <a:t>candidates</a:t>
                      </a:r>
                      <a:r>
                        <a:rPr lang="en-US" sz="100" baseline="30000" noProof="0" dirty="0">
                          <a:latin typeface="Arial" panose="020B0604020202020204" pitchFamily="34" charset="0"/>
                          <a:cs typeface="Arial" panose="020B0604020202020204" pitchFamily="34" charset="0"/>
                        </a:rPr>
                        <a:t> </a:t>
                      </a:r>
                      <a:r>
                        <a:rPr lang="en-US" sz="100" baseline="0" noProof="0" dirty="0">
                          <a:latin typeface="Arial" panose="020B0604020202020204" pitchFamily="34" charset="0"/>
                          <a:cs typeface="Arial" panose="020B0604020202020204" pitchFamily="34" charset="0"/>
                        </a:rPr>
                        <a:t>super 12</a:t>
                      </a:r>
                    </a:p>
                  </a:txBody>
                  <a:tcPr marL="55990" marR="55990" marT="25450" marB="25450">
                    <a:lnL>
                      <a:noFill/>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algn="l"/>
                      <a:r>
                        <a:rPr lang="en-US" sz="1400" noProof="0">
                          <a:latin typeface="Arial" panose="020B0604020202020204" pitchFamily="34" charset="0"/>
                          <a:cs typeface="Arial" panose="020B0604020202020204" pitchFamily="34" charset="0"/>
                        </a:rPr>
                        <a:t>Generates many</a:t>
                      </a:r>
                      <a:r>
                        <a:rPr lang="en-US" sz="1400" baseline="0" noProof="0">
                          <a:latin typeface="Arial" panose="020B0604020202020204" pitchFamily="34" charset="0"/>
                          <a:cs typeface="Arial" panose="020B0604020202020204" pitchFamily="34" charset="0"/>
                        </a:rPr>
                        <a:t> </a:t>
                      </a:r>
                      <a:r>
                        <a:rPr lang="en-US" sz="1400" noProof="0">
                          <a:latin typeface="Arial" panose="020B0604020202020204" pitchFamily="34" charset="0"/>
                          <a:cs typeface="Arial" panose="020B0604020202020204" pitchFamily="34" charset="0"/>
                        </a:rPr>
                        <a:t>unqualified</a:t>
                      </a:r>
                    </a:p>
                    <a:p>
                      <a:pPr algn="l"/>
                      <a:r>
                        <a:rPr lang="en-US" sz="1400" noProof="0">
                          <a:latin typeface="Arial" panose="020B0604020202020204" pitchFamily="34" charset="0"/>
                          <a:cs typeface="Arial" panose="020B0604020202020204" pitchFamily="34" charset="0"/>
                        </a:rPr>
                        <a:t>candidates</a:t>
                      </a:r>
                    </a:p>
                  </a:txBody>
                  <a:tcPr marL="55990" marR="55990" marT="25450" marB="25450">
                    <a:lnL>
                      <a:noFill/>
                    </a:lnL>
                    <a:lnR w="12700" cap="flat" cmpd="sng" algn="ctr">
                      <a:noFill/>
                      <a:prstDash val="solid"/>
                      <a:round/>
                      <a:headEnd type="none" w="med" len="med"/>
                      <a:tailEnd type="none" w="med" len="med"/>
                    </a:lnR>
                    <a:lnT w="12700" cmpd="sng">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739775">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Employee referrals</a:t>
                      </a:r>
                      <a:endParaRPr lang="en-US" sz="1400" noProof="0">
                        <a:latin typeface="Arial" panose="020B0604020202020204" pitchFamily="34" charset="0"/>
                        <a:cs typeface="Arial" panose="020B0604020202020204" pitchFamily="34" charset="0"/>
                      </a:endParaRPr>
                    </a:p>
                  </a:txBody>
                  <a:tcPr marL="55990" marR="55990" marT="25450" marB="25450">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l"/>
                      <a:r>
                        <a:rPr lang="en-US" sz="1400" noProof="0" dirty="0">
                          <a:latin typeface="Arial" panose="020B0604020202020204" pitchFamily="34" charset="0"/>
                          <a:cs typeface="Arial" panose="020B0604020202020204" pitchFamily="34" charset="0"/>
                        </a:rPr>
                        <a:t>Knowledge about the</a:t>
                      </a:r>
                      <a:r>
                        <a:rPr lang="en-US" sz="1400" baseline="0" noProof="0" dirty="0">
                          <a:latin typeface="Arial" panose="020B0604020202020204" pitchFamily="34" charset="0"/>
                          <a:cs typeface="Arial" panose="020B0604020202020204" pitchFamily="34" charset="0"/>
                        </a:rPr>
                        <a:t> </a:t>
                      </a:r>
                      <a:r>
                        <a:rPr lang="en-US" sz="1400" noProof="0" dirty="0">
                          <a:latin typeface="Arial" panose="020B0604020202020204" pitchFamily="34" charset="0"/>
                          <a:cs typeface="Arial" panose="020B0604020202020204" pitchFamily="34" charset="0"/>
                        </a:rPr>
                        <a:t>organization provided by</a:t>
                      </a:r>
                    </a:p>
                    <a:p>
                      <a:pPr algn="l"/>
                      <a:r>
                        <a:rPr lang="en-US" sz="1400" noProof="0" dirty="0">
                          <a:latin typeface="Arial" panose="020B0604020202020204" pitchFamily="34" charset="0"/>
                          <a:cs typeface="Arial" panose="020B0604020202020204" pitchFamily="34" charset="0"/>
                        </a:rPr>
                        <a:t>current employee; can generate</a:t>
                      </a:r>
                      <a:r>
                        <a:rPr lang="en-US" sz="1400" baseline="0" noProof="0" dirty="0">
                          <a:latin typeface="Arial" panose="020B0604020202020204" pitchFamily="34" charset="0"/>
                          <a:cs typeface="Arial" panose="020B0604020202020204" pitchFamily="34" charset="0"/>
                        </a:rPr>
                        <a:t> </a:t>
                      </a:r>
                      <a:r>
                        <a:rPr lang="en-US" sz="1400" noProof="0" dirty="0">
                          <a:latin typeface="Arial" panose="020B0604020202020204" pitchFamily="34" charset="0"/>
                          <a:cs typeface="Arial" panose="020B0604020202020204" pitchFamily="34" charset="0"/>
                        </a:rPr>
                        <a:t>strong candidates</a:t>
                      </a:r>
                      <a:r>
                        <a:rPr lang="en-US" sz="1400" baseline="0" noProof="0" dirty="0">
                          <a:latin typeface="Arial" panose="020B0604020202020204" pitchFamily="34" charset="0"/>
                          <a:cs typeface="Arial" panose="020B0604020202020204" pitchFamily="34" charset="0"/>
                        </a:rPr>
                        <a:t> </a:t>
                      </a:r>
                      <a:r>
                        <a:rPr lang="en-US" sz="1400" noProof="0" dirty="0">
                          <a:latin typeface="Arial" panose="020B0604020202020204" pitchFamily="34" charset="0"/>
                          <a:cs typeface="Arial" panose="020B0604020202020204" pitchFamily="34" charset="0"/>
                        </a:rPr>
                        <a:t>because a good referral</a:t>
                      </a:r>
                      <a:r>
                        <a:rPr lang="en-US" sz="1400" baseline="0" noProof="0" dirty="0">
                          <a:latin typeface="Arial" panose="020B0604020202020204" pitchFamily="34" charset="0"/>
                          <a:cs typeface="Arial" panose="020B0604020202020204" pitchFamily="34" charset="0"/>
                        </a:rPr>
                        <a:t> </a:t>
                      </a:r>
                      <a:r>
                        <a:rPr lang="en-US" sz="1400" noProof="0" dirty="0">
                          <a:latin typeface="Arial" panose="020B0604020202020204" pitchFamily="34" charset="0"/>
                          <a:cs typeface="Arial" panose="020B0604020202020204" pitchFamily="34" charset="0"/>
                        </a:rPr>
                        <a:t>reflects on the recommender</a:t>
                      </a:r>
                    </a:p>
                  </a:txBody>
                  <a:tcPr marL="55990" marR="55990" marT="25450" marB="25450">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l"/>
                      <a:r>
                        <a:rPr lang="en-US" sz="1400" noProof="0">
                          <a:latin typeface="Arial" panose="020B0604020202020204" pitchFamily="34" charset="0"/>
                          <a:cs typeface="Arial" panose="020B0604020202020204" pitchFamily="34" charset="0"/>
                        </a:rPr>
                        <a:t>May not increase the</a:t>
                      </a:r>
                      <a:r>
                        <a:rPr lang="en-US" sz="1400" baseline="0" noProof="0">
                          <a:latin typeface="Arial" panose="020B0604020202020204" pitchFamily="34" charset="0"/>
                          <a:cs typeface="Arial" panose="020B0604020202020204" pitchFamily="34" charset="0"/>
                        </a:rPr>
                        <a:t> </a:t>
                      </a:r>
                      <a:r>
                        <a:rPr lang="en-US" sz="1400" noProof="0">
                          <a:latin typeface="Arial" panose="020B0604020202020204" pitchFamily="34" charset="0"/>
                          <a:cs typeface="Arial" panose="020B0604020202020204" pitchFamily="34" charset="0"/>
                        </a:rPr>
                        <a:t>diversity and mix of</a:t>
                      </a:r>
                      <a:r>
                        <a:rPr lang="en-US" sz="1400" baseline="0" noProof="0">
                          <a:latin typeface="Arial" panose="020B0604020202020204" pitchFamily="34" charset="0"/>
                          <a:cs typeface="Arial" panose="020B0604020202020204" pitchFamily="34" charset="0"/>
                        </a:rPr>
                        <a:t> </a:t>
                      </a:r>
                      <a:r>
                        <a:rPr lang="en-US" sz="1400" noProof="0">
                          <a:latin typeface="Arial" panose="020B0604020202020204" pitchFamily="34" charset="0"/>
                          <a:cs typeface="Arial" panose="020B0604020202020204" pitchFamily="34" charset="0"/>
                        </a:rPr>
                        <a:t>employees</a:t>
                      </a:r>
                    </a:p>
                  </a:txBody>
                  <a:tcPr marL="55990" marR="55990" marT="25450" marB="2545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632791">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Company Web site</a:t>
                      </a:r>
                      <a:endParaRPr lang="en-US" sz="1400" noProof="0">
                        <a:latin typeface="Arial" panose="020B0604020202020204" pitchFamily="34" charset="0"/>
                        <a:cs typeface="Arial" panose="020B0604020202020204" pitchFamily="34" charset="0"/>
                      </a:endParaRPr>
                    </a:p>
                  </a:txBody>
                  <a:tcPr marL="55990" marR="55990" marT="25450" marB="25450">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l"/>
                      <a:r>
                        <a:rPr lang="en-US" sz="1400" noProof="0">
                          <a:latin typeface="Arial" panose="020B0604020202020204" pitchFamily="34" charset="0"/>
                          <a:cs typeface="Arial" panose="020B0604020202020204" pitchFamily="34" charset="0"/>
                        </a:rPr>
                        <a:t>Wide distribution; can be</a:t>
                      </a:r>
                      <a:r>
                        <a:rPr lang="en-US" sz="1400" baseline="0" noProof="0">
                          <a:latin typeface="Arial" panose="020B0604020202020204" pitchFamily="34" charset="0"/>
                          <a:cs typeface="Arial" panose="020B0604020202020204" pitchFamily="34" charset="0"/>
                        </a:rPr>
                        <a:t> </a:t>
                      </a:r>
                      <a:r>
                        <a:rPr lang="en-US" sz="1400" noProof="0">
                          <a:latin typeface="Arial" panose="020B0604020202020204" pitchFamily="34" charset="0"/>
                          <a:cs typeface="Arial" panose="020B0604020202020204" pitchFamily="34" charset="0"/>
                        </a:rPr>
                        <a:t>targeted to specific groups</a:t>
                      </a:r>
                    </a:p>
                  </a:txBody>
                  <a:tcPr marL="55990" marR="55990" marT="25450" marB="25450">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l"/>
                      <a:r>
                        <a:rPr lang="en-US" sz="1400" noProof="0">
                          <a:latin typeface="Arial" panose="020B0604020202020204" pitchFamily="34" charset="0"/>
                          <a:cs typeface="Arial" panose="020B0604020202020204" pitchFamily="34" charset="0"/>
                        </a:rPr>
                        <a:t>Generates many</a:t>
                      </a:r>
                      <a:r>
                        <a:rPr lang="en-US" sz="1400" baseline="0" noProof="0">
                          <a:latin typeface="Arial" panose="020B0604020202020204" pitchFamily="34" charset="0"/>
                          <a:cs typeface="Arial" panose="020B0604020202020204" pitchFamily="34" charset="0"/>
                        </a:rPr>
                        <a:t> </a:t>
                      </a:r>
                      <a:r>
                        <a:rPr lang="en-US" sz="1400" noProof="0">
                          <a:latin typeface="Arial" panose="020B0604020202020204" pitchFamily="34" charset="0"/>
                          <a:cs typeface="Arial" panose="020B0604020202020204" pitchFamily="34" charset="0"/>
                        </a:rPr>
                        <a:t>unqualified</a:t>
                      </a:r>
                    </a:p>
                    <a:p>
                      <a:pPr algn="l"/>
                      <a:r>
                        <a:rPr lang="en-US" sz="1400" noProof="0">
                          <a:latin typeface="Arial" panose="020B0604020202020204" pitchFamily="34" charset="0"/>
                          <a:cs typeface="Arial" panose="020B0604020202020204" pitchFamily="34" charset="0"/>
                        </a:rPr>
                        <a:t>candidates</a:t>
                      </a:r>
                    </a:p>
                  </a:txBody>
                  <a:tcPr marL="55990" marR="55990" marT="25450" marB="2545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632791">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College recruiting/job</a:t>
                      </a:r>
                    </a:p>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fairs</a:t>
                      </a:r>
                      <a:endParaRPr lang="en-US" sz="1400" noProof="0">
                        <a:latin typeface="Arial" panose="020B0604020202020204" pitchFamily="34" charset="0"/>
                        <a:cs typeface="Arial" panose="020B0604020202020204" pitchFamily="34" charset="0"/>
                      </a:endParaRPr>
                    </a:p>
                  </a:txBody>
                  <a:tcPr marL="55990" marR="55990" marT="25450" marB="25450">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l"/>
                      <a:r>
                        <a:rPr lang="en-US" sz="1400" noProof="0">
                          <a:latin typeface="Arial" panose="020B0604020202020204" pitchFamily="34" charset="0"/>
                          <a:cs typeface="Arial" panose="020B0604020202020204" pitchFamily="34" charset="0"/>
                        </a:rPr>
                        <a:t>Large centralized body of</a:t>
                      </a:r>
                      <a:r>
                        <a:rPr lang="en-US" sz="1400" baseline="0" noProof="0">
                          <a:latin typeface="Arial" panose="020B0604020202020204" pitchFamily="34" charset="0"/>
                          <a:cs typeface="Arial" panose="020B0604020202020204" pitchFamily="34" charset="0"/>
                        </a:rPr>
                        <a:t> </a:t>
                      </a:r>
                      <a:r>
                        <a:rPr lang="en-US" sz="1400" noProof="0">
                          <a:latin typeface="Arial" panose="020B0604020202020204" pitchFamily="34" charset="0"/>
                          <a:cs typeface="Arial" panose="020B0604020202020204" pitchFamily="34" charset="0"/>
                        </a:rPr>
                        <a:t>candidates</a:t>
                      </a:r>
                    </a:p>
                  </a:txBody>
                  <a:tcPr marL="55990" marR="55990" marT="25450" marB="25450">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algn="l"/>
                      <a:r>
                        <a:rPr lang="en-US" sz="1400" noProof="0">
                          <a:latin typeface="Arial" panose="020B0604020202020204" pitchFamily="34" charset="0"/>
                          <a:cs typeface="Arial" panose="020B0604020202020204" pitchFamily="34" charset="0"/>
                        </a:rPr>
                        <a:t>Limited to entry-level</a:t>
                      </a:r>
                      <a:r>
                        <a:rPr lang="en-US" sz="1400" baseline="0" noProof="0">
                          <a:latin typeface="Arial" panose="020B0604020202020204" pitchFamily="34" charset="0"/>
                          <a:cs typeface="Arial" panose="020B0604020202020204" pitchFamily="34" charset="0"/>
                        </a:rPr>
                        <a:t> </a:t>
                      </a:r>
                      <a:r>
                        <a:rPr lang="en-US" sz="1400" noProof="0">
                          <a:latin typeface="Arial" panose="020B0604020202020204" pitchFamily="34" charset="0"/>
                          <a:cs typeface="Arial" panose="020B0604020202020204" pitchFamily="34" charset="0"/>
                        </a:rPr>
                        <a:t>positions</a:t>
                      </a:r>
                    </a:p>
                  </a:txBody>
                  <a:tcPr marL="55990" marR="55990" marT="25450" marB="2545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632791">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Professional recruiting organizations</a:t>
                      </a:r>
                      <a:endParaRPr lang="en-US" sz="1400" noProof="0">
                        <a:latin typeface="Arial" panose="020B0604020202020204" pitchFamily="34" charset="0"/>
                        <a:cs typeface="Arial" panose="020B0604020202020204" pitchFamily="34" charset="0"/>
                      </a:endParaRPr>
                    </a:p>
                  </a:txBody>
                  <a:tcPr marL="55990" marR="55990" marT="25450" marB="25450">
                    <a:lnL w="12700" cap="flat" cmpd="sng" algn="ctr">
                      <a:noFill/>
                      <a:prstDash val="solid"/>
                      <a:round/>
                      <a:headEnd type="none" w="med" len="med"/>
                      <a:tailEnd type="none" w="med" len="med"/>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l"/>
                      <a:r>
                        <a:rPr lang="en-US" sz="1400" noProof="0">
                          <a:latin typeface="Arial" panose="020B0604020202020204" pitchFamily="34" charset="0"/>
                          <a:cs typeface="Arial" panose="020B0604020202020204" pitchFamily="34" charset="0"/>
                        </a:rPr>
                        <a:t>Good knowledge of industry</a:t>
                      </a:r>
                      <a:r>
                        <a:rPr lang="en-US" sz="1400" baseline="0" noProof="0">
                          <a:latin typeface="Arial" panose="020B0604020202020204" pitchFamily="34" charset="0"/>
                          <a:cs typeface="Arial" panose="020B0604020202020204" pitchFamily="34" charset="0"/>
                        </a:rPr>
                        <a:t> </a:t>
                      </a:r>
                      <a:r>
                        <a:rPr lang="en-US" sz="1400" noProof="0">
                          <a:latin typeface="Arial" panose="020B0604020202020204" pitchFamily="34" charset="0"/>
                          <a:cs typeface="Arial" panose="020B0604020202020204" pitchFamily="34" charset="0"/>
                        </a:rPr>
                        <a:t>challenges and requirements</a:t>
                      </a:r>
                    </a:p>
                  </a:txBody>
                  <a:tcPr marL="55990" marR="55990" marT="25450" marB="25450">
                    <a:lnL>
                      <a:noFill/>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l"/>
                      <a:r>
                        <a:rPr lang="en-US" sz="1400" noProof="0" dirty="0">
                          <a:latin typeface="Arial" panose="020B0604020202020204" pitchFamily="34" charset="0"/>
                          <a:cs typeface="Arial" panose="020B0604020202020204" pitchFamily="34" charset="0"/>
                        </a:rPr>
                        <a:t>Little commitment to</a:t>
                      </a:r>
                      <a:r>
                        <a:rPr lang="en-US" sz="1400" baseline="0" noProof="0" dirty="0">
                          <a:latin typeface="Arial" panose="020B0604020202020204" pitchFamily="34" charset="0"/>
                          <a:cs typeface="Arial" panose="020B0604020202020204" pitchFamily="34" charset="0"/>
                        </a:rPr>
                        <a:t> </a:t>
                      </a:r>
                      <a:r>
                        <a:rPr lang="en-US" sz="1400" noProof="0" dirty="0">
                          <a:latin typeface="Arial" panose="020B0604020202020204" pitchFamily="34" charset="0"/>
                          <a:cs typeface="Arial" panose="020B0604020202020204" pitchFamily="34" charset="0"/>
                        </a:rPr>
                        <a:t>specific organization</a:t>
                      </a:r>
                    </a:p>
                  </a:txBody>
                  <a:tcPr marL="55990" marR="55990" marT="25450" marB="25450">
                    <a:lnL>
                      <a:noFill/>
                    </a:lnL>
                    <a:lnR w="12700" cap="flat" cmpd="sng" algn="ctr">
                      <a:noFill/>
                      <a:prstDash val="solid"/>
                      <a:round/>
                      <a:headEnd type="none" w="med" len="med"/>
                      <a:tailEnd type="none" w="med" len="med"/>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bl>
          </a:graphicData>
        </a:graphic>
      </p:graphicFrame>
      <p:graphicFrame>
        <p:nvGraphicFramePr>
          <p:cNvPr id="6" name="Object 5">
            <a:extLst>
              <a:ext uri="{FF2B5EF4-FFF2-40B4-BE49-F238E27FC236}">
                <a16:creationId xmlns:a16="http://schemas.microsoft.com/office/drawing/2014/main" id="{27EBAD86-BC21-41AA-923C-996D2E6826A6}"/>
              </a:ext>
              <a:ext uri="{C183D7F6-B498-43B3-948B-1728B52AA6E4}">
                <adec:decorative xmlns:adec="http://schemas.microsoft.com/office/drawing/2017/decorative" val="1"/>
              </a:ext>
            </a:extLst>
          </p:cNvPr>
          <p:cNvGraphicFramePr>
            <a:graphicFrameLocks noGrp="1" noChangeAspect="1"/>
          </p:cNvGraphicFramePr>
          <p:nvPr>
            <p:extLst>
              <p:ext uri="{D42A27DB-BD31-4B8C-83A1-F6EECF244321}">
                <p14:modId xmlns:p14="http://schemas.microsoft.com/office/powerpoint/2010/main" val="3732287092"/>
              </p:ext>
            </p:extLst>
          </p:nvPr>
        </p:nvGraphicFramePr>
        <p:xfrm>
          <a:off x="4495800" y="2285020"/>
          <a:ext cx="987935" cy="229580"/>
        </p:xfrm>
        <a:graphic>
          <a:graphicData uri="http://schemas.openxmlformats.org/presentationml/2006/ole">
            <mc:AlternateContent xmlns:mc="http://schemas.openxmlformats.org/markup-compatibility/2006">
              <mc:Choice xmlns:v="urn:schemas-microsoft-com:vml" Requires="v">
                <p:oleObj name="Equation" r:id="rId3" imgW="876240" imgH="203040" progId="Equation.DSMT4">
                  <p:embed/>
                </p:oleObj>
              </mc:Choice>
              <mc:Fallback>
                <p:oleObj name="Equation" r:id="rId3" imgW="876240" imgH="203040" progId="Equation.DSMT4">
                  <p:embed/>
                  <p:pic>
                    <p:nvPicPr>
                      <p:cNvPr id="12" name="Object 11">
                        <a:extLst>
                          <a:ext uri="{FF2B5EF4-FFF2-40B4-BE49-F238E27FC236}">
                            <a16:creationId xmlns:a16="http://schemas.microsoft.com/office/drawing/2014/main" id="{1FB5DCD5-47FE-426A-844C-7E51B4B40199}"/>
                          </a:ext>
                        </a:extLst>
                      </p:cNvPr>
                      <p:cNvPicPr>
                        <a:picLocks noGrp="1" noChangeAspect="1" noChangeArrowheads="1"/>
                      </p:cNvPicPr>
                      <p:nvPr/>
                    </p:nvPicPr>
                    <p:blipFill>
                      <a:blip r:embed="rId4"/>
                      <a:srcRect/>
                      <a:stretch>
                        <a:fillRect/>
                      </a:stretch>
                    </p:blipFill>
                    <p:spPr bwMode="auto">
                      <a:xfrm>
                        <a:off x="4495800" y="2285020"/>
                        <a:ext cx="987935" cy="229580"/>
                      </a:xfrm>
                      <a:prstGeom prst="rect">
                        <a:avLst/>
                      </a:prstGeom>
                      <a:solidFill>
                        <a:srgbClr val="D4EAE4"/>
                      </a:solidFill>
                      <a:ln>
                        <a:noFill/>
                      </a:ln>
                    </p:spPr>
                  </p:pic>
                </p:oleObj>
              </mc:Fallback>
            </mc:AlternateContent>
          </a:graphicData>
        </a:graphic>
      </p:graphicFrame>
      <p:sp>
        <p:nvSpPr>
          <p:cNvPr id="4" name="Content Placeholder 3"/>
          <p:cNvSpPr>
            <a:spLocks noGrp="1"/>
          </p:cNvSpPr>
          <p:nvPr>
            <p:ph idx="13"/>
          </p:nvPr>
        </p:nvSpPr>
        <p:spPr>
          <a:xfrm>
            <a:off x="495300" y="5709980"/>
            <a:ext cx="8153400" cy="405683"/>
          </a:xfrm>
        </p:spPr>
        <p:txBody>
          <a:bodyPr wrap="square" tIns="18000" bIns="18000">
            <a:spAutoFit/>
          </a:bodyPr>
          <a:lstStyle/>
          <a:p>
            <a:pPr marL="0" indent="0">
              <a:buNone/>
            </a:pPr>
            <a:r>
              <a:rPr lang="en-US" sz="1200" i="1" dirty="0">
                <a:latin typeface="Arial" panose="020B0604020202020204" pitchFamily="34" charset="0"/>
                <a:cs typeface="Arial" panose="020B0604020202020204" pitchFamily="34" charset="0"/>
              </a:rPr>
              <a:t>Source: </a:t>
            </a:r>
            <a:r>
              <a:rPr lang="en-US" sz="1200" dirty="0">
                <a:latin typeface="Arial" panose="020B0604020202020204" pitchFamily="34" charset="0"/>
                <a:cs typeface="Arial" panose="020B0604020202020204" pitchFamily="34" charset="0"/>
              </a:rPr>
              <a:t>Robbins, Stephen P., Coulter, Mary, </a:t>
            </a:r>
            <a:r>
              <a:rPr lang="en-US" sz="1200" i="1" dirty="0">
                <a:latin typeface="Arial" panose="020B0604020202020204" pitchFamily="34" charset="0"/>
                <a:cs typeface="Arial" panose="020B0604020202020204" pitchFamily="34" charset="0"/>
              </a:rPr>
              <a:t>Management</a:t>
            </a:r>
            <a:r>
              <a:rPr lang="en-US" sz="1200" dirty="0">
                <a:latin typeface="Arial" panose="020B0604020202020204" pitchFamily="34" charset="0"/>
                <a:cs typeface="Arial" panose="020B0604020202020204" pitchFamily="34" charset="0"/>
              </a:rPr>
              <a:t>, 13th </a:t>
            </a:r>
            <a:r>
              <a:rPr lang="en-US" sz="1200" spc="-160" dirty="0">
                <a:latin typeface="Arial" panose="020B0604020202020204" pitchFamily="34" charset="0"/>
                <a:cs typeface="Arial" panose="020B0604020202020204" pitchFamily="34" charset="0"/>
              </a:rPr>
              <a:t>E </a:t>
            </a:r>
            <a:r>
              <a:rPr lang="en-US" sz="1200" dirty="0">
                <a:latin typeface="Arial" panose="020B0604020202020204" pitchFamily="34" charset="0"/>
                <a:cs typeface="Arial" panose="020B0604020202020204" pitchFamily="34" charset="0"/>
              </a:rPr>
              <a:t>d., © 2016, p. 346. Reprinted and electronically reproduced by permission of Pearson Education, Inc., New York, </a:t>
            </a:r>
            <a:r>
              <a:rPr lang="en-US" sz="1200" spc="-160" dirty="0">
                <a:latin typeface="Arial" panose="020B0604020202020204" pitchFamily="34" charset="0"/>
                <a:cs typeface="Arial" panose="020B0604020202020204" pitchFamily="34" charset="0"/>
              </a:rPr>
              <a:t>N </a:t>
            </a:r>
            <a:r>
              <a:rPr lang="en-US" sz="1200" dirty="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1692588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0400"/>
            <a:ext cx="8229600" cy="590349"/>
          </a:xfrm>
        </p:spPr>
        <p:txBody>
          <a:bodyPr tIns="18000" bIns="18000" anchor="t" anchorCtr="0">
            <a:spAutoFit/>
          </a:bodyPr>
          <a:lstStyle/>
          <a:p>
            <a:r>
              <a:rPr lang="en-US" sz="3600">
                <a:latin typeface="+mj-lt"/>
                <a:ea typeface="ＭＳ Ｐゴシック" panose="020B0600070205080204" pitchFamily="34" charset="-128"/>
                <a:cs typeface="Arial" panose="020B0604020202020204" pitchFamily="34" charset="0"/>
              </a:rPr>
              <a:t>Handling Layoffs</a:t>
            </a:r>
            <a:endParaRPr lang="en-US" sz="3600">
              <a:latin typeface="+mj-lt"/>
            </a:endParaRPr>
          </a:p>
        </p:txBody>
      </p:sp>
      <p:sp>
        <p:nvSpPr>
          <p:cNvPr id="3" name="Content Placeholder 2"/>
          <p:cNvSpPr>
            <a:spLocks noGrp="1"/>
          </p:cNvSpPr>
          <p:nvPr>
            <p:ph idx="1"/>
          </p:nvPr>
        </p:nvSpPr>
        <p:spPr>
          <a:xfrm>
            <a:off x="457200" y="889717"/>
            <a:ext cx="8153400" cy="282573"/>
          </a:xfrm>
        </p:spPr>
        <p:txBody>
          <a:bodyPr tIns="18000" bIns="18000">
            <a:spAutoFit/>
          </a:bodyPr>
          <a:lstStyle/>
          <a:p>
            <a:pPr marL="0" indent="0">
              <a:buNone/>
            </a:pPr>
            <a:r>
              <a:rPr lang="en-US" b="1" dirty="0">
                <a:latin typeface="Arial" panose="020B0604020202020204" pitchFamily="34" charset="0"/>
                <a:cs typeface="Arial" panose="020B0604020202020204" pitchFamily="34" charset="0"/>
              </a:rPr>
              <a:t>Exhibit 9.4 </a:t>
            </a:r>
            <a:r>
              <a:rPr lang="en-US" dirty="0">
                <a:latin typeface="Arial" panose="020B0604020202020204" pitchFamily="34" charset="0"/>
                <a:cs typeface="Arial" panose="020B0604020202020204" pitchFamily="34" charset="0"/>
              </a:rPr>
              <a:t>Downsizing Options</a:t>
            </a:r>
          </a:p>
        </p:txBody>
      </p:sp>
      <p:graphicFrame>
        <p:nvGraphicFramePr>
          <p:cNvPr id="7" name="Table"/>
          <p:cNvGraphicFramePr>
            <a:graphicFrameLocks/>
          </p:cNvGraphicFramePr>
          <p:nvPr>
            <p:extLst>
              <p:ext uri="{D42A27DB-BD31-4B8C-83A1-F6EECF244321}">
                <p14:modId xmlns:p14="http://schemas.microsoft.com/office/powerpoint/2010/main" val="3535058711"/>
              </p:ext>
            </p:extLst>
          </p:nvPr>
        </p:nvGraphicFramePr>
        <p:xfrm>
          <a:off x="1538274" y="1508191"/>
          <a:ext cx="6067452" cy="4883510"/>
        </p:xfrm>
        <a:graphic>
          <a:graphicData uri="http://schemas.openxmlformats.org/drawingml/2006/table">
            <a:tbl>
              <a:tblPr firstRow="1" bandRow="1">
                <a:tableStyleId>{9D7B26C5-4107-4FEC-AEDC-1716B250A1EF}</a:tableStyleId>
              </a:tblPr>
              <a:tblGrid>
                <a:gridCol w="1671414">
                  <a:extLst>
                    <a:ext uri="{9D8B030D-6E8A-4147-A177-3AD203B41FA5}">
                      <a16:colId xmlns:a16="http://schemas.microsoft.com/office/drawing/2014/main" val="20000"/>
                    </a:ext>
                  </a:extLst>
                </a:gridCol>
                <a:gridCol w="4396038">
                  <a:extLst>
                    <a:ext uri="{9D8B030D-6E8A-4147-A177-3AD203B41FA5}">
                      <a16:colId xmlns:a16="http://schemas.microsoft.com/office/drawing/2014/main" val="20001"/>
                    </a:ext>
                  </a:extLst>
                </a:gridCol>
              </a:tblGrid>
              <a:tr h="249002">
                <a:tc>
                  <a:txBody>
                    <a:bodyPr/>
                    <a:lstStyle/>
                    <a:p>
                      <a:pPr algn="l"/>
                      <a:r>
                        <a:rPr lang="en-US" sz="1400" b="1" i="0" u="none" strike="noStrike" kern="1200" baseline="0" noProof="0">
                          <a:solidFill>
                            <a:schemeClr val="bg1"/>
                          </a:solidFill>
                          <a:latin typeface="Arial" panose="020B0604020202020204" pitchFamily="34" charset="0"/>
                          <a:ea typeface="+mn-ea"/>
                          <a:cs typeface="Arial" panose="020B0604020202020204" pitchFamily="34" charset="0"/>
                        </a:rPr>
                        <a:t>OPTION</a:t>
                      </a:r>
                    </a:p>
                  </a:txBody>
                  <a:tcPr marL="38824" marR="38824" marT="19412" marB="19412" anchor="ctr">
                    <a:lnL w="12700" cap="flat" cmpd="sng" algn="ctr">
                      <a:no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solidFill>
                      <a:srgbClr val="007FA3"/>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i="0" u="none" strike="noStrike" kern="1200" baseline="0" noProof="0">
                          <a:solidFill>
                            <a:schemeClr val="bg1"/>
                          </a:solidFill>
                          <a:latin typeface="Arial" panose="020B0604020202020204" pitchFamily="34" charset="0"/>
                          <a:ea typeface="+mn-ea"/>
                          <a:cs typeface="Arial" panose="020B0604020202020204" pitchFamily="34" charset="0"/>
                        </a:rPr>
                        <a:t>DESCRIPTION</a:t>
                      </a:r>
                      <a:endParaRPr lang="en-US" sz="1400" noProof="0">
                        <a:solidFill>
                          <a:schemeClr val="bg1"/>
                        </a:solidFill>
                        <a:latin typeface="Arial" panose="020B0604020202020204" pitchFamily="34" charset="0"/>
                        <a:cs typeface="Arial" panose="020B0604020202020204" pitchFamily="34" charset="0"/>
                      </a:endParaRPr>
                    </a:p>
                  </a:txBody>
                  <a:tcPr marL="38824" marR="38824" marT="19412" marB="19412" anchor="ctr">
                    <a:lnL>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3481463362"/>
                  </a:ext>
                </a:extLst>
              </a:tr>
              <a:tr h="459179">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Firing</a:t>
                      </a:r>
                      <a:endParaRPr lang="en-US" sz="1400" noProof="0">
                        <a:latin typeface="Arial" panose="020B0604020202020204" pitchFamily="34" charset="0"/>
                        <a:cs typeface="Arial" panose="020B0604020202020204" pitchFamily="34" charset="0"/>
                      </a:endParaRPr>
                    </a:p>
                  </a:txBody>
                  <a:tcPr marL="38824" marR="38824" marT="19412" marB="19412" anchor="ctr">
                    <a:lnL w="12700" cap="flat" cmpd="sng" algn="ctr">
                      <a:no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solidFill>
                      <a:srgbClr val="D4EAE4"/>
                    </a:solidFill>
                  </a:tcPr>
                </a:tc>
                <a:tc>
                  <a:txBody>
                    <a:bodyPr/>
                    <a:lstStyle/>
                    <a:p>
                      <a:pPr algn="l"/>
                      <a:r>
                        <a:rPr lang="en-US" sz="1400" noProof="0">
                          <a:latin typeface="Arial" panose="020B0604020202020204" pitchFamily="34" charset="0"/>
                          <a:cs typeface="Arial" panose="020B0604020202020204" pitchFamily="34" charset="0"/>
                        </a:rPr>
                        <a:t>Permanent involuntary termination</a:t>
                      </a:r>
                      <a:endParaRPr lang="en-US" sz="1400" baseline="30000" noProof="0">
                        <a:latin typeface="Arial" panose="020B0604020202020204" pitchFamily="34" charset="0"/>
                        <a:cs typeface="Arial" panose="020B0604020202020204" pitchFamily="34" charset="0"/>
                      </a:endParaRPr>
                    </a:p>
                  </a:txBody>
                  <a:tcPr marL="38824" marR="38824" marT="19412" marB="19412" anchor="ctr">
                    <a:lnL>
                      <a:noFill/>
                    </a:lnL>
                    <a:lnR w="12700" cap="flat" cmpd="sng" algn="ctr">
                      <a:noFill/>
                      <a:prstDash val="solid"/>
                      <a:round/>
                      <a:headEnd type="none" w="med" len="med"/>
                      <a:tailEnd type="none" w="med" len="med"/>
                    </a:lnR>
                    <a:lnT w="12700" cmpd="sng">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564267">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Layoffs</a:t>
                      </a:r>
                      <a:endParaRPr lang="en-US" sz="1400" noProof="0">
                        <a:latin typeface="Arial" panose="020B0604020202020204" pitchFamily="34" charset="0"/>
                        <a:cs typeface="Arial" panose="020B0604020202020204" pitchFamily="34" charset="0"/>
                      </a:endParaRPr>
                    </a:p>
                  </a:txBody>
                  <a:tcPr marL="38824" marR="38824" marT="19412" marB="19412"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l"/>
                      <a:r>
                        <a:rPr lang="en-US" sz="1400" noProof="0">
                          <a:latin typeface="Arial" panose="020B0604020202020204" pitchFamily="34" charset="0"/>
                          <a:cs typeface="Arial" panose="020B0604020202020204" pitchFamily="34" charset="0"/>
                        </a:rPr>
                        <a:t>Temporary involuntary termination; may last only a few</a:t>
                      </a:r>
                    </a:p>
                    <a:p>
                      <a:pPr algn="l"/>
                      <a:r>
                        <a:rPr lang="en-US" sz="1400" noProof="0">
                          <a:latin typeface="Arial" panose="020B0604020202020204" pitchFamily="34" charset="0"/>
                          <a:cs typeface="Arial" panose="020B0604020202020204" pitchFamily="34" charset="0"/>
                        </a:rPr>
                        <a:t>days or extend to years</a:t>
                      </a:r>
                    </a:p>
                  </a:txBody>
                  <a:tcPr marL="38824" marR="38824" marT="19412" marB="19412"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459179">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Attrition</a:t>
                      </a:r>
                      <a:endParaRPr lang="en-US" sz="1400" noProof="0">
                        <a:latin typeface="Arial" panose="020B0604020202020204" pitchFamily="34" charset="0"/>
                        <a:cs typeface="Arial" panose="020B0604020202020204" pitchFamily="34" charset="0"/>
                      </a:endParaRPr>
                    </a:p>
                  </a:txBody>
                  <a:tcPr marL="38824" marR="38824" marT="19412" marB="19412"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l"/>
                      <a:r>
                        <a:rPr lang="en-US" sz="1400" noProof="0" dirty="0">
                          <a:latin typeface="Arial" panose="020B0604020202020204" pitchFamily="34" charset="0"/>
                          <a:cs typeface="Arial" panose="020B0604020202020204" pitchFamily="34" charset="0"/>
                        </a:rPr>
                        <a:t>Not filling openings created by voluntary resignations</a:t>
                      </a:r>
                    </a:p>
                    <a:p>
                      <a:pPr algn="l"/>
                      <a:r>
                        <a:rPr lang="en-US" sz="1400" noProof="0" dirty="0">
                          <a:latin typeface="Arial" panose="020B0604020202020204" pitchFamily="34" charset="0"/>
                          <a:cs typeface="Arial" panose="020B0604020202020204" pitchFamily="34" charset="0"/>
                        </a:rPr>
                        <a:t>or normal retirements</a:t>
                      </a:r>
                    </a:p>
                  </a:txBody>
                  <a:tcPr marL="38824" marR="38824" marT="19412" marB="19412"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757151">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Transfers</a:t>
                      </a:r>
                      <a:endParaRPr lang="en-US" sz="1400" noProof="0">
                        <a:latin typeface="Arial" panose="020B0604020202020204" pitchFamily="34" charset="0"/>
                        <a:cs typeface="Arial" panose="020B0604020202020204" pitchFamily="34" charset="0"/>
                      </a:endParaRPr>
                    </a:p>
                  </a:txBody>
                  <a:tcPr marL="38824" marR="38824" marT="19412" marB="19412"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l"/>
                      <a:r>
                        <a:rPr lang="en-US" sz="1400" noProof="0">
                          <a:latin typeface="Arial" panose="020B0604020202020204" pitchFamily="34" charset="0"/>
                          <a:cs typeface="Arial" panose="020B0604020202020204" pitchFamily="34" charset="0"/>
                        </a:rPr>
                        <a:t>Moving employees either laterally or downward;</a:t>
                      </a:r>
                      <a:r>
                        <a:rPr lang="en-US" sz="1400" baseline="0" noProof="0">
                          <a:latin typeface="Arial" panose="020B0604020202020204" pitchFamily="34" charset="0"/>
                          <a:cs typeface="Arial" panose="020B0604020202020204" pitchFamily="34" charset="0"/>
                        </a:rPr>
                        <a:t> </a:t>
                      </a:r>
                      <a:r>
                        <a:rPr lang="en-US" sz="1400" noProof="0">
                          <a:latin typeface="Arial" panose="020B0604020202020204" pitchFamily="34" charset="0"/>
                          <a:cs typeface="Arial" panose="020B0604020202020204" pitchFamily="34" charset="0"/>
                        </a:rPr>
                        <a:t>usually</a:t>
                      </a:r>
                    </a:p>
                    <a:p>
                      <a:pPr algn="l"/>
                      <a:r>
                        <a:rPr lang="en-US" sz="1400" noProof="0">
                          <a:latin typeface="Arial" panose="020B0604020202020204" pitchFamily="34" charset="0"/>
                          <a:cs typeface="Arial" panose="020B0604020202020204" pitchFamily="34" charset="0"/>
                        </a:rPr>
                        <a:t>does not reduce costs but can reduce intraorganizational</a:t>
                      </a:r>
                    </a:p>
                    <a:p>
                      <a:pPr algn="l"/>
                      <a:r>
                        <a:rPr lang="en-US" sz="1400" noProof="0">
                          <a:latin typeface="Arial" panose="020B0604020202020204" pitchFamily="34" charset="0"/>
                          <a:cs typeface="Arial" panose="020B0604020202020204" pitchFamily="34" charset="0"/>
                        </a:rPr>
                        <a:t>supply–demand imbalances</a:t>
                      </a:r>
                    </a:p>
                  </a:txBody>
                  <a:tcPr marL="38824" marR="38824" marT="19412" marB="19412"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620701">
                <a:tc>
                  <a:txBody>
                    <a:bodyPr/>
                    <a:lstStyle/>
                    <a:p>
                      <a:r>
                        <a:rPr lang="en-US" sz="1400" b="0" i="0" u="none" strike="noStrike" kern="1200" baseline="0" noProof="0">
                          <a:solidFill>
                            <a:schemeClr val="tx1"/>
                          </a:solidFill>
                          <a:latin typeface="Arial" panose="020B0604020202020204" pitchFamily="34" charset="0"/>
                          <a:ea typeface="+mn-ea"/>
                          <a:cs typeface="Arial" panose="020B0604020202020204" pitchFamily="34" charset="0"/>
                        </a:rPr>
                        <a:t>Reduced workweeks</a:t>
                      </a:r>
                      <a:endParaRPr lang="en-US" sz="1400" noProof="0">
                        <a:latin typeface="Arial" panose="020B0604020202020204" pitchFamily="34" charset="0"/>
                        <a:cs typeface="Arial" panose="020B0604020202020204" pitchFamily="34" charset="0"/>
                      </a:endParaRPr>
                    </a:p>
                  </a:txBody>
                  <a:tcPr marL="38824" marR="38824" marT="19412" marB="19412"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l"/>
                      <a:r>
                        <a:rPr lang="en-US" sz="1400" noProof="0">
                          <a:latin typeface="Arial" panose="020B0604020202020204" pitchFamily="34" charset="0"/>
                          <a:cs typeface="Arial" panose="020B0604020202020204" pitchFamily="34" charset="0"/>
                        </a:rPr>
                        <a:t>Having employees work fewer hours per week, share</a:t>
                      </a:r>
                    </a:p>
                    <a:p>
                      <a:pPr algn="l"/>
                      <a:r>
                        <a:rPr lang="en-US" sz="1400" noProof="0">
                          <a:latin typeface="Arial" panose="020B0604020202020204" pitchFamily="34" charset="0"/>
                          <a:cs typeface="Arial" panose="020B0604020202020204" pitchFamily="34" charset="0"/>
                        </a:rPr>
                        <a:t>jobs, or through furloughs perform their jobs on a parttime</a:t>
                      </a:r>
                    </a:p>
                    <a:p>
                      <a:pPr algn="l"/>
                      <a:r>
                        <a:rPr lang="en-US" sz="1400" noProof="0">
                          <a:latin typeface="Arial" panose="020B0604020202020204" pitchFamily="34" charset="0"/>
                          <a:cs typeface="Arial" panose="020B0604020202020204" pitchFamily="34" charset="0"/>
                        </a:rPr>
                        <a:t>basis</a:t>
                      </a:r>
                    </a:p>
                  </a:txBody>
                  <a:tcPr marL="38824" marR="38824" marT="19412" marB="19412"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459179">
                <a:tc>
                  <a:txBody>
                    <a:bodyPr/>
                    <a:lstStyle/>
                    <a:p>
                      <a:r>
                        <a:rPr lang="en-US" sz="1400" noProof="0">
                          <a:latin typeface="Arial" panose="020B0604020202020204" pitchFamily="34" charset="0"/>
                          <a:cs typeface="Arial" panose="020B0604020202020204" pitchFamily="34" charset="0"/>
                        </a:rPr>
                        <a:t>Early retirements</a:t>
                      </a:r>
                    </a:p>
                  </a:txBody>
                  <a:tcPr marL="38824" marR="38824" marT="19412" marB="19412"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algn="l"/>
                      <a:r>
                        <a:rPr lang="en-US" sz="1400" noProof="0">
                          <a:latin typeface="Arial" panose="020B0604020202020204" pitchFamily="34" charset="0"/>
                          <a:cs typeface="Arial" panose="020B0604020202020204" pitchFamily="34" charset="0"/>
                        </a:rPr>
                        <a:t>Providing incentives to older and more-senior employees</a:t>
                      </a:r>
                    </a:p>
                    <a:p>
                      <a:pPr algn="l"/>
                      <a:r>
                        <a:rPr lang="en-US" sz="1400" noProof="0">
                          <a:latin typeface="Arial" panose="020B0604020202020204" pitchFamily="34" charset="0"/>
                          <a:cs typeface="Arial" panose="020B0604020202020204" pitchFamily="34" charset="0"/>
                        </a:rPr>
                        <a:t>for retiring before their normal retirement date</a:t>
                      </a:r>
                    </a:p>
                  </a:txBody>
                  <a:tcPr marL="38824" marR="38824" marT="19412" marB="19412"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r h="459179">
                <a:tc>
                  <a:txBody>
                    <a:bodyPr/>
                    <a:lstStyle/>
                    <a:p>
                      <a:r>
                        <a:rPr lang="en-US" sz="1400" noProof="0">
                          <a:latin typeface="Arial" panose="020B0604020202020204" pitchFamily="34" charset="0"/>
                          <a:cs typeface="Arial" panose="020B0604020202020204" pitchFamily="34" charset="0"/>
                        </a:rPr>
                        <a:t>Job sharing</a:t>
                      </a:r>
                    </a:p>
                  </a:txBody>
                  <a:tcPr marL="38824" marR="38824" marT="19412" marB="19412" anchor="ctr">
                    <a:lnL w="12700" cap="flat" cmpd="sng" algn="ctr">
                      <a:noFill/>
                      <a:prstDash val="solid"/>
                      <a:round/>
                      <a:headEnd type="none" w="med" len="med"/>
                      <a:tailEnd type="none" w="med" len="med"/>
                    </a:lnL>
                    <a:lnR>
                      <a:noFill/>
                    </a:lnR>
                    <a:lnT>
                      <a:noFill/>
                    </a:lnT>
                    <a:lnB w="12700" cmpd="sng">
                      <a:noFill/>
                    </a:lnB>
                    <a:lnTlToBr w="12700" cmpd="sng">
                      <a:noFill/>
                      <a:prstDash val="solid"/>
                    </a:lnTlToBr>
                    <a:lnBlToTr w="12700" cmpd="sng">
                      <a:noFill/>
                      <a:prstDash val="solid"/>
                    </a:lnBlToTr>
                    <a:solidFill>
                      <a:srgbClr val="D4EAE4"/>
                    </a:solidFill>
                  </a:tcPr>
                </a:tc>
                <a:tc>
                  <a:txBody>
                    <a:bodyPr/>
                    <a:lstStyle/>
                    <a:p>
                      <a:pPr algn="l"/>
                      <a:r>
                        <a:rPr lang="en-US" sz="1400" noProof="0" dirty="0">
                          <a:latin typeface="Arial" panose="020B0604020202020204" pitchFamily="34" charset="0"/>
                          <a:cs typeface="Arial" panose="020B0604020202020204" pitchFamily="34" charset="0"/>
                        </a:rPr>
                        <a:t>Having employees, typically two part-timers, share one</a:t>
                      </a:r>
                    </a:p>
                    <a:p>
                      <a:pPr algn="l"/>
                      <a:r>
                        <a:rPr lang="en-US" sz="1400" noProof="0" dirty="0">
                          <a:latin typeface="Arial" panose="020B0604020202020204" pitchFamily="34" charset="0"/>
                          <a:cs typeface="Arial" panose="020B0604020202020204" pitchFamily="34" charset="0"/>
                        </a:rPr>
                        <a:t>full-time position</a:t>
                      </a:r>
                    </a:p>
                  </a:txBody>
                  <a:tcPr marL="38824" marR="38824" marT="19412" marB="19412" anchor="ctr">
                    <a:lnL>
                      <a:noFill/>
                    </a:lnL>
                    <a:lnR w="12700" cap="flat" cmpd="sng" algn="ctr">
                      <a:noFill/>
                      <a:prstDash val="solid"/>
                      <a:round/>
                      <a:headEnd type="none" w="med" len="med"/>
                      <a:tailEnd type="none" w="med" len="med"/>
                    </a:lnR>
                    <a:lnT>
                      <a:noFill/>
                    </a:lnT>
                    <a:lnB w="12700" cmpd="sng">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28528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153400" cy="590349"/>
          </a:xfrm>
        </p:spPr>
        <p:txBody>
          <a:bodyPr wrap="square" tIns="18000" bIns="18000" anchor="t" anchorCtr="0">
            <a:spAutoFit/>
          </a:bodyPr>
          <a:lstStyle/>
          <a:p>
            <a:r>
              <a:rPr lang="en-US" sz="3600">
                <a:latin typeface="+mj-lt"/>
                <a:ea typeface="ＭＳ Ｐゴシック" panose="020B0600070205080204" pitchFamily="34" charset="-128"/>
                <a:cs typeface="Arial" panose="020B0604020202020204" pitchFamily="34" charset="0"/>
              </a:rPr>
              <a:t>Selecting Job Applicants</a:t>
            </a:r>
            <a:endParaRPr lang="en-US" sz="3600">
              <a:latin typeface="+mj-lt"/>
            </a:endParaRPr>
          </a:p>
        </p:txBody>
      </p:sp>
      <p:sp>
        <p:nvSpPr>
          <p:cNvPr id="3" name="Content Placeholder 2"/>
          <p:cNvSpPr>
            <a:spLocks noGrp="1"/>
          </p:cNvSpPr>
          <p:nvPr>
            <p:ph sz="quarter" idx="13"/>
          </p:nvPr>
        </p:nvSpPr>
        <p:spPr>
          <a:xfrm>
            <a:off x="454925" y="889717"/>
            <a:ext cx="8153400" cy="282573"/>
          </a:xfrm>
        </p:spPr>
        <p:txBody>
          <a:bodyPr wrap="square" tIns="18000" bIns="18000">
            <a:spAutoFit/>
          </a:bodyPr>
          <a:lstStyle/>
          <a:p>
            <a:pPr marL="0" indent="0">
              <a:buNone/>
            </a:pPr>
            <a:r>
              <a:rPr lang="en-US" b="1" dirty="0">
                <a:latin typeface="Arial" panose="020B0604020202020204" pitchFamily="34" charset="0"/>
                <a:cs typeface="Arial" panose="020B0604020202020204" pitchFamily="34" charset="0"/>
              </a:rPr>
              <a:t>Exhibit 9.5 </a:t>
            </a:r>
            <a:r>
              <a:rPr lang="en-US" dirty="0">
                <a:latin typeface="Arial" panose="020B0604020202020204" pitchFamily="34" charset="0"/>
                <a:cs typeface="Arial" panose="020B0604020202020204" pitchFamily="34" charset="0"/>
              </a:rPr>
              <a:t>Selection Decision Outcomes</a:t>
            </a:r>
          </a:p>
        </p:txBody>
      </p:sp>
      <p:pic>
        <p:nvPicPr>
          <p:cNvPr id="9" name="Picture Placeholder 8" descr="An illustration of a matrix shows the outcomes based on later job performance and selection decision.&#10;Long description is available in notes, press F6.">
            <a:extLst>
              <a:ext uri="{FF2B5EF4-FFF2-40B4-BE49-F238E27FC236}">
                <a16:creationId xmlns:a16="http://schemas.microsoft.com/office/drawing/2014/main" id="{FDEA4D5D-900E-4754-80A3-8D461D5AEC14}"/>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1769375" y="1676400"/>
            <a:ext cx="5524500" cy="4257675"/>
          </a:xfrm>
        </p:spPr>
      </p:pic>
    </p:spTree>
    <p:extLst>
      <p:ext uri="{BB962C8B-B14F-4D97-AF65-F5344CB8AC3E}">
        <p14:creationId xmlns:p14="http://schemas.microsoft.com/office/powerpoint/2010/main" val="585363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0400"/>
            <a:ext cx="8153400" cy="590349"/>
          </a:xfrm>
        </p:spPr>
        <p:txBody>
          <a:bodyPr wrap="square" tIns="18000" bIns="18000" anchor="t" anchorCtr="0">
            <a:spAutoFit/>
          </a:bodyPr>
          <a:lstStyle/>
          <a:p>
            <a:r>
              <a:rPr lang="en-US" sz="3600">
                <a:latin typeface="+mj-lt"/>
                <a:ea typeface="ＭＳ Ｐゴシック" panose="020B0600070205080204" pitchFamily="34" charset="-128"/>
                <a:cs typeface="Arial" panose="020B0604020202020204" pitchFamily="34" charset="0"/>
              </a:rPr>
              <a:t>Reliability and Validity</a:t>
            </a:r>
            <a:endParaRPr lang="en-US" sz="3600">
              <a:latin typeface="+mj-lt"/>
            </a:endParaRPr>
          </a:p>
        </p:txBody>
      </p:sp>
      <p:sp>
        <p:nvSpPr>
          <p:cNvPr id="3" name="Content Placeholder 2"/>
          <p:cNvSpPr>
            <a:spLocks noGrp="1"/>
          </p:cNvSpPr>
          <p:nvPr>
            <p:ph sz="quarter" idx="13"/>
          </p:nvPr>
        </p:nvSpPr>
        <p:spPr>
          <a:xfrm>
            <a:off x="457200" y="1037161"/>
            <a:ext cx="4114800" cy="1706039"/>
          </a:xfrm>
        </p:spPr>
        <p:txBody>
          <a:bodyPr wrap="square" tIns="18000" bIns="18000">
            <a:spAutoFit/>
          </a:bodyPr>
          <a:lstStyle/>
          <a:p>
            <a:pPr marL="355600" indent="-355600">
              <a:buNone/>
              <a:defRPr/>
            </a:pPr>
            <a:r>
              <a:rPr lang="en-US" altLang="en-US" sz="2400" b="1">
                <a:latin typeface="Arial" panose="020B0604020202020204" pitchFamily="34" charset="0"/>
                <a:ea typeface="ＭＳ Ｐゴシック" pitchFamily="34" charset="-128"/>
                <a:cs typeface="Arial" panose="020B0604020202020204" pitchFamily="34" charset="0"/>
              </a:rPr>
              <a:t>Reliability:</a:t>
            </a:r>
          </a:p>
          <a:p>
            <a:pPr marL="355600" indent="-355600">
              <a:buSzPct val="100000"/>
              <a:defRPr/>
            </a:pPr>
            <a:r>
              <a:rPr lang="en-US" altLang="en-US" sz="2400">
                <a:latin typeface="Arial" panose="020B0604020202020204" pitchFamily="34" charset="0"/>
                <a:ea typeface="ＭＳ Ｐゴシック" pitchFamily="34" charset="-128"/>
                <a:cs typeface="Arial" panose="020B0604020202020204" pitchFamily="34" charset="0"/>
              </a:rPr>
              <a:t>The degree to which a selection device measures the same thing consistently.</a:t>
            </a:r>
          </a:p>
        </p:txBody>
      </p:sp>
      <p:pic>
        <p:nvPicPr>
          <p:cNvPr id="7" name="Picture Placeholder 6" descr="A photo shows a woman placing a hat on another woman’s head.">
            <a:extLst>
              <a:ext uri="{FF2B5EF4-FFF2-40B4-BE49-F238E27FC236}">
                <a16:creationId xmlns:a16="http://schemas.microsoft.com/office/drawing/2014/main" id="{E2F99CBB-31F9-4C75-9D58-391FD4DFC6E3}"/>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4741886" y="1070143"/>
            <a:ext cx="3876675" cy="2781300"/>
          </a:xfrm>
        </p:spPr>
      </p:pic>
      <p:sp>
        <p:nvSpPr>
          <p:cNvPr id="5" name="Content Placeholder 4"/>
          <p:cNvSpPr>
            <a:spLocks noGrp="1"/>
          </p:cNvSpPr>
          <p:nvPr>
            <p:ph sz="quarter" idx="15"/>
          </p:nvPr>
        </p:nvSpPr>
        <p:spPr>
          <a:xfrm>
            <a:off x="457200" y="3261781"/>
            <a:ext cx="4114800" cy="2075371"/>
          </a:xfrm>
        </p:spPr>
        <p:txBody>
          <a:bodyPr wrap="square" tIns="18000" bIns="18000">
            <a:spAutoFit/>
          </a:bodyPr>
          <a:lstStyle/>
          <a:p>
            <a:pPr marL="355600" indent="-355600">
              <a:buNone/>
            </a:pPr>
            <a:r>
              <a:rPr lang="en-US" sz="2400" b="1">
                <a:latin typeface="Arial" panose="020B0604020202020204" pitchFamily="34" charset="0"/>
                <a:cs typeface="Arial" panose="020B0604020202020204" pitchFamily="34" charset="0"/>
              </a:rPr>
              <a:t>Validity: </a:t>
            </a:r>
          </a:p>
          <a:p>
            <a:pPr marL="355600" indent="-355600"/>
            <a:r>
              <a:rPr lang="en-US" sz="2400">
                <a:latin typeface="Arial" panose="020B0604020202020204" pitchFamily="34" charset="0"/>
                <a:cs typeface="Arial" panose="020B0604020202020204" pitchFamily="34" charset="0"/>
              </a:rPr>
              <a:t>The proven relationship between a selection device and some relevant criterion.</a:t>
            </a:r>
          </a:p>
        </p:txBody>
      </p:sp>
    </p:spTree>
    <p:extLst>
      <p:ext uri="{BB962C8B-B14F-4D97-AF65-F5344CB8AC3E}">
        <p14:creationId xmlns:p14="http://schemas.microsoft.com/office/powerpoint/2010/main" val="4104558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90349"/>
          </a:xfrm>
        </p:spPr>
        <p:txBody>
          <a:bodyPr tIns="18000" bIns="18000" anchor="t" anchorCtr="0">
            <a:spAutoFit/>
          </a:bodyPr>
          <a:lstStyle/>
          <a:p>
            <a:r>
              <a:rPr lang="en-US" sz="3600">
                <a:latin typeface="+mj-lt"/>
                <a:ea typeface="ＭＳ Ｐゴシック" panose="020B0600070205080204" pitchFamily="34" charset="-128"/>
                <a:cs typeface="Arial" panose="020B0604020202020204" pitchFamily="34" charset="0"/>
              </a:rPr>
              <a:t>Selection Devices</a:t>
            </a:r>
            <a:endParaRPr lang="en-US" sz="3600">
              <a:latin typeface="+mj-lt"/>
            </a:endParaRPr>
          </a:p>
        </p:txBody>
      </p:sp>
      <p:sp>
        <p:nvSpPr>
          <p:cNvPr id="3" name="Content Placeholder 2"/>
          <p:cNvSpPr>
            <a:spLocks noGrp="1"/>
          </p:cNvSpPr>
          <p:nvPr>
            <p:ph idx="1"/>
          </p:nvPr>
        </p:nvSpPr>
        <p:spPr>
          <a:xfrm>
            <a:off x="457200" y="1053785"/>
            <a:ext cx="8153400" cy="775015"/>
          </a:xfrm>
        </p:spPr>
        <p:txBody>
          <a:bodyPr tIns="18000" bIns="18000">
            <a:spAutoFit/>
          </a:bodyPr>
          <a:lstStyle/>
          <a:p>
            <a:pPr marL="273050" indent="-273050">
              <a:tabLst>
                <a:tab pos="3089275" algn="l"/>
              </a:tabLst>
            </a:pPr>
            <a:r>
              <a:rPr lang="en-US" sz="2400" dirty="0">
                <a:latin typeface="Arial" panose="020B0604020202020204" pitchFamily="34" charset="0"/>
                <a:cs typeface="Arial" panose="020B0604020202020204" pitchFamily="34" charset="0"/>
              </a:rPr>
              <a:t>How effective are tests and interviews as selection devices?</a:t>
            </a:r>
          </a:p>
        </p:txBody>
      </p:sp>
      <p:sp>
        <p:nvSpPr>
          <p:cNvPr id="4" name="Content Placeholder 3"/>
          <p:cNvSpPr>
            <a:spLocks noGrp="1"/>
          </p:cNvSpPr>
          <p:nvPr>
            <p:ph idx="13"/>
          </p:nvPr>
        </p:nvSpPr>
        <p:spPr>
          <a:xfrm>
            <a:off x="2552700" y="2362200"/>
            <a:ext cx="4038600" cy="405683"/>
          </a:xfrm>
        </p:spPr>
        <p:txBody>
          <a:bodyPr wrap="square" tIns="18000" bIns="18000">
            <a:spAutoFit/>
          </a:bodyPr>
          <a:lstStyle/>
          <a:p>
            <a:pPr marL="0" indent="0">
              <a:buNone/>
            </a:pPr>
            <a:r>
              <a:rPr lang="en-US" sz="2400" dirty="0">
                <a:solidFill>
                  <a:schemeClr val="bg2"/>
                </a:solidFill>
                <a:latin typeface="Arial" panose="020B0604020202020204" pitchFamily="34" charset="0"/>
                <a:cs typeface="Arial" panose="020B0604020202020204" pitchFamily="34" charset="0"/>
              </a:rPr>
              <a:t>Tests . . . not just </a:t>
            </a:r>
            <a:r>
              <a:rPr lang="en-US" sz="2400" b="1" dirty="0">
                <a:solidFill>
                  <a:schemeClr val="bg2"/>
                </a:solidFill>
                <a:latin typeface="Arial" panose="020B0604020202020204" pitchFamily="34" charset="0"/>
                <a:cs typeface="Arial" panose="020B0604020202020204" pitchFamily="34" charset="0"/>
              </a:rPr>
              <a:t>for school!</a:t>
            </a:r>
          </a:p>
        </p:txBody>
      </p:sp>
    </p:spTree>
    <p:extLst>
      <p:ext uri="{BB962C8B-B14F-4D97-AF65-F5344CB8AC3E}">
        <p14:creationId xmlns:p14="http://schemas.microsoft.com/office/powerpoint/2010/main" val="30234610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153400" cy="590349"/>
          </a:xfrm>
        </p:spPr>
        <p:txBody>
          <a:bodyPr wrap="square" tIns="18000" bIns="18000" anchor="t" anchorCtr="0">
            <a:spAutoFit/>
          </a:bodyPr>
          <a:lstStyle/>
          <a:p>
            <a:r>
              <a:rPr lang="en-US" sz="3600">
                <a:latin typeface="+mj-lt"/>
                <a:ea typeface="ＭＳ Ｐゴシック" panose="020B0600070205080204" pitchFamily="34" charset="-128"/>
                <a:cs typeface="Arial" panose="020B0604020202020204" pitchFamily="34" charset="0"/>
              </a:rPr>
              <a:t>Effective Interviewing</a:t>
            </a:r>
            <a:endParaRPr lang="en-US" sz="3600">
              <a:latin typeface="+mj-lt"/>
            </a:endParaRPr>
          </a:p>
        </p:txBody>
      </p:sp>
      <p:sp>
        <p:nvSpPr>
          <p:cNvPr id="3" name="Content Placeholder 2"/>
          <p:cNvSpPr>
            <a:spLocks noGrp="1"/>
          </p:cNvSpPr>
          <p:nvPr>
            <p:ph idx="1"/>
          </p:nvPr>
        </p:nvSpPr>
        <p:spPr>
          <a:xfrm>
            <a:off x="457200" y="914400"/>
            <a:ext cx="8153400" cy="844265"/>
          </a:xfrm>
        </p:spPr>
        <p:txBody>
          <a:bodyPr wrap="square" tIns="18000" bIns="18000">
            <a:spAutoFit/>
          </a:bodyPr>
          <a:lstStyle/>
          <a:p>
            <a:pPr marL="0" indent="0">
              <a:buNone/>
            </a:pPr>
            <a:r>
              <a:rPr lang="en-US" sz="2000" dirty="0">
                <a:solidFill>
                  <a:schemeClr val="bg2"/>
                </a:solidFill>
                <a:latin typeface="Arial" panose="020B0604020202020204" pitchFamily="34" charset="0"/>
                <a:cs typeface="Arial" panose="020B0604020202020204" pitchFamily="34" charset="0"/>
              </a:rPr>
              <a:t>How Can I Be a </a:t>
            </a:r>
            <a:r>
              <a:rPr lang="en-US" sz="2000" b="1" dirty="0">
                <a:solidFill>
                  <a:schemeClr val="bg2"/>
                </a:solidFill>
                <a:latin typeface="Arial" panose="020B0604020202020204" pitchFamily="34" charset="0"/>
                <a:cs typeface="Arial" panose="020B0604020202020204" pitchFamily="34" charset="0"/>
              </a:rPr>
              <a:t>Good Interviewer?</a:t>
            </a:r>
          </a:p>
          <a:p>
            <a:pPr marL="0" indent="0">
              <a:buNone/>
            </a:pPr>
            <a:r>
              <a:rPr lang="en-US" sz="2000" dirty="0">
                <a:latin typeface="Arial" panose="020B0604020202020204" pitchFamily="34" charset="0"/>
                <a:cs typeface="Arial" panose="020B0604020202020204" pitchFamily="34" charset="0"/>
              </a:rPr>
              <a:t>TIPS FOR MANAGERS: Make interviews more valid and reliable!</a:t>
            </a:r>
          </a:p>
        </p:txBody>
      </p:sp>
      <p:sp>
        <p:nvSpPr>
          <p:cNvPr id="4" name="Content Placeholder 3">
            <a:extLst>
              <a:ext uri="{FF2B5EF4-FFF2-40B4-BE49-F238E27FC236}">
                <a16:creationId xmlns:a16="http://schemas.microsoft.com/office/drawing/2014/main" id="{DCD1CE56-F01B-420C-BF77-96144EAEFB75}"/>
              </a:ext>
            </a:extLst>
          </p:cNvPr>
          <p:cNvSpPr>
            <a:spLocks noGrp="1"/>
          </p:cNvSpPr>
          <p:nvPr>
            <p:ph idx="13"/>
          </p:nvPr>
        </p:nvSpPr>
        <p:spPr>
          <a:xfrm>
            <a:off x="495300" y="1981200"/>
            <a:ext cx="8115300" cy="3268005"/>
          </a:xfrm>
        </p:spPr>
        <p:txBody>
          <a:bodyPr wrap="square" tIns="18000" bIns="18000">
            <a:spAutoFit/>
          </a:bodyPr>
          <a:lstStyle/>
          <a:p>
            <a:pPr marL="450850" indent="-450850">
              <a:buFont typeface="+mj-lt"/>
              <a:buAutoNum type="arabicPeriod"/>
            </a:pPr>
            <a:r>
              <a:rPr lang="en-US" sz="2000" dirty="0">
                <a:latin typeface="Arial" panose="020B0604020202020204" pitchFamily="34" charset="0"/>
                <a:cs typeface="Arial" panose="020B0604020202020204" pitchFamily="34" charset="0"/>
              </a:rPr>
              <a:t>Review the job description and job specification to help in assessing the applicant.</a:t>
            </a:r>
          </a:p>
          <a:p>
            <a:pPr marL="450850" indent="-450850">
              <a:buFont typeface="+mj-lt"/>
              <a:buAutoNum type="arabicPeriod"/>
            </a:pPr>
            <a:r>
              <a:rPr lang="en-US" sz="2000" dirty="0">
                <a:latin typeface="Arial" panose="020B0604020202020204" pitchFamily="34" charset="0"/>
                <a:cs typeface="Arial" panose="020B0604020202020204" pitchFamily="34" charset="0"/>
              </a:rPr>
              <a:t>Prepare a structured set of questions to ask all applicants for the job.</a:t>
            </a:r>
          </a:p>
          <a:p>
            <a:pPr marL="450850" indent="-450850">
              <a:buFont typeface="+mj-lt"/>
              <a:buAutoNum type="arabicPeriod"/>
            </a:pPr>
            <a:r>
              <a:rPr lang="en-US" sz="2000" dirty="0">
                <a:latin typeface="Arial" panose="020B0604020202020204" pitchFamily="34" charset="0"/>
                <a:cs typeface="Arial" panose="020B0604020202020204" pitchFamily="34" charset="0"/>
              </a:rPr>
              <a:t>Review an applicant’s résumé before meeting him or her.</a:t>
            </a:r>
          </a:p>
          <a:p>
            <a:pPr marL="450850" indent="-450850">
              <a:buFont typeface="+mj-lt"/>
              <a:buAutoNum type="arabicPeriod"/>
            </a:pPr>
            <a:r>
              <a:rPr lang="en-US" sz="2000" dirty="0">
                <a:latin typeface="Arial" panose="020B0604020202020204" pitchFamily="34" charset="0"/>
                <a:cs typeface="Arial" panose="020B0604020202020204" pitchFamily="34" charset="0"/>
              </a:rPr>
              <a:t>Ask questions and listen carefully to the applicant’s answer.</a:t>
            </a:r>
          </a:p>
          <a:p>
            <a:pPr marL="450850" indent="-450850">
              <a:buFont typeface="+mj-lt"/>
              <a:buAutoNum type="arabicPeriod"/>
            </a:pPr>
            <a:r>
              <a:rPr lang="en-US" sz="2000" dirty="0">
                <a:latin typeface="Arial" panose="020B0604020202020204" pitchFamily="34" charset="0"/>
                <a:cs typeface="Arial" panose="020B0604020202020204" pitchFamily="34" charset="0"/>
              </a:rPr>
              <a:t>Write your evaluation of the applicant while the interview is still fresh in your mind.</a:t>
            </a:r>
          </a:p>
        </p:txBody>
      </p:sp>
    </p:spTree>
    <p:extLst>
      <p:ext uri="{BB962C8B-B14F-4D97-AF65-F5344CB8AC3E}">
        <p14:creationId xmlns:p14="http://schemas.microsoft.com/office/powerpoint/2010/main" val="25113184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153400" cy="590349"/>
          </a:xfrm>
        </p:spPr>
        <p:txBody>
          <a:bodyPr wrap="square" tIns="18000" bIns="18000">
            <a:spAutoFit/>
          </a:bodyPr>
          <a:lstStyle/>
          <a:p>
            <a:r>
              <a:rPr lang="en-US" sz="3600">
                <a:latin typeface="+mj-lt"/>
                <a:ea typeface="ＭＳ Ｐゴシック" panose="020B0600070205080204" pitchFamily="34" charset="-128"/>
                <a:cs typeface="Arial" panose="020B0604020202020204" pitchFamily="34" charset="0"/>
              </a:rPr>
              <a:t>Closing the Deal</a:t>
            </a:r>
            <a:endParaRPr lang="en-US" sz="3600">
              <a:latin typeface="+mj-lt"/>
            </a:endParaRPr>
          </a:p>
        </p:txBody>
      </p:sp>
      <p:sp>
        <p:nvSpPr>
          <p:cNvPr id="3" name="Content Placeholder 2"/>
          <p:cNvSpPr>
            <a:spLocks noGrp="1"/>
          </p:cNvSpPr>
          <p:nvPr>
            <p:ph idx="1"/>
          </p:nvPr>
        </p:nvSpPr>
        <p:spPr>
          <a:xfrm>
            <a:off x="457200" y="1066800"/>
            <a:ext cx="8153400" cy="405683"/>
          </a:xfrm>
        </p:spPr>
        <p:txBody>
          <a:bodyPr tIns="18000" bIns="18000">
            <a:spAutoFit/>
          </a:bodyPr>
          <a:lstStyle/>
          <a:p>
            <a:pPr marL="355600" indent="-355600"/>
            <a:r>
              <a:rPr lang="en-US" sz="2400">
                <a:latin typeface="Arial" panose="020B0604020202020204" pitchFamily="34" charset="0"/>
                <a:cs typeface="Arial" panose="020B0604020202020204" pitchFamily="34" charset="0"/>
              </a:rPr>
              <a:t>How can you close the deal?</a:t>
            </a:r>
          </a:p>
        </p:txBody>
      </p:sp>
      <p:sp>
        <p:nvSpPr>
          <p:cNvPr id="4" name="Content Placeholder 3"/>
          <p:cNvSpPr>
            <a:spLocks noGrp="1"/>
          </p:cNvSpPr>
          <p:nvPr>
            <p:ph idx="13"/>
          </p:nvPr>
        </p:nvSpPr>
        <p:spPr>
          <a:xfrm>
            <a:off x="685800" y="2057400"/>
            <a:ext cx="7772400" cy="967376"/>
          </a:xfrm>
        </p:spPr>
        <p:txBody>
          <a:bodyPr wrap="square" tIns="18000" bIns="18000">
            <a:spAutoFit/>
          </a:bodyPr>
          <a:lstStyle/>
          <a:p>
            <a:pPr marL="0" indent="0">
              <a:buNone/>
            </a:pPr>
            <a:r>
              <a:rPr lang="en-US" sz="2400" dirty="0">
                <a:solidFill>
                  <a:schemeClr val="bg2"/>
                </a:solidFill>
                <a:latin typeface="Arial" panose="020B0604020202020204" pitchFamily="34" charset="0"/>
                <a:cs typeface="Arial" panose="020B0604020202020204" pitchFamily="34" charset="0"/>
              </a:rPr>
              <a:t>It’s just as important to </a:t>
            </a:r>
            <a:r>
              <a:rPr lang="en-US" sz="2400" i="1" dirty="0">
                <a:solidFill>
                  <a:schemeClr val="bg2"/>
                </a:solidFill>
                <a:latin typeface="Arial" panose="020B0604020202020204" pitchFamily="34" charset="0"/>
                <a:cs typeface="Arial" panose="020B0604020202020204" pitchFamily="34" charset="0"/>
              </a:rPr>
              <a:t>retain</a:t>
            </a:r>
            <a:r>
              <a:rPr lang="en-US" sz="2400" dirty="0">
                <a:solidFill>
                  <a:schemeClr val="bg2"/>
                </a:solidFill>
                <a:latin typeface="Arial" panose="020B0604020202020204" pitchFamily="34" charset="0"/>
                <a:cs typeface="Arial" panose="020B0604020202020204" pitchFamily="34" charset="0"/>
              </a:rPr>
              <a:t> </a:t>
            </a:r>
            <a:r>
              <a:rPr lang="en-US" sz="2400" b="1" dirty="0">
                <a:solidFill>
                  <a:schemeClr val="bg2"/>
                </a:solidFill>
                <a:latin typeface="Arial" panose="020B0604020202020204" pitchFamily="34" charset="0"/>
                <a:cs typeface="Arial" panose="020B0604020202020204" pitchFamily="34" charset="0"/>
              </a:rPr>
              <a:t>good people </a:t>
            </a:r>
            <a:r>
              <a:rPr lang="en-US" sz="2400" dirty="0">
                <a:solidFill>
                  <a:schemeClr val="bg2"/>
                </a:solidFill>
                <a:latin typeface="Arial" panose="020B0604020202020204" pitchFamily="34" charset="0"/>
                <a:cs typeface="Arial" panose="020B0604020202020204" pitchFamily="34" charset="0"/>
              </a:rPr>
              <a:t>as it is to </a:t>
            </a:r>
            <a:r>
              <a:rPr lang="en-US" sz="2400" i="1" dirty="0">
                <a:solidFill>
                  <a:schemeClr val="bg2"/>
                </a:solidFill>
                <a:latin typeface="Arial" panose="020B0604020202020204" pitchFamily="34" charset="0"/>
                <a:cs typeface="Arial" panose="020B0604020202020204" pitchFamily="34" charset="0"/>
              </a:rPr>
              <a:t>hire</a:t>
            </a:r>
          </a:p>
          <a:p>
            <a:pPr marL="0" indent="0">
              <a:buNone/>
            </a:pPr>
            <a:r>
              <a:rPr lang="en-US" sz="2400" dirty="0">
                <a:solidFill>
                  <a:schemeClr val="bg2"/>
                </a:solidFill>
                <a:latin typeface="Arial" panose="020B0604020202020204" pitchFamily="34" charset="0"/>
                <a:cs typeface="Arial" panose="020B0604020202020204" pitchFamily="34" charset="0"/>
              </a:rPr>
              <a:t>them in the first place.</a:t>
            </a:r>
          </a:p>
        </p:txBody>
      </p:sp>
    </p:spTree>
    <p:extLst>
      <p:ext uri="{BB962C8B-B14F-4D97-AF65-F5344CB8AC3E}">
        <p14:creationId xmlns:p14="http://schemas.microsoft.com/office/powerpoint/2010/main" val="23730040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90349"/>
          </a:xfrm>
        </p:spPr>
        <p:txBody>
          <a:bodyPr tIns="18000" bIns="18000">
            <a:spAutoFit/>
          </a:bodyPr>
          <a:lstStyle/>
          <a:p>
            <a:pPr>
              <a:defRPr/>
            </a:pPr>
            <a:r>
              <a:rPr lang="en-US" altLang="en-US" sz="3600" dirty="0">
                <a:solidFill>
                  <a:schemeClr val="bg2"/>
                </a:solidFill>
                <a:latin typeface="+mj-lt"/>
                <a:cs typeface="Arial" pitchFamily="34" charset="0"/>
              </a:rPr>
              <a:t>Learning Objective 9.3</a:t>
            </a:r>
          </a:p>
        </p:txBody>
      </p:sp>
      <p:sp>
        <p:nvSpPr>
          <p:cNvPr id="3" name="Content Placeholder 2"/>
          <p:cNvSpPr>
            <a:spLocks noGrp="1"/>
          </p:cNvSpPr>
          <p:nvPr>
            <p:ph idx="1"/>
          </p:nvPr>
        </p:nvSpPr>
        <p:spPr>
          <a:xfrm>
            <a:off x="457200" y="1066800"/>
            <a:ext cx="8153400" cy="775015"/>
          </a:xfrm>
        </p:spPr>
        <p:txBody>
          <a:bodyPr tIns="18000" bIns="18000">
            <a:spAutoFit/>
          </a:bodyPr>
          <a:lstStyle/>
          <a:p>
            <a:pPr marL="355600" indent="-355600">
              <a:buSzPct val="100000"/>
            </a:pPr>
            <a:r>
              <a:rPr lang="en-US" sz="2400" dirty="0">
                <a:latin typeface="Arial" panose="020B0604020202020204" pitchFamily="34" charset="0"/>
                <a:cs typeface="Arial" panose="020B0604020202020204" pitchFamily="34" charset="0"/>
              </a:rPr>
              <a:t>Explain how employees are provided with the needed skills and knowledge.</a:t>
            </a:r>
          </a:p>
        </p:txBody>
      </p:sp>
    </p:spTree>
    <p:extLst>
      <p:ext uri="{BB962C8B-B14F-4D97-AF65-F5344CB8AC3E}">
        <p14:creationId xmlns:p14="http://schemas.microsoft.com/office/powerpoint/2010/main" val="330696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90349"/>
          </a:xfrm>
        </p:spPr>
        <p:txBody>
          <a:bodyPr tIns="18000" bIns="18000">
            <a:spAutoFit/>
          </a:bodyPr>
          <a:lstStyle/>
          <a:p>
            <a:r>
              <a:rPr lang="en-US" sz="3600" dirty="0">
                <a:latin typeface="+mj-lt"/>
                <a:ea typeface="ＭＳ Ｐゴシック" panose="020B0600070205080204" pitchFamily="34" charset="-128"/>
                <a:cs typeface="Arial" panose="020B0604020202020204" pitchFamily="34" charset="0"/>
              </a:rPr>
              <a:t>Orientation</a:t>
            </a:r>
            <a:endParaRPr lang="en-US" sz="3600" dirty="0">
              <a:latin typeface="+mj-lt"/>
            </a:endParaRPr>
          </a:p>
        </p:txBody>
      </p:sp>
      <p:sp>
        <p:nvSpPr>
          <p:cNvPr id="3" name="Content Placeholder 2"/>
          <p:cNvSpPr>
            <a:spLocks noGrp="1"/>
          </p:cNvSpPr>
          <p:nvPr>
            <p:ph idx="1"/>
          </p:nvPr>
        </p:nvSpPr>
        <p:spPr>
          <a:xfrm>
            <a:off x="457200" y="1066800"/>
            <a:ext cx="8153400" cy="1529068"/>
          </a:xfrm>
        </p:spPr>
        <p:txBody>
          <a:bodyPr tIns="18000" bIns="18000">
            <a:spAutoFit/>
          </a:bodyPr>
          <a:lstStyle/>
          <a:p>
            <a:pPr marL="355600" indent="-355600">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Job orientation</a:t>
            </a:r>
          </a:p>
          <a:p>
            <a:pPr marL="355600" indent="-355600">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Work unit orientation</a:t>
            </a:r>
          </a:p>
          <a:p>
            <a:pPr marL="355600" indent="-355600">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Organization orientation</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7414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153400" cy="590349"/>
          </a:xfrm>
        </p:spPr>
        <p:txBody>
          <a:bodyPr wrap="square" tIns="18000" bIns="18000" anchor="t" anchorCtr="0">
            <a:spAutoFit/>
          </a:bodyPr>
          <a:lstStyle/>
          <a:p>
            <a:r>
              <a:rPr lang="en-US" sz="3600">
                <a:latin typeface="+mj-lt"/>
                <a:ea typeface="ＭＳ Ｐゴシック" panose="020B0600070205080204" pitchFamily="34" charset="-128"/>
                <a:cs typeface="Arial" panose="020B0604020202020204" pitchFamily="34" charset="0"/>
              </a:rPr>
              <a:t>Providing Skills and Knowledge</a:t>
            </a:r>
            <a:endParaRPr lang="en-US">
              <a:latin typeface="+mj-lt"/>
            </a:endParaRPr>
          </a:p>
        </p:txBody>
      </p:sp>
      <p:sp>
        <p:nvSpPr>
          <p:cNvPr id="3" name="Content Placeholder 2"/>
          <p:cNvSpPr>
            <a:spLocks noGrp="1"/>
          </p:cNvSpPr>
          <p:nvPr>
            <p:ph sz="quarter" idx="13"/>
          </p:nvPr>
        </p:nvSpPr>
        <p:spPr>
          <a:xfrm>
            <a:off x="457200" y="1042117"/>
            <a:ext cx="8153400" cy="282573"/>
          </a:xfrm>
        </p:spPr>
        <p:txBody>
          <a:bodyPr wrap="square" tIns="18000" bIns="18000">
            <a:spAutoFit/>
          </a:bodyPr>
          <a:lstStyle/>
          <a:p>
            <a:pPr marL="0" indent="0">
              <a:buNone/>
            </a:pPr>
            <a:r>
              <a:rPr lang="en-US" b="1" dirty="0">
                <a:latin typeface="Arial" panose="020B0604020202020204" pitchFamily="34" charset="0"/>
                <a:cs typeface="Arial" panose="020B0604020202020204" pitchFamily="34" charset="0"/>
              </a:rPr>
              <a:t>Exhibit 9.6 </a:t>
            </a:r>
            <a:r>
              <a:rPr lang="en-US" dirty="0">
                <a:latin typeface="Arial" panose="020B0604020202020204" pitchFamily="34" charset="0"/>
                <a:cs typeface="Arial" panose="020B0604020202020204" pitchFamily="34" charset="0"/>
              </a:rPr>
              <a:t>Determining Whether Training Is Needed</a:t>
            </a:r>
          </a:p>
        </p:txBody>
      </p:sp>
      <p:pic>
        <p:nvPicPr>
          <p:cNvPr id="7" name="Picture Placeholder 6" descr="A decision diagram shows the need for determining the need for training.&#10;Long description is available in notes, press F6.">
            <a:extLst>
              <a:ext uri="{FF2B5EF4-FFF2-40B4-BE49-F238E27FC236}">
                <a16:creationId xmlns:a16="http://schemas.microsoft.com/office/drawing/2014/main" id="{D77A1740-5594-4F71-A838-74EE498A1237}"/>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1157287" y="1828800"/>
            <a:ext cx="6829425" cy="4295775"/>
          </a:xfrm>
        </p:spPr>
      </p:pic>
    </p:spTree>
    <p:extLst>
      <p:ext uri="{BB962C8B-B14F-4D97-AF65-F5344CB8AC3E}">
        <p14:creationId xmlns:p14="http://schemas.microsoft.com/office/powerpoint/2010/main" val="217335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0400"/>
            <a:ext cx="8229600" cy="590349"/>
          </a:xfrm>
        </p:spPr>
        <p:txBody>
          <a:bodyPr wrap="square" tIns="18000" bIns="18000">
            <a:spAutoFit/>
          </a:bodyPr>
          <a:lstStyle/>
          <a:p>
            <a:r>
              <a:rPr lang="en-US" sz="3600">
                <a:latin typeface="+mj-lt"/>
                <a:ea typeface="ＭＳ Ｐゴシック" panose="020B0600070205080204" pitchFamily="34" charset="-128"/>
                <a:cs typeface="Arial" panose="020B0604020202020204" pitchFamily="34" charset="0"/>
              </a:rPr>
              <a:t>Employee Training Methods</a:t>
            </a:r>
            <a:endParaRPr lang="en-US" sz="2000" b="0">
              <a:latin typeface="+mj-lt"/>
            </a:endParaRPr>
          </a:p>
        </p:txBody>
      </p:sp>
      <p:sp>
        <p:nvSpPr>
          <p:cNvPr id="3" name="Content Placeholder 2"/>
          <p:cNvSpPr>
            <a:spLocks noGrp="1"/>
          </p:cNvSpPr>
          <p:nvPr>
            <p:ph sz="quarter" idx="13"/>
          </p:nvPr>
        </p:nvSpPr>
        <p:spPr>
          <a:xfrm>
            <a:off x="457200" y="1042117"/>
            <a:ext cx="8077200" cy="282573"/>
          </a:xfrm>
        </p:spPr>
        <p:txBody>
          <a:bodyPr tIns="18000" bIns="18000">
            <a:spAutoFit/>
          </a:bodyPr>
          <a:lstStyle/>
          <a:p>
            <a:pPr marL="0" indent="0">
              <a:buNone/>
            </a:pPr>
            <a:r>
              <a:rPr lang="en-US" b="1" dirty="0">
                <a:latin typeface="Arial" panose="020B0604020202020204" pitchFamily="34" charset="0"/>
                <a:cs typeface="Arial" panose="020B0604020202020204" pitchFamily="34" charset="0"/>
              </a:rPr>
              <a:t>Exhibit 9.7 </a:t>
            </a:r>
            <a:r>
              <a:rPr lang="en-US" dirty="0">
                <a:latin typeface="Arial" panose="020B0604020202020204" pitchFamily="34" charset="0"/>
                <a:cs typeface="Arial" panose="020B0604020202020204" pitchFamily="34" charset="0"/>
              </a:rPr>
              <a:t>Training Methods</a:t>
            </a:r>
          </a:p>
        </p:txBody>
      </p:sp>
      <p:pic>
        <p:nvPicPr>
          <p:cNvPr id="7" name="Picture Placeholder 6" descr="An illustration shows the characteristics of traditional and technology-based training methods.&#10;Long description is available in notes, press F6.">
            <a:extLst>
              <a:ext uri="{FF2B5EF4-FFF2-40B4-BE49-F238E27FC236}">
                <a16:creationId xmlns:a16="http://schemas.microsoft.com/office/drawing/2014/main" id="{59DDC2E6-37CC-4027-8E4D-7B39C7E3EC82}"/>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2361174" y="1612541"/>
            <a:ext cx="4324350" cy="4038600"/>
          </a:xfrm>
        </p:spPr>
      </p:pic>
      <p:sp>
        <p:nvSpPr>
          <p:cNvPr id="5" name="Content Placeholder 4"/>
          <p:cNvSpPr>
            <a:spLocks noGrp="1"/>
          </p:cNvSpPr>
          <p:nvPr>
            <p:ph sz="quarter" idx="15"/>
          </p:nvPr>
        </p:nvSpPr>
        <p:spPr>
          <a:xfrm>
            <a:off x="459545" y="5815883"/>
            <a:ext cx="8127609" cy="405683"/>
          </a:xfrm>
        </p:spPr>
        <p:txBody>
          <a:bodyPr wrap="square" tIns="18000" bIns="18000">
            <a:spAutoFit/>
          </a:bodyPr>
          <a:lstStyle/>
          <a:p>
            <a:pPr marL="0" indent="0">
              <a:buNone/>
            </a:pPr>
            <a:r>
              <a:rPr lang="en-US" sz="1200" i="1">
                <a:latin typeface="Arial" panose="020B0604020202020204" pitchFamily="34" charset="0"/>
                <a:cs typeface="Arial" panose="020B0604020202020204" pitchFamily="34" charset="0"/>
              </a:rPr>
              <a:t>Source: </a:t>
            </a:r>
            <a:r>
              <a:rPr lang="en-US" sz="1200">
                <a:latin typeface="Arial" panose="020B0604020202020204" pitchFamily="34" charset="0"/>
                <a:cs typeface="Arial" panose="020B0604020202020204" pitchFamily="34" charset="0"/>
              </a:rPr>
              <a:t>Robbins, Stephen P., Coulter, Mary, </a:t>
            </a:r>
            <a:r>
              <a:rPr lang="en-US" sz="1200" i="1">
                <a:latin typeface="Arial" panose="020B0604020202020204" pitchFamily="34" charset="0"/>
                <a:cs typeface="Arial" panose="020B0604020202020204" pitchFamily="34" charset="0"/>
              </a:rPr>
              <a:t>Management</a:t>
            </a:r>
            <a:r>
              <a:rPr lang="en-US" sz="1200">
                <a:latin typeface="Arial" panose="020B0604020202020204" pitchFamily="34" charset="0"/>
                <a:cs typeface="Arial" panose="020B0604020202020204" pitchFamily="34" charset="0"/>
              </a:rPr>
              <a:t>, 13th </a:t>
            </a:r>
            <a:r>
              <a:rPr lang="en-US" sz="1200" spc="-160">
                <a:latin typeface="Arial" panose="020B0604020202020204" pitchFamily="34" charset="0"/>
                <a:cs typeface="Arial" panose="020B0604020202020204" pitchFamily="34" charset="0"/>
              </a:rPr>
              <a:t>E </a:t>
            </a:r>
            <a:r>
              <a:rPr lang="en-US" sz="1200">
                <a:latin typeface="Arial" panose="020B0604020202020204" pitchFamily="34" charset="0"/>
                <a:cs typeface="Arial" panose="020B0604020202020204" pitchFamily="34" charset="0"/>
              </a:rPr>
              <a:t>d., © 2016, p. 353. Reprinted and electronically reproduced by permission of Pearson Education, Inc., New York, </a:t>
            </a:r>
            <a:r>
              <a:rPr lang="en-US" sz="1200" spc="-160">
                <a:latin typeface="Arial" panose="020B0604020202020204" pitchFamily="34" charset="0"/>
                <a:cs typeface="Arial" panose="020B0604020202020204" pitchFamily="34" charset="0"/>
              </a:rPr>
              <a:t>N </a:t>
            </a:r>
            <a:r>
              <a:rPr lang="en-US" sz="120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11971071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90349"/>
          </a:xfrm>
        </p:spPr>
        <p:txBody>
          <a:bodyPr tIns="18000" bIns="18000" anchor="t" anchorCtr="0">
            <a:spAutoFit/>
          </a:bodyPr>
          <a:lstStyle/>
          <a:p>
            <a:r>
              <a:rPr lang="en-US" altLang="en-US" sz="3600" dirty="0">
                <a:solidFill>
                  <a:schemeClr val="bg2"/>
                </a:solidFill>
                <a:latin typeface="+mj-lt"/>
                <a:cs typeface="Arial" pitchFamily="34" charset="0"/>
              </a:rPr>
              <a:t>Learning Objective 9.4</a:t>
            </a:r>
            <a:endParaRPr lang="en-US" dirty="0">
              <a:solidFill>
                <a:schemeClr val="bg2"/>
              </a:solidFill>
              <a:latin typeface="+mj-lt"/>
            </a:endParaRPr>
          </a:p>
        </p:txBody>
      </p:sp>
      <p:sp>
        <p:nvSpPr>
          <p:cNvPr id="3" name="Content Placeholder 2"/>
          <p:cNvSpPr>
            <a:spLocks noGrp="1"/>
          </p:cNvSpPr>
          <p:nvPr>
            <p:ph idx="1"/>
          </p:nvPr>
        </p:nvSpPr>
        <p:spPr>
          <a:xfrm>
            <a:off x="457200" y="1053785"/>
            <a:ext cx="8153400" cy="775015"/>
          </a:xfrm>
        </p:spPr>
        <p:txBody>
          <a:bodyPr tIns="18000" bIns="18000">
            <a:spAutoFit/>
          </a:bodyPr>
          <a:lstStyle/>
          <a:p>
            <a:pPr marL="365125" indent="-365125">
              <a:buSzPct val="100000"/>
            </a:pPr>
            <a:r>
              <a:rPr lang="en-US" sz="2400" dirty="0">
                <a:latin typeface="Arial" panose="020B0604020202020204" pitchFamily="34" charset="0"/>
                <a:cs typeface="Arial" panose="020B0604020202020204" pitchFamily="34" charset="0"/>
              </a:rPr>
              <a:t>Describe strategies for retaining competent, high-performing employees.</a:t>
            </a:r>
          </a:p>
        </p:txBody>
      </p:sp>
    </p:spTree>
    <p:extLst>
      <p:ext uri="{BB962C8B-B14F-4D97-AF65-F5344CB8AC3E}">
        <p14:creationId xmlns:p14="http://schemas.microsoft.com/office/powerpoint/2010/main" val="17705189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153400" cy="590400"/>
          </a:xfrm>
        </p:spPr>
        <p:txBody>
          <a:bodyPr wrap="square" tIns="18000" bIns="18000" anchor="t" anchorCtr="0">
            <a:spAutoFit/>
          </a:bodyPr>
          <a:lstStyle/>
          <a:p>
            <a:r>
              <a:rPr lang="en-US" sz="3600" dirty="0">
                <a:latin typeface="+mj-lt"/>
                <a:ea typeface="ＭＳ Ｐゴシック" panose="020B0600070205080204" pitchFamily="34" charset="-128"/>
                <a:cs typeface="Arial" panose="020B0604020202020204" pitchFamily="34" charset="0"/>
              </a:rPr>
              <a:t>Retaining Competent Employees</a:t>
            </a:r>
            <a:endParaRPr lang="en-US" sz="2000" b="0" dirty="0">
              <a:latin typeface="+mj-lt"/>
            </a:endParaRPr>
          </a:p>
        </p:txBody>
      </p:sp>
      <p:sp>
        <p:nvSpPr>
          <p:cNvPr id="4" name="Content Placeholder 3"/>
          <p:cNvSpPr>
            <a:spLocks noGrp="1"/>
          </p:cNvSpPr>
          <p:nvPr>
            <p:ph idx="1"/>
          </p:nvPr>
        </p:nvSpPr>
        <p:spPr>
          <a:xfrm>
            <a:off x="457200" y="1045752"/>
            <a:ext cx="8153400" cy="282573"/>
          </a:xfrm>
        </p:spPr>
        <p:txBody>
          <a:bodyPr tIns="18000" bIns="18000">
            <a:spAutoFit/>
          </a:bodyPr>
          <a:lstStyle/>
          <a:p>
            <a:pPr marL="0" indent="0">
              <a:buNone/>
            </a:pPr>
            <a:r>
              <a:rPr lang="en-US" b="1" dirty="0">
                <a:latin typeface="Arial" panose="020B0604020202020204" pitchFamily="34" charset="0"/>
                <a:cs typeface="Arial" panose="020B0604020202020204" pitchFamily="34" charset="0"/>
              </a:rPr>
              <a:t>Exhibit 9.8 </a:t>
            </a:r>
            <a:r>
              <a:rPr lang="en-US" dirty="0">
                <a:latin typeface="Arial" panose="020B0604020202020204" pitchFamily="34" charset="0"/>
                <a:cs typeface="Arial" panose="020B0604020202020204" pitchFamily="34" charset="0"/>
              </a:rPr>
              <a:t>Specific Performance Appraisal Methods</a:t>
            </a:r>
          </a:p>
        </p:txBody>
      </p:sp>
      <mc:AlternateContent xmlns:mc="http://schemas.openxmlformats.org/markup-compatibility/2006" xmlns:a14="http://schemas.microsoft.com/office/drawing/2010/main">
        <mc:Choice Requires="a14">
          <p:graphicFrame>
            <p:nvGraphicFramePr>
              <p:cNvPr id="8" name="Table"/>
              <p:cNvGraphicFramePr>
                <a:graphicFrameLocks/>
              </p:cNvGraphicFramePr>
              <p:nvPr>
                <p:extLst>
                  <p:ext uri="{D42A27DB-BD31-4B8C-83A1-F6EECF244321}">
                    <p14:modId xmlns:p14="http://schemas.microsoft.com/office/powerpoint/2010/main" val="227656862"/>
                  </p:ext>
                </p:extLst>
              </p:nvPr>
            </p:nvGraphicFramePr>
            <p:xfrm>
              <a:off x="863596" y="1603817"/>
              <a:ext cx="7340604" cy="4720783"/>
            </p:xfrm>
            <a:graphic>
              <a:graphicData uri="http://schemas.openxmlformats.org/drawingml/2006/table">
                <a:tbl>
                  <a:tblPr firstRow="1" bandRow="1">
                    <a:tableStyleId>{9D7B26C5-4107-4FEC-AEDC-1716B250A1EF}</a:tableStyleId>
                  </a:tblPr>
                  <a:tblGrid>
                    <a:gridCol w="2921004">
                      <a:extLst>
                        <a:ext uri="{9D8B030D-6E8A-4147-A177-3AD203B41FA5}">
                          <a16:colId xmlns:a16="http://schemas.microsoft.com/office/drawing/2014/main" val="20000"/>
                        </a:ext>
                      </a:extLst>
                    </a:gridCol>
                    <a:gridCol w="2159000">
                      <a:extLst>
                        <a:ext uri="{9D8B030D-6E8A-4147-A177-3AD203B41FA5}">
                          <a16:colId xmlns:a16="http://schemas.microsoft.com/office/drawing/2014/main" val="20001"/>
                        </a:ext>
                      </a:extLst>
                    </a:gridCol>
                    <a:gridCol w="2260600">
                      <a:extLst>
                        <a:ext uri="{9D8B030D-6E8A-4147-A177-3AD203B41FA5}">
                          <a16:colId xmlns:a16="http://schemas.microsoft.com/office/drawing/2014/main" val="20002"/>
                        </a:ext>
                      </a:extLst>
                    </a:gridCol>
                  </a:tblGrid>
                  <a:tr h="246037">
                    <a:tc>
                      <a:txBody>
                        <a:bodyPr/>
                        <a:lstStyle/>
                        <a:p>
                          <a:pPr algn="l"/>
                          <a:r>
                            <a:rPr lang="en-US" sz="1200" b="1" i="0" u="none" strike="noStrike" kern="1200" baseline="0" noProof="0">
                              <a:solidFill>
                                <a:schemeClr val="bg1"/>
                              </a:solidFill>
                              <a:latin typeface="Arial" panose="020B0604020202020204" pitchFamily="34" charset="0"/>
                              <a:ea typeface="+mn-ea"/>
                              <a:cs typeface="Arial" panose="020B0604020202020204" pitchFamily="34" charset="0"/>
                            </a:rPr>
                            <a:t>Method</a:t>
                          </a:r>
                        </a:p>
                      </a:txBody>
                      <a:tcPr marL="55990" marR="55990" marT="19179" marB="19179" anchor="ctr">
                        <a:lnL w="12700" cap="flat" cmpd="sng" algn="ctr">
                          <a:solidFill>
                            <a:schemeClr val="tx1"/>
                          </a:solidFill>
                          <a:prstDash val="solid"/>
                          <a:round/>
                          <a:headEnd type="none" w="med" len="med"/>
                          <a:tailEnd type="none" w="med" len="med"/>
                        </a:lnL>
                        <a:solidFill>
                          <a:srgbClr val="007FA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noProof="0" dirty="0">
                              <a:solidFill>
                                <a:schemeClr val="bg1"/>
                              </a:solidFill>
                              <a:latin typeface="Arial" panose="020B0604020202020204" pitchFamily="34" charset="0"/>
                              <a:ea typeface="+mn-ea"/>
                              <a:cs typeface="Arial" panose="020B0604020202020204" pitchFamily="34" charset="0"/>
                            </a:rPr>
                            <a:t>Advantage</a:t>
                          </a:r>
                          <a:endParaRPr lang="en-US" sz="1200" noProof="0" dirty="0">
                            <a:solidFill>
                              <a:schemeClr val="bg1"/>
                            </a:solidFill>
                            <a:latin typeface="Arial" panose="020B0604020202020204" pitchFamily="34" charset="0"/>
                            <a:cs typeface="Arial" panose="020B0604020202020204" pitchFamily="34" charset="0"/>
                          </a:endParaRPr>
                        </a:p>
                      </a:txBody>
                      <a:tcPr marL="55990" marR="55990" marT="19179" marB="19179" anchor="ctr">
                        <a:solidFill>
                          <a:srgbClr val="007FA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a:solidFill>
                                <a:schemeClr val="bg1"/>
                              </a:solidFill>
                              <a:latin typeface="Arial" panose="020B0604020202020204" pitchFamily="34" charset="0"/>
                              <a:cs typeface="Arial" panose="020B0604020202020204" pitchFamily="34" charset="0"/>
                            </a:rPr>
                            <a:t>Disadvantage</a:t>
                          </a:r>
                        </a:p>
                      </a:txBody>
                      <a:tcPr marL="55990" marR="55990" marT="19179" marB="19179" anchor="ctr">
                        <a:lnR w="12700" cap="flat" cmpd="sng" algn="ctr">
                          <a:solidFill>
                            <a:schemeClr val="tx1"/>
                          </a:solidFill>
                          <a:prstDash val="solid"/>
                          <a:round/>
                          <a:headEnd type="none" w="med" len="med"/>
                          <a:tailEnd type="none" w="med" len="med"/>
                        </a:lnR>
                        <a:solidFill>
                          <a:srgbClr val="007FA3"/>
                        </a:solidFill>
                      </a:tcPr>
                    </a:tc>
                    <a:extLst>
                      <a:ext uri="{0D108BD9-81ED-4DB2-BD59-A6C34878D82A}">
                        <a16:rowId xmlns:a16="http://schemas.microsoft.com/office/drawing/2014/main" val="3481463362"/>
                      </a:ext>
                    </a:extLst>
                  </a:tr>
                  <a:tr h="581566">
                    <a:tc>
                      <a:txBody>
                        <a:bodyPr/>
                        <a:lstStyle/>
                        <a:p>
                          <a:r>
                            <a:rPr lang="en-US" sz="1200" b="1" i="0" u="none" strike="noStrike" kern="1200" baseline="0" noProof="0">
                              <a:solidFill>
                                <a:schemeClr val="tx1"/>
                              </a:solidFill>
                              <a:latin typeface="Arial" panose="020B0604020202020204" pitchFamily="34" charset="0"/>
                              <a:ea typeface="+mn-ea"/>
                              <a:cs typeface="Arial" panose="020B0604020202020204" pitchFamily="34" charset="0"/>
                            </a:rPr>
                            <a:t>(A) WRITTEN ESSAY</a:t>
                          </a:r>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—descriptions of employee’s strengths and weaknesses</a:t>
                          </a:r>
                          <a:endParaRPr lang="en-US" sz="1200" noProof="0">
                            <a:latin typeface="Arial" panose="020B0604020202020204" pitchFamily="34" charset="0"/>
                            <a:cs typeface="Arial" panose="020B0604020202020204" pitchFamily="34" charset="0"/>
                          </a:endParaRPr>
                        </a:p>
                      </a:txBody>
                      <a:tcPr marL="55990" marR="55990" marT="19179" marB="19179" anchor="ctr">
                        <a:lnL w="12700" cap="flat" cmpd="sng" algn="ctr">
                          <a:solidFill>
                            <a:schemeClr val="tx1"/>
                          </a:solidFill>
                          <a:prstDash val="solid"/>
                          <a:round/>
                          <a:headEnd type="none" w="med" len="med"/>
                          <a:tailEnd type="none" w="med" len="med"/>
                        </a:lnL>
                        <a:solidFill>
                          <a:srgbClr val="D4EAE4"/>
                        </a:solidFill>
                      </a:tcPr>
                    </a:tc>
                    <a:tc>
                      <a:txBody>
                        <a:bodyPr/>
                        <a:lstStyle/>
                        <a:p>
                          <a:pPr algn="l"/>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Simple to use</a:t>
                          </a:r>
                          <a:endParaRPr lang="en-US" sz="1200" baseline="30000" noProof="0">
                            <a:latin typeface="Arial" panose="020B0604020202020204" pitchFamily="34" charset="0"/>
                            <a:cs typeface="Arial" panose="020B0604020202020204" pitchFamily="34" charset="0"/>
                          </a:endParaRPr>
                        </a:p>
                      </a:txBody>
                      <a:tcPr marL="55990" marR="55990" marT="19179" marB="19179" anchor="ctr">
                        <a:solidFill>
                          <a:srgbClr val="D4EAE4"/>
                        </a:solidFill>
                      </a:tcPr>
                    </a:tc>
                    <a:tc>
                      <a:txBody>
                        <a:bodyPr/>
                        <a:lstStyle/>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More a measure of evaluator’s writing ability than of employee’s actual performance</a:t>
                          </a:r>
                          <a:endParaRPr lang="en-US" sz="1200" noProof="0">
                            <a:latin typeface="Arial" panose="020B0604020202020204" pitchFamily="34" charset="0"/>
                            <a:cs typeface="Arial" panose="020B0604020202020204" pitchFamily="34" charset="0"/>
                          </a:endParaRPr>
                        </a:p>
                      </a:txBody>
                      <a:tcPr marL="55990" marR="55990" marT="19179" marB="19179" anchor="ctr">
                        <a:lnR w="12700" cap="flat" cmpd="sng" algn="ctr">
                          <a:solidFill>
                            <a:schemeClr val="tx1"/>
                          </a:solidFill>
                          <a:prstDash val="solid"/>
                          <a:round/>
                          <a:headEnd type="none" w="med" len="med"/>
                          <a:tailEnd type="none" w="med" len="med"/>
                        </a:lnR>
                        <a:solidFill>
                          <a:srgbClr val="D4EAE4"/>
                        </a:solidFill>
                      </a:tcPr>
                    </a:tc>
                    <a:extLst>
                      <a:ext uri="{0D108BD9-81ED-4DB2-BD59-A6C34878D82A}">
                        <a16:rowId xmlns:a16="http://schemas.microsoft.com/office/drawing/2014/main" val="10001"/>
                      </a:ext>
                    </a:extLst>
                  </a:tr>
                  <a:tr h="581566">
                    <a:tc>
                      <a:txBody>
                        <a:bodyPr/>
                        <a:lstStyle/>
                        <a:p>
                          <a:r>
                            <a:rPr lang="en-US" sz="1200" b="1" i="0" u="none" strike="noStrike" kern="1200" baseline="0" noProof="0" dirty="0">
                              <a:solidFill>
                                <a:schemeClr val="tx1"/>
                              </a:solidFill>
                              <a:latin typeface="Arial" panose="020B0604020202020204" pitchFamily="34" charset="0"/>
                              <a:ea typeface="+mn-ea"/>
                              <a:cs typeface="Arial" panose="020B0604020202020204" pitchFamily="34" charset="0"/>
                            </a:rPr>
                            <a:t>(B) CRITICAL INCIDENTS</a:t>
                          </a: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—examples of critical behaviors that were especially effective or ineffective</a:t>
                          </a:r>
                          <a:endParaRPr lang="en-US" sz="1200" noProof="0" dirty="0">
                            <a:latin typeface="Arial" panose="020B0604020202020204" pitchFamily="34" charset="0"/>
                            <a:cs typeface="Arial" panose="020B0604020202020204" pitchFamily="34" charset="0"/>
                          </a:endParaRPr>
                        </a:p>
                      </a:txBody>
                      <a:tcPr marL="55990" marR="55990" marT="19179" marB="19179" anchor="ctr">
                        <a:lnL w="12700" cap="flat" cmpd="sng" algn="ctr">
                          <a:solidFill>
                            <a:schemeClr val="tx1"/>
                          </a:solidFill>
                          <a:prstDash val="solid"/>
                          <a:round/>
                          <a:headEnd type="none" w="med" len="med"/>
                          <a:tailEnd type="none" w="med" len="med"/>
                        </a:lnL>
                        <a:solidFill>
                          <a:srgbClr val="D4EAE4"/>
                        </a:solidFill>
                      </a:tcPr>
                    </a:tc>
                    <a:tc>
                      <a:txBody>
                        <a:bodyPr/>
                        <a:lstStyle/>
                        <a:p>
                          <a:pPr algn="l"/>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Rich examples; behaviorally based</a:t>
                          </a:r>
                          <a:endParaRPr lang="en-US" sz="1200" noProof="0">
                            <a:latin typeface="Arial" panose="020B0604020202020204" pitchFamily="34" charset="0"/>
                            <a:cs typeface="Arial" panose="020B0604020202020204" pitchFamily="34" charset="0"/>
                          </a:endParaRPr>
                        </a:p>
                      </a:txBody>
                      <a:tcPr marL="55990" marR="55990" marT="19179" marB="19179" anchor="ctr">
                        <a:solidFill>
                          <a:srgbClr val="D4EAE4"/>
                        </a:solidFill>
                      </a:tcPr>
                    </a:tc>
                    <a:tc>
                      <a:txBody>
                        <a:bodyPr/>
                        <a:lstStyle/>
                        <a:p>
                          <a:pPr algn="l"/>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Time-consuming; lack quantification</a:t>
                          </a:r>
                          <a:endParaRPr lang="en-US" sz="1200" noProof="0">
                            <a:latin typeface="Arial" panose="020B0604020202020204" pitchFamily="34" charset="0"/>
                            <a:cs typeface="Arial" panose="020B0604020202020204" pitchFamily="34" charset="0"/>
                          </a:endParaRPr>
                        </a:p>
                      </a:txBody>
                      <a:tcPr marL="55990" marR="55990" marT="19179" marB="19179" anchor="ctr">
                        <a:lnR w="12700" cap="flat" cmpd="sng" algn="ctr">
                          <a:solidFill>
                            <a:schemeClr val="tx1"/>
                          </a:solidFill>
                          <a:prstDash val="solid"/>
                          <a:round/>
                          <a:headEnd type="none" w="med" len="med"/>
                          <a:tailEnd type="none" w="med" len="med"/>
                        </a:lnR>
                        <a:solidFill>
                          <a:srgbClr val="D4EAE4"/>
                        </a:solidFill>
                      </a:tcPr>
                    </a:tc>
                    <a:extLst>
                      <a:ext uri="{0D108BD9-81ED-4DB2-BD59-A6C34878D82A}">
                        <a16:rowId xmlns:a16="http://schemas.microsoft.com/office/drawing/2014/main" val="10002"/>
                      </a:ext>
                    </a:extLst>
                  </a:tr>
                  <a:tr h="1124774">
                    <a:tc>
                      <a:txBody>
                        <a:bodyPr/>
                        <a:lstStyle/>
                        <a:p>
                          <a:r>
                            <a:rPr lang="en-US" sz="1200" b="1" i="0" u="none" strike="noStrike" kern="1200" baseline="0" noProof="0" dirty="0">
                              <a:solidFill>
                                <a:schemeClr val="tx1"/>
                              </a:solidFill>
                              <a:latin typeface="Arial" panose="020B0604020202020204" pitchFamily="34" charset="0"/>
                              <a:ea typeface="+mn-ea"/>
                              <a:cs typeface="Arial" panose="020B0604020202020204" pitchFamily="34" charset="0"/>
                            </a:rPr>
                            <a:t>(C) ADJECTIVE RATING SCALES</a:t>
                          </a: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a:t>
                          </a: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lists descriptive performance factors (work quantity and quality, knowledge, cooperation, loyalty, attendance, honesty, initiative, and so forth) with numerical ratings</a:t>
                          </a:r>
                          <a:endParaRPr lang="en-US" sz="1200" noProof="0" dirty="0">
                            <a:latin typeface="Arial" panose="020B0604020202020204" pitchFamily="34" charset="0"/>
                            <a:cs typeface="Arial" panose="020B0604020202020204" pitchFamily="34" charset="0"/>
                          </a:endParaRPr>
                        </a:p>
                      </a:txBody>
                      <a:tcPr marL="55990" marR="55990" marT="19179" marB="19179" anchor="ctr">
                        <a:lnL w="12700" cap="flat" cmpd="sng" algn="ctr">
                          <a:solidFill>
                            <a:schemeClr val="tx1"/>
                          </a:solidFill>
                          <a:prstDash val="solid"/>
                          <a:round/>
                          <a:headEnd type="none" w="med" len="med"/>
                          <a:tailEnd type="none" w="med" len="med"/>
                        </a:lnL>
                        <a:solidFill>
                          <a:srgbClr val="D4EAE4"/>
                        </a:solidFill>
                      </a:tcPr>
                    </a:tc>
                    <a:tc>
                      <a:txBody>
                        <a:bodyPr/>
                        <a:lstStyle/>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Provide quantitative data; less</a:t>
                          </a:r>
                        </a:p>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time-consuming than others</a:t>
                          </a:r>
                          <a:endParaRPr lang="en-US" sz="1200" noProof="0">
                            <a:latin typeface="Arial" panose="020B0604020202020204" pitchFamily="34" charset="0"/>
                            <a:cs typeface="Arial" panose="020B0604020202020204" pitchFamily="34" charset="0"/>
                          </a:endParaRPr>
                        </a:p>
                      </a:txBody>
                      <a:tcPr marL="55990" marR="55990" marT="19179" marB="19179" anchor="ctr">
                        <a:solidFill>
                          <a:srgbClr val="D4EAE4"/>
                        </a:solidFill>
                      </a:tcPr>
                    </a:tc>
                    <a:tc>
                      <a:txBody>
                        <a:bodyPr/>
                        <a:lstStyle/>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Do not provide depth of job behavior assessed</a:t>
                          </a:r>
                          <a:endParaRPr lang="en-US" sz="1200" noProof="0">
                            <a:latin typeface="Arial" panose="020B0604020202020204" pitchFamily="34" charset="0"/>
                            <a:cs typeface="Arial" panose="020B0604020202020204" pitchFamily="34" charset="0"/>
                          </a:endParaRPr>
                        </a:p>
                      </a:txBody>
                      <a:tcPr marL="55990" marR="55990" marT="19179" marB="19179" anchor="ctr">
                        <a:lnR w="12700" cap="flat" cmpd="sng" algn="ctr">
                          <a:solidFill>
                            <a:schemeClr val="tx1"/>
                          </a:solidFill>
                          <a:prstDash val="solid"/>
                          <a:round/>
                          <a:headEnd type="none" w="med" len="med"/>
                          <a:tailEnd type="none" w="med" len="med"/>
                        </a:lnR>
                        <a:solidFill>
                          <a:srgbClr val="D4EAE4"/>
                        </a:solidFill>
                      </a:tcPr>
                    </a:tc>
                    <a:extLst>
                      <a:ext uri="{0D108BD9-81ED-4DB2-BD59-A6C34878D82A}">
                        <a16:rowId xmlns:a16="http://schemas.microsoft.com/office/drawing/2014/main" val="10003"/>
                      </a:ext>
                    </a:extLst>
                  </a:tr>
                  <a:tr h="581566">
                    <a:tc>
                      <a:txBody>
                        <a:bodyPr/>
                        <a:lstStyle/>
                        <a:p>
                          <a:r>
                            <a:rPr lang="en-US" sz="1200" b="1" i="0" u="none" strike="noStrike" kern="1200" baseline="0" noProof="0" dirty="0">
                              <a:solidFill>
                                <a:schemeClr val="tx1"/>
                              </a:solidFill>
                              <a:latin typeface="Arial" panose="020B0604020202020204" pitchFamily="34" charset="0"/>
                              <a:ea typeface="+mn-ea"/>
                              <a:cs typeface="Arial" panose="020B0604020202020204" pitchFamily="34" charset="0"/>
                            </a:rPr>
                            <a:t>(D) BARS</a:t>
                          </a: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—rating scale </a:t>
                          </a:r>
                          <a14:m>
                            <m:oMath xmlns:m="http://schemas.openxmlformats.org/officeDocument/2006/math">
                              <m:r>
                                <a:rPr lang="en-US" sz="1200" b="0" i="1" u="none" strike="noStrike" kern="1200" baseline="0" noProof="0" dirty="0" smtClean="0">
                                  <a:solidFill>
                                    <a:schemeClr val="tx1"/>
                                  </a:solidFill>
                                  <a:latin typeface="Cambria Math" panose="02040503050406030204" pitchFamily="18" charset="0"/>
                                  <a:ea typeface="Cambria Math" panose="02040503050406030204" pitchFamily="18" charset="0"/>
                                  <a:cs typeface="Arial" panose="020B0604020202020204" pitchFamily="34" charset="0"/>
                                </a:rPr>
                                <m:t>+</m:t>
                              </m:r>
                            </m:oMath>
                          </a14:m>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 examples of actual job </a:t>
                          </a:r>
                          <a:r>
                            <a:rPr lang="en-US" sz="100" b="0" i="0" u="none" strike="noStrike" kern="1200" baseline="0" noProof="0" dirty="0">
                              <a:solidFill>
                                <a:schemeClr val="tx1"/>
                              </a:solidFill>
                              <a:latin typeface="Arial" panose="020B0604020202020204" pitchFamily="34" charset="0"/>
                              <a:ea typeface="+mn-ea"/>
                              <a:cs typeface="Arial" panose="020B0604020202020204" pitchFamily="34" charset="0"/>
                            </a:rPr>
                            <a:t>behaviors</a:t>
                          </a:r>
                          <a:r>
                            <a:rPr lang="en-US" sz="100" b="0" i="0" u="none" strike="noStrike" kern="1200" baseline="30000" noProof="0" dirty="0">
                              <a:solidFill>
                                <a:schemeClr val="tx1"/>
                              </a:solidFill>
                              <a:latin typeface="Arial" panose="020B0604020202020204" pitchFamily="34" charset="0"/>
                              <a:ea typeface="+mn-ea"/>
                              <a:cs typeface="Arial" panose="020B0604020202020204" pitchFamily="34" charset="0"/>
                            </a:rPr>
                            <a:t> </a:t>
                          </a:r>
                          <a:r>
                            <a:rPr lang="en-US" sz="100" b="0" i="0" u="none" strike="noStrike" kern="1200" baseline="0" noProof="0" dirty="0">
                              <a:solidFill>
                                <a:schemeClr val="tx1"/>
                              </a:solidFill>
                              <a:latin typeface="Arial" panose="020B0604020202020204" pitchFamily="34" charset="0"/>
                              <a:ea typeface="+mn-ea"/>
                              <a:cs typeface="Arial" panose="020B0604020202020204" pitchFamily="34" charset="0"/>
                            </a:rPr>
                            <a:t>super 38 comma 39</a:t>
                          </a:r>
                          <a:endParaRPr lang="en-US" sz="100" baseline="0" noProof="0" dirty="0">
                            <a:latin typeface="Arial" panose="020B0604020202020204" pitchFamily="34" charset="0"/>
                            <a:cs typeface="Arial" panose="020B0604020202020204" pitchFamily="34" charset="0"/>
                          </a:endParaRPr>
                        </a:p>
                      </a:txBody>
                      <a:tcPr marL="55990" marR="55990" marT="19179" marB="19179" anchor="ctr">
                        <a:lnL w="12700" cap="flat" cmpd="sng" algn="ctr">
                          <a:solidFill>
                            <a:schemeClr val="tx1"/>
                          </a:solidFill>
                          <a:prstDash val="solid"/>
                          <a:round/>
                          <a:headEnd type="none" w="med" len="med"/>
                          <a:tailEnd type="none" w="med" len="med"/>
                        </a:lnL>
                        <a:solidFill>
                          <a:srgbClr val="D4EAE4"/>
                        </a:solidFill>
                      </a:tcPr>
                    </a:tc>
                    <a:tc>
                      <a:txBody>
                        <a:bodyPr/>
                        <a:lstStyle/>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Focus on specific and measurable</a:t>
                          </a:r>
                        </a:p>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job behaviors</a:t>
                          </a:r>
                          <a:endParaRPr lang="en-US" sz="1200" noProof="0">
                            <a:latin typeface="Arial" panose="020B0604020202020204" pitchFamily="34" charset="0"/>
                            <a:cs typeface="Arial" panose="020B0604020202020204" pitchFamily="34" charset="0"/>
                          </a:endParaRPr>
                        </a:p>
                      </a:txBody>
                      <a:tcPr marL="55990" marR="55990" marT="19179" marB="19179" anchor="ctr">
                        <a:solidFill>
                          <a:srgbClr val="D4EAE4"/>
                        </a:solidFill>
                      </a:tcPr>
                    </a:tc>
                    <a:tc>
                      <a:txBody>
                        <a:bodyPr/>
                        <a:lstStyle/>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Time-consuming; difficult to develop</a:t>
                          </a:r>
                        </a:p>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measures</a:t>
                          </a:r>
                          <a:endParaRPr lang="en-US" sz="1200" noProof="0">
                            <a:latin typeface="Arial" panose="020B0604020202020204" pitchFamily="34" charset="0"/>
                            <a:cs typeface="Arial" panose="020B0604020202020204" pitchFamily="34" charset="0"/>
                          </a:endParaRPr>
                        </a:p>
                      </a:txBody>
                      <a:tcPr marL="55990" marR="55990" marT="19179" marB="19179" anchor="ctr">
                        <a:lnR w="12700" cap="flat" cmpd="sng" algn="ctr">
                          <a:solidFill>
                            <a:schemeClr val="tx1"/>
                          </a:solidFill>
                          <a:prstDash val="solid"/>
                          <a:round/>
                          <a:headEnd type="none" w="med" len="med"/>
                          <a:tailEnd type="none" w="med" len="med"/>
                        </a:lnR>
                        <a:solidFill>
                          <a:srgbClr val="D4EAE4"/>
                        </a:solidFill>
                      </a:tcPr>
                    </a:tc>
                    <a:extLst>
                      <a:ext uri="{0D108BD9-81ED-4DB2-BD59-A6C34878D82A}">
                        <a16:rowId xmlns:a16="http://schemas.microsoft.com/office/drawing/2014/main" val="10004"/>
                      </a:ext>
                    </a:extLst>
                  </a:tr>
                  <a:tr h="400497">
                    <a:tc>
                      <a:txBody>
                        <a:bodyPr/>
                        <a:lstStyle/>
                        <a:p>
                          <a:r>
                            <a:rPr lang="en-US" sz="1200" b="1" i="0" u="none" strike="noStrike" kern="1200" baseline="0" noProof="0">
                              <a:solidFill>
                                <a:schemeClr val="tx1"/>
                              </a:solidFill>
                              <a:latin typeface="Arial" panose="020B0604020202020204" pitchFamily="34" charset="0"/>
                              <a:ea typeface="+mn-ea"/>
                              <a:cs typeface="Arial" panose="020B0604020202020204" pitchFamily="34" charset="0"/>
                            </a:rPr>
                            <a:t>(E) MBO</a:t>
                          </a:r>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—evaluation of accomplishment of specific goals</a:t>
                          </a:r>
                          <a:endParaRPr lang="en-US" sz="1200" noProof="0">
                            <a:latin typeface="Arial" panose="020B0604020202020204" pitchFamily="34" charset="0"/>
                            <a:cs typeface="Arial" panose="020B0604020202020204" pitchFamily="34" charset="0"/>
                          </a:endParaRPr>
                        </a:p>
                      </a:txBody>
                      <a:tcPr marL="55990" marR="55990" marT="19179" marB="19179" anchor="ctr">
                        <a:lnL w="12700" cap="flat" cmpd="sng" algn="ctr">
                          <a:solidFill>
                            <a:schemeClr val="tx1"/>
                          </a:solidFill>
                          <a:prstDash val="solid"/>
                          <a:round/>
                          <a:headEnd type="none" w="med" len="med"/>
                          <a:tailEnd type="none" w="med" len="med"/>
                        </a:lnL>
                        <a:solidFill>
                          <a:srgbClr val="D4EAE4"/>
                        </a:solidFill>
                      </a:tcPr>
                    </a:tc>
                    <a:tc>
                      <a:txBody>
                        <a:bodyPr/>
                        <a:lstStyle/>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Focuses on end goals; results</a:t>
                          </a:r>
                        </a:p>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oriented</a:t>
                          </a:r>
                          <a:endParaRPr lang="en-US" sz="1200" noProof="0">
                            <a:latin typeface="Arial" panose="020B0604020202020204" pitchFamily="34" charset="0"/>
                            <a:cs typeface="Arial" panose="020B0604020202020204" pitchFamily="34" charset="0"/>
                          </a:endParaRPr>
                        </a:p>
                      </a:txBody>
                      <a:tcPr marL="55990" marR="55990" marT="19179" marB="19179" anchor="ctr">
                        <a:solidFill>
                          <a:srgbClr val="D4EAE4"/>
                        </a:solidFill>
                      </a:tcPr>
                    </a:tc>
                    <a:tc>
                      <a:txBody>
                        <a:bodyPr/>
                        <a:lstStyle/>
                        <a:p>
                          <a:pPr algn="l"/>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Time-consuming</a:t>
                          </a:r>
                          <a:endParaRPr lang="en-US" sz="1200" noProof="0">
                            <a:latin typeface="Arial" panose="020B0604020202020204" pitchFamily="34" charset="0"/>
                            <a:cs typeface="Arial" panose="020B0604020202020204" pitchFamily="34" charset="0"/>
                          </a:endParaRPr>
                        </a:p>
                      </a:txBody>
                      <a:tcPr marL="55990" marR="55990" marT="19179" marB="19179" anchor="ctr">
                        <a:lnR w="12700" cap="flat" cmpd="sng" algn="ctr">
                          <a:solidFill>
                            <a:schemeClr val="tx1"/>
                          </a:solidFill>
                          <a:prstDash val="solid"/>
                          <a:round/>
                          <a:headEnd type="none" w="med" len="med"/>
                          <a:tailEnd type="none" w="med" len="med"/>
                        </a:lnR>
                        <a:solidFill>
                          <a:srgbClr val="D4EAE4"/>
                        </a:solidFill>
                      </a:tcPr>
                    </a:tc>
                    <a:extLst>
                      <a:ext uri="{0D108BD9-81ED-4DB2-BD59-A6C34878D82A}">
                        <a16:rowId xmlns:a16="http://schemas.microsoft.com/office/drawing/2014/main" val="10005"/>
                      </a:ext>
                    </a:extLst>
                  </a:tr>
                  <a:tr h="581566">
                    <a:tc>
                      <a:txBody>
                        <a:bodyPr/>
                        <a:lstStyle/>
                        <a:p>
                          <a:r>
                            <a:rPr lang="en-US" sz="1200" b="1" i="0" u="none" strike="noStrike" kern="1200" baseline="0" noProof="0" dirty="0">
                              <a:solidFill>
                                <a:schemeClr val="tx1"/>
                              </a:solidFill>
                              <a:latin typeface="Arial" panose="020B0604020202020204" pitchFamily="34" charset="0"/>
                              <a:ea typeface="+mn-ea"/>
                              <a:cs typeface="Arial" panose="020B0604020202020204" pitchFamily="34" charset="0"/>
                            </a:rPr>
                            <a:t>(F) </a:t>
                          </a:r>
                          <a:r>
                            <a:rPr lang="en-US" sz="100" b="1" i="0" u="none" strike="noStrike" kern="1200" baseline="0" noProof="0" dirty="0">
                              <a:solidFill>
                                <a:schemeClr val="tx1"/>
                              </a:solidFill>
                              <a:latin typeface="Arial" panose="020B0604020202020204" pitchFamily="34" charset="0"/>
                              <a:ea typeface="+mn-ea"/>
                              <a:cs typeface="Arial" panose="020B0604020202020204" pitchFamily="34" charset="0"/>
                            </a:rPr>
                            <a:t>360-degree appraisal super 40</a:t>
                          </a: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—feedback from full circle of those who interact with employee</a:t>
                          </a:r>
                          <a:endParaRPr lang="en-US" sz="1200" noProof="0" dirty="0">
                            <a:latin typeface="Arial" panose="020B0604020202020204" pitchFamily="34" charset="0"/>
                            <a:cs typeface="Arial" panose="020B0604020202020204" pitchFamily="34" charset="0"/>
                          </a:endParaRPr>
                        </a:p>
                      </a:txBody>
                      <a:tcPr marL="55990" marR="55990" marT="19179" marB="19179" anchor="ctr">
                        <a:lnL w="12700" cap="flat" cmpd="sng" algn="ctr">
                          <a:solidFill>
                            <a:schemeClr val="tx1"/>
                          </a:solidFill>
                          <a:prstDash val="solid"/>
                          <a:round/>
                          <a:headEnd type="none" w="med" len="med"/>
                          <a:tailEnd type="none" w="med" len="med"/>
                        </a:lnL>
                        <a:solidFill>
                          <a:srgbClr val="D4EAE4"/>
                        </a:solidFill>
                      </a:tcPr>
                    </a:tc>
                    <a:tc>
                      <a:txBody>
                        <a:bodyPr/>
                        <a:lstStyle/>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More thorough</a:t>
                          </a:r>
                          <a:endParaRPr lang="en-US" sz="1200" noProof="0">
                            <a:latin typeface="Arial" panose="020B0604020202020204" pitchFamily="34" charset="0"/>
                            <a:cs typeface="Arial" panose="020B0604020202020204" pitchFamily="34" charset="0"/>
                          </a:endParaRPr>
                        </a:p>
                      </a:txBody>
                      <a:tcPr marL="55990" marR="55990" marT="19179" marB="19179" anchor="ctr">
                        <a:solidFill>
                          <a:srgbClr val="D4EAE4"/>
                        </a:solidFill>
                      </a:tcPr>
                    </a:tc>
                    <a:tc>
                      <a:txBody>
                        <a:bodyPr/>
                        <a:lstStyle/>
                        <a:p>
                          <a:pPr algn="l"/>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Time-consuming</a:t>
                          </a:r>
                          <a:endParaRPr lang="en-US" sz="1200" noProof="0">
                            <a:latin typeface="Arial" panose="020B0604020202020204" pitchFamily="34" charset="0"/>
                            <a:cs typeface="Arial" panose="020B0604020202020204" pitchFamily="34" charset="0"/>
                          </a:endParaRPr>
                        </a:p>
                      </a:txBody>
                      <a:tcPr marL="55990" marR="55990" marT="19179" marB="19179" anchor="ctr">
                        <a:lnR w="12700" cap="flat" cmpd="sng" algn="ctr">
                          <a:solidFill>
                            <a:schemeClr val="tx1"/>
                          </a:solidFill>
                          <a:prstDash val="solid"/>
                          <a:round/>
                          <a:headEnd type="none" w="med" len="med"/>
                          <a:tailEnd type="none" w="med" len="med"/>
                        </a:lnR>
                        <a:solidFill>
                          <a:srgbClr val="D4EAE4"/>
                        </a:solidFill>
                      </a:tcPr>
                    </a:tc>
                    <a:extLst>
                      <a:ext uri="{0D108BD9-81ED-4DB2-BD59-A6C34878D82A}">
                        <a16:rowId xmlns:a16="http://schemas.microsoft.com/office/drawing/2014/main" val="10006"/>
                      </a:ext>
                    </a:extLst>
                  </a:tr>
                  <a:tr h="581566">
                    <a:tc>
                      <a:txBody>
                        <a:bodyPr/>
                        <a:lstStyle/>
                        <a:p>
                          <a:r>
                            <a:rPr lang="en-US" sz="1200" b="1" i="0" u="none" strike="noStrike" kern="1200" baseline="0" noProof="0">
                              <a:solidFill>
                                <a:schemeClr val="tx1"/>
                              </a:solidFill>
                              <a:latin typeface="Arial" panose="020B0604020202020204" pitchFamily="34" charset="0"/>
                              <a:ea typeface="+mn-ea"/>
                              <a:cs typeface="Arial" panose="020B0604020202020204" pitchFamily="34" charset="0"/>
                            </a:rPr>
                            <a:t>(G) MULTIPERSON</a:t>
                          </a:r>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—evaluation comparison of work group</a:t>
                          </a:r>
                          <a:endParaRPr lang="en-US" sz="1200" noProof="0">
                            <a:latin typeface="Arial" panose="020B0604020202020204" pitchFamily="34" charset="0"/>
                            <a:cs typeface="Arial" panose="020B0604020202020204" pitchFamily="34" charset="0"/>
                          </a:endParaRPr>
                        </a:p>
                      </a:txBody>
                      <a:tcPr marL="55990" marR="55990" marT="19179" marB="19179" anchor="ctr">
                        <a:lnL w="12700" cap="flat" cmpd="sng" algn="ctr">
                          <a:solidFill>
                            <a:schemeClr val="tx1"/>
                          </a:solidFill>
                          <a:prstDash val="solid"/>
                          <a:round/>
                          <a:headEnd type="none" w="med" len="med"/>
                          <a:tailEnd type="none" w="med" len="med"/>
                        </a:lnL>
                        <a:solidFill>
                          <a:srgbClr val="D4EAE4"/>
                        </a:solidFill>
                      </a:tcPr>
                    </a:tc>
                    <a:tc>
                      <a:txBody>
                        <a:bodyPr/>
                        <a:lstStyle/>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Compares employees with one</a:t>
                          </a:r>
                        </a:p>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another</a:t>
                          </a:r>
                          <a:endParaRPr lang="en-US" sz="1200" noProof="0">
                            <a:latin typeface="Arial" panose="020B0604020202020204" pitchFamily="34" charset="0"/>
                            <a:cs typeface="Arial" panose="020B0604020202020204" pitchFamily="34" charset="0"/>
                          </a:endParaRPr>
                        </a:p>
                      </a:txBody>
                      <a:tcPr marL="55990" marR="55990" marT="19179" marB="19179" anchor="ctr">
                        <a:solidFill>
                          <a:srgbClr val="D4EAE4"/>
                        </a:solidFill>
                      </a:tcPr>
                    </a:tc>
                    <a:tc>
                      <a:txBody>
                        <a:bodyPr/>
                        <a:lstStyle/>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Unwieldy with large number of</a:t>
                          </a: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employees</a:t>
                          </a:r>
                          <a:endParaRPr lang="en-US" sz="1200" noProof="0" dirty="0">
                            <a:latin typeface="Arial" panose="020B0604020202020204" pitchFamily="34" charset="0"/>
                            <a:cs typeface="Arial" panose="020B0604020202020204" pitchFamily="34" charset="0"/>
                          </a:endParaRPr>
                        </a:p>
                      </a:txBody>
                      <a:tcPr marL="55990" marR="55990" marT="19179" marB="19179" anchor="ctr">
                        <a:lnR w="12700" cap="flat" cmpd="sng" algn="ctr">
                          <a:solidFill>
                            <a:schemeClr val="tx1"/>
                          </a:solidFill>
                          <a:prstDash val="solid"/>
                          <a:round/>
                          <a:headEnd type="none" w="med" len="med"/>
                          <a:tailEnd type="none" w="med" len="med"/>
                        </a:lnR>
                        <a:solidFill>
                          <a:srgbClr val="D4EAE4"/>
                        </a:solidFill>
                      </a:tcPr>
                    </a:tc>
                    <a:extLst>
                      <a:ext uri="{0D108BD9-81ED-4DB2-BD59-A6C34878D82A}">
                        <a16:rowId xmlns:a16="http://schemas.microsoft.com/office/drawing/2014/main" val="10007"/>
                      </a:ext>
                    </a:extLst>
                  </a:tr>
                </a:tbl>
              </a:graphicData>
            </a:graphic>
          </p:graphicFrame>
        </mc:Choice>
        <mc:Fallback xmlns="">
          <p:graphicFrame>
            <p:nvGraphicFramePr>
              <p:cNvPr id="8" name="Table"/>
              <p:cNvGraphicFramePr>
                <a:graphicFrameLocks/>
              </p:cNvGraphicFramePr>
              <p:nvPr>
                <p:extLst>
                  <p:ext uri="{D42A27DB-BD31-4B8C-83A1-F6EECF244321}">
                    <p14:modId xmlns:p14="http://schemas.microsoft.com/office/powerpoint/2010/main" val="227656862"/>
                  </p:ext>
                </p:extLst>
              </p:nvPr>
            </p:nvGraphicFramePr>
            <p:xfrm>
              <a:off x="863596" y="1603817"/>
              <a:ext cx="7340604" cy="4720783"/>
            </p:xfrm>
            <a:graphic>
              <a:graphicData uri="http://schemas.openxmlformats.org/drawingml/2006/table">
                <a:tbl>
                  <a:tblPr firstRow="1" bandRow="1">
                    <a:tableStyleId>{9D7B26C5-4107-4FEC-AEDC-1716B250A1EF}</a:tableStyleId>
                  </a:tblPr>
                  <a:tblGrid>
                    <a:gridCol w="2921004">
                      <a:extLst>
                        <a:ext uri="{9D8B030D-6E8A-4147-A177-3AD203B41FA5}">
                          <a16:colId xmlns:a16="http://schemas.microsoft.com/office/drawing/2014/main" val="20000"/>
                        </a:ext>
                      </a:extLst>
                    </a:gridCol>
                    <a:gridCol w="2159000">
                      <a:extLst>
                        <a:ext uri="{9D8B030D-6E8A-4147-A177-3AD203B41FA5}">
                          <a16:colId xmlns:a16="http://schemas.microsoft.com/office/drawing/2014/main" val="20001"/>
                        </a:ext>
                      </a:extLst>
                    </a:gridCol>
                    <a:gridCol w="2260600">
                      <a:extLst>
                        <a:ext uri="{9D8B030D-6E8A-4147-A177-3AD203B41FA5}">
                          <a16:colId xmlns:a16="http://schemas.microsoft.com/office/drawing/2014/main" val="20002"/>
                        </a:ext>
                      </a:extLst>
                    </a:gridCol>
                  </a:tblGrid>
                  <a:tr h="246037">
                    <a:tc>
                      <a:txBody>
                        <a:bodyPr/>
                        <a:lstStyle/>
                        <a:p>
                          <a:pPr algn="l"/>
                          <a:r>
                            <a:rPr lang="en-US" sz="1200" b="1" i="0" u="none" strike="noStrike" kern="1200" baseline="0" noProof="0">
                              <a:solidFill>
                                <a:schemeClr val="bg1"/>
                              </a:solidFill>
                              <a:latin typeface="Arial" panose="020B0604020202020204" pitchFamily="34" charset="0"/>
                              <a:ea typeface="+mn-ea"/>
                              <a:cs typeface="Arial" panose="020B0604020202020204" pitchFamily="34" charset="0"/>
                            </a:rPr>
                            <a:t>Method</a:t>
                          </a:r>
                        </a:p>
                      </a:txBody>
                      <a:tcPr marL="55990" marR="55990" marT="19179" marB="19179" anchor="ctr">
                        <a:lnL w="12700" cap="flat" cmpd="sng" algn="ctr">
                          <a:solidFill>
                            <a:schemeClr val="tx1"/>
                          </a:solidFill>
                          <a:prstDash val="solid"/>
                          <a:round/>
                          <a:headEnd type="none" w="med" len="med"/>
                          <a:tailEnd type="none" w="med" len="med"/>
                        </a:lnL>
                        <a:solidFill>
                          <a:srgbClr val="007FA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noProof="0" dirty="0">
                              <a:solidFill>
                                <a:schemeClr val="bg1"/>
                              </a:solidFill>
                              <a:latin typeface="Arial" panose="020B0604020202020204" pitchFamily="34" charset="0"/>
                              <a:ea typeface="+mn-ea"/>
                              <a:cs typeface="Arial" panose="020B0604020202020204" pitchFamily="34" charset="0"/>
                            </a:rPr>
                            <a:t>Advantage</a:t>
                          </a:r>
                          <a:endParaRPr lang="en-US" sz="1200" noProof="0" dirty="0">
                            <a:solidFill>
                              <a:schemeClr val="bg1"/>
                            </a:solidFill>
                            <a:latin typeface="Arial" panose="020B0604020202020204" pitchFamily="34" charset="0"/>
                            <a:cs typeface="Arial" panose="020B0604020202020204" pitchFamily="34" charset="0"/>
                          </a:endParaRPr>
                        </a:p>
                      </a:txBody>
                      <a:tcPr marL="55990" marR="55990" marT="19179" marB="19179" anchor="ctr">
                        <a:solidFill>
                          <a:srgbClr val="007FA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a:solidFill>
                                <a:schemeClr val="bg1"/>
                              </a:solidFill>
                              <a:latin typeface="Arial" panose="020B0604020202020204" pitchFamily="34" charset="0"/>
                              <a:cs typeface="Arial" panose="020B0604020202020204" pitchFamily="34" charset="0"/>
                            </a:rPr>
                            <a:t>Disadvantage</a:t>
                          </a:r>
                        </a:p>
                      </a:txBody>
                      <a:tcPr marL="55990" marR="55990" marT="19179" marB="19179" anchor="ctr">
                        <a:lnR w="12700" cap="flat" cmpd="sng" algn="ctr">
                          <a:solidFill>
                            <a:schemeClr val="tx1"/>
                          </a:solidFill>
                          <a:prstDash val="solid"/>
                          <a:round/>
                          <a:headEnd type="none" w="med" len="med"/>
                          <a:tailEnd type="none" w="med" len="med"/>
                        </a:lnR>
                        <a:solidFill>
                          <a:srgbClr val="007FA3"/>
                        </a:solidFill>
                      </a:tcPr>
                    </a:tc>
                    <a:extLst>
                      <a:ext uri="{0D108BD9-81ED-4DB2-BD59-A6C34878D82A}">
                        <a16:rowId xmlns:a16="http://schemas.microsoft.com/office/drawing/2014/main" val="3481463362"/>
                      </a:ext>
                    </a:extLst>
                  </a:tr>
                  <a:tr h="586998">
                    <a:tc>
                      <a:txBody>
                        <a:bodyPr/>
                        <a:lstStyle/>
                        <a:p>
                          <a:r>
                            <a:rPr lang="en-US" sz="1200" b="1" i="0" u="none" strike="noStrike" kern="1200" baseline="0" noProof="0">
                              <a:solidFill>
                                <a:schemeClr val="tx1"/>
                              </a:solidFill>
                              <a:latin typeface="Arial" panose="020B0604020202020204" pitchFamily="34" charset="0"/>
                              <a:ea typeface="+mn-ea"/>
                              <a:cs typeface="Arial" panose="020B0604020202020204" pitchFamily="34" charset="0"/>
                            </a:rPr>
                            <a:t>(A) WRITTEN ESSAY</a:t>
                          </a:r>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—descriptions of employee’s strengths and weaknesses</a:t>
                          </a:r>
                          <a:endParaRPr lang="en-US" sz="1200" noProof="0">
                            <a:latin typeface="Arial" panose="020B0604020202020204" pitchFamily="34" charset="0"/>
                            <a:cs typeface="Arial" panose="020B0604020202020204" pitchFamily="34" charset="0"/>
                          </a:endParaRPr>
                        </a:p>
                      </a:txBody>
                      <a:tcPr marL="55990" marR="55990" marT="19179" marB="19179" anchor="ctr">
                        <a:lnL w="12700" cap="flat" cmpd="sng" algn="ctr">
                          <a:solidFill>
                            <a:schemeClr val="tx1"/>
                          </a:solidFill>
                          <a:prstDash val="solid"/>
                          <a:round/>
                          <a:headEnd type="none" w="med" len="med"/>
                          <a:tailEnd type="none" w="med" len="med"/>
                        </a:lnL>
                        <a:solidFill>
                          <a:srgbClr val="D4EAE4"/>
                        </a:solidFill>
                      </a:tcPr>
                    </a:tc>
                    <a:tc>
                      <a:txBody>
                        <a:bodyPr/>
                        <a:lstStyle/>
                        <a:p>
                          <a:pPr algn="l"/>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Simple to use</a:t>
                          </a:r>
                          <a:endParaRPr lang="en-US" sz="1200" baseline="30000" noProof="0">
                            <a:latin typeface="Arial" panose="020B0604020202020204" pitchFamily="34" charset="0"/>
                            <a:cs typeface="Arial" panose="020B0604020202020204" pitchFamily="34" charset="0"/>
                          </a:endParaRPr>
                        </a:p>
                      </a:txBody>
                      <a:tcPr marL="55990" marR="55990" marT="19179" marB="19179" anchor="ctr">
                        <a:solidFill>
                          <a:srgbClr val="D4EAE4"/>
                        </a:solidFill>
                      </a:tcPr>
                    </a:tc>
                    <a:tc>
                      <a:txBody>
                        <a:bodyPr/>
                        <a:lstStyle/>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More a measure of evaluator’s writing ability than of employee’s actual performance</a:t>
                          </a:r>
                          <a:endParaRPr lang="en-US" sz="1200" noProof="0">
                            <a:latin typeface="Arial" panose="020B0604020202020204" pitchFamily="34" charset="0"/>
                            <a:cs typeface="Arial" panose="020B0604020202020204" pitchFamily="34" charset="0"/>
                          </a:endParaRPr>
                        </a:p>
                      </a:txBody>
                      <a:tcPr marL="55990" marR="55990" marT="19179" marB="19179" anchor="ctr">
                        <a:lnR w="12700" cap="flat" cmpd="sng" algn="ctr">
                          <a:solidFill>
                            <a:schemeClr val="tx1"/>
                          </a:solidFill>
                          <a:prstDash val="solid"/>
                          <a:round/>
                          <a:headEnd type="none" w="med" len="med"/>
                          <a:tailEnd type="none" w="med" len="med"/>
                        </a:lnR>
                        <a:solidFill>
                          <a:srgbClr val="D4EAE4"/>
                        </a:solidFill>
                      </a:tcPr>
                    </a:tc>
                    <a:extLst>
                      <a:ext uri="{0D108BD9-81ED-4DB2-BD59-A6C34878D82A}">
                        <a16:rowId xmlns:a16="http://schemas.microsoft.com/office/drawing/2014/main" val="10001"/>
                      </a:ext>
                    </a:extLst>
                  </a:tr>
                  <a:tr h="586998">
                    <a:tc>
                      <a:txBody>
                        <a:bodyPr/>
                        <a:lstStyle/>
                        <a:p>
                          <a:r>
                            <a:rPr lang="en-US" sz="1200" b="1" i="0" u="none" strike="noStrike" kern="1200" baseline="0" noProof="0" dirty="0">
                              <a:solidFill>
                                <a:schemeClr val="tx1"/>
                              </a:solidFill>
                              <a:latin typeface="Arial" panose="020B0604020202020204" pitchFamily="34" charset="0"/>
                              <a:ea typeface="+mn-ea"/>
                              <a:cs typeface="Arial" panose="020B0604020202020204" pitchFamily="34" charset="0"/>
                            </a:rPr>
                            <a:t>(B) CRITICAL INCIDENTS</a:t>
                          </a: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—examples of critical behaviors that were especially effective or ineffective</a:t>
                          </a:r>
                          <a:endParaRPr lang="en-US" sz="1200" noProof="0" dirty="0">
                            <a:latin typeface="Arial" panose="020B0604020202020204" pitchFamily="34" charset="0"/>
                            <a:cs typeface="Arial" panose="020B0604020202020204" pitchFamily="34" charset="0"/>
                          </a:endParaRPr>
                        </a:p>
                      </a:txBody>
                      <a:tcPr marL="55990" marR="55990" marT="19179" marB="19179" anchor="ctr">
                        <a:lnL w="12700" cap="flat" cmpd="sng" algn="ctr">
                          <a:solidFill>
                            <a:schemeClr val="tx1"/>
                          </a:solidFill>
                          <a:prstDash val="solid"/>
                          <a:round/>
                          <a:headEnd type="none" w="med" len="med"/>
                          <a:tailEnd type="none" w="med" len="med"/>
                        </a:lnL>
                        <a:solidFill>
                          <a:srgbClr val="D4EAE4"/>
                        </a:solidFill>
                      </a:tcPr>
                    </a:tc>
                    <a:tc>
                      <a:txBody>
                        <a:bodyPr/>
                        <a:lstStyle/>
                        <a:p>
                          <a:pPr algn="l"/>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Rich examples; behaviorally based</a:t>
                          </a:r>
                          <a:endParaRPr lang="en-US" sz="1200" noProof="0">
                            <a:latin typeface="Arial" panose="020B0604020202020204" pitchFamily="34" charset="0"/>
                            <a:cs typeface="Arial" panose="020B0604020202020204" pitchFamily="34" charset="0"/>
                          </a:endParaRPr>
                        </a:p>
                      </a:txBody>
                      <a:tcPr marL="55990" marR="55990" marT="19179" marB="19179" anchor="ctr">
                        <a:solidFill>
                          <a:srgbClr val="D4EAE4"/>
                        </a:solidFill>
                      </a:tcPr>
                    </a:tc>
                    <a:tc>
                      <a:txBody>
                        <a:bodyPr/>
                        <a:lstStyle/>
                        <a:p>
                          <a:pPr algn="l"/>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Time-consuming; lack quantification</a:t>
                          </a:r>
                          <a:endParaRPr lang="en-US" sz="1200" noProof="0">
                            <a:latin typeface="Arial" panose="020B0604020202020204" pitchFamily="34" charset="0"/>
                            <a:cs typeface="Arial" panose="020B0604020202020204" pitchFamily="34" charset="0"/>
                          </a:endParaRPr>
                        </a:p>
                      </a:txBody>
                      <a:tcPr marL="55990" marR="55990" marT="19179" marB="19179" anchor="ctr">
                        <a:lnR w="12700" cap="flat" cmpd="sng" algn="ctr">
                          <a:solidFill>
                            <a:schemeClr val="tx1"/>
                          </a:solidFill>
                          <a:prstDash val="solid"/>
                          <a:round/>
                          <a:headEnd type="none" w="med" len="med"/>
                          <a:tailEnd type="none" w="med" len="med"/>
                        </a:lnR>
                        <a:solidFill>
                          <a:srgbClr val="D4EAE4"/>
                        </a:solidFill>
                      </a:tcPr>
                    </a:tc>
                    <a:extLst>
                      <a:ext uri="{0D108BD9-81ED-4DB2-BD59-A6C34878D82A}">
                        <a16:rowId xmlns:a16="http://schemas.microsoft.com/office/drawing/2014/main" val="10002"/>
                      </a:ext>
                    </a:extLst>
                  </a:tr>
                  <a:tr h="1135638">
                    <a:tc>
                      <a:txBody>
                        <a:bodyPr/>
                        <a:lstStyle/>
                        <a:p>
                          <a:r>
                            <a:rPr lang="en-US" sz="1200" b="1" i="0" u="none" strike="noStrike" kern="1200" baseline="0" noProof="0" dirty="0">
                              <a:solidFill>
                                <a:schemeClr val="tx1"/>
                              </a:solidFill>
                              <a:latin typeface="Arial" panose="020B0604020202020204" pitchFamily="34" charset="0"/>
                              <a:ea typeface="+mn-ea"/>
                              <a:cs typeface="Arial" panose="020B0604020202020204" pitchFamily="34" charset="0"/>
                            </a:rPr>
                            <a:t>(C) ADJECTIVE RATING SCALES</a:t>
                          </a: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a:t>
                          </a: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lists descriptive performance factors (work quantity and quality, knowledge, cooperation, loyalty, attendance, honesty, initiative, and so forth) with numerical ratings</a:t>
                          </a:r>
                          <a:endParaRPr lang="en-US" sz="1200" noProof="0" dirty="0">
                            <a:latin typeface="Arial" panose="020B0604020202020204" pitchFamily="34" charset="0"/>
                            <a:cs typeface="Arial" panose="020B0604020202020204" pitchFamily="34" charset="0"/>
                          </a:endParaRPr>
                        </a:p>
                      </a:txBody>
                      <a:tcPr marL="55990" marR="55990" marT="19179" marB="19179" anchor="ctr">
                        <a:lnL w="12700" cap="flat" cmpd="sng" algn="ctr">
                          <a:solidFill>
                            <a:schemeClr val="tx1"/>
                          </a:solidFill>
                          <a:prstDash val="solid"/>
                          <a:round/>
                          <a:headEnd type="none" w="med" len="med"/>
                          <a:tailEnd type="none" w="med" len="med"/>
                        </a:lnL>
                        <a:solidFill>
                          <a:srgbClr val="D4EAE4"/>
                        </a:solidFill>
                      </a:tcPr>
                    </a:tc>
                    <a:tc>
                      <a:txBody>
                        <a:bodyPr/>
                        <a:lstStyle/>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Provide quantitative data; less</a:t>
                          </a:r>
                        </a:p>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time-consuming than others</a:t>
                          </a:r>
                          <a:endParaRPr lang="en-US" sz="1200" noProof="0">
                            <a:latin typeface="Arial" panose="020B0604020202020204" pitchFamily="34" charset="0"/>
                            <a:cs typeface="Arial" panose="020B0604020202020204" pitchFamily="34" charset="0"/>
                          </a:endParaRPr>
                        </a:p>
                      </a:txBody>
                      <a:tcPr marL="55990" marR="55990" marT="19179" marB="19179" anchor="ctr">
                        <a:solidFill>
                          <a:srgbClr val="D4EAE4"/>
                        </a:solidFill>
                      </a:tcPr>
                    </a:tc>
                    <a:tc>
                      <a:txBody>
                        <a:bodyPr/>
                        <a:lstStyle/>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Do not provide depth of job behavior assessed</a:t>
                          </a:r>
                          <a:endParaRPr lang="en-US" sz="1200" noProof="0">
                            <a:latin typeface="Arial" panose="020B0604020202020204" pitchFamily="34" charset="0"/>
                            <a:cs typeface="Arial" panose="020B0604020202020204" pitchFamily="34" charset="0"/>
                          </a:endParaRPr>
                        </a:p>
                      </a:txBody>
                      <a:tcPr marL="55990" marR="55990" marT="19179" marB="19179" anchor="ctr">
                        <a:lnR w="12700" cap="flat" cmpd="sng" algn="ctr">
                          <a:solidFill>
                            <a:schemeClr val="tx1"/>
                          </a:solidFill>
                          <a:prstDash val="solid"/>
                          <a:round/>
                          <a:headEnd type="none" w="med" len="med"/>
                          <a:tailEnd type="none" w="med" len="med"/>
                        </a:lnR>
                        <a:solidFill>
                          <a:srgbClr val="D4EAE4"/>
                        </a:solidFill>
                      </a:tcPr>
                    </a:tc>
                    <a:extLst>
                      <a:ext uri="{0D108BD9-81ED-4DB2-BD59-A6C34878D82A}">
                        <a16:rowId xmlns:a16="http://schemas.microsoft.com/office/drawing/2014/main" val="10003"/>
                      </a:ext>
                    </a:extLst>
                  </a:tr>
                  <a:tr h="586998">
                    <a:tc>
                      <a:txBody>
                        <a:bodyPr/>
                        <a:lstStyle/>
                        <a:p>
                          <a:endParaRPr lang="en-US"/>
                        </a:p>
                      </a:txBody>
                      <a:tcPr marL="55990" marR="55990" marT="19179" marB="19179" anchor="ctr">
                        <a:lnL w="12700" cap="flat" cmpd="sng" algn="ctr">
                          <a:solidFill>
                            <a:schemeClr val="tx1"/>
                          </a:solidFill>
                          <a:prstDash val="solid"/>
                          <a:round/>
                          <a:headEnd type="none" w="med" len="med"/>
                          <a:tailEnd type="none" w="med" len="med"/>
                        </a:lnL>
                        <a:blipFill>
                          <a:blip r:embed="rId4"/>
                          <a:stretch>
                            <a:fillRect l="-209" t="-441667" r="-151983" b="-281250"/>
                          </a:stretch>
                        </a:blipFill>
                      </a:tcPr>
                    </a:tc>
                    <a:tc>
                      <a:txBody>
                        <a:bodyPr/>
                        <a:lstStyle/>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Focus on specific and measurable</a:t>
                          </a:r>
                        </a:p>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job behaviors</a:t>
                          </a:r>
                          <a:endParaRPr lang="en-US" sz="1200" noProof="0">
                            <a:latin typeface="Arial" panose="020B0604020202020204" pitchFamily="34" charset="0"/>
                            <a:cs typeface="Arial" panose="020B0604020202020204" pitchFamily="34" charset="0"/>
                          </a:endParaRPr>
                        </a:p>
                      </a:txBody>
                      <a:tcPr marL="55990" marR="55990" marT="19179" marB="19179" anchor="ctr">
                        <a:solidFill>
                          <a:srgbClr val="D4EAE4"/>
                        </a:solidFill>
                      </a:tcPr>
                    </a:tc>
                    <a:tc>
                      <a:txBody>
                        <a:bodyPr/>
                        <a:lstStyle/>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Time-consuming; difficult to develop</a:t>
                          </a:r>
                        </a:p>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measures</a:t>
                          </a:r>
                          <a:endParaRPr lang="en-US" sz="1200" noProof="0">
                            <a:latin typeface="Arial" panose="020B0604020202020204" pitchFamily="34" charset="0"/>
                            <a:cs typeface="Arial" panose="020B0604020202020204" pitchFamily="34" charset="0"/>
                          </a:endParaRPr>
                        </a:p>
                      </a:txBody>
                      <a:tcPr marL="55990" marR="55990" marT="19179" marB="19179" anchor="ctr">
                        <a:lnR w="12700" cap="flat" cmpd="sng" algn="ctr">
                          <a:solidFill>
                            <a:schemeClr val="tx1"/>
                          </a:solidFill>
                          <a:prstDash val="solid"/>
                          <a:round/>
                          <a:headEnd type="none" w="med" len="med"/>
                          <a:tailEnd type="none" w="med" len="med"/>
                        </a:lnR>
                        <a:solidFill>
                          <a:srgbClr val="D4EAE4"/>
                        </a:solidFill>
                      </a:tcPr>
                    </a:tc>
                    <a:extLst>
                      <a:ext uri="{0D108BD9-81ED-4DB2-BD59-A6C34878D82A}">
                        <a16:rowId xmlns:a16="http://schemas.microsoft.com/office/drawing/2014/main" val="10004"/>
                      </a:ext>
                    </a:extLst>
                  </a:tr>
                  <a:tr h="404118">
                    <a:tc>
                      <a:txBody>
                        <a:bodyPr/>
                        <a:lstStyle/>
                        <a:p>
                          <a:r>
                            <a:rPr lang="en-US" sz="1200" b="1" i="0" u="none" strike="noStrike" kern="1200" baseline="0" noProof="0">
                              <a:solidFill>
                                <a:schemeClr val="tx1"/>
                              </a:solidFill>
                              <a:latin typeface="Arial" panose="020B0604020202020204" pitchFamily="34" charset="0"/>
                              <a:ea typeface="+mn-ea"/>
                              <a:cs typeface="Arial" panose="020B0604020202020204" pitchFamily="34" charset="0"/>
                            </a:rPr>
                            <a:t>(E) MBO</a:t>
                          </a:r>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—evaluation of accomplishment of specific goals</a:t>
                          </a:r>
                          <a:endParaRPr lang="en-US" sz="1200" noProof="0">
                            <a:latin typeface="Arial" panose="020B0604020202020204" pitchFamily="34" charset="0"/>
                            <a:cs typeface="Arial" panose="020B0604020202020204" pitchFamily="34" charset="0"/>
                          </a:endParaRPr>
                        </a:p>
                      </a:txBody>
                      <a:tcPr marL="55990" marR="55990" marT="19179" marB="19179" anchor="ctr">
                        <a:lnL w="12700" cap="flat" cmpd="sng" algn="ctr">
                          <a:solidFill>
                            <a:schemeClr val="tx1"/>
                          </a:solidFill>
                          <a:prstDash val="solid"/>
                          <a:round/>
                          <a:headEnd type="none" w="med" len="med"/>
                          <a:tailEnd type="none" w="med" len="med"/>
                        </a:lnL>
                        <a:solidFill>
                          <a:srgbClr val="D4EAE4"/>
                        </a:solidFill>
                      </a:tcPr>
                    </a:tc>
                    <a:tc>
                      <a:txBody>
                        <a:bodyPr/>
                        <a:lstStyle/>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Focuses on end goals; results</a:t>
                          </a:r>
                        </a:p>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oriented</a:t>
                          </a:r>
                          <a:endParaRPr lang="en-US" sz="1200" noProof="0">
                            <a:latin typeface="Arial" panose="020B0604020202020204" pitchFamily="34" charset="0"/>
                            <a:cs typeface="Arial" panose="020B0604020202020204" pitchFamily="34" charset="0"/>
                          </a:endParaRPr>
                        </a:p>
                      </a:txBody>
                      <a:tcPr marL="55990" marR="55990" marT="19179" marB="19179" anchor="ctr">
                        <a:solidFill>
                          <a:srgbClr val="D4EAE4"/>
                        </a:solidFill>
                      </a:tcPr>
                    </a:tc>
                    <a:tc>
                      <a:txBody>
                        <a:bodyPr/>
                        <a:lstStyle/>
                        <a:p>
                          <a:pPr algn="l"/>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Time-consuming</a:t>
                          </a:r>
                          <a:endParaRPr lang="en-US" sz="1200" noProof="0">
                            <a:latin typeface="Arial" panose="020B0604020202020204" pitchFamily="34" charset="0"/>
                            <a:cs typeface="Arial" panose="020B0604020202020204" pitchFamily="34" charset="0"/>
                          </a:endParaRPr>
                        </a:p>
                      </a:txBody>
                      <a:tcPr marL="55990" marR="55990" marT="19179" marB="19179" anchor="ctr">
                        <a:lnR w="12700" cap="flat" cmpd="sng" algn="ctr">
                          <a:solidFill>
                            <a:schemeClr val="tx1"/>
                          </a:solidFill>
                          <a:prstDash val="solid"/>
                          <a:round/>
                          <a:headEnd type="none" w="med" len="med"/>
                          <a:tailEnd type="none" w="med" len="med"/>
                        </a:lnR>
                        <a:solidFill>
                          <a:srgbClr val="D4EAE4"/>
                        </a:solidFill>
                      </a:tcPr>
                    </a:tc>
                    <a:extLst>
                      <a:ext uri="{0D108BD9-81ED-4DB2-BD59-A6C34878D82A}">
                        <a16:rowId xmlns:a16="http://schemas.microsoft.com/office/drawing/2014/main" val="10005"/>
                      </a:ext>
                    </a:extLst>
                  </a:tr>
                  <a:tr h="586998">
                    <a:tc>
                      <a:txBody>
                        <a:bodyPr/>
                        <a:lstStyle/>
                        <a:p>
                          <a:r>
                            <a:rPr lang="en-US" sz="1200" b="1" i="0" u="none" strike="noStrike" kern="1200" baseline="0" noProof="0" dirty="0">
                              <a:solidFill>
                                <a:schemeClr val="tx1"/>
                              </a:solidFill>
                              <a:latin typeface="Arial" panose="020B0604020202020204" pitchFamily="34" charset="0"/>
                              <a:ea typeface="+mn-ea"/>
                              <a:cs typeface="Arial" panose="020B0604020202020204" pitchFamily="34" charset="0"/>
                            </a:rPr>
                            <a:t>(F) </a:t>
                          </a:r>
                          <a:r>
                            <a:rPr lang="en-US" sz="100" b="1" i="0" u="none" strike="noStrike" kern="1200" baseline="0" noProof="0" dirty="0">
                              <a:solidFill>
                                <a:schemeClr val="tx1"/>
                              </a:solidFill>
                              <a:latin typeface="Arial" panose="020B0604020202020204" pitchFamily="34" charset="0"/>
                              <a:ea typeface="+mn-ea"/>
                              <a:cs typeface="Arial" panose="020B0604020202020204" pitchFamily="34" charset="0"/>
                            </a:rPr>
                            <a:t>360-degree appraisal super 40</a:t>
                          </a: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—feedback from full circle of those who interact with employee</a:t>
                          </a:r>
                          <a:endParaRPr lang="en-US" sz="1200" noProof="0" dirty="0">
                            <a:latin typeface="Arial" panose="020B0604020202020204" pitchFamily="34" charset="0"/>
                            <a:cs typeface="Arial" panose="020B0604020202020204" pitchFamily="34" charset="0"/>
                          </a:endParaRPr>
                        </a:p>
                      </a:txBody>
                      <a:tcPr marL="55990" marR="55990" marT="19179" marB="19179" anchor="ctr">
                        <a:lnL w="12700" cap="flat" cmpd="sng" algn="ctr">
                          <a:solidFill>
                            <a:schemeClr val="tx1"/>
                          </a:solidFill>
                          <a:prstDash val="solid"/>
                          <a:round/>
                          <a:headEnd type="none" w="med" len="med"/>
                          <a:tailEnd type="none" w="med" len="med"/>
                        </a:lnL>
                        <a:solidFill>
                          <a:srgbClr val="D4EAE4"/>
                        </a:solidFill>
                      </a:tcPr>
                    </a:tc>
                    <a:tc>
                      <a:txBody>
                        <a:bodyPr/>
                        <a:lstStyle/>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More thorough</a:t>
                          </a:r>
                          <a:endParaRPr lang="en-US" sz="1200" noProof="0">
                            <a:latin typeface="Arial" panose="020B0604020202020204" pitchFamily="34" charset="0"/>
                            <a:cs typeface="Arial" panose="020B0604020202020204" pitchFamily="34" charset="0"/>
                          </a:endParaRPr>
                        </a:p>
                      </a:txBody>
                      <a:tcPr marL="55990" marR="55990" marT="19179" marB="19179" anchor="ctr">
                        <a:solidFill>
                          <a:srgbClr val="D4EAE4"/>
                        </a:solidFill>
                      </a:tcPr>
                    </a:tc>
                    <a:tc>
                      <a:txBody>
                        <a:bodyPr/>
                        <a:lstStyle/>
                        <a:p>
                          <a:pPr algn="l"/>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Time-consuming</a:t>
                          </a:r>
                          <a:endParaRPr lang="en-US" sz="1200" noProof="0">
                            <a:latin typeface="Arial" panose="020B0604020202020204" pitchFamily="34" charset="0"/>
                            <a:cs typeface="Arial" panose="020B0604020202020204" pitchFamily="34" charset="0"/>
                          </a:endParaRPr>
                        </a:p>
                      </a:txBody>
                      <a:tcPr marL="55990" marR="55990" marT="19179" marB="19179" anchor="ctr">
                        <a:lnR w="12700" cap="flat" cmpd="sng" algn="ctr">
                          <a:solidFill>
                            <a:schemeClr val="tx1"/>
                          </a:solidFill>
                          <a:prstDash val="solid"/>
                          <a:round/>
                          <a:headEnd type="none" w="med" len="med"/>
                          <a:tailEnd type="none" w="med" len="med"/>
                        </a:lnR>
                        <a:solidFill>
                          <a:srgbClr val="D4EAE4"/>
                        </a:solidFill>
                      </a:tcPr>
                    </a:tc>
                    <a:extLst>
                      <a:ext uri="{0D108BD9-81ED-4DB2-BD59-A6C34878D82A}">
                        <a16:rowId xmlns:a16="http://schemas.microsoft.com/office/drawing/2014/main" val="10006"/>
                      </a:ext>
                    </a:extLst>
                  </a:tr>
                  <a:tr h="586998">
                    <a:tc>
                      <a:txBody>
                        <a:bodyPr/>
                        <a:lstStyle/>
                        <a:p>
                          <a:r>
                            <a:rPr lang="en-US" sz="1200" b="1" i="0" u="none" strike="noStrike" kern="1200" baseline="0" noProof="0">
                              <a:solidFill>
                                <a:schemeClr val="tx1"/>
                              </a:solidFill>
                              <a:latin typeface="Arial" panose="020B0604020202020204" pitchFamily="34" charset="0"/>
                              <a:ea typeface="+mn-ea"/>
                              <a:cs typeface="Arial" panose="020B0604020202020204" pitchFamily="34" charset="0"/>
                            </a:rPr>
                            <a:t>(G) MULTIPERSON</a:t>
                          </a:r>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—evaluation comparison of work group</a:t>
                          </a:r>
                          <a:endParaRPr lang="en-US" sz="1200" noProof="0">
                            <a:latin typeface="Arial" panose="020B0604020202020204" pitchFamily="34" charset="0"/>
                            <a:cs typeface="Arial" panose="020B0604020202020204" pitchFamily="34" charset="0"/>
                          </a:endParaRPr>
                        </a:p>
                      </a:txBody>
                      <a:tcPr marL="55990" marR="55990" marT="19179" marB="19179" anchor="ctr">
                        <a:lnL w="12700" cap="flat" cmpd="sng" algn="ctr">
                          <a:solidFill>
                            <a:schemeClr val="tx1"/>
                          </a:solidFill>
                          <a:prstDash val="solid"/>
                          <a:round/>
                          <a:headEnd type="none" w="med" len="med"/>
                          <a:tailEnd type="none" w="med" len="med"/>
                        </a:lnL>
                        <a:solidFill>
                          <a:srgbClr val="D4EAE4"/>
                        </a:solidFill>
                      </a:tcPr>
                    </a:tc>
                    <a:tc>
                      <a:txBody>
                        <a:bodyPr/>
                        <a:lstStyle/>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Compares employees with one</a:t>
                          </a:r>
                        </a:p>
                        <a:p>
                          <a:r>
                            <a:rPr lang="en-US" sz="1200" b="0" i="0" u="none" strike="noStrike" kern="1200" baseline="0" noProof="0">
                              <a:solidFill>
                                <a:schemeClr val="tx1"/>
                              </a:solidFill>
                              <a:latin typeface="Arial" panose="020B0604020202020204" pitchFamily="34" charset="0"/>
                              <a:ea typeface="+mn-ea"/>
                              <a:cs typeface="Arial" panose="020B0604020202020204" pitchFamily="34" charset="0"/>
                            </a:rPr>
                            <a:t>another</a:t>
                          </a:r>
                          <a:endParaRPr lang="en-US" sz="1200" noProof="0">
                            <a:latin typeface="Arial" panose="020B0604020202020204" pitchFamily="34" charset="0"/>
                            <a:cs typeface="Arial" panose="020B0604020202020204" pitchFamily="34" charset="0"/>
                          </a:endParaRPr>
                        </a:p>
                      </a:txBody>
                      <a:tcPr marL="55990" marR="55990" marT="19179" marB="19179" anchor="ctr">
                        <a:solidFill>
                          <a:srgbClr val="D4EAE4"/>
                        </a:solidFill>
                      </a:tcPr>
                    </a:tc>
                    <a:tc>
                      <a:txBody>
                        <a:bodyPr/>
                        <a:lstStyle/>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Unwieldy with large number of</a:t>
                          </a: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employees</a:t>
                          </a:r>
                          <a:endParaRPr lang="en-US" sz="1200" noProof="0" dirty="0">
                            <a:latin typeface="Arial" panose="020B0604020202020204" pitchFamily="34" charset="0"/>
                            <a:cs typeface="Arial" panose="020B0604020202020204" pitchFamily="34" charset="0"/>
                          </a:endParaRPr>
                        </a:p>
                      </a:txBody>
                      <a:tcPr marL="55990" marR="55990" marT="19179" marB="19179" anchor="ctr">
                        <a:lnR w="12700" cap="flat" cmpd="sng" algn="ctr">
                          <a:solidFill>
                            <a:schemeClr val="tx1"/>
                          </a:solidFill>
                          <a:prstDash val="solid"/>
                          <a:round/>
                          <a:headEnd type="none" w="med" len="med"/>
                          <a:tailEnd type="none" w="med" len="med"/>
                        </a:lnR>
                        <a:solidFill>
                          <a:srgbClr val="D4EAE4"/>
                        </a:solidFill>
                      </a:tcPr>
                    </a:tc>
                    <a:extLst>
                      <a:ext uri="{0D108BD9-81ED-4DB2-BD59-A6C34878D82A}">
                        <a16:rowId xmlns:a16="http://schemas.microsoft.com/office/drawing/2014/main" val="10007"/>
                      </a:ext>
                    </a:extLst>
                  </a:tr>
                </a:tbl>
              </a:graphicData>
            </a:graphic>
          </p:graphicFrame>
        </mc:Fallback>
      </mc:AlternateContent>
      <p:graphicFrame>
        <p:nvGraphicFramePr>
          <p:cNvPr id="5" name="Object 4">
            <a:extLst>
              <a:ext uri="{FF2B5EF4-FFF2-40B4-BE49-F238E27FC236}">
                <a16:creationId xmlns:a16="http://schemas.microsoft.com/office/drawing/2014/main" id="{E91380DF-A5F8-45D7-AC52-4FBBB4955C78}"/>
              </a:ext>
              <a:ext uri="{C183D7F6-B498-43B3-948B-1728B52AA6E4}">
                <adec:decorative xmlns:adec="http://schemas.microsoft.com/office/drawing/2017/decorative" val="1"/>
              </a:ext>
            </a:extLst>
          </p:cNvPr>
          <p:cNvGraphicFramePr>
            <a:graphicFrameLocks noGrp="1" noChangeAspect="1"/>
          </p:cNvGraphicFramePr>
          <p:nvPr>
            <p:extLst>
              <p:ext uri="{D42A27DB-BD31-4B8C-83A1-F6EECF244321}">
                <p14:modId xmlns:p14="http://schemas.microsoft.com/office/powerpoint/2010/main" val="177670730"/>
              </p:ext>
            </p:extLst>
          </p:nvPr>
        </p:nvGraphicFramePr>
        <p:xfrm>
          <a:off x="1143000" y="5147257"/>
          <a:ext cx="1502222" cy="213853"/>
        </p:xfrm>
        <a:graphic>
          <a:graphicData uri="http://schemas.openxmlformats.org/presentationml/2006/ole">
            <mc:AlternateContent xmlns:mc="http://schemas.openxmlformats.org/markup-compatibility/2006">
              <mc:Choice xmlns:v="urn:schemas-microsoft-com:vml" Requires="v">
                <p:oleObj name="Equation" r:id="rId5" imgW="1612800" imgH="228600" progId="Equation.DSMT4">
                  <p:embed/>
                </p:oleObj>
              </mc:Choice>
              <mc:Fallback>
                <p:oleObj name="Equation" r:id="rId5" imgW="1612800" imgH="228600" progId="Equation.DSMT4">
                  <p:embed/>
                  <p:pic>
                    <p:nvPicPr>
                      <p:cNvPr id="6" name="Object 5">
                        <a:extLst>
                          <a:ext uri="{FF2B5EF4-FFF2-40B4-BE49-F238E27FC236}">
                            <a16:creationId xmlns:a16="http://schemas.microsoft.com/office/drawing/2014/main" id="{27EBAD86-BC21-41AA-923C-996D2E6826A6}"/>
                          </a:ext>
                          <a:ext uri="{C183D7F6-B498-43B3-948B-1728B52AA6E4}">
                            <adec:decorative xmlns:adec="http://schemas.microsoft.com/office/drawing/2017/decorative" val="1"/>
                          </a:ext>
                        </a:extLst>
                      </p:cNvPr>
                      <p:cNvPicPr>
                        <a:picLocks noGrp="1" noChangeAspect="1" noChangeArrowheads="1"/>
                      </p:cNvPicPr>
                      <p:nvPr/>
                    </p:nvPicPr>
                    <p:blipFill>
                      <a:blip r:embed="rId6"/>
                      <a:srcRect/>
                      <a:stretch>
                        <a:fillRect/>
                      </a:stretch>
                    </p:blipFill>
                    <p:spPr bwMode="auto">
                      <a:xfrm>
                        <a:off x="1143000" y="5147257"/>
                        <a:ext cx="1502222" cy="213853"/>
                      </a:xfrm>
                      <a:prstGeom prst="rect">
                        <a:avLst/>
                      </a:prstGeom>
                      <a:solidFill>
                        <a:srgbClr val="D4EAE4"/>
                      </a:solidFill>
                      <a:ln>
                        <a:noFill/>
                      </a:ln>
                    </p:spPr>
                  </p:pic>
                </p:oleObj>
              </mc:Fallback>
            </mc:AlternateContent>
          </a:graphicData>
        </a:graphic>
      </p:graphicFrame>
      <p:graphicFrame>
        <p:nvGraphicFramePr>
          <p:cNvPr id="6" name="Object 5">
            <a:extLst>
              <a:ext uri="{FF2B5EF4-FFF2-40B4-BE49-F238E27FC236}">
                <a16:creationId xmlns:a16="http://schemas.microsoft.com/office/drawing/2014/main" id="{697ECAC8-F510-4A96-8A6B-488DE4CFA8F9}"/>
              </a:ext>
              <a:ext uri="{C183D7F6-B498-43B3-948B-1728B52AA6E4}">
                <adec:decorative xmlns:adec="http://schemas.microsoft.com/office/drawing/2017/decorative" val="1"/>
              </a:ext>
            </a:extLst>
          </p:cNvPr>
          <p:cNvGraphicFramePr>
            <a:graphicFrameLocks noGrp="1" noChangeAspect="1"/>
          </p:cNvGraphicFramePr>
          <p:nvPr>
            <p:extLst>
              <p:ext uri="{D42A27DB-BD31-4B8C-83A1-F6EECF244321}">
                <p14:modId xmlns:p14="http://schemas.microsoft.com/office/powerpoint/2010/main" val="710178859"/>
              </p:ext>
            </p:extLst>
          </p:nvPr>
        </p:nvGraphicFramePr>
        <p:xfrm>
          <a:off x="1627023" y="4438650"/>
          <a:ext cx="949960" cy="209550"/>
        </p:xfrm>
        <a:graphic>
          <a:graphicData uri="http://schemas.openxmlformats.org/presentationml/2006/ole">
            <mc:AlternateContent xmlns:mc="http://schemas.openxmlformats.org/markup-compatibility/2006">
              <mc:Choice xmlns:v="urn:schemas-microsoft-com:vml" Requires="v">
                <p:oleObj name="Equation" r:id="rId7" imgW="927000" imgH="203040" progId="Equation.DSMT4">
                  <p:embed/>
                </p:oleObj>
              </mc:Choice>
              <mc:Fallback>
                <p:oleObj name="Equation" r:id="rId7" imgW="927000" imgH="203040" progId="Equation.DSMT4">
                  <p:embed/>
                  <p:pic>
                    <p:nvPicPr>
                      <p:cNvPr id="5" name="Object 4">
                        <a:extLst>
                          <a:ext uri="{FF2B5EF4-FFF2-40B4-BE49-F238E27FC236}">
                            <a16:creationId xmlns:a16="http://schemas.microsoft.com/office/drawing/2014/main" id="{E91380DF-A5F8-45D7-AC52-4FBBB4955C78}"/>
                          </a:ext>
                          <a:ext uri="{C183D7F6-B498-43B3-948B-1728B52AA6E4}">
                            <adec:decorative xmlns:adec="http://schemas.microsoft.com/office/drawing/2017/decorative" val="1"/>
                          </a:ext>
                        </a:extLst>
                      </p:cNvPr>
                      <p:cNvPicPr>
                        <a:picLocks noGrp="1" noChangeAspect="1" noChangeArrowheads="1"/>
                      </p:cNvPicPr>
                      <p:nvPr/>
                    </p:nvPicPr>
                    <p:blipFill>
                      <a:blip r:embed="rId8"/>
                      <a:srcRect/>
                      <a:stretch>
                        <a:fillRect/>
                      </a:stretch>
                    </p:blipFill>
                    <p:spPr bwMode="auto">
                      <a:xfrm>
                        <a:off x="1627023" y="4438650"/>
                        <a:ext cx="949960" cy="209550"/>
                      </a:xfrm>
                      <a:prstGeom prst="rect">
                        <a:avLst/>
                      </a:prstGeom>
                      <a:solidFill>
                        <a:srgbClr val="D4EAE4"/>
                      </a:solidFill>
                      <a:ln>
                        <a:noFill/>
                      </a:ln>
                    </p:spPr>
                  </p:pic>
                </p:oleObj>
              </mc:Fallback>
            </mc:AlternateContent>
          </a:graphicData>
        </a:graphic>
      </p:graphicFrame>
    </p:spTree>
    <p:extLst>
      <p:ext uri="{BB962C8B-B14F-4D97-AF65-F5344CB8AC3E}">
        <p14:creationId xmlns:p14="http://schemas.microsoft.com/office/powerpoint/2010/main" val="15124964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0400"/>
            <a:ext cx="8229600" cy="1144347"/>
          </a:xfrm>
        </p:spPr>
        <p:txBody>
          <a:bodyPr wrap="square" tIns="18000" bIns="18000" anchor="t" anchorCtr="0">
            <a:spAutoFit/>
          </a:bodyPr>
          <a:lstStyle/>
          <a:p>
            <a:r>
              <a:rPr lang="en-US" altLang="en-US" sz="3600" dirty="0">
                <a:solidFill>
                  <a:schemeClr val="bg2"/>
                </a:solidFill>
                <a:latin typeface="+mj-lt"/>
                <a:cs typeface="Arial" pitchFamily="34" charset="0"/>
              </a:rPr>
              <a:t>Issues with Performance Evaluation Systems</a:t>
            </a:r>
            <a:endParaRPr lang="en-US" dirty="0">
              <a:solidFill>
                <a:schemeClr val="bg2"/>
              </a:solidFill>
              <a:latin typeface="+mj-lt"/>
            </a:endParaRPr>
          </a:p>
        </p:txBody>
      </p:sp>
      <p:sp>
        <p:nvSpPr>
          <p:cNvPr id="3" name="Content Placeholder 2"/>
          <p:cNvSpPr>
            <a:spLocks noGrp="1"/>
          </p:cNvSpPr>
          <p:nvPr>
            <p:ph sz="quarter" idx="13"/>
          </p:nvPr>
        </p:nvSpPr>
        <p:spPr>
          <a:xfrm>
            <a:off x="457200" y="1721472"/>
            <a:ext cx="8153400" cy="1859928"/>
          </a:xfrm>
        </p:spPr>
        <p:txBody>
          <a:bodyPr wrap="square" tIns="18000" bIns="18000">
            <a:spAutoFit/>
          </a:bodyPr>
          <a:lstStyle/>
          <a:p>
            <a:pPr marL="355600" indent="-355600">
              <a:buSzPct val="100000"/>
            </a:pPr>
            <a:r>
              <a:rPr lang="en-US" sz="2400" b="1" dirty="0">
                <a:latin typeface="Arial" panose="020B0604020202020204" pitchFamily="34" charset="0"/>
                <a:cs typeface="Arial" panose="020B0604020202020204" pitchFamily="34" charset="0"/>
              </a:rPr>
              <a:t>Systems may be outdated due to:</a:t>
            </a:r>
          </a:p>
          <a:p>
            <a:pPr marL="804863" lvl="1" indent="-354013">
              <a:buSzPct val="100000"/>
            </a:pPr>
            <a:r>
              <a:rPr lang="en-US" sz="2400" dirty="0">
                <a:latin typeface="Arial" panose="020B0604020202020204" pitchFamily="34" charset="0"/>
                <a:cs typeface="Arial" panose="020B0604020202020204" pitchFamily="34" charset="0"/>
              </a:rPr>
              <a:t>Downsizing</a:t>
            </a:r>
          </a:p>
          <a:p>
            <a:pPr marL="804863" lvl="1" indent="-354013">
              <a:buSzPct val="100000"/>
            </a:pPr>
            <a:r>
              <a:rPr lang="en-US" sz="2400" dirty="0">
                <a:latin typeface="Arial" panose="020B0604020202020204" pitchFamily="34" charset="0"/>
                <a:cs typeface="Arial" panose="020B0604020202020204" pitchFamily="34" charset="0"/>
              </a:rPr>
              <a:t>Project teams</a:t>
            </a:r>
          </a:p>
          <a:p>
            <a:pPr marL="355600" indent="-355600">
              <a:buSzPct val="100000"/>
            </a:pPr>
            <a:r>
              <a:rPr lang="en-US" sz="2400" b="1" dirty="0">
                <a:latin typeface="Arial" panose="020B0604020202020204" pitchFamily="34" charset="0"/>
                <a:cs typeface="Arial" panose="020B0604020202020204" pitchFamily="34" charset="0"/>
              </a:rPr>
              <a:t>When an employee’s performance is not up to par</a:t>
            </a:r>
          </a:p>
        </p:txBody>
      </p:sp>
      <p:pic>
        <p:nvPicPr>
          <p:cNvPr id="12" name="Picture Placeholder 11" descr="An illustration shows four stick figures. A hand is on one of the figures, reducing its height.">
            <a:extLst>
              <a:ext uri="{FF2B5EF4-FFF2-40B4-BE49-F238E27FC236}">
                <a16:creationId xmlns:a16="http://schemas.microsoft.com/office/drawing/2014/main" id="{1E721314-E423-41FF-99E1-8E8BF7D58FED}"/>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798394" y="3928125"/>
            <a:ext cx="3974592" cy="1901952"/>
          </a:xfrm>
        </p:spPr>
      </p:pic>
      <p:pic>
        <p:nvPicPr>
          <p:cNvPr id="14" name="Picture Placeholder 13" descr="A photo shows a pair of scissors cutting a strip of paper with text Jobs.">
            <a:extLst>
              <a:ext uri="{FF2B5EF4-FFF2-40B4-BE49-F238E27FC236}">
                <a16:creationId xmlns:a16="http://schemas.microsoft.com/office/drawing/2014/main" id="{F0B4DAE9-53D9-4B31-B11A-2243B2495961}"/>
              </a:ext>
            </a:extLst>
          </p:cNvPr>
          <p:cNvPicPr>
            <a:picLocks noGrp="1" noChangeAspect="1"/>
          </p:cNvPicPr>
          <p:nvPr>
            <p:ph type="pic" sz="quarter" idx="16"/>
          </p:nvPr>
        </p:nvPicPr>
        <p:blipFill>
          <a:blip r:embed="rId4">
            <a:extLst>
              <a:ext uri="{28A0092B-C50C-407E-A947-70E740481C1C}">
                <a14:useLocalDpi xmlns:a14="http://schemas.microsoft.com/office/drawing/2010/main" val="0"/>
              </a:ext>
            </a:extLst>
          </a:blip>
          <a:stretch>
            <a:fillRect/>
          </a:stretch>
        </p:blipFill>
        <p:spPr>
          <a:xfrm>
            <a:off x="5334000" y="3647709"/>
            <a:ext cx="2706624" cy="2462784"/>
          </a:xfrm>
        </p:spPr>
      </p:pic>
    </p:spTree>
    <p:extLst>
      <p:ext uri="{BB962C8B-B14F-4D97-AF65-F5344CB8AC3E}">
        <p14:creationId xmlns:p14="http://schemas.microsoft.com/office/powerpoint/2010/main" val="35662421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153400" cy="590349"/>
          </a:xfrm>
        </p:spPr>
        <p:txBody>
          <a:bodyPr wrap="square" tIns="18000" bIns="18000">
            <a:spAutoFit/>
          </a:bodyPr>
          <a:lstStyle/>
          <a:p>
            <a:r>
              <a:rPr lang="en-US" sz="3600">
                <a:latin typeface="+mj-lt"/>
                <a:ea typeface="ＭＳ Ｐゴシック" panose="020B0600070205080204" pitchFamily="34" charset="-128"/>
                <a:cs typeface="Arial" panose="020B0604020202020204" pitchFamily="34" charset="0"/>
              </a:rPr>
              <a:t>Compensating Employees</a:t>
            </a:r>
            <a:endParaRPr lang="en-US" sz="3600">
              <a:latin typeface="+mj-lt"/>
            </a:endParaRPr>
          </a:p>
        </p:txBody>
      </p:sp>
      <p:sp>
        <p:nvSpPr>
          <p:cNvPr id="3" name="Content Placeholder 2"/>
          <p:cNvSpPr>
            <a:spLocks noGrp="1"/>
          </p:cNvSpPr>
          <p:nvPr>
            <p:ph sz="quarter" idx="13"/>
          </p:nvPr>
        </p:nvSpPr>
        <p:spPr>
          <a:xfrm>
            <a:off x="457200" y="1042117"/>
            <a:ext cx="8077200" cy="282573"/>
          </a:xfrm>
        </p:spPr>
        <p:txBody>
          <a:bodyPr tIns="18000" bIns="18000">
            <a:spAutoFit/>
          </a:bodyPr>
          <a:lstStyle/>
          <a:p>
            <a:pPr marL="0" indent="0">
              <a:buNone/>
            </a:pPr>
            <a:r>
              <a:rPr lang="en-US" b="1" dirty="0">
                <a:latin typeface="Arial" panose="020B0604020202020204" pitchFamily="34" charset="0"/>
                <a:cs typeface="Arial" panose="020B0604020202020204" pitchFamily="34" charset="0"/>
              </a:rPr>
              <a:t>Exhibit 9.9 </a:t>
            </a:r>
            <a:r>
              <a:rPr lang="en-US" dirty="0">
                <a:latin typeface="Arial" panose="020B0604020202020204" pitchFamily="34" charset="0"/>
                <a:cs typeface="Arial" panose="020B0604020202020204" pitchFamily="34" charset="0"/>
              </a:rPr>
              <a:t>What Determines Pay and Benefits?</a:t>
            </a:r>
          </a:p>
        </p:txBody>
      </p:sp>
      <p:pic>
        <p:nvPicPr>
          <p:cNvPr id="8" name="Picture Placeholder 7" descr="An illustration shows the factors that determine the level of compensation and benefits.&#10;Long description is available in notes, press F6.">
            <a:extLst>
              <a:ext uri="{FF2B5EF4-FFF2-40B4-BE49-F238E27FC236}">
                <a16:creationId xmlns:a16="http://schemas.microsoft.com/office/drawing/2014/main" id="{0C56121C-CA63-48C9-ADD8-0A11A71B54AD}"/>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1428750" y="1676400"/>
            <a:ext cx="6286500" cy="3990975"/>
          </a:xfrm>
        </p:spPr>
      </p:pic>
    </p:spTree>
    <p:extLst>
      <p:ext uri="{BB962C8B-B14F-4D97-AF65-F5344CB8AC3E}">
        <p14:creationId xmlns:p14="http://schemas.microsoft.com/office/powerpoint/2010/main" val="1218505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90349"/>
          </a:xfrm>
        </p:spPr>
        <p:txBody>
          <a:bodyPr tIns="18000" bIns="18000">
            <a:spAutoFit/>
          </a:bodyPr>
          <a:lstStyle/>
          <a:p>
            <a:r>
              <a:rPr lang="en-US" altLang="en-US" sz="3600" dirty="0">
                <a:solidFill>
                  <a:schemeClr val="bg2"/>
                </a:solidFill>
                <a:latin typeface="+mj-lt"/>
                <a:cs typeface="Arial" pitchFamily="34" charset="0"/>
              </a:rPr>
              <a:t>Learning Objective 9.5</a:t>
            </a:r>
            <a:endParaRPr lang="en-US" dirty="0">
              <a:solidFill>
                <a:schemeClr val="bg2"/>
              </a:solidFill>
              <a:latin typeface="+mj-lt"/>
            </a:endParaRPr>
          </a:p>
        </p:txBody>
      </p:sp>
      <p:sp>
        <p:nvSpPr>
          <p:cNvPr id="3" name="Content Placeholder 2"/>
          <p:cNvSpPr>
            <a:spLocks noGrp="1"/>
          </p:cNvSpPr>
          <p:nvPr>
            <p:ph idx="1"/>
          </p:nvPr>
        </p:nvSpPr>
        <p:spPr>
          <a:xfrm>
            <a:off x="457200" y="1206185"/>
            <a:ext cx="8153400" cy="775015"/>
          </a:xfrm>
        </p:spPr>
        <p:txBody>
          <a:bodyPr tIns="18000" bIns="18000">
            <a:spAutoFit/>
          </a:bodyPr>
          <a:lstStyle/>
          <a:p>
            <a:pPr marL="355600" indent="-355600">
              <a:buSzPct val="100000"/>
            </a:pPr>
            <a:r>
              <a:rPr lang="en-US" sz="2400" dirty="0">
                <a:latin typeface="Arial" panose="020B0604020202020204" pitchFamily="34" charset="0"/>
                <a:cs typeface="Arial" panose="020B0604020202020204" pitchFamily="34" charset="0"/>
              </a:rPr>
              <a:t>Discuss contemporary issues in managing human resources.</a:t>
            </a:r>
          </a:p>
        </p:txBody>
      </p:sp>
    </p:spTree>
    <p:extLst>
      <p:ext uri="{BB962C8B-B14F-4D97-AF65-F5344CB8AC3E}">
        <p14:creationId xmlns:p14="http://schemas.microsoft.com/office/powerpoint/2010/main" val="42396421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0400"/>
            <a:ext cx="8229600" cy="590349"/>
          </a:xfrm>
        </p:spPr>
        <p:txBody>
          <a:bodyPr wrap="square" tIns="18000" bIns="18000" anchor="t" anchorCtr="0">
            <a:spAutoFit/>
          </a:bodyPr>
          <a:lstStyle/>
          <a:p>
            <a:r>
              <a:rPr lang="en-US" sz="3600">
                <a:latin typeface="+mj-lt"/>
                <a:ea typeface="ＭＳ Ｐゴシック" panose="020B0600070205080204" pitchFamily="34" charset="-128"/>
                <a:cs typeface="Arial" panose="020B0604020202020204" pitchFamily="34" charset="0"/>
              </a:rPr>
              <a:t>Managing Downsizing</a:t>
            </a:r>
            <a:endParaRPr lang="en-US" sz="3600">
              <a:latin typeface="+mj-lt"/>
            </a:endParaRPr>
          </a:p>
        </p:txBody>
      </p:sp>
      <p:sp>
        <p:nvSpPr>
          <p:cNvPr id="3" name="Content Placeholder 2"/>
          <p:cNvSpPr>
            <a:spLocks noGrp="1"/>
          </p:cNvSpPr>
          <p:nvPr>
            <p:ph idx="1"/>
          </p:nvPr>
        </p:nvSpPr>
        <p:spPr>
          <a:xfrm>
            <a:off x="457200" y="1103672"/>
            <a:ext cx="8153400" cy="282573"/>
          </a:xfrm>
        </p:spPr>
        <p:txBody>
          <a:bodyPr wrap="square" tIns="18000" bIns="18000">
            <a:spAutoFit/>
          </a:bodyPr>
          <a:lstStyle/>
          <a:p>
            <a:pPr marL="0" indent="0">
              <a:buNone/>
            </a:pPr>
            <a:r>
              <a:rPr lang="en-US" b="1" dirty="0">
                <a:latin typeface="Arial" panose="020B0604020202020204" pitchFamily="34" charset="0"/>
                <a:cs typeface="Arial" panose="020B0604020202020204" pitchFamily="34" charset="0"/>
              </a:rPr>
              <a:t>Exhibit 9.10 </a:t>
            </a:r>
            <a:r>
              <a:rPr lang="en-US" dirty="0">
                <a:latin typeface="Arial" panose="020B0604020202020204" pitchFamily="34" charset="0"/>
                <a:cs typeface="Arial" panose="020B0604020202020204" pitchFamily="34" charset="0"/>
              </a:rPr>
              <a:t>Tips for Managing Downsizing</a:t>
            </a:r>
          </a:p>
        </p:txBody>
      </p:sp>
      <p:sp>
        <p:nvSpPr>
          <p:cNvPr id="4" name="Content Placeholder 3">
            <a:extLst>
              <a:ext uri="{FF2B5EF4-FFF2-40B4-BE49-F238E27FC236}">
                <a16:creationId xmlns:a16="http://schemas.microsoft.com/office/drawing/2014/main" id="{5F60B438-2485-4C78-9DED-AC48FAA7106A}"/>
              </a:ext>
            </a:extLst>
          </p:cNvPr>
          <p:cNvSpPr>
            <a:spLocks noGrp="1"/>
          </p:cNvSpPr>
          <p:nvPr>
            <p:ph idx="13"/>
          </p:nvPr>
        </p:nvSpPr>
        <p:spPr>
          <a:xfrm>
            <a:off x="495300" y="1599865"/>
            <a:ext cx="8153400" cy="4191335"/>
          </a:xfrm>
        </p:spPr>
        <p:txBody>
          <a:bodyPr wrap="square" tIns="18000" bIns="18000">
            <a:spAutoFit/>
          </a:bodyPr>
          <a:lstStyle/>
          <a:p>
            <a:pPr marL="355600" indent="-355600">
              <a:spcBef>
                <a:spcPts val="600"/>
              </a:spcBef>
            </a:pPr>
            <a:r>
              <a:rPr lang="en-US" sz="2000" b="0" i="0" u="none" strike="noStrike" kern="1200" baseline="0" dirty="0">
                <a:solidFill>
                  <a:schemeClr val="tx1"/>
                </a:solidFill>
                <a:latin typeface="Arial" panose="020B0604020202020204" pitchFamily="34" charset="0"/>
                <a:cs typeface="Arial" panose="020B0604020202020204" pitchFamily="34" charset="0"/>
              </a:rPr>
              <a:t>Communicate openly and honestly:</a:t>
            </a:r>
          </a:p>
          <a:p>
            <a:pPr marL="355600" indent="-355600">
              <a:spcBef>
                <a:spcPts val="600"/>
              </a:spcBef>
            </a:pPr>
            <a:r>
              <a:rPr lang="en-US" sz="2000" b="0" i="0" u="none" strike="noStrike" kern="1200" baseline="0" dirty="0">
                <a:solidFill>
                  <a:schemeClr val="tx1"/>
                </a:solidFill>
                <a:latin typeface="Arial" panose="020B0604020202020204" pitchFamily="34" charset="0"/>
                <a:cs typeface="Arial" panose="020B0604020202020204" pitchFamily="34" charset="0"/>
              </a:rPr>
              <a:t>Inform those being let go as soon as possible</a:t>
            </a:r>
          </a:p>
          <a:p>
            <a:pPr marL="355600" indent="-355600">
              <a:spcBef>
                <a:spcPts val="600"/>
              </a:spcBef>
            </a:pPr>
            <a:r>
              <a:rPr lang="en-US" sz="2000" b="0" i="0" u="none" strike="noStrike" kern="1200" baseline="0" dirty="0">
                <a:solidFill>
                  <a:schemeClr val="tx1"/>
                </a:solidFill>
                <a:latin typeface="Arial" panose="020B0604020202020204" pitchFamily="34" charset="0"/>
                <a:cs typeface="Arial" panose="020B0604020202020204" pitchFamily="34" charset="0"/>
              </a:rPr>
              <a:t>Tell surviving employees the new goals and expectations</a:t>
            </a:r>
          </a:p>
          <a:p>
            <a:pPr marL="355600" indent="-355600">
              <a:spcBef>
                <a:spcPts val="600"/>
              </a:spcBef>
            </a:pPr>
            <a:r>
              <a:rPr lang="en-US" sz="2000" b="0" i="0" u="none" strike="noStrike" kern="1200" baseline="0" dirty="0">
                <a:solidFill>
                  <a:schemeClr val="tx1"/>
                </a:solidFill>
                <a:latin typeface="Arial" panose="020B0604020202020204" pitchFamily="34" charset="0"/>
                <a:cs typeface="Arial" panose="020B0604020202020204" pitchFamily="34" charset="0"/>
              </a:rPr>
              <a:t>Explain impact of layoffs</a:t>
            </a:r>
          </a:p>
          <a:p>
            <a:pPr marL="355600" indent="-355600">
              <a:spcBef>
                <a:spcPts val="600"/>
              </a:spcBef>
            </a:pPr>
            <a:r>
              <a:rPr lang="en-US" sz="2000" b="0" i="0" u="none" strike="noStrike" kern="1200" baseline="0" dirty="0">
                <a:solidFill>
                  <a:schemeClr val="tx1"/>
                </a:solidFill>
                <a:latin typeface="Arial" panose="020B0604020202020204" pitchFamily="34" charset="0"/>
                <a:cs typeface="Arial" panose="020B0604020202020204" pitchFamily="34" charset="0"/>
              </a:rPr>
              <a:t>Follow any laws regulating severance pay or benefits</a:t>
            </a:r>
          </a:p>
          <a:p>
            <a:pPr marL="355600" indent="-355600">
              <a:spcBef>
                <a:spcPts val="600"/>
              </a:spcBef>
            </a:pPr>
            <a:r>
              <a:rPr lang="en-US" sz="2000" b="0" i="0" u="none" strike="noStrike" kern="1200" baseline="0" dirty="0">
                <a:solidFill>
                  <a:schemeClr val="tx1"/>
                </a:solidFill>
                <a:latin typeface="Arial" panose="020B0604020202020204" pitchFamily="34" charset="0"/>
                <a:cs typeface="Arial" panose="020B0604020202020204" pitchFamily="34" charset="0"/>
              </a:rPr>
              <a:t>Provide support/counseling for surviving employees</a:t>
            </a:r>
          </a:p>
          <a:p>
            <a:pPr marL="355600" indent="-355600">
              <a:spcBef>
                <a:spcPts val="600"/>
              </a:spcBef>
            </a:pPr>
            <a:r>
              <a:rPr lang="en-US" sz="2000" b="0" i="0" u="none" strike="noStrike" kern="1200" baseline="0" dirty="0">
                <a:solidFill>
                  <a:schemeClr val="tx1"/>
                </a:solidFill>
                <a:latin typeface="Arial" panose="020B0604020202020204" pitchFamily="34" charset="0"/>
                <a:cs typeface="Arial" panose="020B0604020202020204" pitchFamily="34" charset="0"/>
              </a:rPr>
              <a:t>Reassign roles according to individuals’ talents and backgrounds</a:t>
            </a:r>
          </a:p>
          <a:p>
            <a:pPr marL="355600" indent="-355600">
              <a:spcBef>
                <a:spcPts val="600"/>
              </a:spcBef>
            </a:pPr>
            <a:r>
              <a:rPr lang="en-US" sz="2000" b="0" i="0" u="none" strike="noStrike" kern="1200" baseline="0" dirty="0">
                <a:solidFill>
                  <a:schemeClr val="tx1"/>
                </a:solidFill>
                <a:latin typeface="Arial" panose="020B0604020202020204" pitchFamily="34" charset="0"/>
                <a:cs typeface="Arial" panose="020B0604020202020204" pitchFamily="34" charset="0"/>
              </a:rPr>
              <a:t>Focus on boosting morale:</a:t>
            </a:r>
          </a:p>
          <a:p>
            <a:pPr marL="355600" indent="-355600">
              <a:spcBef>
                <a:spcPts val="600"/>
              </a:spcBef>
            </a:pPr>
            <a:r>
              <a:rPr lang="en-US" sz="2000" b="0" i="0" u="none" strike="noStrike" kern="1200" baseline="0" dirty="0">
                <a:solidFill>
                  <a:schemeClr val="tx1"/>
                </a:solidFill>
                <a:latin typeface="Arial" panose="020B0604020202020204" pitchFamily="34" charset="0"/>
                <a:cs typeface="Arial" panose="020B0604020202020204" pitchFamily="34" charset="0"/>
              </a:rPr>
              <a:t>Offer individualized reassurance</a:t>
            </a:r>
          </a:p>
          <a:p>
            <a:pPr marL="355600" indent="-355600">
              <a:spcBef>
                <a:spcPts val="600"/>
              </a:spcBef>
            </a:pPr>
            <a:r>
              <a:rPr lang="en-US" sz="2000" b="0" i="0" u="none" strike="noStrike" kern="1200" baseline="0" dirty="0">
                <a:solidFill>
                  <a:schemeClr val="tx1"/>
                </a:solidFill>
                <a:latin typeface="Arial" panose="020B0604020202020204" pitchFamily="34" charset="0"/>
                <a:cs typeface="Arial" panose="020B0604020202020204" pitchFamily="34" charset="0"/>
              </a:rPr>
              <a:t>Continue to communicate, especially one-on-one</a:t>
            </a:r>
          </a:p>
          <a:p>
            <a:pPr marL="355600" indent="-355600">
              <a:spcBef>
                <a:spcPts val="600"/>
              </a:spcBef>
            </a:pPr>
            <a:r>
              <a:rPr lang="en-US" sz="2000" b="0" i="0" u="none" strike="noStrike" kern="1200" baseline="0" dirty="0">
                <a:solidFill>
                  <a:schemeClr val="tx1"/>
                </a:solidFill>
                <a:latin typeface="Arial" panose="020B0604020202020204" pitchFamily="34" charset="0"/>
                <a:cs typeface="Arial" panose="020B0604020202020204" pitchFamily="34" charset="0"/>
              </a:rPr>
              <a:t>Remain involved and available</a:t>
            </a:r>
          </a:p>
        </p:txBody>
      </p:sp>
    </p:spTree>
    <p:extLst>
      <p:ext uri="{BB962C8B-B14F-4D97-AF65-F5344CB8AC3E}">
        <p14:creationId xmlns:p14="http://schemas.microsoft.com/office/powerpoint/2010/main" val="20735386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90349"/>
          </a:xfrm>
        </p:spPr>
        <p:txBody>
          <a:bodyPr tIns="18000" bIns="18000">
            <a:spAutoFit/>
          </a:bodyPr>
          <a:lstStyle/>
          <a:p>
            <a:r>
              <a:rPr lang="en-US" sz="3600">
                <a:latin typeface="+mj-lt"/>
                <a:ea typeface="ＭＳ Ｐゴシック" panose="020B0600070205080204" pitchFamily="34" charset="-128"/>
                <a:cs typeface="Arial" panose="020B0604020202020204" pitchFamily="34" charset="0"/>
              </a:rPr>
              <a:t>Sexual Harassment</a:t>
            </a:r>
            <a:endParaRPr lang="en-US" sz="3600">
              <a:latin typeface="+mj-lt"/>
            </a:endParaRPr>
          </a:p>
        </p:txBody>
      </p:sp>
      <p:sp>
        <p:nvSpPr>
          <p:cNvPr id="3" name="Content Placeholder 2"/>
          <p:cNvSpPr>
            <a:spLocks noGrp="1"/>
          </p:cNvSpPr>
          <p:nvPr>
            <p:ph idx="1"/>
          </p:nvPr>
        </p:nvSpPr>
        <p:spPr>
          <a:xfrm>
            <a:off x="457200" y="1065453"/>
            <a:ext cx="8153400" cy="1144347"/>
          </a:xfrm>
        </p:spPr>
        <p:txBody>
          <a:bodyPr tIns="18000" bIns="18000">
            <a:spAutoFit/>
          </a:bodyPr>
          <a:lstStyle/>
          <a:p>
            <a:pPr marL="355600" indent="-355600">
              <a:buSzPct val="100000"/>
            </a:pPr>
            <a:r>
              <a:rPr lang="en-US" sz="2400">
                <a:latin typeface="Arial" panose="020B0604020202020204" pitchFamily="34" charset="0"/>
                <a:ea typeface="ＭＳ Ｐゴシック" panose="020B0600070205080204" pitchFamily="34" charset="-128"/>
                <a:cs typeface="Arial" panose="020B0604020202020204" pitchFamily="34" charset="0"/>
              </a:rPr>
              <a:t>Any unwanted action or activity of a sexual nature that explicitly or implicitly affects an individual</a:t>
            </a:r>
            <a:r>
              <a:rPr lang="en-US" altLang="en-US" sz="2400">
                <a:latin typeface="Arial" panose="020B0604020202020204" pitchFamily="34" charset="0"/>
                <a:ea typeface="ＭＳ Ｐゴシック" panose="020B0600070205080204" pitchFamily="34" charset="-128"/>
                <a:cs typeface="Arial" panose="020B0604020202020204" pitchFamily="34" charset="0"/>
              </a:rPr>
              <a:t>’</a:t>
            </a:r>
            <a:r>
              <a:rPr lang="en-US" sz="2400">
                <a:latin typeface="Arial" panose="020B0604020202020204" pitchFamily="34" charset="0"/>
                <a:ea typeface="ＭＳ Ｐゴシック" panose="020B0600070205080204" pitchFamily="34" charset="-128"/>
                <a:cs typeface="Arial" panose="020B0604020202020204" pitchFamily="34" charset="0"/>
              </a:rPr>
              <a:t>s employment, performance, or work environment </a:t>
            </a:r>
          </a:p>
        </p:txBody>
      </p:sp>
      <p:sp>
        <p:nvSpPr>
          <p:cNvPr id="4" name="Content Placeholder 3"/>
          <p:cNvSpPr>
            <a:spLocks noGrp="1"/>
          </p:cNvSpPr>
          <p:nvPr>
            <p:ph idx="13"/>
          </p:nvPr>
        </p:nvSpPr>
        <p:spPr>
          <a:xfrm>
            <a:off x="1866900" y="2782898"/>
            <a:ext cx="5410200" cy="405683"/>
          </a:xfrm>
        </p:spPr>
        <p:txBody>
          <a:bodyPr wrap="square" tIns="18000" bIns="18000">
            <a:spAutoFit/>
          </a:bodyPr>
          <a:lstStyle/>
          <a:p>
            <a:pPr marL="0" indent="0">
              <a:buNone/>
            </a:pPr>
            <a:r>
              <a:rPr lang="en-US" sz="2400" b="1" dirty="0">
                <a:solidFill>
                  <a:schemeClr val="bg2"/>
                </a:solidFill>
                <a:latin typeface="Arial" panose="020B0604020202020204" pitchFamily="34" charset="0"/>
                <a:cs typeface="Arial" panose="020B0604020202020204" pitchFamily="34" charset="0"/>
              </a:rPr>
              <a:t>Sexual harassment </a:t>
            </a:r>
            <a:r>
              <a:rPr lang="en-US" sz="2400" i="1" dirty="0">
                <a:solidFill>
                  <a:schemeClr val="bg2"/>
                </a:solidFill>
                <a:latin typeface="Arial" panose="020B0604020202020204" pitchFamily="34" charset="0"/>
                <a:cs typeface="Arial" panose="020B0604020202020204" pitchFamily="34" charset="0"/>
              </a:rPr>
              <a:t>is</a:t>
            </a:r>
            <a:r>
              <a:rPr lang="en-US" sz="2400" dirty="0">
                <a:solidFill>
                  <a:schemeClr val="bg2"/>
                </a:solidFill>
                <a:latin typeface="Arial" panose="020B0604020202020204" pitchFamily="34" charset="0"/>
                <a:cs typeface="Arial" panose="020B0604020202020204" pitchFamily="34" charset="0"/>
              </a:rPr>
              <a:t> a serious issue.</a:t>
            </a:r>
          </a:p>
        </p:txBody>
      </p:sp>
      <p:sp>
        <p:nvSpPr>
          <p:cNvPr id="5" name="Content Placeholder 4"/>
          <p:cNvSpPr>
            <a:spLocks noGrp="1"/>
          </p:cNvSpPr>
          <p:nvPr>
            <p:ph sz="quarter" idx="14"/>
          </p:nvPr>
        </p:nvSpPr>
        <p:spPr>
          <a:xfrm>
            <a:off x="561833" y="3397155"/>
            <a:ext cx="8020334" cy="405683"/>
          </a:xfrm>
        </p:spPr>
        <p:txBody>
          <a:bodyPr wrap="square" tIns="18000" bIns="18000">
            <a:spAutoFit/>
          </a:bodyPr>
          <a:lstStyle/>
          <a:p>
            <a:pPr marL="0" indent="0">
              <a:buNone/>
            </a:pPr>
            <a:r>
              <a:rPr lang="en-US" sz="2400" dirty="0">
                <a:solidFill>
                  <a:schemeClr val="bg2"/>
                </a:solidFill>
                <a:latin typeface="Arial" panose="020B0604020202020204" pitchFamily="34" charset="0"/>
                <a:cs typeface="Arial" panose="020B0604020202020204" pitchFamily="34" charset="0"/>
              </a:rPr>
              <a:t>48 percent of women report having been sexually, verbally,</a:t>
            </a:r>
          </a:p>
        </p:txBody>
      </p:sp>
      <p:sp>
        <p:nvSpPr>
          <p:cNvPr id="6" name="Content Placeholder 5">
            <a:extLst>
              <a:ext uri="{FF2B5EF4-FFF2-40B4-BE49-F238E27FC236}">
                <a16:creationId xmlns:a16="http://schemas.microsoft.com/office/drawing/2014/main" id="{D9230808-9521-4A6B-BE5E-A7AAFCCCA031}"/>
              </a:ext>
            </a:extLst>
          </p:cNvPr>
          <p:cNvSpPr>
            <a:spLocks noGrp="1"/>
          </p:cNvSpPr>
          <p:nvPr>
            <p:ph sz="quarter" idx="15"/>
          </p:nvPr>
        </p:nvSpPr>
        <p:spPr>
          <a:xfrm>
            <a:off x="2133600" y="3969223"/>
            <a:ext cx="3429000" cy="405683"/>
          </a:xfrm>
        </p:spPr>
        <p:txBody>
          <a:bodyPr wrap="square" tIns="18000" bIns="18000">
            <a:spAutoFit/>
          </a:bodyPr>
          <a:lstStyle/>
          <a:p>
            <a:pPr marL="0" indent="0">
              <a:buNone/>
            </a:pPr>
            <a:r>
              <a:rPr lang="en-US" sz="2400" dirty="0">
                <a:solidFill>
                  <a:schemeClr val="bg2"/>
                </a:solidFill>
                <a:latin typeface="Arial" panose="020B0604020202020204" pitchFamily="34" charset="0"/>
                <a:cs typeface="Arial" panose="020B0604020202020204" pitchFamily="34" charset="0"/>
              </a:rPr>
              <a:t>or physically harassed at</a:t>
            </a:r>
            <a:endParaRPr lang="en-US" sz="2400" dirty="0">
              <a:latin typeface="Arial" panose="020B0604020202020204" pitchFamily="34" charset="0"/>
              <a:cs typeface="Arial" panose="020B0604020202020204" pitchFamily="34" charset="0"/>
            </a:endParaRPr>
          </a:p>
        </p:txBody>
      </p:sp>
      <p:graphicFrame>
        <p:nvGraphicFramePr>
          <p:cNvPr id="13" name="Object 12" descr="Work super 61.">
            <a:extLst>
              <a:ext uri="{FF2B5EF4-FFF2-40B4-BE49-F238E27FC236}">
                <a16:creationId xmlns:a16="http://schemas.microsoft.com/office/drawing/2014/main" id="{FF6C33A1-48B2-45A6-AB6D-CE2845310DD0}"/>
              </a:ext>
            </a:extLst>
          </p:cNvPr>
          <p:cNvGraphicFramePr>
            <a:graphicFrameLocks noGrp="1" noChangeAspect="1"/>
          </p:cNvGraphicFramePr>
          <p:nvPr>
            <p:extLst>
              <p:ext uri="{D42A27DB-BD31-4B8C-83A1-F6EECF244321}">
                <p14:modId xmlns:p14="http://schemas.microsoft.com/office/powerpoint/2010/main" val="4047724253"/>
              </p:ext>
            </p:extLst>
          </p:nvPr>
        </p:nvGraphicFramePr>
        <p:xfrm>
          <a:off x="5562600" y="3962400"/>
          <a:ext cx="992909" cy="369455"/>
        </p:xfrm>
        <a:graphic>
          <a:graphicData uri="http://schemas.openxmlformats.org/presentationml/2006/ole">
            <mc:AlternateContent xmlns:mc="http://schemas.openxmlformats.org/markup-compatibility/2006">
              <mc:Choice xmlns:v="urn:schemas-microsoft-com:vml" Requires="v">
                <p:oleObj name="Equation" r:id="rId3" imgW="545760" imgH="203040" progId="Equation.DSMT4">
                  <p:embed/>
                </p:oleObj>
              </mc:Choice>
              <mc:Fallback>
                <p:oleObj name="Equation" r:id="rId3" imgW="545760" imgH="203040" progId="Equation.DSMT4">
                  <p:embed/>
                  <p:pic>
                    <p:nvPicPr>
                      <p:cNvPr id="6" name="Object 5">
                        <a:extLst>
                          <a:ext uri="{FF2B5EF4-FFF2-40B4-BE49-F238E27FC236}">
                            <a16:creationId xmlns:a16="http://schemas.microsoft.com/office/drawing/2014/main" id="{35BB0089-331D-4C53-94B6-08D5D00E667B}"/>
                          </a:ext>
                        </a:extLst>
                      </p:cNvPr>
                      <p:cNvPicPr>
                        <a:picLocks noGrp="1" noChangeAspect="1" noChangeArrowheads="1"/>
                      </p:cNvPicPr>
                      <p:nvPr/>
                    </p:nvPicPr>
                    <p:blipFill>
                      <a:blip r:embed="rId4"/>
                      <a:srcRect/>
                      <a:stretch>
                        <a:fillRect/>
                      </a:stretch>
                    </p:blipFill>
                    <p:spPr bwMode="auto">
                      <a:xfrm>
                        <a:off x="5562600" y="3962400"/>
                        <a:ext cx="992909" cy="369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4285537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153400" cy="590349"/>
          </a:xfrm>
        </p:spPr>
        <p:txBody>
          <a:bodyPr wrap="square" tIns="18000" bIns="18000" anchor="t" anchorCtr="0">
            <a:spAutoFit/>
          </a:bodyPr>
          <a:lstStyle/>
          <a:p>
            <a:r>
              <a:rPr lang="en-US" sz="3600" dirty="0">
                <a:latin typeface="+mj-lt"/>
                <a:ea typeface="ＭＳ Ｐゴシック" panose="020B0600070205080204" pitchFamily="34" charset="-128"/>
                <a:cs typeface="Arial" panose="020B0604020202020204" pitchFamily="34" charset="0"/>
              </a:rPr>
              <a:t>Adapting to a Changing Workforce</a:t>
            </a:r>
            <a:endParaRPr lang="en-US" sz="3600" dirty="0">
              <a:latin typeface="+mj-lt"/>
            </a:endParaRPr>
          </a:p>
        </p:txBody>
      </p:sp>
      <p:sp>
        <p:nvSpPr>
          <p:cNvPr id="3" name="Content Placeholder 2"/>
          <p:cNvSpPr>
            <a:spLocks noGrp="1"/>
          </p:cNvSpPr>
          <p:nvPr>
            <p:ph sz="quarter" idx="13"/>
          </p:nvPr>
        </p:nvSpPr>
        <p:spPr>
          <a:xfrm>
            <a:off x="457200" y="1066800"/>
            <a:ext cx="8077200" cy="967376"/>
          </a:xfrm>
        </p:spPr>
        <p:txBody>
          <a:bodyPr tIns="18000" bIns="18000">
            <a:spAutoFit/>
          </a:bodyPr>
          <a:lstStyle/>
          <a:p>
            <a:pPr marL="355600" indent="-355600">
              <a:buSzPct val="100000"/>
            </a:pPr>
            <a:r>
              <a:rPr lang="en-US" sz="2400" dirty="0">
                <a:latin typeface="Arial" panose="020B0604020202020204" pitchFamily="34" charset="0"/>
                <a:ea typeface="ＭＳ Ｐゴシック" panose="020B0600070205080204" pitchFamily="34" charset="-128"/>
                <a:cs typeface="Arial" panose="020B0604020202020204" pitchFamily="34" charset="0"/>
              </a:rPr>
              <a:t>Work/life balance programs</a:t>
            </a:r>
          </a:p>
          <a:p>
            <a:pPr marL="355600" indent="-355600">
              <a:buSzPct val="100000"/>
            </a:pPr>
            <a:r>
              <a:rPr lang="en-US" sz="2400" dirty="0">
                <a:latin typeface="Arial" panose="020B0604020202020204" pitchFamily="34" charset="0"/>
                <a:ea typeface="ＭＳ Ｐゴシック" panose="020B0600070205080204" pitchFamily="34" charset="-128"/>
                <a:cs typeface="Arial" panose="020B0604020202020204" pitchFamily="34" charset="0"/>
              </a:rPr>
              <a:t>Contingent jobs </a:t>
            </a:r>
          </a:p>
        </p:txBody>
      </p:sp>
      <p:pic>
        <p:nvPicPr>
          <p:cNvPr id="8" name="Picture Placeholder 7" descr="A photo shows four people standing in a room looking at the screen of an electronic tablet held by one of them.">
            <a:extLst>
              <a:ext uri="{FF2B5EF4-FFF2-40B4-BE49-F238E27FC236}">
                <a16:creationId xmlns:a16="http://schemas.microsoft.com/office/drawing/2014/main" id="{FDFBD2E7-B465-4F97-A161-8D0EB836884F}"/>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4167969" y="2438400"/>
            <a:ext cx="4400550" cy="3133725"/>
          </a:xfrm>
        </p:spPr>
      </p:pic>
    </p:spTree>
    <p:extLst>
      <p:ext uri="{BB962C8B-B14F-4D97-AF65-F5344CB8AC3E}">
        <p14:creationId xmlns:p14="http://schemas.microsoft.com/office/powerpoint/2010/main" val="34809735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153400" cy="590349"/>
          </a:xfrm>
        </p:spPr>
        <p:txBody>
          <a:bodyPr tIns="18000" bIns="18000">
            <a:spAutoFit/>
          </a:bodyPr>
          <a:lstStyle/>
          <a:p>
            <a:r>
              <a:rPr lang="en-US" altLang="en-US" sz="3600" dirty="0">
                <a:solidFill>
                  <a:schemeClr val="bg2"/>
                </a:solidFill>
                <a:latin typeface="+mj-lt"/>
                <a:cs typeface="Arial" pitchFamily="34" charset="0"/>
              </a:rPr>
              <a:t>Learning Objective 9.6</a:t>
            </a:r>
            <a:endParaRPr lang="en-US" dirty="0">
              <a:solidFill>
                <a:schemeClr val="bg2"/>
              </a:solidFill>
              <a:latin typeface="+mj-lt"/>
            </a:endParaRPr>
          </a:p>
        </p:txBody>
      </p:sp>
      <p:sp>
        <p:nvSpPr>
          <p:cNvPr id="3" name="Content Placeholder 2"/>
          <p:cNvSpPr>
            <a:spLocks noGrp="1"/>
          </p:cNvSpPr>
          <p:nvPr>
            <p:ph idx="1"/>
          </p:nvPr>
        </p:nvSpPr>
        <p:spPr>
          <a:xfrm>
            <a:off x="457200" y="1053785"/>
            <a:ext cx="8153400" cy="775015"/>
          </a:xfrm>
        </p:spPr>
        <p:txBody>
          <a:bodyPr tIns="18000" bIns="18000">
            <a:spAutoFit/>
          </a:bodyPr>
          <a:lstStyle/>
          <a:p>
            <a:pPr marL="355600" indent="-355600">
              <a:buSzPct val="100000"/>
            </a:pPr>
            <a:r>
              <a:rPr lang="en-US" sz="2400" dirty="0">
                <a:latin typeface="Arial" panose="020B0604020202020204" pitchFamily="34" charset="0"/>
                <a:cs typeface="Arial" panose="020B0604020202020204" pitchFamily="34" charset="0"/>
              </a:rPr>
              <a:t>Explain what diversity and inclusion are and how they affect the </a:t>
            </a:r>
            <a:r>
              <a:rPr lang="en-US" sz="2400" spc="-300" dirty="0">
                <a:latin typeface="Arial" panose="020B0604020202020204" pitchFamily="34" charset="0"/>
                <a:cs typeface="Arial" panose="020B0604020202020204" pitchFamily="34" charset="0"/>
              </a:rPr>
              <a:t>H R </a:t>
            </a:r>
            <a:r>
              <a:rPr lang="en-US" sz="2400" dirty="0">
                <a:latin typeface="Arial" panose="020B0604020202020204" pitchFamily="34" charset="0"/>
                <a:cs typeface="Arial" panose="020B0604020202020204" pitchFamily="34" charset="0"/>
              </a:rPr>
              <a:t>M process.</a:t>
            </a:r>
          </a:p>
        </p:txBody>
      </p:sp>
    </p:spTree>
    <p:extLst>
      <p:ext uri="{BB962C8B-B14F-4D97-AF65-F5344CB8AC3E}">
        <p14:creationId xmlns:p14="http://schemas.microsoft.com/office/powerpoint/2010/main" val="7678187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153400" cy="590349"/>
          </a:xfrm>
        </p:spPr>
        <p:txBody>
          <a:bodyPr wrap="square" tIns="18000" bIns="18000" anchor="t" anchorCtr="0">
            <a:spAutoFit/>
          </a:bodyPr>
          <a:lstStyle/>
          <a:p>
            <a:r>
              <a:rPr lang="en-US" altLang="en-US" sz="3600" dirty="0">
                <a:solidFill>
                  <a:schemeClr val="bg2"/>
                </a:solidFill>
                <a:latin typeface="+mj-lt"/>
                <a:cs typeface="Arial" pitchFamily="34" charset="0"/>
              </a:rPr>
              <a:t>Workforce Diversity</a:t>
            </a:r>
            <a:endParaRPr lang="en-US" dirty="0">
              <a:solidFill>
                <a:schemeClr val="bg2"/>
              </a:solidFill>
              <a:latin typeface="+mj-lt"/>
            </a:endParaRPr>
          </a:p>
        </p:txBody>
      </p:sp>
      <p:sp>
        <p:nvSpPr>
          <p:cNvPr id="3" name="Content Placeholder 2"/>
          <p:cNvSpPr>
            <a:spLocks noGrp="1"/>
          </p:cNvSpPr>
          <p:nvPr>
            <p:ph sz="quarter" idx="13"/>
          </p:nvPr>
        </p:nvSpPr>
        <p:spPr>
          <a:xfrm>
            <a:off x="457200" y="1042117"/>
            <a:ext cx="8153400" cy="282573"/>
          </a:xfrm>
        </p:spPr>
        <p:txBody>
          <a:bodyPr wrap="square" tIns="18000" bIns="18000">
            <a:spAutoFit/>
          </a:bodyPr>
          <a:lstStyle/>
          <a:p>
            <a:pPr marL="0" indent="0">
              <a:buNone/>
            </a:pPr>
            <a:r>
              <a:rPr lang="en-US" b="1" dirty="0">
                <a:latin typeface="Arial" panose="020B0604020202020204" pitchFamily="34" charset="0"/>
                <a:cs typeface="Arial" panose="020B0604020202020204" pitchFamily="34" charset="0"/>
              </a:rPr>
              <a:t>Exhibit 9.11 </a:t>
            </a:r>
            <a:r>
              <a:rPr lang="en-US" dirty="0">
                <a:latin typeface="Arial" panose="020B0604020202020204" pitchFamily="34" charset="0"/>
                <a:cs typeface="Arial" panose="020B0604020202020204" pitchFamily="34" charset="0"/>
              </a:rPr>
              <a:t>Types of Diversity Found in Workplaces</a:t>
            </a:r>
          </a:p>
        </p:txBody>
      </p:sp>
      <p:pic>
        <p:nvPicPr>
          <p:cNvPr id="8" name="Picture Placeholder 7" descr="An illustration shows the following diversities found in workplaces: Age, gender, race and ethnicity, disability or abilities, religion, L G B T Q, and other.">
            <a:extLst>
              <a:ext uri="{FF2B5EF4-FFF2-40B4-BE49-F238E27FC236}">
                <a16:creationId xmlns:a16="http://schemas.microsoft.com/office/drawing/2014/main" id="{5F93BDC2-08A1-4836-ADC0-7EB561EBA081}"/>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2495550" y="1676400"/>
            <a:ext cx="4152900" cy="4200525"/>
          </a:xfrm>
        </p:spPr>
      </p:pic>
    </p:spTree>
    <p:extLst>
      <p:ext uri="{BB962C8B-B14F-4D97-AF65-F5344CB8AC3E}">
        <p14:creationId xmlns:p14="http://schemas.microsoft.com/office/powerpoint/2010/main" val="28036805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8000"/>
            <a:ext cx="8229600" cy="528794"/>
          </a:xfrm>
        </p:spPr>
        <p:txBody>
          <a:bodyPr wrap="square" tIns="18000" bIns="18000" anchor="t" anchorCtr="0">
            <a:spAutoFit/>
          </a:bodyPr>
          <a:lstStyle/>
          <a:p>
            <a:r>
              <a:rPr lang="en-US" sz="3200" dirty="0">
                <a:latin typeface="+mj-lt"/>
                <a:ea typeface="ＭＳ Ｐゴシック" panose="020B0600070205080204" pitchFamily="34" charset="-128"/>
                <a:cs typeface="Arial" panose="020B0604020202020204" pitchFamily="34" charset="0"/>
              </a:rPr>
              <a:t>Workforce Diversity, Inclusion, and </a:t>
            </a:r>
            <a:r>
              <a:rPr lang="en-US" sz="3200" spc="-400" dirty="0">
                <a:latin typeface="+mj-lt"/>
                <a:ea typeface="ＭＳ Ｐゴシック" panose="020B0600070205080204" pitchFamily="34" charset="-128"/>
                <a:cs typeface="Arial" panose="020B0604020202020204" pitchFamily="34" charset="0"/>
              </a:rPr>
              <a:t>H R </a:t>
            </a:r>
            <a:r>
              <a:rPr lang="en-US" sz="3200" dirty="0">
                <a:latin typeface="+mj-lt"/>
                <a:ea typeface="ＭＳ Ｐゴシック" panose="020B0600070205080204" pitchFamily="34" charset="-128"/>
                <a:cs typeface="Arial" panose="020B0604020202020204" pitchFamily="34" charset="0"/>
              </a:rPr>
              <a:t>M</a:t>
            </a:r>
            <a:endParaRPr lang="en-US" sz="3200" dirty="0">
              <a:latin typeface="+mj-lt"/>
            </a:endParaRPr>
          </a:p>
        </p:txBody>
      </p:sp>
      <p:sp>
        <p:nvSpPr>
          <p:cNvPr id="3" name="Content Placeholder 2"/>
          <p:cNvSpPr>
            <a:spLocks noGrp="1"/>
          </p:cNvSpPr>
          <p:nvPr>
            <p:ph sz="quarter" idx="13"/>
          </p:nvPr>
        </p:nvSpPr>
        <p:spPr>
          <a:xfrm>
            <a:off x="457200" y="1077121"/>
            <a:ext cx="8153400" cy="1513679"/>
          </a:xfrm>
        </p:spPr>
        <p:txBody>
          <a:bodyPr wrap="square" tIns="18000" bIns="18000">
            <a:spAutoFit/>
          </a:bodyPr>
          <a:lstStyle/>
          <a:p>
            <a:pPr marL="355600" indent="-355600">
              <a:buClr>
                <a:schemeClr val="bg2"/>
              </a:buClr>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Achieving workforce diversity and inclusion encompasses such basic </a:t>
            </a:r>
            <a:r>
              <a:rPr lang="en-US" altLang="en-US" sz="2400" spc="-300" dirty="0">
                <a:latin typeface="Arial" panose="020B0604020202020204" pitchFamily="34" charset="0"/>
                <a:ea typeface="ＭＳ Ｐゴシック" pitchFamily="34" charset="-128"/>
                <a:cs typeface="Arial" panose="020B0604020202020204" pitchFamily="34" charset="0"/>
              </a:rPr>
              <a:t>H R </a:t>
            </a:r>
            <a:r>
              <a:rPr lang="en-US" altLang="en-US" sz="2400" dirty="0">
                <a:latin typeface="Arial" panose="020B0604020202020204" pitchFamily="34" charset="0"/>
                <a:ea typeface="ＭＳ Ｐゴシック" pitchFamily="34" charset="-128"/>
                <a:cs typeface="Arial" panose="020B0604020202020204" pitchFamily="34" charset="0"/>
              </a:rPr>
              <a:t>M activities as recruitment, selection, orientation, training, performance management, and compensation/benefits. </a:t>
            </a:r>
            <a:endParaRPr lang="en-US" sz="2400" dirty="0">
              <a:latin typeface="Arial" panose="020B0604020202020204" pitchFamily="34" charset="0"/>
              <a:cs typeface="Arial" panose="020B0604020202020204" pitchFamily="34" charset="0"/>
            </a:endParaRPr>
          </a:p>
        </p:txBody>
      </p:sp>
      <p:pic>
        <p:nvPicPr>
          <p:cNvPr id="8" name="Picture Placeholder 7" descr="A photo shows a supermarket employee scanning products on a shelf with a scanner.">
            <a:extLst>
              <a:ext uri="{FF2B5EF4-FFF2-40B4-BE49-F238E27FC236}">
                <a16:creationId xmlns:a16="http://schemas.microsoft.com/office/drawing/2014/main" id="{ECF66455-1447-410C-89A2-6E6BF8C8C27F}"/>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2181225" y="2851127"/>
            <a:ext cx="4781550" cy="3038475"/>
          </a:xfrm>
        </p:spPr>
      </p:pic>
    </p:spTree>
    <p:extLst>
      <p:ext uri="{BB962C8B-B14F-4D97-AF65-F5344CB8AC3E}">
        <p14:creationId xmlns:p14="http://schemas.microsoft.com/office/powerpoint/2010/main" val="25785765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57200" y="230400"/>
            <a:ext cx="8229600" cy="590349"/>
          </a:xfrm>
        </p:spPr>
        <p:txBody>
          <a:bodyPr wrap="square" lIns="0" tIns="18000" rIns="0" bIns="18000" rtlCol="0" anchor="t" anchorCtr="0">
            <a:spAutoFit/>
          </a:bodyPr>
          <a:lstStyle/>
          <a:p>
            <a:pPr eaLnBrk="1" fontAlgn="auto" hangingPunct="1">
              <a:spcAft>
                <a:spcPts val="0"/>
              </a:spcAft>
              <a:defRPr/>
            </a:pPr>
            <a:r>
              <a:rPr lang="en-US" sz="3600" dirty="0">
                <a:latin typeface="+mj-lt"/>
              </a:rPr>
              <a:t>Copyright</a:t>
            </a:r>
            <a:endParaRPr lang="en-US" sz="3600" b="0" dirty="0">
              <a:latin typeface="+mj-lt"/>
            </a:endParaRPr>
          </a:p>
        </p:txBody>
      </p:sp>
      <p:pic>
        <p:nvPicPr>
          <p:cNvPr id="47107" name="Picture Placeholder 9" descr="Warning">
            <a:extLst>
              <a:ext uri="{FF2B5EF4-FFF2-40B4-BE49-F238E27FC236}">
                <a16:creationId xmlns:a16="http://schemas.microsoft.com/office/drawing/2014/main" id="{39143CDC-0F5E-4B76-B367-735F3520DE46}"/>
              </a:ext>
            </a:extLst>
          </p:cNvPr>
          <p:cNvPicPr>
            <a:picLocks noGrp="1" noChangeAspect="1" noChangeArrowheads="1"/>
          </p:cNvPicPr>
          <p:nvPr>
            <p:ph type="pic" sz="quarter" idx="14"/>
          </p:nvPr>
        </p:nvPicPr>
        <p:blipFill>
          <a:blip r:embed="rId3" cstate="print">
            <a:extLst>
              <a:ext uri="{28A0092B-C50C-407E-A947-70E740481C1C}">
                <a14:useLocalDpi xmlns:a14="http://schemas.microsoft.com/office/drawing/2010/main" val="0"/>
              </a:ext>
            </a:extLst>
          </a:blip>
          <a:srcRect/>
          <a:stretch>
            <a:fillRect/>
          </a:stretch>
        </p:blipFill>
        <p:spPr bwMode="auto">
          <a:xfrm>
            <a:off x="448329" y="2804916"/>
            <a:ext cx="1269677" cy="1269677"/>
          </a:xfr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2057400" y="1800124"/>
            <a:ext cx="6654601" cy="3239167"/>
          </a:xfrm>
          <a:ln w="28575">
            <a:solidFill>
              <a:schemeClr val="tx1"/>
            </a:solidFill>
            <a:miter lim="800000"/>
            <a:headEnd/>
            <a:tailEnd/>
          </a:ln>
        </p:spPr>
        <p:txBody>
          <a:bodyPr wrap="square" lIns="273600" tIns="273600" rIns="273600" bIns="273600" numCol="1" anchor="t" anchorCtr="0" compatLnSpc="1">
            <a:prstTxWarp prst="textNoShape">
              <a:avLst/>
            </a:prstTxWarp>
            <a:spAutoFit/>
          </a:bodyPr>
          <a:lstStyle/>
          <a:p>
            <a:pPr marL="0" indent="0" eaLnBrk="1" hangingPunct="1">
              <a:buFont typeface="Arial" panose="020B0604020202020204" pitchFamily="34" charset="0"/>
              <a:buNone/>
            </a:pPr>
            <a:r>
              <a:rPr lang="en-US" altLang="en-US" b="1" dirty="0">
                <a:latin typeface="Arial" panose="020B0604020202020204" pitchFamily="34" charset="0"/>
                <a:cs typeface="Arial" panose="020B0604020202020204" pitchFamily="34" charset="0"/>
              </a:rPr>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1174430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4dfc6791c9af5fd26c851634a17dd3f8179a"/>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1_508 Lecture">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c1bd8dc-4e40-424f-a15f-9ffcd522197f" xsi:nil="true"/>
    <lcf76f155ced4ddcb4097134ff3c332f xmlns="6125ffc9-2c56-435e-8267-1393444907b2">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6" ma:contentTypeDescription="Create a new document." ma:contentTypeScope="" ma:versionID="29a186ed1e65123c1a0879605a93f476">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0b181892f94accdb799936a4747b12d"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db6de40a-7f9e-437f-b1fb-43a1e580b69e}" ma:internalName="TaxCatchAll" ma:showField="CatchAllData" ma:web="7c1bd8dc-4e40-424f-a15f-9ffcd522197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3FFDBF7-1DC1-41E5-B651-4C34266C67B1}">
  <ds:schemaRefs>
    <ds:schemaRef ds:uri="http://schemas.microsoft.com/office/2006/metadata/properties"/>
    <ds:schemaRef ds:uri="http://schemas.microsoft.com/office/infopath/2007/PartnerControls"/>
    <ds:schemaRef ds:uri="7c1bd8dc-4e40-424f-a15f-9ffcd522197f"/>
    <ds:schemaRef ds:uri="6125ffc9-2c56-435e-8267-1393444907b2"/>
  </ds:schemaRefs>
</ds:datastoreItem>
</file>

<file path=customXml/itemProps2.xml><?xml version="1.0" encoding="utf-8"?>
<ds:datastoreItem xmlns:ds="http://schemas.openxmlformats.org/officeDocument/2006/customXml" ds:itemID="{6DF6C91D-AF9A-4D23-B219-AFFD38678003}">
  <ds:schemaRefs>
    <ds:schemaRef ds:uri="http://schemas.microsoft.com/sharepoint/v3/contenttype/forms"/>
  </ds:schemaRefs>
</ds:datastoreItem>
</file>

<file path=customXml/itemProps3.xml><?xml version="1.0" encoding="utf-8"?>
<ds:datastoreItem xmlns:ds="http://schemas.openxmlformats.org/officeDocument/2006/customXml" ds:itemID="{AC99B8B1-0725-4959-BDD2-397E47BD31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1bd8dc-4e40-424f-a15f-9ffcd522197f"/>
    <ds:schemaRef ds:uri="6125ffc9-2c56-435e-8267-1393444907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Horizon</Template>
  <TotalTime>6095</TotalTime>
  <Words>1572</Words>
  <Application>Microsoft Office PowerPoint</Application>
  <PresentationFormat>On-screen Show (4:3)</PresentationFormat>
  <Paragraphs>248</Paragraphs>
  <Slides>36</Slides>
  <Notes>35</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36</vt:i4>
      </vt:variant>
    </vt:vector>
  </HeadingPairs>
  <TitlesOfParts>
    <vt:vector size="45" baseType="lpstr">
      <vt:lpstr>Arial</vt:lpstr>
      <vt:lpstr>Cambria Math</vt:lpstr>
      <vt:lpstr>Noto Sans Symbols</vt:lpstr>
      <vt:lpstr>Times New Roman</vt:lpstr>
      <vt:lpstr>Verdana</vt:lpstr>
      <vt:lpstr>Wingdings</vt:lpstr>
      <vt:lpstr>508 Lecture</vt:lpstr>
      <vt:lpstr>1_508 Lecture</vt:lpstr>
      <vt:lpstr>Equation</vt:lpstr>
      <vt:lpstr>Fundamentals of Management</vt:lpstr>
      <vt:lpstr>Learning Objectives (1 of 2)</vt:lpstr>
      <vt:lpstr>Learning Objectives (2 of 2)</vt:lpstr>
      <vt:lpstr>Learning Objective 9.1</vt:lpstr>
      <vt:lpstr>Human Resource Management</vt:lpstr>
      <vt:lpstr>HRM Process and Influences</vt:lpstr>
      <vt:lpstr>The Legal Environment</vt:lpstr>
      <vt:lpstr>Affirmative Action</vt:lpstr>
      <vt:lpstr>Differences in H R M Laws</vt:lpstr>
      <vt:lpstr>Learning Objective 9.2</vt:lpstr>
      <vt:lpstr>Identifying and Selecting Employees</vt:lpstr>
      <vt:lpstr>Conducting Employee Assessments</vt:lpstr>
      <vt:lpstr>Determining Future Employment Needs</vt:lpstr>
      <vt:lpstr>Recruiting Applicants</vt:lpstr>
      <vt:lpstr>Handling Layoffs</vt:lpstr>
      <vt:lpstr>Selecting Job Applicants</vt:lpstr>
      <vt:lpstr>Reliability and Validity</vt:lpstr>
      <vt:lpstr>Selection Devices</vt:lpstr>
      <vt:lpstr>Effective Interviewing</vt:lpstr>
      <vt:lpstr>Closing the Deal</vt:lpstr>
      <vt:lpstr>Learning Objective 9.3</vt:lpstr>
      <vt:lpstr>Orientation</vt:lpstr>
      <vt:lpstr>Providing Skills and Knowledge</vt:lpstr>
      <vt:lpstr>Employee Training Methods</vt:lpstr>
      <vt:lpstr>Learning Objective 9.4</vt:lpstr>
      <vt:lpstr>Retaining Competent Employees</vt:lpstr>
      <vt:lpstr>Issues with Performance Evaluation Systems</vt:lpstr>
      <vt:lpstr>Compensating Employees</vt:lpstr>
      <vt:lpstr>Learning Objective 9.5</vt:lpstr>
      <vt:lpstr>Managing Downsizing</vt:lpstr>
      <vt:lpstr>Sexual Harassment</vt:lpstr>
      <vt:lpstr>Adapting to a Changing Workforce</vt:lpstr>
      <vt:lpstr>Learning Objective 9.6</vt:lpstr>
      <vt:lpstr>Workforce Diversity</vt:lpstr>
      <vt:lpstr>Workforce Diversity, Inclusion, and H R M</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Management, Eleventh Edition, Chapter 9</dc:title>
  <dc:subject>Fundamentals of Management</dc:subject>
  <dc:creator>Robbins, Coulter and DeCenzo</dc:creator>
  <cp:keywords/>
  <dc:description>Additional information may be found in the Notes Pane of each slide by pressing F6.</dc:description>
  <cp:lastModifiedBy>John Frazier</cp:lastModifiedBy>
  <cp:revision>1100</cp:revision>
  <dcterms:created xsi:type="dcterms:W3CDTF">2014-07-14T20:04:21Z</dcterms:created>
  <dcterms:modified xsi:type="dcterms:W3CDTF">2023-08-08T14:22:16Z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0x01010086D90B95B22DD945BDFF45EB84A5E21C</vt:lpwstr>
  </property>
</Properties>
</file>