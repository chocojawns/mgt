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59435" autoAdjust="0"/>
  </p:normalViewPr>
  <p:slideViewPr>
    <p:cSldViewPr snapToGrid="0">
      <p:cViewPr varScale="1">
        <p:scale>
          <a:sx n="57" d="100"/>
          <a:sy n="57" d="100"/>
        </p:scale>
        <p:origin x="1651"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Andy | Target 45 seconds</a:t>
            </a:r>
          </a:p>
          <a:p>
            <a:r>
              <a:t>CUES: Cars / system / central question</a:t>
            </a:r>
          </a:p>
          <a:p>
            <a:endParaRPr/>
          </a:p>
          <a:p>
            <a:r>
              <a:t>Most of us connect Henry Ford with cars and assembly lines. Today we are going to look at the management behind them. Ford did not invent the automobile. His company helped make an expensive product practical for a mass market by changing how work happened.</a:t>
            </a:r>
          </a:p>
          <a:p>
            <a:r>
              <a:t>Our argument is that his greatest contribution was an integrated system. Product design, factory organization, employee pay, and supply decisions reinforced one another. But that system also created human problems, and Ford made serious ethical failures. Our question is: what happens when efficiency becomes the organizing idea of an entire company?</a:t>
            </a:r>
          </a:p>
          <a:p>
            <a:endParaRPr/>
          </a:p>
          <a:p>
            <a:r>
              <a:t>RESEARCH (accessed October 19, 2026):</a:t>
            </a:r>
          </a:p>
          <a:p>
            <a:r>
              <a:t>[A] The Henry Ford, “Henry Ford” biography and interview transcript</a:t>
            </a:r>
          </a:p>
          <a:p>
            <a:r>
              <a:t>https://www.thehenryford.org/collections/explore/videos/henry-ford</a:t>
            </a:r>
          </a:p>
          <a:p>
            <a:r>
              <a:t>[G] Bob Casey, “Henry Ford: Case Study of an Innovator” (2021)</a:t>
            </a:r>
          </a:p>
          <a:p>
            <a:r>
              <a:t>https://www.thehenryford.org/collections/explore/articles/henry-ford-case-study-of-an-innovator</a:t>
            </a:r>
          </a:p>
          <a:p>
            <a:r>
              <a:t>IMAGE CREDIT: First official Ford Motor Company portrait, 1904, THF97952. The Henry Ford, image reproduced from source G.</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Andy | Target 65 seconds</a:t>
            </a:r>
          </a:p>
          <a:p>
            <a:r>
              <a:t>CUES: Problem / linked decisions / evaluate</a:t>
            </a:r>
          </a:p>
          <a:p>
            <a:endParaRPr/>
          </a:p>
          <a:p>
            <a:r>
              <a:t>Chapter 1 defines management around getting results through people. Efficiency asks how economically we use resources. Effectiveness asks whether we achieve the right goals. They are related, but they are not identical.</a:t>
            </a:r>
          </a:p>
          <a:p>
            <a:r>
              <a:t>Imagine a factory building the wrong product twice as fast. It has improved one measure while making its larger business problem worse. Keep that distinction in mind as we follow Ford.</a:t>
            </a:r>
          </a:p>
          <a:p>
            <a:r>
              <a:t>We will first explain his background and influences, then the production system, then the employment decisions it required. Finally, we will examine its limitations and where we see related ideas today. The goal is to evaluate management choices, rather than simply collect interesting facts about an automobile executive.</a:t>
            </a:r>
          </a:p>
          <a:p>
            <a:endParaRPr/>
          </a:p>
          <a:p>
            <a:r>
              <a:t>COURSE CONNECTION: Chapter 1, slides 10–11, management and efficiency/effectiveness. History Module, systems approach.</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Andy | Target 65 seconds</a:t>
            </a:r>
          </a:p>
          <a:p>
            <a:r>
              <a:t>CUES: Machinery / experience / broad market</a:t>
            </a:r>
          </a:p>
          <a:p>
            <a:endParaRPr/>
          </a:p>
          <a:p>
            <a:r>
              <a:t>Ford grew up around farm work but pursued machinery. Before the successful company, he worked as an engineer and experimented with gasoline vehicles. His career included failed automobile ventures, which matters because the familiar success story can make his outcome look inevitable.</a:t>
            </a:r>
          </a:p>
          <a:p>
            <a:r>
              <a:t>The company founded in 1903 and the Model T introduced in 1908 were parts of a longer learning process. The Model T aimed at durability, simple operation, and affordability.</a:t>
            </a:r>
          </a:p>
          <a:p>
            <a:r>
              <a:t>Think about the connection between a customer's needs and a manager's choices. A car designed for a broad market needs a different business system from a luxury car assembled in small numbers. Ford's background helps explain his practical approach, but the business depended on a team as well as its founder.</a:t>
            </a:r>
          </a:p>
          <a:p>
            <a:endParaRPr/>
          </a:p>
          <a:p>
            <a:r>
              <a:t>RESEARCH (accessed October 19, 2026):</a:t>
            </a:r>
          </a:p>
          <a:p>
            <a:r>
              <a:t>[A] The Henry Ford, “Henry Ford” biography and interview transcript</a:t>
            </a:r>
          </a:p>
          <a:p>
            <a:r>
              <a:t>https://www.thehenryford.org/collections/explore/videos/henry-ford</a:t>
            </a:r>
          </a:p>
          <a:p>
            <a:r>
              <a:t>[C] Ford Motor Company, “The Model T” (2020)</a:t>
            </a:r>
          </a:p>
          <a:p>
            <a:r>
              <a:t>https://corporate.ford.com/articles/history/the-model-t/</a:t>
            </a:r>
          </a:p>
          <a:p>
            <a:r>
              <a:t>IMAGE CREDIT: 1927 Model T Touring Car, THF135450, The Henry Ford. Source K; collections-media.thehenryford.org/CollectionImages/_detail/photos/thf135450.jpg</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Andy | Target 70 seconds</a:t>
            </a:r>
          </a:p>
          <a:p>
            <a:r>
              <a:rPr dirty="0"/>
              <a:t>CUES: Edison / borrowing / team credit</a:t>
            </a:r>
          </a:p>
          <a:p>
            <a:endParaRPr dirty="0"/>
          </a:p>
          <a:p>
            <a:r>
              <a:rPr dirty="0"/>
              <a:t>Edison was a personal encouragement to Ford. That is different from saying Edison designed Ford's factories. The production methods also drew on earlier industrial practices. The museum documents Ford engineers adapting the moving disassembly principle used in meatpacking.</a:t>
            </a:r>
          </a:p>
          <a:p>
            <a:r>
              <a:rPr dirty="0"/>
              <a:t>The course history module takes division of labor back to Adam Smith and describes Taylor's search for a scientifically defined method of doing each job. Ford operated in that wider efficiency movement. That is a conceptual relationship, not proof that Taylor personally taught Ford his system.</a:t>
            </a:r>
          </a:p>
          <a:p>
            <a:r>
              <a:rPr dirty="0"/>
              <a:t>Ford's engineers and managers deserve credit for implementation. Management innovation often means recognizing useful ideas elsewhere and coordinating people to make them work at scale. The genius-in-a-garage version leaves out a lot of the actual management.</a:t>
            </a:r>
          </a:p>
          <a:p>
            <a:endParaRPr dirty="0"/>
          </a:p>
          <a:p>
            <a:r>
              <a:rPr dirty="0"/>
              <a:t>COURSE CONNECTION: History Module, Adam Smith and scientific management sections. Chapter 6, slide 24, creativity and innovation.</a:t>
            </a:r>
          </a:p>
          <a:p>
            <a:r>
              <a:rPr dirty="0"/>
              <a:t>RESEARCH (accessed October 19, 2026):</a:t>
            </a:r>
          </a:p>
          <a:p>
            <a:r>
              <a:rPr dirty="0"/>
              <a:t>[L] The Henry Ford, authenticated Henry Ford quotations, Edison recollections</a:t>
            </a:r>
          </a:p>
          <a:p>
            <a:r>
              <a:rPr dirty="0"/>
              <a:t>https://www.thehenryford.org/collections/explore/popular-research-topics/henry-ford-quotations</a:t>
            </a:r>
          </a:p>
          <a:p>
            <a:r>
              <a:rPr dirty="0"/>
              <a:t>[K] The Henry Ford, “Our Most-Viewed Digitized Artifacts of All Time”</a:t>
            </a:r>
          </a:p>
          <a:p>
            <a:r>
              <a:rPr dirty="0"/>
              <a:t>https://www.thehenryford.org/collections/explore/sets/detail/our-most-viewed-digitized-artifacts-of-all-time</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Andy | Target 80 seconds</a:t>
            </a:r>
          </a:p>
          <a:p>
            <a:r>
              <a:t>CUES: Parts / jobs / movement / dependence</a:t>
            </a:r>
          </a:p>
          <a:p>
            <a:endParaRPr/>
          </a:p>
          <a:p>
            <a:r>
              <a:t>Look at how the workers and materials are arranged. The sequence of tasks matters as much as any individual machine. Standard parts reduce the need to custom fit a component. Specialized jobs make the work easier to repeat and train. Bringing the chassis past workers reduces travel around the factory.</a:t>
            </a:r>
          </a:p>
          <a:p>
            <a:r>
              <a:t>Chapter 8 calls dividing work into specific tasks work specialization. Formalization concerns how much rules and procedures guide a job. Ford's production system used both heavily.</a:t>
            </a:r>
          </a:p>
          <a:p>
            <a:r>
              <a:t>The tradeoff is dependence between stations. A problem at one point can interrupt work elsewhere. A well-designed line therefore needs reliable parts and dependable staffing. This is why we should study the whole system instead of giving all the credit to a conveyor belt. The belt cannot solve a missing-parts problem by moving more enthusiastically.</a:t>
            </a:r>
          </a:p>
          <a:p>
            <a:endParaRPr/>
          </a:p>
          <a:p>
            <a:r>
              <a:t>COURSE CONNECTION: Chapter 8, slides 4–5 and 15, specialization and formalization.</a:t>
            </a:r>
          </a:p>
          <a:p>
            <a:r>
              <a:t>RESEARCH (accessed October 19, 2026):</a:t>
            </a:r>
          </a:p>
          <a:p>
            <a:r>
              <a:t>[B] Library of Congress, “Ford Implements the Moving Assembly Line”</a:t>
            </a:r>
          </a:p>
          <a:p>
            <a:r>
              <a:t>https://guides.loc.gov/this-month-in-business-history/october/ford</a:t>
            </a:r>
          </a:p>
          <a:p>
            <a:r>
              <a:t>[K] The Henry Ford, “Our Most-Viewed Digitized Artifacts of All Time”</a:t>
            </a:r>
          </a:p>
          <a:p>
            <a:r>
              <a:t>https://www.thehenryford.org/collections/explore/sets/detail/our-most-viewed-digitized-artifacts-of-all-time</a:t>
            </a:r>
          </a:p>
          <a:p>
            <a:r>
              <a:t>IMAGE CREDIT: Workers Installing Tires on Ford Model T Assembly Line, circa 1925, THF94827. The Henry Ford, source K.</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Andy leads; Slade fields one answer | Target 65 seconds</a:t>
            </a:r>
          </a:p>
          <a:p>
            <a:r>
              <a:t>CUES: 10 seconds think / one answer / explain bottleneck</a:t>
            </a:r>
          </a:p>
          <a:p>
            <a:endParaRPr/>
          </a:p>
          <a:p>
            <a:r>
              <a:t>Give everyone about ten seconds to think. Ask for one answer, then ask why. The wheels station takes twenty seconds, so under these simplified assumptions it limits the line to one unit every twenty seconds. Making the frame station faster will mostly create waiting work in front of wheels.</a:t>
            </a:r>
          </a:p>
          <a:p>
            <a:r>
              <a:t>The assumptions are one worker at each station, no parallel capacity, sufficient materials, and a stable process. This is a classroom example, not a reconstruction of Highland Park.</a:t>
            </a:r>
          </a:p>
          <a:p>
            <a:r>
              <a:t>The management lesson is to improve the constraint in the whole process rather than celebrate local speed. Add help at wheels or redesign that task, then check where the next constraint appears. Efficiency requires coordination. Thank the person who answered and move to Ford's historical results.</a:t>
            </a:r>
          </a:p>
          <a:p>
            <a:endParaRPr/>
          </a:p>
          <a:p>
            <a:r>
              <a:t>COURSE CONNECTION: Chapter 1, efficiency. Chapter 4, identifying and evaluating a management problem.</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Andy | Target 75 seconds</a:t>
            </a:r>
          </a:p>
          <a:p>
            <a:r>
              <a:t>CUES: Same measure / calculation / throughput distinction</a:t>
            </a:r>
          </a:p>
          <a:p>
            <a:endParaRPr/>
          </a:p>
          <a:p>
            <a:r>
              <a:t>These are commonly reported figures for the reduction in assembly time as Ford refined the line. Converting twelve and a half hours to seven hundred fifty minutes lets us compare the same units. The decrease to ninety-three minutes is roughly eighty-eight percent.</a:t>
            </a:r>
          </a:p>
          <a:p>
            <a:r>
              <a:t>Be careful about what that number means. Several chassis can be on the line at once. Ninety-three minutes does not mean the factory finished only one vehicle every ninety-three minutes. The interval between completions is a separate throughput measure. It also is not a measure of every upstream operation needed to make an automobile.</a:t>
            </a:r>
          </a:p>
          <a:p>
            <a:r>
              <a:t>For a manager, the important question is which metric the process improves and which costs remain elsewhere. Use the numbers as evidence of a major process change without turning them into a claim they cannot support.</a:t>
            </a:r>
          </a:p>
          <a:p>
            <a:endParaRPr/>
          </a:p>
          <a:p>
            <a:r>
              <a:t>RESEARCH (accessed October 19, 2026):</a:t>
            </a:r>
          </a:p>
          <a:p>
            <a:r>
              <a:t>[B] Library of Congress, “Ford Implements the Moving Assembly Line”</a:t>
            </a:r>
          </a:p>
          <a:p>
            <a:r>
              <a:t>https://guides.loc.gov/this-month-in-business-history/october/ford</a:t>
            </a:r>
          </a:p>
          <a:p>
            <a:r>
              <a:t>[D] Matt Anderson, “Ford’s Five-Dollar Day,” The Henry Ford (2014)</a:t>
            </a:r>
          </a:p>
          <a:p>
            <a:r>
              <a:t>https://www.thehenryford.org/collections/explore/articles/fords-five-dollar-day</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Andy | Target 70 seconds</a:t>
            </a:r>
          </a:p>
          <a:p>
            <a:r>
              <a:t>CUES: Price range / volume / strategy</a:t>
            </a:r>
          </a:p>
          <a:p>
            <a:endParaRPr/>
          </a:p>
          <a:p>
            <a:r>
              <a:t>Ford reports a Model T price range from eight hundred fifty dollars down to as little as two hundred sixty dollars, and more than fifteen million built and sold. These are nominal prices from different years and configurations, not an inflation-adjusted comparison of identical vehicles.</a:t>
            </a:r>
          </a:p>
          <a:p>
            <a:r>
              <a:t>The broader pattern fits a cost-leadership interpretation. A standardized offering and high production volume helped Ford compete through low cost for a broad market. That is our application of Chapter 5, not a claim Ford used today's textbook label.</a:t>
            </a:r>
          </a:p>
          <a:p>
            <a:r>
              <a:t>We should also avoid saying the assembly line alone caused the price decline. Product changes, purchasing, factory learning, and other decisions mattered. The strategic lesson is that operations can change what customers can afford, which can in turn change the size of a market.</a:t>
            </a:r>
          </a:p>
          <a:p>
            <a:endParaRPr/>
          </a:p>
          <a:p>
            <a:r>
              <a:t>COURSE CONNECTION: Chapter 5, strategic management and competitive strategies, slides 9 and 19.</a:t>
            </a:r>
          </a:p>
          <a:p>
            <a:r>
              <a:t>RESEARCH (accessed October 19, 2026):</a:t>
            </a:r>
          </a:p>
          <a:p>
            <a:r>
              <a:t>[C] Ford Motor Company, “The Model T” (2020)</a:t>
            </a:r>
          </a:p>
          <a:p>
            <a:r>
              <a:t>https://corporate.ford.com/articles/history/the-model-t/</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Andy | Target 65 seconds</a:t>
            </a:r>
          </a:p>
          <a:p>
            <a:r>
              <a:t>CUES: Connections / assumptions / handoff</a:t>
            </a:r>
          </a:p>
          <a:p>
            <a:endParaRPr/>
          </a:p>
          <a:p>
            <a:r>
              <a:t>Fordism is a useful label for the connection between standardized mass production and a mass market. For this presentation, treat it as an analytical summary rather than a claim that every part appeared at once.</a:t>
            </a:r>
          </a:p>
          <a:p>
            <a:r>
              <a:t>The decisions reinforce each other. A wider product range would make the production system more complicated. A highly standardized product makes repeated tasks easier. High volume can spread equipment and facility costs across more units, but only if customers buy the output.</a:t>
            </a:r>
          </a:p>
          <a:p>
            <a:r>
              <a:t>The model depends on its assumptions. It works less well when buyers want more variety or when the people operating it will not stay. Systems thinking means following those relationships. That leads to the next question, which Slade will take: what happens when the factory runs beautifully and employees keep leaving?</a:t>
            </a:r>
          </a:p>
          <a:p>
            <a:endParaRPr/>
          </a:p>
          <a:p>
            <a:r>
              <a:t>COURSE CONNECTION: History Module, systems approach. Chapters 5 and 8, strategy and organizational structure.</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Slade | Target 80 seconds</a:t>
            </a:r>
          </a:p>
          <a:p>
            <a:r>
              <a:t>CUES: Human consequences / retention / primary evidence</a:t>
            </a:r>
          </a:p>
          <a:p>
            <a:endParaRPr/>
          </a:p>
          <a:p>
            <a:r>
              <a:t>The museum's biography describes Ford hiring fifty-three thousand people in a year to keep fourteen thousand jobs filled. We are using that description rather than mixing turnover percentages that different accounts report differently.</a:t>
            </a:r>
          </a:p>
          <a:p>
            <a:r>
              <a:t>On the right is a primary document: a worker's wife wrote to Ford in January 1914 about treatment on the assembly line. It gives us an individual perspective, not a statistical sample of every worker. But it reminds us that output figures leave out lived experience.</a:t>
            </a:r>
          </a:p>
          <a:p>
            <a:r>
              <a:t>Chapter 9 includes keeping competent employees as part of HR management. If a job is easy to learn but workers leave constantly, that job still creates organizational costs. Here the production solution generated an employment problem. The machines stayed where management put them. The people had other options.</a:t>
            </a:r>
          </a:p>
          <a:p>
            <a:endParaRPr/>
          </a:p>
          <a:p>
            <a:r>
              <a:t>COURSE CONNECTION: Chapter 9, slides 5 and 20, HRM and retention. Chapter 8, work specialization.</a:t>
            </a:r>
          </a:p>
          <a:p>
            <a:r>
              <a:t>RESEARCH (accessed October 19, 2026):</a:t>
            </a:r>
          </a:p>
          <a:p>
            <a:r>
              <a:t>[A] The Henry Ford, “Henry Ford” biography and interview transcript</a:t>
            </a:r>
          </a:p>
          <a:p>
            <a:r>
              <a:t>https://www.thehenryford.org/collections/explore/videos/henry-ford</a:t>
            </a:r>
          </a:p>
          <a:p>
            <a:r>
              <a:t>[K] The Henry Ford, “Our Most-Viewed Digitized Artifacts of All Time”</a:t>
            </a:r>
          </a:p>
          <a:p>
            <a:r>
              <a:t>https://www.thehenryford.org/collections/explore/sets/detail/our-most-viewed-digitized-artifacts-of-all-time</a:t>
            </a:r>
          </a:p>
          <a:p>
            <a:r>
              <a:t>IMAGE CREDIT: Letter to Henry Ford from the Wife of an Assembly Line Worker, January 23, 1914, THF94994. The Henry Ford, source K.</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Slade | Target 80 seconds</a:t>
            </a:r>
          </a:p>
          <a:p>
            <a:r>
              <a:t>CUES: Compensation / retention / eligibility</a:t>
            </a:r>
          </a:p>
          <a:p>
            <a:endParaRPr/>
          </a:p>
          <a:p>
            <a:r>
              <a:t>The five-dollar announcement made compensation part of the production strategy. Higher total pay could make repetitive work more attractive and help stabilize staffing. The plan also brought extraordinary publicity.</a:t>
            </a:r>
          </a:p>
          <a:p>
            <a:r>
              <a:t>The fine print matters. The original arrangement combined ordinary wages with a conditional profit-sharing payment. It was not an automatic five-dollar base wage for every worker. Eligibility depended on company requirements, including expectations about personal conduct.</a:t>
            </a:r>
          </a:p>
          <a:p>
            <a:r>
              <a:t>Our management interpretation is that a higher pay bill can still be economically sensible if it reduces costly turnover. That does not establish the exact savings from this program, and it does not mean money fixes every job-design problem. Pay can influence whether people stay while leaving monotony and lack of voice unresolved. Next, look at how the company decided who qualified.</a:t>
            </a:r>
          </a:p>
          <a:p>
            <a:endParaRPr/>
          </a:p>
          <a:p>
            <a:r>
              <a:t>COURSE CONNECTION: Chapter 9, slides 25–28, retaining and compensating employees.</a:t>
            </a:r>
          </a:p>
          <a:p>
            <a:r>
              <a:t>RESEARCH (accessed October 19, 2026):</a:t>
            </a:r>
          </a:p>
          <a:p>
            <a:r>
              <a:t>[D] Matt Anderson, “Ford’s Five-Dollar Day,” The Henry Ford (2014)</a:t>
            </a:r>
          </a:p>
          <a:p>
            <a:r>
              <a:t>https://www.thehenryford.org/collections/explore/articles/fords-five-dollar-day</a:t>
            </a:r>
          </a:p>
          <a:p>
            <a:r>
              <a:t>IMAGE CREDIT: The Henry Ford, THF204872, contemporary newspaper coverage, reproduced from source D (flyer-5day.jpg).</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Slade | Target 70 seconds</a:t>
            </a:r>
          </a:p>
          <a:p>
            <a:r>
              <a:t>CUES: Benefits / privacy / founder culture</a:t>
            </a:r>
          </a:p>
          <a:p>
            <a:endParaRPr/>
          </a:p>
          <a:p>
            <a:r>
              <a:t>The Sociological Department connected employee benefits to Ford's preferred way of living. Its investigators examined private life while the company also offered practical support. Both sides belong in the account.</a:t>
            </a:r>
          </a:p>
          <a:p>
            <a:r>
              <a:t>This is paternalism: an employer claims to act for workers' benefit while reserving authority over decisions workers might prefer to make themselves. We can recognize useful services without accepting the intrusion that accompanied them.</a:t>
            </a:r>
          </a:p>
          <a:p>
            <a:r>
              <a:t>Imagine the email: congratulations on your compensation package, and someone from work would like to inspect your kitchen. Pause briefly, then return to the issue. Chapter 2 explains how a founder can shape organizational culture. Chapter 3 asks us to consider rights as well as outcomes. An employment relationship gives a company influence, but it does not automatically justify authority over an employee's whole life.</a:t>
            </a:r>
          </a:p>
          <a:p>
            <a:endParaRPr/>
          </a:p>
          <a:p>
            <a:r>
              <a:t>COURSE CONNECTION: Chapter 2, slide 21, founder influence on culture. Chapter 3, slides 20–24, ethics and ethical leadership.</a:t>
            </a:r>
          </a:p>
          <a:p>
            <a:r>
              <a:t>RESEARCH (accessed October 19, 2026):</a:t>
            </a:r>
          </a:p>
          <a:p>
            <a:r>
              <a:t>[E] The Henry Ford, “Henry Ford: Sociological Department”</a:t>
            </a:r>
          </a:p>
          <a:p>
            <a:r>
              <a:t>https://www.thehenryford.org/collections/explore/sets/detail/henry-ford-sociological-department</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Slade | Target 70 seconds</a:t>
            </a:r>
          </a:p>
          <a:p>
            <a:r>
              <a:t>CUES: Definition / chronology / tradeoff</a:t>
            </a:r>
          </a:p>
          <a:p>
            <a:endParaRPr/>
          </a:p>
          <a:p>
            <a:r>
              <a:t>Vertical integration means expanding into other stages of a production or distribution chain. At Rouge, Ford pursued control over materials and manufacturing instead of relying entirely on outside suppliers. The museum dates the ore-to-assembly achievement to the Model A in 1927. This came after the early Model T assembly-line breakthrough at Highland Park.</a:t>
            </a:r>
          </a:p>
          <a:p>
            <a:r>
              <a:t>The attraction is coordination. A manager can align schedules and specifications across stages under common ownership. But ownership also requires capital and expertise. If needs change, a company may be stuck with facilities that are difficult to redeploy.</a:t>
            </a:r>
          </a:p>
          <a:p>
            <a:r>
              <a:t>Think of a restaurant deciding whether to buy ingredients or own the farm. Control can solve some problems and create others. Chapter 5 lists vertical integration as a growth strategy, which makes Rouge a concrete historical example rather than just a large factory.</a:t>
            </a:r>
          </a:p>
          <a:p>
            <a:endParaRPr/>
          </a:p>
          <a:p>
            <a:r>
              <a:t>COURSE CONNECTION: Chapter 5, slide 16, growth strategies including vertical integration.</a:t>
            </a:r>
          </a:p>
          <a:p>
            <a:r>
              <a:t>RESEARCH (accessed October 19, 2026):</a:t>
            </a:r>
          </a:p>
          <a:p>
            <a:r>
              <a:t>[F] The Henry Ford, “Ford Rouge Factory” research guide</a:t>
            </a:r>
          </a:p>
          <a:p>
            <a:r>
              <a:t>https://askus.thehenryford.org/K12/faq/405833</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Slade | Target 75 seconds</a:t>
            </a:r>
          </a:p>
          <a:p>
            <a:r>
              <a:t>CUES: Success / rigidity / environment</a:t>
            </a:r>
          </a:p>
          <a:p>
            <a:endParaRPr/>
          </a:p>
          <a:p>
            <a:r>
              <a:t>Ford's earlier success created a dangerous confidence in the existing formula. Buyers increasingly valued style and comfort. His reluctance to replace the Model T left the company responding late, before the new Model A appeared in 1927.</a:t>
            </a:r>
          </a:p>
          <a:p>
            <a:r>
              <a:t>That is a useful tension for an introduction to management. A person can drive radical innovation in one period and resist it later. Centralized authority can accelerate decisions when the leader understands the problem, then slow adaptation when the leader rejects unwelcome information.</a:t>
            </a:r>
          </a:p>
          <a:p>
            <a:r>
              <a:t>The course's warning about planning reinforcing today's success fits this case. Managers need feedback that can challenge the plan, not simply help execute it faster. The takeaway is not that standardization is bad. It is that a strategy needs to change when the market on which it depends changes.</a:t>
            </a:r>
          </a:p>
          <a:p>
            <a:endParaRPr/>
          </a:p>
          <a:p>
            <a:r>
              <a:t>COURSE CONNECTION: Chapter 5, slide 6, rigidity and the limits of planning. Chapter 6, managing change and innovation.</a:t>
            </a:r>
          </a:p>
          <a:p>
            <a:r>
              <a:t>RESEARCH (accessed October 19, 2026):</a:t>
            </a:r>
          </a:p>
          <a:p>
            <a:r>
              <a:t>[G] Bob Casey, “Henry Ford: Case Study of an Innovator” (2021)</a:t>
            </a:r>
          </a:p>
          <a:p>
            <a:r>
              <a:t>https://www.thehenryford.org/collections/explore/articles/henry-ford-case-study-of-an-innovator</a:t>
            </a:r>
          </a:p>
          <a:p>
            <a:r>
              <a:t>IMAGE CREDIT: Henry Ford and Edsel Ford with Ford Model A Fordor Sedan, New York Industrial Exposition, 1928, THF91597. The Henry Ford, source G.</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Slade | Target 80 seconds</a:t>
            </a:r>
          </a:p>
          <a:p>
            <a:r>
              <a:t>CUES: No humor / evidence / power</a:t>
            </a:r>
          </a:p>
          <a:p>
            <a:endParaRPr/>
          </a:p>
          <a:p>
            <a:r>
              <a:t>The Battle of the Overpass shows why a pay policy cannot stand in for an evaluation of labor relations. In 1937, Ford security personnel assaulted union organizers distributing material near the Rouge complex. Photographs made the violence visible to a wider public. Ford accepted union representation in 1941.</a:t>
            </a:r>
          </a:p>
          <a:p>
            <a:r>
              <a:t>The ethical issue is not whether higher wages were valuable. Workers could value pay and still seek collective voice over working conditions. Those interests can exist together.</a:t>
            </a:r>
          </a:p>
          <a:p>
            <a:r>
              <a:t>For management, this raises the question of whose concerns leadership hears and how employees can challenge decisions without fear. It also shows how conduct inside an organization can become a public stakeholder problem. Treat this episode seriously. We can evaluate an important operational achievement while also naming the coercion associated with the organization that produced it.</a:t>
            </a:r>
          </a:p>
          <a:p>
            <a:endParaRPr/>
          </a:p>
          <a:p>
            <a:r>
              <a:t>COURSE CONNECTION: Chapters 2–3, stakeholder environment and ethics. Chapter 9, legal environment and employee relations.</a:t>
            </a:r>
          </a:p>
          <a:p>
            <a:r>
              <a:t>RESEARCH (accessed October 19, 2026):</a:t>
            </a:r>
          </a:p>
          <a:p>
            <a:r>
              <a:t>[I] Michigan Supreme Court Learning Center, “Right of Assembly: Battle of the Overpass”</a:t>
            </a:r>
          </a:p>
          <a:p>
            <a:r>
              <a:t>https://www.courts.michigan.gov/49b296/siteassets/msc-learning-center/scrapbook-fordbattleoverpass1937.pdf</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Slade | Target 80 seconds</a:t>
            </a:r>
          </a:p>
          <a:p>
            <a:r>
              <a:t>CUES: Clear language / responsibility / no equivalence</a:t>
            </a:r>
          </a:p>
          <a:p>
            <a:endParaRPr/>
          </a:p>
          <a:p>
            <a:r>
              <a:t>Ford used the Dearborn Independent to circulate false claims about Jewish people. Collections of those articles reached audiences abroad. The Holocaust Museum documents admiration for Ford among Nazi leaders, including Hitler. Ford later issued a public apology in 1927, but the material continued circulating.</a:t>
            </a:r>
          </a:p>
          <a:p>
            <a:r>
              <a:t>This matters to a management presentation because wealth, reputation, and distribution networks gave his prejudice organizational reach. It was more than a private opinion. The conduct also faced criticism in his own time, so we should not dismiss it as simply normal for the era.</a:t>
            </a:r>
          </a:p>
          <a:p>
            <a:r>
              <a:t>There is no need to reproduce the propaganda to explain its harm. Innovation does not cancel responsibility for spreading hatred. A balanced evaluation means including the evidence necessary to understand the person and his influence, not giving ethical abuses a numerical offset against production gains.</a:t>
            </a:r>
          </a:p>
          <a:p>
            <a:endParaRPr/>
          </a:p>
          <a:p>
            <a:r>
              <a:t>COURSE CONNECTION: Chapter 3, slides 20–24, ethics and ethical leadership. Chapter 2, founder influence on culture.</a:t>
            </a:r>
          </a:p>
          <a:p>
            <a:r>
              <a:t>RESEARCH (accessed October 19, 2026):</a:t>
            </a:r>
          </a:p>
          <a:p>
            <a:r>
              <a:t>[H] U.S. Holocaust Memorial Museum, “Antisemitism and Henry Ford’s ‘The International Jew’”</a:t>
            </a:r>
          </a:p>
          <a:p>
            <a:r>
              <a:t>https://encyclopedia.ushmm.org/content/en/article/antisemitism-and-henry-fords-international-jew</a:t>
            </a:r>
          </a:p>
          <a:p>
            <a:r>
              <a:t>[M] The Henry Ford, “Henry Ford and Anti-Semitism”</a:t>
            </a:r>
          </a:p>
          <a:p>
            <a:r>
              <a:t>https://www.thehenryford.org/collections/explore/popular-research-topics/henry-ford-and-anti-semitism</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Slade | Target 70 seconds</a:t>
            </a:r>
          </a:p>
          <a:p>
            <a:r>
              <a:t>CUES: Separate achievements / ethical judgment / handoff</a:t>
            </a:r>
          </a:p>
          <a:p>
            <a:endParaRPr/>
          </a:p>
          <a:p>
            <a:r>
              <a:t>These are different dimensions of evaluation. A production method can be effective at reducing assembly time while leadership fails ethically. We do not have to choose between pretending Ford contributed nothing and treating his contribution as permission to ignore his conduct.</a:t>
            </a:r>
          </a:p>
          <a:p>
            <a:r>
              <a:t>The course asks us to understand management theory and practice. Ford helps explain both the power of designing an organization around a clear goal and the risk of letting the founder define every boundary.</a:t>
            </a:r>
          </a:p>
          <a:p>
            <a:r>
              <a:t>For a manager today, a reasonable evaluation would examine output, quality, employee experience, and consequences for other stakeholders. A single attractive measure cannot capture the whole organization. Andy will now connect those lessons to familiar workplaces and close with what managers can use from this case.</a:t>
            </a:r>
          </a:p>
          <a:p>
            <a:endParaRPr/>
          </a:p>
          <a:p>
            <a:r>
              <a:t>COURSE CONNECTION: Chapter 1 and Chapter 3, effectiveness and ethical conduct.</a:t>
            </a:r>
          </a:p>
          <a:p>
            <a:r>
              <a:t>RESEARCH (accessed October 19, 2026):</a:t>
            </a:r>
          </a:p>
          <a:p>
            <a:r>
              <a:t>[C] Ford Motor Company, “The Model T” (2020)</a:t>
            </a:r>
          </a:p>
          <a:p>
            <a:r>
              <a:t>https://corporate.ford.com/articles/history/the-model-t/</a:t>
            </a:r>
          </a:p>
          <a:p>
            <a:r>
              <a:t>[D] Matt Anderson, “Ford’s Five-Dollar Day,” The Henry Ford (2014)</a:t>
            </a:r>
          </a:p>
          <a:p>
            <a:r>
              <a:t>https://www.thehenryford.org/collections/explore/articles/fords-five-dollar-day</a:t>
            </a:r>
          </a:p>
          <a:p>
            <a:r>
              <a:t>[E] The Henry Ford, “Henry Ford: Sociological Department”</a:t>
            </a:r>
          </a:p>
          <a:p>
            <a:r>
              <a:t>https://www.thehenryford.org/collections/explore/sets/detail/henry-ford-sociological-department</a:t>
            </a:r>
          </a:p>
          <a:p>
            <a:r>
              <a:t>[G] Bob Casey, “Henry Ford: Case Study of an Innovator” (2021)</a:t>
            </a:r>
          </a:p>
          <a:p>
            <a:r>
              <a:t>https://www.thehenryford.org/collections/explore/articles/henry-ford-case-study-of-an-innovator</a:t>
            </a:r>
          </a:p>
          <a:p>
            <a:r>
              <a:t>[H] U.S. Holocaust Memorial Museum, “Antisemitism and Henry Ford’s ‘The International Jew’”</a:t>
            </a:r>
          </a:p>
          <a:p>
            <a:r>
              <a:t>https://encyclopedia.ushmm.org/content/en/article/antisemitism-and-henry-fords-international-jew</a:t>
            </a:r>
          </a:p>
          <a:p>
            <a:r>
              <a:t>[I] Michigan Supreme Court Learning Center, “Right of Assembly: Battle of the Overpass”</a:t>
            </a:r>
          </a:p>
          <a:p>
            <a:r>
              <a:t>https://www.courts.michigan.gov/49b296/siteassets/msc-learning-center/scrapbook-fordbattleoverpass1937.pdf</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Andy | Target 70 seconds</a:t>
            </a:r>
          </a:p>
          <a:p>
            <a:r>
              <a:t>CUES: Historical influence / analogies / evolution</a:t>
            </a:r>
          </a:p>
          <a:p>
            <a:endParaRPr/>
          </a:p>
          <a:p>
            <a:r>
              <a:t>Ford's production methods spread across manufacturing. Modern factories still coordinate specialized work and material movement, but they have evolved substantially. Toyota describes its system around just-in-time production and jidoka, which means detecting problems and stopping to prevent defects from continuing.</a:t>
            </a:r>
          </a:p>
          <a:p>
            <a:r>
              <a:t>The service examples are comparisons, not a claim that Ford directly invented modern kitchens or warehouses. A kitchen's stations and a fulfillment operation's standard procedures make the same general questions easy to see: how should work flow, how much should a job repeat, and who can improve the process?</a:t>
            </a:r>
          </a:p>
          <a:p>
            <a:r>
              <a:t>The modern lesson is selective adaptation. Stable, repeatable work can benefit from standards. Changing demand and complex problems also require feedback and employee judgment. Ford gives us a useful starting point for those questions, not a complete operating manual.</a:t>
            </a:r>
          </a:p>
          <a:p>
            <a:endParaRPr/>
          </a:p>
          <a:p>
            <a:r>
              <a:t>COURSE CONNECTION: Chapter 8, job design. Chapter 6, innovation. Service and logistics examples are contemporary analytical comparisons.</a:t>
            </a:r>
          </a:p>
          <a:p>
            <a:r>
              <a:t>RESEARCH (accessed October 19, 2026):</a:t>
            </a:r>
          </a:p>
          <a:p>
            <a:r>
              <a:t>[G] Bob Casey, “Henry Ford: Case Study of an Innovator” (2021)</a:t>
            </a:r>
          </a:p>
          <a:p>
            <a:r>
              <a:t>https://www.thehenryford.org/collections/explore/articles/henry-ford-case-study-of-an-innovator</a:t>
            </a:r>
          </a:p>
          <a:p>
            <a:r>
              <a:t>[J] Toyota Motor Corporation, “Toyota Production System”</a:t>
            </a:r>
          </a:p>
          <a:p>
            <a:r>
              <a:t>https://global.toyota/en/company/plant-tours/production-system/</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Andy | Target 80 seconds</a:t>
            </a:r>
          </a:p>
          <a:p>
            <a:r>
              <a:t>CUES: Apply the course / distinguish metrics / whole system</a:t>
            </a:r>
          </a:p>
          <a:p>
            <a:endParaRPr/>
          </a:p>
          <a:p>
            <a:r>
              <a:t>Here is the case in the course's four-function framework. Planning links the desired market to product and cost choices. Organizing assigns work and coordinates resources. Leading concerns the people carrying out the plan. Controlling compares performance with expectations and responds to gaps.</a:t>
            </a:r>
          </a:p>
          <a:p>
            <a:r>
              <a:t>Ford shows that these functions interact. The production plan created a need for staffing stability. Compensation addressed part of that need. Yet intrusive oversight and coercion damaged the relationship with employees.</a:t>
            </a:r>
          </a:p>
          <a:p>
            <a:r>
              <a:t>If we were advising a manager facing a similar problem, we would ask for more than an output target. We would ask how often employees leave, whether quality improves, what customers want, and whether people can report problems. That is how the historical case becomes a way to think through a present management decision rather than a list of vocabulary words.</a:t>
            </a:r>
          </a:p>
          <a:p>
            <a:endParaRPr/>
          </a:p>
          <a:p>
            <a:r>
              <a:t>COURSE CONNECTION: Chapter 1, slide 19, four management functions. Chapters 4–6, 8–9 support these applications.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Andy | Target 60 seconds</a:t>
            </a:r>
          </a:p>
          <a:p>
            <a:r>
              <a:t>CUES: Thesis / consequences / invite Q&amp;A</a:t>
            </a:r>
          </a:p>
          <a:p>
            <a:endParaRPr/>
          </a:p>
          <a:p>
            <a:r>
              <a:t>Ford's durable contribution was the integration of decisions that managers sometimes treat separately. The product affected the process. The process affected jobs. Jobs affected staffing, and staffing affected output. At enormous scale, those connections changed industrial practice.</a:t>
            </a:r>
          </a:p>
          <a:p>
            <a:r>
              <a:t>The same case shows why efficiency alone cannot define good management. An organization also has to adapt to customers and treat people responsibly. Ford could see a different future for production while failing to see the limits of his own authority and beliefs.</a:t>
            </a:r>
          </a:p>
          <a:p>
            <a:r>
              <a:t>Our conclusion is that his methods deserve study and his conduct deserves judgment. Managers can learn from both. Thank you. We are ready for questions about the assembly line, employment policies, influences, or the legacy of his approach.</a:t>
            </a:r>
          </a:p>
          <a:p>
            <a:endParaRPr/>
          </a:p>
          <a:p>
            <a:r>
              <a:t>RESEARCH (accessed October 19, 2026):</a:t>
            </a:r>
          </a:p>
          <a:p>
            <a:r>
              <a:t>[B] Library of Congress, “Ford Implements the Moving Assembly Line”</a:t>
            </a:r>
          </a:p>
          <a:p>
            <a:r>
              <a:t>https://guides.loc.gov/this-month-in-business-history/october/ford</a:t>
            </a:r>
          </a:p>
          <a:p>
            <a:r>
              <a:t>[D] Matt Anderson, “Ford’s Five-Dollar Day,” The Henry Ford (2014)</a:t>
            </a:r>
          </a:p>
          <a:p>
            <a:r>
              <a:t>https://www.thehenryford.org/collections/explore/articles/fords-five-dollar-day</a:t>
            </a:r>
          </a:p>
          <a:p>
            <a:r>
              <a:t>[G] Bob Casey, “Henry Ford: Case Study of an Innovator” (2021)</a:t>
            </a:r>
          </a:p>
          <a:p>
            <a:r>
              <a:t>https://www.thehenryford.org/collections/explore/articles/henry-ford-case-study-of-an-innovator</a:t>
            </a:r>
          </a:p>
          <a:p>
            <a:r>
              <a:t>[H] U.S. Holocaust Memorial Museum, “Antisemitism and Henry Ford’s ‘The International Jew’”</a:t>
            </a:r>
          </a:p>
          <a:p>
            <a:r>
              <a:t>https://encyclopedia.ushmm.org/content/en/article/antisemitism-and-henry-fords-international-jew</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Andy and Slade</a:t>
            </a:r>
          </a:p>
          <a:p>
            <a:r>
              <a:t>CUES: Andy: production/strategy. Slade: HR/ethics. Both: legacy.</a:t>
            </a:r>
          </a:p>
          <a:p>
            <a:endParaRPr/>
          </a:p>
          <a:p>
            <a:r>
              <a:t>Q&amp;A follows the approximately 23½-minute presentation and is not counted toward its target.</a:t>
            </a:r>
          </a:p>
          <a:p>
            <a:r>
              <a:t>Likely questions and concise answers:</a:t>
            </a:r>
          </a:p>
          <a:p>
            <a:r>
              <a:t>Did Ford invent the assembly line? Earlier methods existed. Ford and his team developed and scaled moving automobile assembly.</a:t>
            </a:r>
          </a:p>
          <a:p>
            <a:r>
              <a:t>Why pay more for repetitive work? Compensation can help attract and retain workers, although it does not replace humane job design.</a:t>
            </a:r>
          </a:p>
          <a:p>
            <a:r>
              <a:t>Was the $5 day universal? The initial plan included conditional profit sharing, so avoid describing it as an unconditional wage for everyone.</a:t>
            </a:r>
          </a:p>
          <a:p>
            <a:r>
              <a:t>Did workers get a five-day week in 1914? Do not conflate the eight-hour day associated with the wage program with Ford's later five-day workweek.</a:t>
            </a:r>
          </a:p>
          <a:p>
            <a:r>
              <a:t>Did Taylor personally teach Ford? The ideas overlap, but we have not established that direct relationship.</a:t>
            </a:r>
          </a:p>
          <a:p>
            <a:r>
              <a:t>Why study a leader who spread antisemitism? To understand real influence and evaluate it responsibly, including its harms.</a:t>
            </a:r>
          </a:p>
          <a:p>
            <a:r>
              <a:t>If uncertain, say what the sources establish and what they do not. Do not guess.</a:t>
            </a:r>
          </a:p>
          <a:p>
            <a:endParaRPr/>
          </a:p>
          <a:p>
            <a:r>
              <a:t>RESEARCH (accessed October 19, 2026):</a:t>
            </a:r>
          </a:p>
          <a:p>
            <a:r>
              <a:t>[B] Library of Congress, “Ford Implements the Moving Assembly Line”</a:t>
            </a:r>
          </a:p>
          <a:p>
            <a:r>
              <a:t>https://guides.loc.gov/this-month-in-business-history/october/ford</a:t>
            </a:r>
          </a:p>
          <a:p>
            <a:r>
              <a:t>[D] Matt Anderson, “Ford’s Five-Dollar Day,” The Henry Ford (2014)</a:t>
            </a:r>
          </a:p>
          <a:p>
            <a:r>
              <a:t>https://www.thehenryford.org/collections/explore/articles/fords-five-dollar-day</a:t>
            </a:r>
          </a:p>
          <a:p>
            <a:r>
              <a:t>[H] U.S. Holocaust Memorial Museum, “Antisemitism and Henry Ford’s ‘The International Jew’”</a:t>
            </a:r>
          </a:p>
          <a:p>
            <a:r>
              <a:t>https://encyclopedia.ushmm.org/content/en/article/antisemitism-and-henry-fords-international-jew</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The Henry Ford, “Henry Ford” biography and interview transcript</a:t>
            </a:r>
          </a:p>
          <a:p>
            <a:r>
              <a:t>https://www.thehenryford.org/collections/explore/videos/henry-ford</a:t>
            </a:r>
          </a:p>
          <a:p>
            <a:endParaRPr/>
          </a:p>
          <a:p>
            <a:r>
              <a:t>[B] Library of Congress, “Ford Implements the Moving Assembly Line”</a:t>
            </a:r>
          </a:p>
          <a:p>
            <a:r>
              <a:t>https://guides.loc.gov/this-month-in-business-history/october/ford</a:t>
            </a:r>
          </a:p>
          <a:p>
            <a:endParaRPr/>
          </a:p>
          <a:p>
            <a:r>
              <a:t>[C] Ford Motor Company, “The Model T” (2020)</a:t>
            </a:r>
          </a:p>
          <a:p>
            <a:r>
              <a:t>https://corporate.ford.com/articles/history/the-model-t/</a:t>
            </a:r>
          </a:p>
          <a:p>
            <a:endParaRPr/>
          </a:p>
          <a:p>
            <a:r>
              <a:t>[F] The Henry Ford, “Ford Rouge Factory” research guide</a:t>
            </a:r>
          </a:p>
          <a:p>
            <a:r>
              <a:t>https://askus.thehenryford.org/K12/faq/405833</a:t>
            </a:r>
          </a:p>
          <a:p>
            <a:endParaRPr/>
          </a:p>
          <a:p>
            <a:r>
              <a:t>[G] Bob Casey, “Henry Ford: Case Study of an Innovator” (2021)</a:t>
            </a:r>
          </a:p>
          <a:p>
            <a:r>
              <a:t>https://www.thehenryford.org/collections/explore/articles/henry-ford-case-study-of-an-innovator</a:t>
            </a:r>
          </a:p>
          <a:p>
            <a:endParaRPr/>
          </a:p>
          <a:p>
            <a:r>
              <a:t>[L] The Henry Ford, authenticated Henry Ford quotations, Edison recollections</a:t>
            </a:r>
          </a:p>
          <a:p>
            <a:r>
              <a:t>https://www.thehenryford.org/collections/explore/popular-research-topics/henry-ford-quotations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 Matt Anderson, “Ford’s Five-Dollar Day,” The Henry Ford (2014)</a:t>
            </a:r>
          </a:p>
          <a:p>
            <a:r>
              <a:t>https://www.thehenryford.org/collections/explore/articles/fords-five-dollar-day</a:t>
            </a:r>
          </a:p>
          <a:p>
            <a:endParaRPr/>
          </a:p>
          <a:p>
            <a:r>
              <a:t>[E] The Henry Ford, “Henry Ford: Sociological Department”</a:t>
            </a:r>
          </a:p>
          <a:p>
            <a:r>
              <a:t>https://www.thehenryford.org/collections/explore/sets/detail/henry-ford-sociological-department</a:t>
            </a:r>
          </a:p>
          <a:p>
            <a:endParaRPr/>
          </a:p>
          <a:p>
            <a:r>
              <a:t>[H] U.S. Holocaust Memorial Museum, “Antisemitism and Henry Ford’s ‘The International Jew’”</a:t>
            </a:r>
          </a:p>
          <a:p>
            <a:r>
              <a:t>https://encyclopedia.ushmm.org/content/en/article/antisemitism-and-henry-fords-international-jew</a:t>
            </a:r>
          </a:p>
          <a:p>
            <a:endParaRPr/>
          </a:p>
          <a:p>
            <a:r>
              <a:t>[I] Michigan Supreme Court Learning Center, “Right of Assembly: Battle of the Overpass”</a:t>
            </a:r>
          </a:p>
          <a:p>
            <a:r>
              <a:t>https://www.courts.michigan.gov/49b296/siteassets/msc-learning-center/scrapbook-fordbattleoverpass1937.pdf</a:t>
            </a:r>
          </a:p>
          <a:p>
            <a:endParaRPr/>
          </a:p>
          <a:p>
            <a:r>
              <a:t>[J] Toyota Motor Corporation, “Toyota Production System”</a:t>
            </a:r>
          </a:p>
          <a:p>
            <a:r>
              <a:t>https://global.toyota/en/company/plant-tours/production-system/</a:t>
            </a:r>
          </a:p>
          <a:p>
            <a:endParaRPr/>
          </a:p>
          <a:p>
            <a:r>
              <a:t>[M] The Henry Ford, “Henry Ford and Anti-Semitism”</a:t>
            </a:r>
          </a:p>
          <a:p>
            <a:r>
              <a:t>https://www.thehenryford.org/collections/explore/popular-research-topics/henry-ford-and-anti-semitism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Andy / Slade</a:t>
            </a:r>
          </a:p>
          <a:p>
            <a:r>
              <a:t>CUES: Course materials and visual credits</a:t>
            </a:r>
          </a:p>
          <a:p>
            <a:endParaRPr/>
          </a:p>
          <a:p>
            <a:r>
              <a:t>COURSE MATERIALS USED:</a:t>
            </a:r>
          </a:p>
          <a:p>
            <a:r>
              <a:t>Chapter 1: management, efficiency/effectiveness, four functions (slides 10–11, 19).</a:t>
            </a:r>
          </a:p>
          <a:p>
            <a:r>
              <a:t>Chapter 2: stakeholders and organizational culture, including founder influence (slide 21).</a:t>
            </a:r>
          </a:p>
          <a:p>
            <a:r>
              <a:t>Chapter 3: ethical approaches and leadership (slides 20–24).</a:t>
            </a:r>
          </a:p>
          <a:p>
            <a:r>
              <a:t>Chapter 4: identifying problems and evaluating management decisions.</a:t>
            </a:r>
          </a:p>
          <a:p>
            <a:r>
              <a:t>Chapter 5: strategy, planning rigidity, competitive strategies, vertical integration (slides 6, 9, 16, 19–20).</a:t>
            </a:r>
          </a:p>
          <a:p>
            <a:r>
              <a:t>Chapter 6: change and innovation (slide 24 and related sections).</a:t>
            </a:r>
          </a:p>
          <a:p>
            <a:r>
              <a:t>Chapter 8: structure, specialization, centralization, formalization (slides 4–5, 14–15).</a:t>
            </a:r>
          </a:p>
          <a:p>
            <a:r>
              <a:t>Chapter 9: HRM, retention, compensation (slides 5, 20, 25–28).</a:t>
            </a:r>
          </a:p>
          <a:p>
            <a:r>
              <a:t>History Module-1.pdf: Adam Smith, Taylor, systems and contingency approaches.</a:t>
            </a:r>
          </a:p>
          <a:p>
            <a:r>
              <a:t>Visuals: slide 1 THF97952; slide 3 THF135450; slide 5 THF94827; slide 10 THF94994; slide 11 THF204872; slide 14 THF91597. All The Henry Ford. Each image's original title and source appear in that slide's notes.</a:t>
            </a:r>
          </a:p>
          <a:p>
            <a:r>
              <a:t>Rubric supplied by the user: 20–25 minutes plus Q&amp;A, management contributions, influences, contemporary evidence, professional visual aids, research and information submission. The course name follows the user's correction to MGT 210, Section T01.</a:t>
            </a:r>
          </a:p>
          <a:p>
            <a:endParaRPr/>
          </a:p>
          <a:p>
            <a:r>
              <a:t>RESEARCH (accessed October 19, 2026):</a:t>
            </a:r>
          </a:p>
          <a:p>
            <a:r>
              <a:t>[K] The Henry Ford, “Our Most-Viewed Digitized Artifacts of All Time”</a:t>
            </a:r>
          </a:p>
          <a:p>
            <a:r>
              <a:t>https://www.thehenryford.org/collections/explore/sets/detail/our-most-viewed-digitized-artifacts-of-all-time</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8" Type="http://schemas.openxmlformats.org/officeDocument/2006/relationships/hyperlink" Target="https://www.thehenryford.org/collections/explore/popular-research-topics/henry-ford-quotations" TargetMode="External"/><Relationship Id="rId3" Type="http://schemas.openxmlformats.org/officeDocument/2006/relationships/hyperlink" Target="https://www.thehenryford.org/collections/explore/videos/henry-ford" TargetMode="External"/><Relationship Id="rId7" Type="http://schemas.openxmlformats.org/officeDocument/2006/relationships/hyperlink" Target="https://www.thehenryford.org/collections/explore/articles/henry-ford-case-study-of-an-innovator" TargetMode="External"/><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hyperlink" Target="https://askus.thehenryford.org/K12/faq/405833" TargetMode="External"/><Relationship Id="rId5" Type="http://schemas.openxmlformats.org/officeDocument/2006/relationships/hyperlink" Target="https://corporate.ford.com/articles/history/the-model-t/" TargetMode="External"/><Relationship Id="rId4" Type="http://schemas.openxmlformats.org/officeDocument/2006/relationships/hyperlink" Target="https://guides.loc.gov/this-month-in-business-history/october/ford" TargetMode="External"/></Relationships>
</file>

<file path=ppt/slides/_rels/slide23.xml.rels><?xml version="1.0" encoding="UTF-8" standalone="yes"?>
<Relationships xmlns="http://schemas.openxmlformats.org/package/2006/relationships"><Relationship Id="rId8" Type="http://schemas.openxmlformats.org/officeDocument/2006/relationships/hyperlink" Target="https://www.thehenryford.org/collections/explore/popular-research-topics/henry-ford-and-anti-semitism" TargetMode="External"/><Relationship Id="rId3" Type="http://schemas.openxmlformats.org/officeDocument/2006/relationships/hyperlink" Target="https://www.thehenryford.org/collections/explore/articles/fords-five-dollar-day" TargetMode="External"/><Relationship Id="rId7" Type="http://schemas.openxmlformats.org/officeDocument/2006/relationships/hyperlink" Target="https://global.toyota/en/company/plant-tours/production-system/" TargetMode="External"/><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hyperlink" Target="https://www.courts.michigan.gov/49b296/siteassets/msc-learning-center/scrapbook-fordbattleoverpass1937.pdf" TargetMode="External"/><Relationship Id="rId5" Type="http://schemas.openxmlformats.org/officeDocument/2006/relationships/hyperlink" Target="https://encyclopedia.ushmm.org/content/en/article/antisemitism-and-henry-fords-international-jew" TargetMode="External"/><Relationship Id="rId4" Type="http://schemas.openxmlformats.org/officeDocument/2006/relationships/hyperlink" Target="https://www.thehenryford.org/collections/explore/sets/detail/henry-ford-sociological-department" TargetMode="Externa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72A36"/>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5E19B98-FB5A-4614-92EA-72369D690D84}"/>
              </a:ext>
            </a:extLst>
          </p:cNvPr>
          <p:cNvSpPr>
            <a:spLocks noGrp="1"/>
          </p:cNvSpPr>
          <p:nvPr/>
        </p:nvSpPr>
        <p:spPr>
          <a:xfrm>
            <a:off x="609600" y="457200"/>
            <a:ext cx="10858500" cy="1066800"/>
          </a:xfrm>
          <a:prstGeom prst="rect">
            <a:avLst/>
          </a:prstGeom>
          <a:noFill/>
          <a:ln w="0">
            <a:noFill/>
          </a:ln>
        </p:spPr>
        <p:txBody>
          <a:bodyPr lIns="0" tIns="0" rIns="0" bIns="0">
            <a:noAutofit/>
          </a:bodyPr>
          <a:lstStyle/>
          <a:p>
            <a:pPr>
              <a:defRPr sz="4800" b="1">
                <a:solidFill>
                  <a:srgbClr val="F4F1EA"/>
                </a:solidFill>
                <a:latin typeface="Arial"/>
                <a:ea typeface="Arial"/>
                <a:cs typeface="Arial"/>
              </a:defRPr>
            </a:pPr>
            <a:r>
              <a:rPr sz="4800" b="1">
                <a:solidFill>
                  <a:srgbClr val="F4F1EA"/>
                </a:solidFill>
                <a:latin typeface="Arial"/>
                <a:ea typeface="Arial"/>
                <a:cs typeface="Arial"/>
              </a:rPr>
              <a:t>Henry Ford</a:t>
            </a:r>
          </a:p>
        </p:txBody>
      </p:sp>
      <p:sp>
        <p:nvSpPr>
          <p:cNvPr id="2" name="Rectangle 1">
            <a:extLst>
              <a:ext uri="{FF2B5EF4-FFF2-40B4-BE49-F238E27FC236}">
                <a16:creationId xmlns:a16="http://schemas.microsoft.com/office/drawing/2014/main" id="{7005FDF1-0CBD-48B3-9EF8-7BC317C43B1E}"/>
              </a:ext>
            </a:extLst>
          </p:cNvPr>
          <p:cNvSpPr>
            <a:spLocks noGrp="1"/>
          </p:cNvSpPr>
          <p:nvPr/>
        </p:nvSpPr>
        <p:spPr>
          <a:xfrm>
            <a:off x="609600" y="2095500"/>
            <a:ext cx="6191250" cy="952500"/>
          </a:xfrm>
          <a:prstGeom prst="rect">
            <a:avLst/>
          </a:prstGeom>
          <a:noFill/>
          <a:ln w="0">
            <a:noFill/>
          </a:ln>
        </p:spPr>
        <p:txBody>
          <a:bodyPr lIns="0" tIns="0" rIns="0" bIns="0">
            <a:noAutofit/>
          </a:bodyPr>
          <a:lstStyle/>
          <a:p>
            <a:pPr>
              <a:defRPr sz="2550" b="0">
                <a:solidFill>
                  <a:srgbClr val="F4F1EA"/>
                </a:solidFill>
                <a:latin typeface="Arial"/>
                <a:ea typeface="Arial"/>
                <a:cs typeface="Arial"/>
              </a:defRPr>
            </a:pPr>
            <a:r>
              <a:rPr sz="2550" b="0">
                <a:solidFill>
                  <a:srgbClr val="F4F1EA"/>
                </a:solidFill>
                <a:latin typeface="Arial"/>
                <a:ea typeface="Arial"/>
                <a:cs typeface="Arial"/>
              </a:rPr>
              <a:t>The man who changed how the world works</a:t>
            </a:r>
          </a:p>
        </p:txBody>
      </p:sp>
      <p:sp>
        <p:nvSpPr>
          <p:cNvPr id="3" name="Rectangle 2">
            <a:extLst>
              <a:ext uri="{FF2B5EF4-FFF2-40B4-BE49-F238E27FC236}">
                <a16:creationId xmlns:a16="http://schemas.microsoft.com/office/drawing/2014/main" id="{4EF62AE1-4BC4-4A57-B094-829E0F4D5EF9}"/>
              </a:ext>
            </a:extLst>
          </p:cNvPr>
          <p:cNvSpPr>
            <a:spLocks noGrp="1"/>
          </p:cNvSpPr>
          <p:nvPr/>
        </p:nvSpPr>
        <p:spPr>
          <a:xfrm>
            <a:off x="609600" y="4829175"/>
            <a:ext cx="6191250" cy="952500"/>
          </a:xfrm>
          <a:prstGeom prst="rect">
            <a:avLst/>
          </a:prstGeom>
          <a:noFill/>
          <a:ln w="0">
            <a:noFill/>
          </a:ln>
        </p:spPr>
        <p:txBody>
          <a:bodyPr lIns="0" tIns="0" rIns="0" bIns="0">
            <a:noAutofit/>
          </a:bodyPr>
          <a:lstStyle/>
          <a:p>
            <a:pPr>
              <a:defRPr sz="1875" b="0">
                <a:solidFill>
                  <a:srgbClr val="F4F1EA"/>
                </a:solidFill>
                <a:latin typeface="Arial"/>
                <a:ea typeface="Arial"/>
                <a:cs typeface="Arial"/>
              </a:defRPr>
            </a:pPr>
            <a:r>
              <a:rPr sz="1875" b="0">
                <a:solidFill>
                  <a:srgbClr val="F4F1EA"/>
                </a:solidFill>
                <a:latin typeface="Arial"/>
                <a:ea typeface="Arial"/>
                <a:cs typeface="Arial"/>
              </a:rPr>
              <a:t>Andy Johnson &amp; Slade McClain</a:t>
            </a:r>
          </a:p>
          <a:p>
            <a:pPr>
              <a:defRPr sz="1875" b="0">
                <a:solidFill>
                  <a:srgbClr val="F4F1EA"/>
                </a:solidFill>
                <a:latin typeface="Arial"/>
                <a:ea typeface="Arial"/>
                <a:cs typeface="Arial"/>
              </a:defRPr>
            </a:pPr>
            <a:r>
              <a:rPr sz="1875" b="0">
                <a:solidFill>
                  <a:srgbClr val="F4F1EA"/>
                </a:solidFill>
                <a:latin typeface="Arial"/>
                <a:ea typeface="Arial"/>
                <a:cs typeface="Arial"/>
              </a:rPr>
              <a:t>MGT 210, Section T01</a:t>
            </a:r>
          </a:p>
        </p:txBody>
      </p:sp>
      <p:pic>
        <p:nvPicPr>
          <p:cNvPr id="10" name="Picture 9"/>
          <p:cNvPicPr>
            <a:picLocks noChangeAspect="1"/>
          </p:cNvPicPr>
          <p:nvPr/>
        </p:nvPicPr>
        <p:blipFill>
          <a:blip r:embed="rId3"/>
          <a:stretch/>
        </p:blipFill>
        <p:spPr>
          <a:xfrm>
            <a:off x="7524750" y="531485"/>
            <a:ext cx="4000500" cy="5452129"/>
          </a:xfrm>
          <a:prstGeom prst="rect">
            <a:avLst/>
          </a:prstGeom>
        </p:spPr>
      </p:pic>
      <p:sp>
        <p:nvSpPr>
          <p:cNvPr id="5" name="Rectangle 4">
            <a:extLst>
              <a:ext uri="{FF2B5EF4-FFF2-40B4-BE49-F238E27FC236}">
                <a16:creationId xmlns:a16="http://schemas.microsoft.com/office/drawing/2014/main" id="{E572306D-3F0D-4A82-A735-D049B1098EFB}"/>
              </a:ext>
            </a:extLst>
          </p:cNvPr>
          <p:cNvSpPr>
            <a:spLocks noGrp="1"/>
          </p:cNvSpPr>
          <p:nvPr/>
        </p:nvSpPr>
        <p:spPr>
          <a:xfrm>
            <a:off x="11430000" y="6429375"/>
            <a:ext cx="428625" cy="209550"/>
          </a:xfrm>
          <a:prstGeom prst="rect">
            <a:avLst/>
          </a:prstGeom>
          <a:noFill/>
          <a:ln w="0">
            <a:noFill/>
          </a:ln>
        </p:spPr>
        <p:txBody>
          <a:bodyPr lIns="0" tIns="0" rIns="0" bIns="0">
            <a:noAutofit/>
          </a:bodyPr>
          <a:lstStyle/>
          <a:p>
            <a:pPr>
              <a:defRPr sz="1125" b="0">
                <a:solidFill>
                  <a:srgbClr val="C2C9CB"/>
                </a:solidFill>
                <a:latin typeface="Arial"/>
                <a:ea typeface="Arial"/>
                <a:cs typeface="Arial"/>
              </a:defRPr>
            </a:pPr>
            <a:r>
              <a:rPr sz="1125" b="0">
                <a:solidFill>
                  <a:srgbClr val="C2C9CB"/>
                </a:solidFill>
                <a:latin typeface="Arial"/>
                <a:ea typeface="Arial"/>
                <a:cs typeface="Arial"/>
              </a:rPr>
              <a:t>01</a:t>
            </a:r>
          </a:p>
        </p:txBody>
      </p:sp>
      <p:sp>
        <p:nvSpPr>
          <p:cNvPr id="6" name="Rectangle 5">
            <a:extLst>
              <a:ext uri="{FF2B5EF4-FFF2-40B4-BE49-F238E27FC236}">
                <a16:creationId xmlns:a16="http://schemas.microsoft.com/office/drawing/2014/main" id="{D3A978C2-9D89-4AD1-94C7-1829B315BB4A}"/>
              </a:ext>
            </a:extLst>
          </p:cNvPr>
          <p:cNvSpPr>
            <a:spLocks noGrp="1"/>
          </p:cNvSpPr>
          <p:nvPr/>
        </p:nvSpPr>
        <p:spPr>
          <a:xfrm>
            <a:off x="666750" y="6429375"/>
            <a:ext cx="9525000" cy="209550"/>
          </a:xfrm>
          <a:prstGeom prst="rect">
            <a:avLst/>
          </a:prstGeom>
          <a:noFill/>
          <a:ln w="0">
            <a:noFill/>
          </a:ln>
        </p:spPr>
        <p:txBody>
          <a:bodyPr lIns="0" tIns="0" rIns="0" bIns="0">
            <a:noAutofit/>
          </a:bodyPr>
          <a:lstStyle/>
          <a:p>
            <a:pPr>
              <a:defRPr sz="1125" b="0">
                <a:solidFill>
                  <a:srgbClr val="C2C9CB"/>
                </a:solidFill>
                <a:latin typeface="Arial"/>
                <a:ea typeface="Arial"/>
                <a:cs typeface="Arial"/>
              </a:defRPr>
            </a:pPr>
            <a:r>
              <a:rPr sz="1125" b="0">
                <a:solidFill>
                  <a:srgbClr val="C2C9CB"/>
                </a:solidFill>
                <a:latin typeface="Arial"/>
                <a:ea typeface="Arial"/>
                <a:cs typeface="Arial"/>
              </a:rPr>
              <a:t>[A] [G]</a:t>
            </a:r>
          </a:p>
        </p:txBody>
      </p:sp>
    </p:spTree>
    <p:extLst>
      <p:ext uri="{BB962C8B-B14F-4D97-AF65-F5344CB8AC3E}">
        <p14:creationId xmlns:p14="http://schemas.microsoft.com/office/powerpoint/2010/main" val="1862157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1EA"/>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D79716F-55ED-489F-9CB2-94D1E5FB1E31}"/>
              </a:ext>
            </a:extLst>
          </p:cNvPr>
          <p:cNvSpPr>
            <a:spLocks noGrp="1"/>
          </p:cNvSpPr>
          <p:nvPr/>
        </p:nvSpPr>
        <p:spPr>
          <a:xfrm>
            <a:off x="609600" y="457200"/>
            <a:ext cx="10858500" cy="1066800"/>
          </a:xfrm>
          <a:prstGeom prst="rect">
            <a:avLst/>
          </a:prstGeom>
          <a:noFill/>
          <a:ln w="0">
            <a:noFill/>
          </a:ln>
        </p:spPr>
        <p:txBody>
          <a:bodyPr lIns="0" tIns="0" rIns="0" bIns="0">
            <a:noAutofit/>
          </a:bodyPr>
          <a:lstStyle/>
          <a:p>
            <a:pPr>
              <a:defRPr sz="3225" b="1">
                <a:solidFill>
                  <a:srgbClr val="172A36"/>
                </a:solidFill>
                <a:latin typeface="Arial"/>
                <a:ea typeface="Arial"/>
                <a:cs typeface="Arial"/>
              </a:defRPr>
            </a:pPr>
            <a:r>
              <a:rPr sz="3225" b="1">
                <a:solidFill>
                  <a:srgbClr val="172A36"/>
                </a:solidFill>
                <a:latin typeface="Arial"/>
                <a:ea typeface="Arial"/>
                <a:cs typeface="Arial"/>
              </a:rPr>
              <a:t>The management question</a:t>
            </a:r>
          </a:p>
        </p:txBody>
      </p:sp>
      <p:sp>
        <p:nvSpPr>
          <p:cNvPr id="2" name="Rectangle 1">
            <a:extLst>
              <a:ext uri="{FF2B5EF4-FFF2-40B4-BE49-F238E27FC236}">
                <a16:creationId xmlns:a16="http://schemas.microsoft.com/office/drawing/2014/main" id="{EEBA6C4C-EFF3-4510-9227-E8C8A62FB2D9}"/>
              </a:ext>
            </a:extLst>
          </p:cNvPr>
          <p:cNvSpPr>
            <a:spLocks noGrp="1"/>
          </p:cNvSpPr>
          <p:nvPr/>
        </p:nvSpPr>
        <p:spPr>
          <a:xfrm>
            <a:off x="666750" y="1762125"/>
            <a:ext cx="10572750" cy="952500"/>
          </a:xfrm>
          <a:prstGeom prst="rect">
            <a:avLst/>
          </a:prstGeom>
          <a:noFill/>
          <a:ln w="0">
            <a:noFill/>
          </a:ln>
        </p:spPr>
        <p:txBody>
          <a:bodyPr lIns="0" tIns="0" rIns="0" bIns="0">
            <a:noAutofit/>
          </a:bodyPr>
          <a:lstStyle/>
          <a:p>
            <a:pPr>
              <a:defRPr sz="2400" b="0">
                <a:solidFill>
                  <a:srgbClr val="172A36"/>
                </a:solidFill>
                <a:latin typeface="Arial"/>
                <a:ea typeface="Arial"/>
                <a:cs typeface="Arial"/>
              </a:defRPr>
            </a:pPr>
            <a:r>
              <a:rPr sz="2400" b="0">
                <a:solidFill>
                  <a:srgbClr val="172A36"/>
                </a:solidFill>
                <a:latin typeface="Arial"/>
                <a:ea typeface="Arial"/>
                <a:cs typeface="Arial"/>
              </a:rPr>
              <a:t>How do you make a complicated product affordable to millions?</a:t>
            </a:r>
          </a:p>
        </p:txBody>
      </p:sp>
      <p:sp>
        <p:nvSpPr>
          <p:cNvPr id="3" name="Rectangle 2">
            <a:extLst>
              <a:ext uri="{FF2B5EF4-FFF2-40B4-BE49-F238E27FC236}">
                <a16:creationId xmlns:a16="http://schemas.microsoft.com/office/drawing/2014/main" id="{2591DB82-674E-4244-B292-CC8BD0CEFBE1}"/>
              </a:ext>
            </a:extLst>
          </p:cNvPr>
          <p:cNvSpPr>
            <a:spLocks noGrp="1"/>
          </p:cNvSpPr>
          <p:nvPr/>
        </p:nvSpPr>
        <p:spPr>
          <a:xfrm>
            <a:off x="666750" y="2809875"/>
            <a:ext cx="10572750" cy="952500"/>
          </a:xfrm>
          <a:prstGeom prst="rect">
            <a:avLst/>
          </a:prstGeom>
          <a:noFill/>
          <a:ln w="0">
            <a:noFill/>
          </a:ln>
        </p:spPr>
        <p:txBody>
          <a:bodyPr lIns="0" tIns="0" rIns="0" bIns="0">
            <a:noAutofit/>
          </a:bodyPr>
          <a:lstStyle/>
          <a:p>
            <a:pPr>
              <a:defRPr sz="2400" b="0">
                <a:solidFill>
                  <a:srgbClr val="172A36"/>
                </a:solidFill>
                <a:latin typeface="Arial"/>
                <a:ea typeface="Arial"/>
                <a:cs typeface="Arial"/>
              </a:defRPr>
            </a:pPr>
            <a:r>
              <a:rPr sz="2400" b="0">
                <a:solidFill>
                  <a:srgbClr val="172A36"/>
                </a:solidFill>
                <a:latin typeface="Arial"/>
                <a:ea typeface="Arial"/>
                <a:cs typeface="Arial"/>
              </a:rPr>
              <a:t>Ford connected the product, the production process, and the people doing the work.</a:t>
            </a:r>
          </a:p>
        </p:txBody>
      </p:sp>
      <p:sp>
        <p:nvSpPr>
          <p:cNvPr id="4" name="Rectangle 3">
            <a:extLst>
              <a:ext uri="{FF2B5EF4-FFF2-40B4-BE49-F238E27FC236}">
                <a16:creationId xmlns:a16="http://schemas.microsoft.com/office/drawing/2014/main" id="{F515F816-A874-4422-831C-7FAA73E5A0EA}"/>
              </a:ext>
            </a:extLst>
          </p:cNvPr>
          <p:cNvSpPr>
            <a:spLocks noGrp="1"/>
          </p:cNvSpPr>
          <p:nvPr/>
        </p:nvSpPr>
        <p:spPr>
          <a:xfrm>
            <a:off x="666750" y="3857625"/>
            <a:ext cx="10572750" cy="952500"/>
          </a:xfrm>
          <a:prstGeom prst="rect">
            <a:avLst/>
          </a:prstGeom>
          <a:noFill/>
          <a:ln w="0">
            <a:noFill/>
          </a:ln>
        </p:spPr>
        <p:txBody>
          <a:bodyPr lIns="0" tIns="0" rIns="0" bIns="0">
            <a:noAutofit/>
          </a:bodyPr>
          <a:lstStyle/>
          <a:p>
            <a:pPr>
              <a:defRPr sz="2400" b="0">
                <a:solidFill>
                  <a:srgbClr val="172A36"/>
                </a:solidFill>
                <a:latin typeface="Arial"/>
                <a:ea typeface="Arial"/>
                <a:cs typeface="Arial"/>
              </a:defRPr>
            </a:pPr>
            <a:r>
              <a:rPr sz="2400" b="0">
                <a:solidFill>
                  <a:srgbClr val="172A36"/>
                </a:solidFill>
                <a:latin typeface="Arial"/>
                <a:ea typeface="Arial"/>
                <a:cs typeface="Arial"/>
              </a:rPr>
              <a:t>The test: efficiency, effectiveness, and consequences</a:t>
            </a:r>
          </a:p>
        </p:txBody>
      </p:sp>
      <p:sp>
        <p:nvSpPr>
          <p:cNvPr id="5" name="Rectangle 4">
            <a:extLst>
              <a:ext uri="{FF2B5EF4-FFF2-40B4-BE49-F238E27FC236}">
                <a16:creationId xmlns:a16="http://schemas.microsoft.com/office/drawing/2014/main" id="{8B952FBC-4B3D-4D14-8087-4776EB362158}"/>
              </a:ext>
            </a:extLst>
          </p:cNvPr>
          <p:cNvSpPr>
            <a:spLocks noGrp="1"/>
          </p:cNvSpPr>
          <p:nvPr/>
        </p:nvSpPr>
        <p:spPr>
          <a:xfrm>
            <a:off x="666750" y="6096000"/>
            <a:ext cx="10715625" cy="238125"/>
          </a:xfrm>
          <a:prstGeom prst="rect">
            <a:avLst/>
          </a:prstGeom>
          <a:noFill/>
          <a:ln w="0">
            <a:noFill/>
          </a:ln>
        </p:spPr>
        <p:txBody>
          <a:bodyPr lIns="0" tIns="0" rIns="0" bIns="0">
            <a:noAutofit/>
          </a:bodyPr>
          <a:lstStyle/>
          <a:p>
            <a:pPr>
              <a:defRPr sz="1350" b="0">
                <a:solidFill>
                  <a:srgbClr val="A95D35"/>
                </a:solidFill>
                <a:latin typeface="Arial"/>
                <a:ea typeface="Arial"/>
                <a:cs typeface="Arial"/>
              </a:defRPr>
            </a:pPr>
            <a:r>
              <a:rPr sz="1350" b="0">
                <a:solidFill>
                  <a:srgbClr val="A95D35"/>
                </a:solidFill>
                <a:latin typeface="Arial"/>
                <a:ea typeface="Arial"/>
                <a:cs typeface="Arial"/>
              </a:rPr>
              <a:t>Management connection: efficiency and effectiveness</a:t>
            </a:r>
          </a:p>
        </p:txBody>
      </p:sp>
      <p:sp>
        <p:nvSpPr>
          <p:cNvPr id="6" name="Rectangle 5">
            <a:extLst>
              <a:ext uri="{FF2B5EF4-FFF2-40B4-BE49-F238E27FC236}">
                <a16:creationId xmlns:a16="http://schemas.microsoft.com/office/drawing/2014/main" id="{B5ABCC37-AA14-4483-806E-11799E49A069}"/>
              </a:ext>
            </a:extLst>
          </p:cNvPr>
          <p:cNvSpPr>
            <a:spLocks noGrp="1"/>
          </p:cNvSpPr>
          <p:nvPr/>
        </p:nvSpPr>
        <p:spPr>
          <a:xfrm>
            <a:off x="11430000" y="6429375"/>
            <a:ext cx="428625" cy="209550"/>
          </a:xfrm>
          <a:prstGeom prst="rect">
            <a:avLst/>
          </a:prstGeom>
          <a:noFill/>
          <a:ln w="0">
            <a:noFill/>
          </a:ln>
        </p:spPr>
        <p:txBody>
          <a:bodyPr lIns="0" tIns="0" rIns="0" bIns="0">
            <a:noAutofit/>
          </a:bodyPr>
          <a:lstStyle/>
          <a:p>
            <a:pPr>
              <a:defRPr sz="1125" b="0">
                <a:solidFill>
                  <a:srgbClr val="55636A"/>
                </a:solidFill>
                <a:latin typeface="Arial"/>
                <a:ea typeface="Arial"/>
                <a:cs typeface="Arial"/>
              </a:defRPr>
            </a:pPr>
            <a:r>
              <a:rPr sz="1125" b="0">
                <a:solidFill>
                  <a:srgbClr val="55636A"/>
                </a:solidFill>
                <a:latin typeface="Arial"/>
                <a:ea typeface="Arial"/>
                <a:cs typeface="Arial"/>
              </a:rPr>
              <a:t>02</a:t>
            </a:r>
          </a:p>
        </p:txBody>
      </p:sp>
    </p:spTree>
    <p:extLst>
      <p:ext uri="{BB962C8B-B14F-4D97-AF65-F5344CB8AC3E}">
        <p14:creationId xmlns:p14="http://schemas.microsoft.com/office/powerpoint/2010/main" val="6613986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1EA"/>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63A6EAE-E790-400E-AB81-E0CA233FE373}"/>
              </a:ext>
            </a:extLst>
          </p:cNvPr>
          <p:cNvSpPr>
            <a:spLocks noGrp="1"/>
          </p:cNvSpPr>
          <p:nvPr/>
        </p:nvSpPr>
        <p:spPr>
          <a:xfrm>
            <a:off x="609600" y="457200"/>
            <a:ext cx="6477000" cy="1066800"/>
          </a:xfrm>
          <a:prstGeom prst="rect">
            <a:avLst/>
          </a:prstGeom>
          <a:noFill/>
          <a:ln w="0">
            <a:noFill/>
          </a:ln>
        </p:spPr>
        <p:txBody>
          <a:bodyPr lIns="0" tIns="0" rIns="0" bIns="0">
            <a:noAutofit/>
          </a:bodyPr>
          <a:lstStyle/>
          <a:p>
            <a:pPr>
              <a:defRPr sz="3225" b="1">
                <a:solidFill>
                  <a:srgbClr val="172A36"/>
                </a:solidFill>
                <a:latin typeface="Arial"/>
                <a:ea typeface="Arial"/>
                <a:cs typeface="Arial"/>
              </a:defRPr>
            </a:pPr>
            <a:r>
              <a:rPr sz="3225" b="1">
                <a:solidFill>
                  <a:srgbClr val="172A36"/>
                </a:solidFill>
                <a:latin typeface="Arial"/>
                <a:ea typeface="Arial"/>
                <a:cs typeface="Arial"/>
              </a:rPr>
              <a:t>The mechanic behind the manager</a:t>
            </a:r>
          </a:p>
        </p:txBody>
      </p:sp>
      <p:pic>
        <p:nvPicPr>
          <p:cNvPr id="10" name="Picture 9"/>
          <p:cNvPicPr>
            <a:picLocks noChangeAspect="1"/>
          </p:cNvPicPr>
          <p:nvPr/>
        </p:nvPicPr>
        <p:blipFill>
          <a:blip r:embed="rId3"/>
          <a:stretch/>
        </p:blipFill>
        <p:spPr>
          <a:xfrm>
            <a:off x="7048500" y="2206625"/>
            <a:ext cx="4524375" cy="3016250"/>
          </a:xfrm>
          <a:prstGeom prst="rect">
            <a:avLst/>
          </a:prstGeom>
        </p:spPr>
      </p:pic>
      <p:sp>
        <p:nvSpPr>
          <p:cNvPr id="3" name="Rectangle 2">
            <a:extLst>
              <a:ext uri="{FF2B5EF4-FFF2-40B4-BE49-F238E27FC236}">
                <a16:creationId xmlns:a16="http://schemas.microsoft.com/office/drawing/2014/main" id="{899B4D0B-397C-40B2-ABE6-B3ADAC704A06}"/>
              </a:ext>
            </a:extLst>
          </p:cNvPr>
          <p:cNvSpPr>
            <a:spLocks noGrp="1"/>
          </p:cNvSpPr>
          <p:nvPr/>
        </p:nvSpPr>
        <p:spPr>
          <a:xfrm>
            <a:off x="666750" y="1847850"/>
            <a:ext cx="5905500" cy="904875"/>
          </a:xfrm>
          <a:prstGeom prst="rect">
            <a:avLst/>
          </a:prstGeom>
          <a:noFill/>
          <a:ln w="0">
            <a:noFill/>
          </a:ln>
        </p:spPr>
        <p:txBody>
          <a:bodyPr lIns="0" tIns="0" rIns="0" bIns="0">
            <a:noAutofit/>
          </a:bodyPr>
          <a:lstStyle/>
          <a:p>
            <a:pPr>
              <a:defRPr sz="2175" b="0">
                <a:solidFill>
                  <a:srgbClr val="172A36"/>
                </a:solidFill>
                <a:latin typeface="Arial"/>
                <a:ea typeface="Arial"/>
                <a:cs typeface="Arial"/>
              </a:defRPr>
            </a:pPr>
            <a:r>
              <a:rPr sz="2175" b="0">
                <a:solidFill>
                  <a:srgbClr val="172A36"/>
                </a:solidFill>
                <a:latin typeface="Arial"/>
                <a:ea typeface="Arial"/>
                <a:cs typeface="Arial"/>
              </a:rPr>
              <a:t>1863–1947</a:t>
            </a:r>
          </a:p>
          <a:p>
            <a:pPr>
              <a:defRPr sz="2175" b="0">
                <a:solidFill>
                  <a:srgbClr val="172A36"/>
                </a:solidFill>
                <a:latin typeface="Arial"/>
                <a:ea typeface="Arial"/>
                <a:cs typeface="Arial"/>
              </a:defRPr>
            </a:pPr>
            <a:r>
              <a:rPr sz="2175" b="0">
                <a:solidFill>
                  <a:srgbClr val="172A36"/>
                </a:solidFill>
                <a:latin typeface="Arial"/>
                <a:ea typeface="Arial"/>
                <a:cs typeface="Arial"/>
              </a:rPr>
              <a:t>Raised on a Michigan farm</a:t>
            </a:r>
          </a:p>
        </p:txBody>
      </p:sp>
      <p:sp>
        <p:nvSpPr>
          <p:cNvPr id="4" name="Rectangle 3">
            <a:extLst>
              <a:ext uri="{FF2B5EF4-FFF2-40B4-BE49-F238E27FC236}">
                <a16:creationId xmlns:a16="http://schemas.microsoft.com/office/drawing/2014/main" id="{B60762DB-7FC0-46C1-85F7-3DF10F675C85}"/>
              </a:ext>
            </a:extLst>
          </p:cNvPr>
          <p:cNvSpPr>
            <a:spLocks noGrp="1"/>
          </p:cNvSpPr>
          <p:nvPr/>
        </p:nvSpPr>
        <p:spPr>
          <a:xfrm>
            <a:off x="666750" y="3038475"/>
            <a:ext cx="5905500" cy="904875"/>
          </a:xfrm>
          <a:prstGeom prst="rect">
            <a:avLst/>
          </a:prstGeom>
          <a:noFill/>
          <a:ln w="0">
            <a:noFill/>
          </a:ln>
        </p:spPr>
        <p:txBody>
          <a:bodyPr lIns="0" tIns="0" rIns="0" bIns="0">
            <a:noAutofit/>
          </a:bodyPr>
          <a:lstStyle/>
          <a:p>
            <a:pPr>
              <a:defRPr sz="2175" b="0">
                <a:solidFill>
                  <a:srgbClr val="172A36"/>
                </a:solidFill>
                <a:latin typeface="Arial"/>
                <a:ea typeface="Arial"/>
                <a:cs typeface="Arial"/>
              </a:defRPr>
            </a:pPr>
            <a:r>
              <a:rPr sz="2175" b="0">
                <a:solidFill>
                  <a:srgbClr val="172A36"/>
                </a:solidFill>
                <a:latin typeface="Arial"/>
                <a:ea typeface="Arial"/>
                <a:cs typeface="Arial"/>
              </a:rPr>
              <a:t>1903</a:t>
            </a:r>
          </a:p>
          <a:p>
            <a:pPr>
              <a:defRPr sz="2175" b="0">
                <a:solidFill>
                  <a:srgbClr val="172A36"/>
                </a:solidFill>
                <a:latin typeface="Arial"/>
                <a:ea typeface="Arial"/>
                <a:cs typeface="Arial"/>
              </a:defRPr>
            </a:pPr>
            <a:r>
              <a:rPr sz="2175" b="0">
                <a:solidFill>
                  <a:srgbClr val="172A36"/>
                </a:solidFill>
                <a:latin typeface="Arial"/>
                <a:ea typeface="Arial"/>
                <a:cs typeface="Arial"/>
              </a:rPr>
              <a:t>Ford Motor Company founded</a:t>
            </a:r>
          </a:p>
        </p:txBody>
      </p:sp>
      <p:sp>
        <p:nvSpPr>
          <p:cNvPr id="5" name="Rectangle 4">
            <a:extLst>
              <a:ext uri="{FF2B5EF4-FFF2-40B4-BE49-F238E27FC236}">
                <a16:creationId xmlns:a16="http://schemas.microsoft.com/office/drawing/2014/main" id="{FF5B2C58-D0F1-4B39-B308-F741873A3361}"/>
              </a:ext>
            </a:extLst>
          </p:cNvPr>
          <p:cNvSpPr>
            <a:spLocks noGrp="1"/>
          </p:cNvSpPr>
          <p:nvPr/>
        </p:nvSpPr>
        <p:spPr>
          <a:xfrm>
            <a:off x="666750" y="4229100"/>
            <a:ext cx="5905500" cy="904875"/>
          </a:xfrm>
          <a:prstGeom prst="rect">
            <a:avLst/>
          </a:prstGeom>
          <a:noFill/>
          <a:ln w="0">
            <a:noFill/>
          </a:ln>
        </p:spPr>
        <p:txBody>
          <a:bodyPr lIns="0" tIns="0" rIns="0" bIns="0">
            <a:noAutofit/>
          </a:bodyPr>
          <a:lstStyle/>
          <a:p>
            <a:pPr>
              <a:defRPr sz="2175" b="0">
                <a:solidFill>
                  <a:srgbClr val="172A36"/>
                </a:solidFill>
                <a:latin typeface="Arial"/>
                <a:ea typeface="Arial"/>
                <a:cs typeface="Arial"/>
              </a:defRPr>
            </a:pPr>
            <a:r>
              <a:rPr sz="2175" b="0">
                <a:solidFill>
                  <a:srgbClr val="172A36"/>
                </a:solidFill>
                <a:latin typeface="Arial"/>
                <a:ea typeface="Arial"/>
                <a:cs typeface="Arial"/>
              </a:rPr>
              <a:t>1908</a:t>
            </a:r>
          </a:p>
          <a:p>
            <a:pPr>
              <a:defRPr sz="2175" b="0">
                <a:solidFill>
                  <a:srgbClr val="172A36"/>
                </a:solidFill>
                <a:latin typeface="Arial"/>
                <a:ea typeface="Arial"/>
                <a:cs typeface="Arial"/>
              </a:defRPr>
            </a:pPr>
            <a:r>
              <a:rPr sz="2175" b="0">
                <a:solidFill>
                  <a:srgbClr val="172A36"/>
                </a:solidFill>
                <a:latin typeface="Arial"/>
                <a:ea typeface="Arial"/>
                <a:cs typeface="Arial"/>
              </a:rPr>
              <a:t>Model T introduced</a:t>
            </a:r>
          </a:p>
        </p:txBody>
      </p:sp>
      <p:sp>
        <p:nvSpPr>
          <p:cNvPr id="6" name="Rectangle 5">
            <a:extLst>
              <a:ext uri="{FF2B5EF4-FFF2-40B4-BE49-F238E27FC236}">
                <a16:creationId xmlns:a16="http://schemas.microsoft.com/office/drawing/2014/main" id="{39EE7694-322A-4CA9-B0D8-3308AFDBE94A}"/>
              </a:ext>
            </a:extLst>
          </p:cNvPr>
          <p:cNvSpPr>
            <a:spLocks noGrp="1"/>
          </p:cNvSpPr>
          <p:nvPr/>
        </p:nvSpPr>
        <p:spPr>
          <a:xfrm>
            <a:off x="7048500" y="5772150"/>
            <a:ext cx="4524375" cy="190500"/>
          </a:xfrm>
          <a:prstGeom prst="rect">
            <a:avLst/>
          </a:prstGeom>
          <a:noFill/>
          <a:ln w="0">
            <a:noFill/>
          </a:ln>
        </p:spPr>
        <p:txBody>
          <a:bodyPr lIns="0" tIns="0" rIns="0" bIns="0">
            <a:noAutofit/>
          </a:bodyPr>
          <a:lstStyle/>
          <a:p>
            <a:pPr>
              <a:defRPr sz="1125" b="0">
                <a:solidFill>
                  <a:srgbClr val="55636A"/>
                </a:solidFill>
                <a:latin typeface="Arial"/>
                <a:ea typeface="Arial"/>
                <a:cs typeface="Arial"/>
              </a:defRPr>
            </a:pPr>
            <a:r>
              <a:rPr sz="1125" b="0">
                <a:solidFill>
                  <a:srgbClr val="55636A"/>
                </a:solidFill>
                <a:latin typeface="Arial"/>
                <a:ea typeface="Arial"/>
                <a:cs typeface="Arial"/>
              </a:rPr>
              <a:t>The fifteen-millionth Ford, a 1927 Model T</a:t>
            </a:r>
          </a:p>
        </p:txBody>
      </p:sp>
      <p:sp>
        <p:nvSpPr>
          <p:cNvPr id="7" name="Rectangle 6">
            <a:extLst>
              <a:ext uri="{FF2B5EF4-FFF2-40B4-BE49-F238E27FC236}">
                <a16:creationId xmlns:a16="http://schemas.microsoft.com/office/drawing/2014/main" id="{26E50122-077C-454C-8277-69B61E4FFFCF}"/>
              </a:ext>
            </a:extLst>
          </p:cNvPr>
          <p:cNvSpPr>
            <a:spLocks noGrp="1"/>
          </p:cNvSpPr>
          <p:nvPr/>
        </p:nvSpPr>
        <p:spPr>
          <a:xfrm>
            <a:off x="11430000" y="6429375"/>
            <a:ext cx="428625" cy="209550"/>
          </a:xfrm>
          <a:prstGeom prst="rect">
            <a:avLst/>
          </a:prstGeom>
          <a:noFill/>
          <a:ln w="0">
            <a:noFill/>
          </a:ln>
        </p:spPr>
        <p:txBody>
          <a:bodyPr lIns="0" tIns="0" rIns="0" bIns="0">
            <a:noAutofit/>
          </a:bodyPr>
          <a:lstStyle/>
          <a:p>
            <a:pPr>
              <a:defRPr sz="1125" b="0">
                <a:solidFill>
                  <a:srgbClr val="55636A"/>
                </a:solidFill>
                <a:latin typeface="Arial"/>
                <a:ea typeface="Arial"/>
                <a:cs typeface="Arial"/>
              </a:defRPr>
            </a:pPr>
            <a:r>
              <a:rPr sz="1125" b="0">
                <a:solidFill>
                  <a:srgbClr val="55636A"/>
                </a:solidFill>
                <a:latin typeface="Arial"/>
                <a:ea typeface="Arial"/>
                <a:cs typeface="Arial"/>
              </a:rPr>
              <a:t>03</a:t>
            </a:r>
          </a:p>
        </p:txBody>
      </p:sp>
      <p:sp>
        <p:nvSpPr>
          <p:cNvPr id="8" name="Rectangle 7">
            <a:extLst>
              <a:ext uri="{FF2B5EF4-FFF2-40B4-BE49-F238E27FC236}">
                <a16:creationId xmlns:a16="http://schemas.microsoft.com/office/drawing/2014/main" id="{DAF51726-4E9A-4003-A4B5-44B777118E03}"/>
              </a:ext>
            </a:extLst>
          </p:cNvPr>
          <p:cNvSpPr>
            <a:spLocks noGrp="1"/>
          </p:cNvSpPr>
          <p:nvPr/>
        </p:nvSpPr>
        <p:spPr>
          <a:xfrm>
            <a:off x="666750" y="6429375"/>
            <a:ext cx="9525000" cy="209550"/>
          </a:xfrm>
          <a:prstGeom prst="rect">
            <a:avLst/>
          </a:prstGeom>
          <a:noFill/>
          <a:ln w="0">
            <a:noFill/>
          </a:ln>
        </p:spPr>
        <p:txBody>
          <a:bodyPr lIns="0" tIns="0" rIns="0" bIns="0">
            <a:noAutofit/>
          </a:bodyPr>
          <a:lstStyle/>
          <a:p>
            <a:pPr>
              <a:defRPr sz="1125" b="0">
                <a:solidFill>
                  <a:srgbClr val="55636A"/>
                </a:solidFill>
                <a:latin typeface="Arial"/>
                <a:ea typeface="Arial"/>
                <a:cs typeface="Arial"/>
              </a:defRPr>
            </a:pPr>
            <a:r>
              <a:rPr sz="1125" b="0">
                <a:solidFill>
                  <a:srgbClr val="55636A"/>
                </a:solidFill>
                <a:latin typeface="Arial"/>
                <a:ea typeface="Arial"/>
                <a:cs typeface="Arial"/>
              </a:rPr>
              <a:t>[A] [C]</a:t>
            </a:r>
          </a:p>
        </p:txBody>
      </p:sp>
    </p:spTree>
    <p:extLst>
      <p:ext uri="{BB962C8B-B14F-4D97-AF65-F5344CB8AC3E}">
        <p14:creationId xmlns:p14="http://schemas.microsoft.com/office/powerpoint/2010/main" val="17860859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1EA"/>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5B76465-A7C3-4765-8A6C-67BA44E92E02}"/>
              </a:ext>
            </a:extLst>
          </p:cNvPr>
          <p:cNvSpPr>
            <a:spLocks noGrp="1"/>
          </p:cNvSpPr>
          <p:nvPr/>
        </p:nvSpPr>
        <p:spPr>
          <a:xfrm>
            <a:off x="609600" y="457200"/>
            <a:ext cx="10858500" cy="1066800"/>
          </a:xfrm>
          <a:prstGeom prst="rect">
            <a:avLst/>
          </a:prstGeom>
          <a:noFill/>
          <a:ln w="0">
            <a:noFill/>
          </a:ln>
        </p:spPr>
        <p:txBody>
          <a:bodyPr lIns="0" tIns="0" rIns="0" bIns="0">
            <a:noAutofit/>
          </a:bodyPr>
          <a:lstStyle/>
          <a:p>
            <a:pPr>
              <a:defRPr sz="3225" b="1">
                <a:solidFill>
                  <a:srgbClr val="172A36"/>
                </a:solidFill>
                <a:latin typeface="Arial"/>
                <a:ea typeface="Arial"/>
                <a:cs typeface="Arial"/>
              </a:defRPr>
            </a:pPr>
            <a:r>
              <a:rPr sz="3225" b="1">
                <a:solidFill>
                  <a:srgbClr val="172A36"/>
                </a:solidFill>
                <a:latin typeface="Arial"/>
                <a:ea typeface="Arial"/>
                <a:cs typeface="Arial"/>
              </a:rPr>
              <a:t>Ford’s influences and collaborators</a:t>
            </a:r>
          </a:p>
        </p:txBody>
      </p:sp>
      <p:sp>
        <p:nvSpPr>
          <p:cNvPr id="2" name="Rectangle 1">
            <a:extLst>
              <a:ext uri="{FF2B5EF4-FFF2-40B4-BE49-F238E27FC236}">
                <a16:creationId xmlns:a16="http://schemas.microsoft.com/office/drawing/2014/main" id="{7668001E-5872-4691-8576-F546E67C8B78}"/>
              </a:ext>
            </a:extLst>
          </p:cNvPr>
          <p:cNvSpPr>
            <a:spLocks noGrp="1"/>
          </p:cNvSpPr>
          <p:nvPr/>
        </p:nvSpPr>
        <p:spPr>
          <a:xfrm>
            <a:off x="666750" y="1809750"/>
            <a:ext cx="5143500" cy="619125"/>
          </a:xfrm>
          <a:prstGeom prst="rect">
            <a:avLst/>
          </a:prstGeom>
          <a:noFill/>
          <a:ln w="0">
            <a:noFill/>
          </a:ln>
        </p:spPr>
        <p:txBody>
          <a:bodyPr lIns="0" tIns="0" rIns="0" bIns="0">
            <a:noAutofit/>
          </a:bodyPr>
          <a:lstStyle/>
          <a:p>
            <a:pPr>
              <a:defRPr sz="2325" b="1">
                <a:solidFill>
                  <a:srgbClr val="A95D35"/>
                </a:solidFill>
                <a:latin typeface="Arial"/>
                <a:ea typeface="Arial"/>
                <a:cs typeface="Arial"/>
              </a:defRPr>
            </a:pPr>
            <a:r>
              <a:rPr sz="2325" b="1">
                <a:solidFill>
                  <a:srgbClr val="A95D35"/>
                </a:solidFill>
                <a:latin typeface="Arial"/>
                <a:ea typeface="Arial"/>
                <a:cs typeface="Arial"/>
              </a:rPr>
              <a:t>Direct influences</a:t>
            </a:r>
          </a:p>
        </p:txBody>
      </p:sp>
      <p:sp>
        <p:nvSpPr>
          <p:cNvPr id="3" name="Rectangle 2">
            <a:extLst>
              <a:ext uri="{FF2B5EF4-FFF2-40B4-BE49-F238E27FC236}">
                <a16:creationId xmlns:a16="http://schemas.microsoft.com/office/drawing/2014/main" id="{A0E3F2D4-DE9E-49D3-B609-174E29447FE7}"/>
              </a:ext>
            </a:extLst>
          </p:cNvPr>
          <p:cNvSpPr>
            <a:spLocks noGrp="1"/>
          </p:cNvSpPr>
          <p:nvPr/>
        </p:nvSpPr>
        <p:spPr>
          <a:xfrm>
            <a:off x="666750" y="2638425"/>
            <a:ext cx="5048250" cy="3000375"/>
          </a:xfrm>
          <a:prstGeom prst="rect">
            <a:avLst/>
          </a:prstGeom>
          <a:noFill/>
          <a:ln w="0">
            <a:noFill/>
          </a:ln>
        </p:spPr>
        <p:txBody>
          <a:bodyPr lIns="0" tIns="0" rIns="0" bIns="0">
            <a:noAutofit/>
          </a:bodyPr>
          <a:lstStyle/>
          <a:p>
            <a:pPr>
              <a:defRPr sz="2175" b="0">
                <a:solidFill>
                  <a:srgbClr val="172A36"/>
                </a:solidFill>
                <a:latin typeface="Arial"/>
                <a:ea typeface="Arial"/>
                <a:cs typeface="Arial"/>
              </a:defRPr>
            </a:pPr>
            <a:r>
              <a:rPr sz="2175" b="0">
                <a:solidFill>
                  <a:srgbClr val="172A36"/>
                </a:solidFill>
                <a:latin typeface="Arial"/>
                <a:ea typeface="Arial"/>
                <a:cs typeface="Arial"/>
              </a:rPr>
              <a:t>Thomas Edison encouraged his automotive work.</a:t>
            </a:r>
          </a:p>
          <a:p>
            <a:endParaRPr sz="2175" b="0">
              <a:solidFill>
                <a:srgbClr val="172A36"/>
              </a:solidFill>
              <a:latin typeface="Arial"/>
              <a:ea typeface="Arial"/>
              <a:cs typeface="Arial"/>
            </a:endParaRPr>
          </a:p>
          <a:p>
            <a:pPr>
              <a:defRPr sz="2175" b="0">
                <a:solidFill>
                  <a:srgbClr val="172A36"/>
                </a:solidFill>
                <a:latin typeface="Arial"/>
                <a:ea typeface="Arial"/>
                <a:cs typeface="Arial"/>
              </a:defRPr>
            </a:pPr>
            <a:r>
              <a:rPr sz="2175" b="0">
                <a:solidFill>
                  <a:srgbClr val="172A36"/>
                </a:solidFill>
                <a:latin typeface="Arial"/>
                <a:ea typeface="Arial"/>
                <a:cs typeface="Arial"/>
              </a:rPr>
              <a:t>Other industries supplied methods for moving materials.</a:t>
            </a:r>
          </a:p>
        </p:txBody>
      </p:sp>
      <p:sp>
        <p:nvSpPr>
          <p:cNvPr id="4" name="Rectangle 3">
            <a:extLst>
              <a:ext uri="{FF2B5EF4-FFF2-40B4-BE49-F238E27FC236}">
                <a16:creationId xmlns:a16="http://schemas.microsoft.com/office/drawing/2014/main" id="{8FBBE1E6-6EDD-4877-8900-B70CDAE333E1}"/>
              </a:ext>
            </a:extLst>
          </p:cNvPr>
          <p:cNvSpPr>
            <a:spLocks noGrp="1"/>
          </p:cNvSpPr>
          <p:nvPr/>
        </p:nvSpPr>
        <p:spPr>
          <a:xfrm>
            <a:off x="6286500" y="1809750"/>
            <a:ext cx="5143500" cy="619125"/>
          </a:xfrm>
          <a:prstGeom prst="rect">
            <a:avLst/>
          </a:prstGeom>
          <a:noFill/>
          <a:ln w="0">
            <a:noFill/>
          </a:ln>
        </p:spPr>
        <p:txBody>
          <a:bodyPr lIns="0" tIns="0" rIns="0" bIns="0">
            <a:noAutofit/>
          </a:bodyPr>
          <a:lstStyle/>
          <a:p>
            <a:pPr>
              <a:defRPr sz="2325" b="1">
                <a:solidFill>
                  <a:srgbClr val="A95D35"/>
                </a:solidFill>
                <a:latin typeface="Arial"/>
                <a:ea typeface="Arial"/>
                <a:cs typeface="Arial"/>
              </a:defRPr>
            </a:pPr>
            <a:r>
              <a:rPr sz="2325" b="1">
                <a:solidFill>
                  <a:srgbClr val="A95D35"/>
                </a:solidFill>
                <a:latin typeface="Arial"/>
                <a:ea typeface="Arial"/>
                <a:cs typeface="Arial"/>
              </a:rPr>
              <a:t>Management context</a:t>
            </a:r>
          </a:p>
        </p:txBody>
      </p:sp>
      <p:sp>
        <p:nvSpPr>
          <p:cNvPr id="5" name="Rectangle 4">
            <a:extLst>
              <a:ext uri="{FF2B5EF4-FFF2-40B4-BE49-F238E27FC236}">
                <a16:creationId xmlns:a16="http://schemas.microsoft.com/office/drawing/2014/main" id="{D746C895-E165-4FAD-81F1-C34FB9AA74C3}"/>
              </a:ext>
            </a:extLst>
          </p:cNvPr>
          <p:cNvSpPr>
            <a:spLocks noGrp="1"/>
          </p:cNvSpPr>
          <p:nvPr/>
        </p:nvSpPr>
        <p:spPr>
          <a:xfrm>
            <a:off x="6286500" y="2638425"/>
            <a:ext cx="5048250" cy="3000375"/>
          </a:xfrm>
          <a:prstGeom prst="rect">
            <a:avLst/>
          </a:prstGeom>
          <a:noFill/>
          <a:ln w="0">
            <a:noFill/>
          </a:ln>
        </p:spPr>
        <p:txBody>
          <a:bodyPr lIns="0" tIns="0" rIns="0" bIns="0">
            <a:noAutofit/>
          </a:bodyPr>
          <a:lstStyle/>
          <a:p>
            <a:pPr>
              <a:defRPr sz="2175" b="0">
                <a:solidFill>
                  <a:srgbClr val="172A36"/>
                </a:solidFill>
                <a:latin typeface="Arial"/>
                <a:ea typeface="Arial"/>
                <a:cs typeface="Arial"/>
              </a:defRPr>
            </a:pPr>
            <a:r>
              <a:rPr sz="2175" b="0">
                <a:solidFill>
                  <a:srgbClr val="172A36"/>
                </a:solidFill>
                <a:latin typeface="Arial"/>
                <a:ea typeface="Arial"/>
                <a:cs typeface="Arial"/>
              </a:rPr>
              <a:t>Division of labor long predated Ford.</a:t>
            </a:r>
          </a:p>
          <a:p>
            <a:endParaRPr sz="2175" b="0">
              <a:solidFill>
                <a:srgbClr val="172A36"/>
              </a:solidFill>
              <a:latin typeface="Arial"/>
              <a:ea typeface="Arial"/>
              <a:cs typeface="Arial"/>
            </a:endParaRPr>
          </a:p>
          <a:p>
            <a:pPr>
              <a:defRPr sz="2175" b="0">
                <a:solidFill>
                  <a:srgbClr val="172A36"/>
                </a:solidFill>
                <a:latin typeface="Arial"/>
                <a:ea typeface="Arial"/>
                <a:cs typeface="Arial"/>
              </a:defRPr>
            </a:pPr>
            <a:r>
              <a:rPr sz="2175" b="0">
                <a:solidFill>
                  <a:srgbClr val="172A36"/>
                </a:solidFill>
                <a:latin typeface="Arial"/>
                <a:ea typeface="Arial"/>
                <a:cs typeface="Arial"/>
              </a:rPr>
              <a:t>Taylor’s scientific management shared an emphasis on measured, standardized work.</a:t>
            </a:r>
          </a:p>
        </p:txBody>
      </p:sp>
      <p:sp>
        <p:nvSpPr>
          <p:cNvPr id="6" name="Rectangle 5">
            <a:extLst>
              <a:ext uri="{FF2B5EF4-FFF2-40B4-BE49-F238E27FC236}">
                <a16:creationId xmlns:a16="http://schemas.microsoft.com/office/drawing/2014/main" id="{A6D66A6C-8499-46B6-AA60-24291A280D21}"/>
              </a:ext>
            </a:extLst>
          </p:cNvPr>
          <p:cNvSpPr>
            <a:spLocks noGrp="1"/>
          </p:cNvSpPr>
          <p:nvPr/>
        </p:nvSpPr>
        <p:spPr>
          <a:xfrm>
            <a:off x="666750" y="6096000"/>
            <a:ext cx="10715625" cy="238125"/>
          </a:xfrm>
          <a:prstGeom prst="rect">
            <a:avLst/>
          </a:prstGeom>
          <a:noFill/>
          <a:ln w="0">
            <a:noFill/>
          </a:ln>
        </p:spPr>
        <p:txBody>
          <a:bodyPr lIns="0" tIns="0" rIns="0" bIns="0">
            <a:noAutofit/>
          </a:bodyPr>
          <a:lstStyle/>
          <a:p>
            <a:pPr>
              <a:defRPr sz="1350" b="0">
                <a:solidFill>
                  <a:srgbClr val="A95D35"/>
                </a:solidFill>
                <a:latin typeface="Arial"/>
                <a:ea typeface="Arial"/>
                <a:cs typeface="Arial"/>
              </a:defRPr>
            </a:pPr>
            <a:r>
              <a:rPr sz="1350" b="0">
                <a:solidFill>
                  <a:srgbClr val="A95D35"/>
                </a:solidFill>
                <a:latin typeface="Arial"/>
                <a:ea typeface="Arial"/>
                <a:cs typeface="Arial"/>
              </a:rPr>
              <a:t>Management connection: division of labor and scientific management</a:t>
            </a:r>
          </a:p>
        </p:txBody>
      </p:sp>
      <p:sp>
        <p:nvSpPr>
          <p:cNvPr id="7" name="Rectangle 6">
            <a:extLst>
              <a:ext uri="{FF2B5EF4-FFF2-40B4-BE49-F238E27FC236}">
                <a16:creationId xmlns:a16="http://schemas.microsoft.com/office/drawing/2014/main" id="{9024E619-45CA-4A91-8537-FC788939D6B4}"/>
              </a:ext>
            </a:extLst>
          </p:cNvPr>
          <p:cNvSpPr>
            <a:spLocks noGrp="1"/>
          </p:cNvSpPr>
          <p:nvPr/>
        </p:nvSpPr>
        <p:spPr>
          <a:xfrm>
            <a:off x="11430000" y="6429375"/>
            <a:ext cx="428625" cy="209550"/>
          </a:xfrm>
          <a:prstGeom prst="rect">
            <a:avLst/>
          </a:prstGeom>
          <a:noFill/>
          <a:ln w="0">
            <a:noFill/>
          </a:ln>
        </p:spPr>
        <p:txBody>
          <a:bodyPr lIns="0" tIns="0" rIns="0" bIns="0">
            <a:noAutofit/>
          </a:bodyPr>
          <a:lstStyle/>
          <a:p>
            <a:pPr>
              <a:defRPr sz="1125" b="0">
                <a:solidFill>
                  <a:srgbClr val="55636A"/>
                </a:solidFill>
                <a:latin typeface="Arial"/>
                <a:ea typeface="Arial"/>
                <a:cs typeface="Arial"/>
              </a:defRPr>
            </a:pPr>
            <a:r>
              <a:rPr sz="1125" b="0">
                <a:solidFill>
                  <a:srgbClr val="55636A"/>
                </a:solidFill>
                <a:latin typeface="Arial"/>
                <a:ea typeface="Arial"/>
                <a:cs typeface="Arial"/>
              </a:rPr>
              <a:t>04</a:t>
            </a:r>
          </a:p>
        </p:txBody>
      </p:sp>
      <p:sp>
        <p:nvSpPr>
          <p:cNvPr id="8" name="Rectangle 7">
            <a:extLst>
              <a:ext uri="{FF2B5EF4-FFF2-40B4-BE49-F238E27FC236}">
                <a16:creationId xmlns:a16="http://schemas.microsoft.com/office/drawing/2014/main" id="{B12372BA-5C17-424D-B7BE-BD8D3A6CC444}"/>
              </a:ext>
            </a:extLst>
          </p:cNvPr>
          <p:cNvSpPr>
            <a:spLocks noGrp="1"/>
          </p:cNvSpPr>
          <p:nvPr/>
        </p:nvSpPr>
        <p:spPr>
          <a:xfrm>
            <a:off x="666750" y="6429375"/>
            <a:ext cx="9525000" cy="209550"/>
          </a:xfrm>
          <a:prstGeom prst="rect">
            <a:avLst/>
          </a:prstGeom>
          <a:noFill/>
          <a:ln w="0">
            <a:noFill/>
          </a:ln>
        </p:spPr>
        <p:txBody>
          <a:bodyPr lIns="0" tIns="0" rIns="0" bIns="0">
            <a:noAutofit/>
          </a:bodyPr>
          <a:lstStyle/>
          <a:p>
            <a:pPr>
              <a:defRPr sz="1125" b="0">
                <a:solidFill>
                  <a:srgbClr val="55636A"/>
                </a:solidFill>
                <a:latin typeface="Arial"/>
                <a:ea typeface="Arial"/>
                <a:cs typeface="Arial"/>
              </a:defRPr>
            </a:pPr>
            <a:r>
              <a:rPr sz="1125" b="0">
                <a:solidFill>
                  <a:srgbClr val="55636A"/>
                </a:solidFill>
                <a:latin typeface="Arial"/>
                <a:ea typeface="Arial"/>
                <a:cs typeface="Arial"/>
              </a:rPr>
              <a:t>[L] [K]</a:t>
            </a:r>
          </a:p>
        </p:txBody>
      </p:sp>
    </p:spTree>
    <p:extLst>
      <p:ext uri="{BB962C8B-B14F-4D97-AF65-F5344CB8AC3E}">
        <p14:creationId xmlns:p14="http://schemas.microsoft.com/office/powerpoint/2010/main" val="7335592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1EA"/>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F47CF67-D0CB-4A59-8F8C-A7DC37E6130B}"/>
              </a:ext>
            </a:extLst>
          </p:cNvPr>
          <p:cNvSpPr>
            <a:spLocks noGrp="1"/>
          </p:cNvSpPr>
          <p:nvPr/>
        </p:nvSpPr>
        <p:spPr>
          <a:xfrm>
            <a:off x="609600" y="457200"/>
            <a:ext cx="6477000" cy="1066800"/>
          </a:xfrm>
          <a:prstGeom prst="rect">
            <a:avLst/>
          </a:prstGeom>
          <a:noFill/>
          <a:ln w="0">
            <a:noFill/>
          </a:ln>
        </p:spPr>
        <p:txBody>
          <a:bodyPr lIns="0" tIns="0" rIns="0" bIns="0">
            <a:noAutofit/>
          </a:bodyPr>
          <a:lstStyle/>
          <a:p>
            <a:pPr>
              <a:defRPr sz="3225" b="1">
                <a:solidFill>
                  <a:srgbClr val="172A36"/>
                </a:solidFill>
                <a:latin typeface="Arial"/>
                <a:ea typeface="Arial"/>
                <a:cs typeface="Arial"/>
              </a:defRPr>
            </a:pPr>
            <a:r>
              <a:rPr sz="3225" b="1">
                <a:solidFill>
                  <a:srgbClr val="172A36"/>
                </a:solidFill>
                <a:latin typeface="Arial"/>
                <a:ea typeface="Arial"/>
                <a:cs typeface="Arial"/>
              </a:rPr>
              <a:t>The production system</a:t>
            </a:r>
          </a:p>
        </p:txBody>
      </p:sp>
      <p:pic>
        <p:nvPicPr>
          <p:cNvPr id="11" name="Picture 10"/>
          <p:cNvPicPr>
            <a:picLocks noChangeAspect="1"/>
          </p:cNvPicPr>
          <p:nvPr/>
        </p:nvPicPr>
        <p:blipFill>
          <a:blip r:embed="rId3"/>
          <a:stretch/>
        </p:blipFill>
        <p:spPr>
          <a:xfrm>
            <a:off x="7048500" y="1884263"/>
            <a:ext cx="4524375" cy="3660973"/>
          </a:xfrm>
          <a:prstGeom prst="rect">
            <a:avLst/>
          </a:prstGeom>
        </p:spPr>
      </p:pic>
      <p:sp>
        <p:nvSpPr>
          <p:cNvPr id="3" name="Rectangle 2">
            <a:extLst>
              <a:ext uri="{FF2B5EF4-FFF2-40B4-BE49-F238E27FC236}">
                <a16:creationId xmlns:a16="http://schemas.microsoft.com/office/drawing/2014/main" id="{558655D0-A0B6-4946-A014-4C77F0F68CA7}"/>
              </a:ext>
            </a:extLst>
          </p:cNvPr>
          <p:cNvSpPr>
            <a:spLocks noGrp="1"/>
          </p:cNvSpPr>
          <p:nvPr/>
        </p:nvSpPr>
        <p:spPr>
          <a:xfrm>
            <a:off x="666750" y="1847850"/>
            <a:ext cx="5905500" cy="904875"/>
          </a:xfrm>
          <a:prstGeom prst="rect">
            <a:avLst/>
          </a:prstGeom>
          <a:noFill/>
          <a:ln w="0">
            <a:noFill/>
          </a:ln>
        </p:spPr>
        <p:txBody>
          <a:bodyPr lIns="0" tIns="0" rIns="0" bIns="0">
            <a:noAutofit/>
          </a:bodyPr>
          <a:lstStyle/>
          <a:p>
            <a:pPr>
              <a:defRPr sz="2175" b="0">
                <a:solidFill>
                  <a:srgbClr val="172A36"/>
                </a:solidFill>
                <a:latin typeface="Arial"/>
                <a:ea typeface="Arial"/>
                <a:cs typeface="Arial"/>
              </a:defRPr>
            </a:pPr>
            <a:r>
              <a:rPr sz="2175" b="0">
                <a:solidFill>
                  <a:srgbClr val="172A36"/>
                </a:solidFill>
                <a:latin typeface="Arial"/>
                <a:ea typeface="Arial"/>
                <a:cs typeface="Arial"/>
              </a:rPr>
              <a:t>Standardized parts reduced fitting and adjustment.</a:t>
            </a:r>
          </a:p>
        </p:txBody>
      </p:sp>
      <p:sp>
        <p:nvSpPr>
          <p:cNvPr id="4" name="Rectangle 3">
            <a:extLst>
              <a:ext uri="{FF2B5EF4-FFF2-40B4-BE49-F238E27FC236}">
                <a16:creationId xmlns:a16="http://schemas.microsoft.com/office/drawing/2014/main" id="{70A76072-FD0F-4928-B3FE-8D4347C50392}"/>
              </a:ext>
            </a:extLst>
          </p:cNvPr>
          <p:cNvSpPr>
            <a:spLocks noGrp="1"/>
          </p:cNvSpPr>
          <p:nvPr/>
        </p:nvSpPr>
        <p:spPr>
          <a:xfrm>
            <a:off x="666750" y="2990850"/>
            <a:ext cx="5905500" cy="904875"/>
          </a:xfrm>
          <a:prstGeom prst="rect">
            <a:avLst/>
          </a:prstGeom>
          <a:noFill/>
          <a:ln w="0">
            <a:noFill/>
          </a:ln>
        </p:spPr>
        <p:txBody>
          <a:bodyPr lIns="0" tIns="0" rIns="0" bIns="0">
            <a:noAutofit/>
          </a:bodyPr>
          <a:lstStyle/>
          <a:p>
            <a:pPr>
              <a:defRPr sz="2175" b="0">
                <a:solidFill>
                  <a:srgbClr val="172A36"/>
                </a:solidFill>
                <a:latin typeface="Arial"/>
                <a:ea typeface="Arial"/>
                <a:cs typeface="Arial"/>
              </a:defRPr>
            </a:pPr>
            <a:r>
              <a:rPr sz="2175" b="0">
                <a:solidFill>
                  <a:srgbClr val="172A36"/>
                </a:solidFill>
                <a:latin typeface="Arial"/>
                <a:ea typeface="Arial"/>
                <a:cs typeface="Arial"/>
              </a:rPr>
              <a:t>Specialized jobs divided a complex task.</a:t>
            </a:r>
          </a:p>
        </p:txBody>
      </p:sp>
      <p:sp>
        <p:nvSpPr>
          <p:cNvPr id="5" name="Rectangle 4">
            <a:extLst>
              <a:ext uri="{FF2B5EF4-FFF2-40B4-BE49-F238E27FC236}">
                <a16:creationId xmlns:a16="http://schemas.microsoft.com/office/drawing/2014/main" id="{085429B7-31CA-45F5-B2A2-7B103E3C007D}"/>
              </a:ext>
            </a:extLst>
          </p:cNvPr>
          <p:cNvSpPr>
            <a:spLocks noGrp="1"/>
          </p:cNvSpPr>
          <p:nvPr/>
        </p:nvSpPr>
        <p:spPr>
          <a:xfrm>
            <a:off x="666750" y="4133850"/>
            <a:ext cx="5905500" cy="904875"/>
          </a:xfrm>
          <a:prstGeom prst="rect">
            <a:avLst/>
          </a:prstGeom>
          <a:noFill/>
          <a:ln w="0">
            <a:noFill/>
          </a:ln>
        </p:spPr>
        <p:txBody>
          <a:bodyPr lIns="0" tIns="0" rIns="0" bIns="0">
            <a:noAutofit/>
          </a:bodyPr>
          <a:lstStyle/>
          <a:p>
            <a:pPr>
              <a:defRPr sz="2175" b="0">
                <a:solidFill>
                  <a:srgbClr val="172A36"/>
                </a:solidFill>
                <a:latin typeface="Arial"/>
                <a:ea typeface="Arial"/>
                <a:cs typeface="Arial"/>
              </a:defRPr>
            </a:pPr>
            <a:r>
              <a:rPr sz="2175" b="0">
                <a:solidFill>
                  <a:srgbClr val="172A36"/>
                </a:solidFill>
                <a:latin typeface="Arial"/>
                <a:ea typeface="Arial"/>
                <a:cs typeface="Arial"/>
              </a:rPr>
              <a:t>A moving chassis brought work to stationary workers.</a:t>
            </a:r>
          </a:p>
        </p:txBody>
      </p:sp>
      <p:sp>
        <p:nvSpPr>
          <p:cNvPr id="6" name="Rectangle 5">
            <a:extLst>
              <a:ext uri="{FF2B5EF4-FFF2-40B4-BE49-F238E27FC236}">
                <a16:creationId xmlns:a16="http://schemas.microsoft.com/office/drawing/2014/main" id="{0DE81D3F-6769-48FD-8D99-15A576F52B5C}"/>
              </a:ext>
            </a:extLst>
          </p:cNvPr>
          <p:cNvSpPr>
            <a:spLocks noGrp="1"/>
          </p:cNvSpPr>
          <p:nvPr/>
        </p:nvSpPr>
        <p:spPr>
          <a:xfrm>
            <a:off x="7048500" y="5772150"/>
            <a:ext cx="4524375" cy="190500"/>
          </a:xfrm>
          <a:prstGeom prst="rect">
            <a:avLst/>
          </a:prstGeom>
          <a:noFill/>
          <a:ln w="0">
            <a:noFill/>
          </a:ln>
        </p:spPr>
        <p:txBody>
          <a:bodyPr lIns="0" tIns="0" rIns="0" bIns="0">
            <a:noAutofit/>
          </a:bodyPr>
          <a:lstStyle/>
          <a:p>
            <a:pPr>
              <a:defRPr sz="1125" b="0">
                <a:solidFill>
                  <a:srgbClr val="55636A"/>
                </a:solidFill>
                <a:latin typeface="Arial"/>
                <a:ea typeface="Arial"/>
                <a:cs typeface="Arial"/>
              </a:defRPr>
            </a:pPr>
            <a:r>
              <a:rPr sz="1125" b="0">
                <a:solidFill>
                  <a:srgbClr val="55636A"/>
                </a:solidFill>
                <a:latin typeface="Arial"/>
                <a:ea typeface="Arial"/>
                <a:cs typeface="Arial"/>
              </a:rPr>
              <a:t>Tire installation at Highland Park, circa 1925</a:t>
            </a:r>
          </a:p>
        </p:txBody>
      </p:sp>
      <p:sp>
        <p:nvSpPr>
          <p:cNvPr id="7" name="Rectangle 6">
            <a:extLst>
              <a:ext uri="{FF2B5EF4-FFF2-40B4-BE49-F238E27FC236}">
                <a16:creationId xmlns:a16="http://schemas.microsoft.com/office/drawing/2014/main" id="{22D483FB-2F39-44ED-9F10-C089A2E06D69}"/>
              </a:ext>
            </a:extLst>
          </p:cNvPr>
          <p:cNvSpPr>
            <a:spLocks noGrp="1"/>
          </p:cNvSpPr>
          <p:nvPr/>
        </p:nvSpPr>
        <p:spPr>
          <a:xfrm>
            <a:off x="666750" y="6096000"/>
            <a:ext cx="10715625" cy="238125"/>
          </a:xfrm>
          <a:prstGeom prst="rect">
            <a:avLst/>
          </a:prstGeom>
          <a:noFill/>
          <a:ln w="0">
            <a:noFill/>
          </a:ln>
        </p:spPr>
        <p:txBody>
          <a:bodyPr lIns="0" tIns="0" rIns="0" bIns="0">
            <a:noAutofit/>
          </a:bodyPr>
          <a:lstStyle/>
          <a:p>
            <a:pPr>
              <a:defRPr sz="1350" b="0">
                <a:solidFill>
                  <a:srgbClr val="A95D35"/>
                </a:solidFill>
                <a:latin typeface="Arial"/>
                <a:ea typeface="Arial"/>
                <a:cs typeface="Arial"/>
              </a:defRPr>
            </a:pPr>
            <a:r>
              <a:rPr sz="1350" b="0">
                <a:solidFill>
                  <a:srgbClr val="A95D35"/>
                </a:solidFill>
                <a:latin typeface="Arial"/>
                <a:ea typeface="Arial"/>
                <a:cs typeface="Arial"/>
              </a:rPr>
              <a:t>Management connection: work specialization and formalization</a:t>
            </a:r>
          </a:p>
        </p:txBody>
      </p:sp>
      <p:sp>
        <p:nvSpPr>
          <p:cNvPr id="8" name="Rectangle 7">
            <a:extLst>
              <a:ext uri="{FF2B5EF4-FFF2-40B4-BE49-F238E27FC236}">
                <a16:creationId xmlns:a16="http://schemas.microsoft.com/office/drawing/2014/main" id="{6541E51A-CF6B-45F6-8ABB-93FABFBBF1F5}"/>
              </a:ext>
            </a:extLst>
          </p:cNvPr>
          <p:cNvSpPr>
            <a:spLocks noGrp="1"/>
          </p:cNvSpPr>
          <p:nvPr/>
        </p:nvSpPr>
        <p:spPr>
          <a:xfrm>
            <a:off x="11430000" y="6429375"/>
            <a:ext cx="428625" cy="209550"/>
          </a:xfrm>
          <a:prstGeom prst="rect">
            <a:avLst/>
          </a:prstGeom>
          <a:noFill/>
          <a:ln w="0">
            <a:noFill/>
          </a:ln>
        </p:spPr>
        <p:txBody>
          <a:bodyPr lIns="0" tIns="0" rIns="0" bIns="0">
            <a:noAutofit/>
          </a:bodyPr>
          <a:lstStyle/>
          <a:p>
            <a:pPr>
              <a:defRPr sz="1125" b="0">
                <a:solidFill>
                  <a:srgbClr val="55636A"/>
                </a:solidFill>
                <a:latin typeface="Arial"/>
                <a:ea typeface="Arial"/>
                <a:cs typeface="Arial"/>
              </a:defRPr>
            </a:pPr>
            <a:r>
              <a:rPr sz="1125" b="0">
                <a:solidFill>
                  <a:srgbClr val="55636A"/>
                </a:solidFill>
                <a:latin typeface="Arial"/>
                <a:ea typeface="Arial"/>
                <a:cs typeface="Arial"/>
              </a:rPr>
              <a:t>05</a:t>
            </a:r>
          </a:p>
        </p:txBody>
      </p:sp>
      <p:sp>
        <p:nvSpPr>
          <p:cNvPr id="9" name="Rectangle 8">
            <a:extLst>
              <a:ext uri="{FF2B5EF4-FFF2-40B4-BE49-F238E27FC236}">
                <a16:creationId xmlns:a16="http://schemas.microsoft.com/office/drawing/2014/main" id="{0D0D8B66-098C-4704-870D-8BB689B5FED1}"/>
              </a:ext>
            </a:extLst>
          </p:cNvPr>
          <p:cNvSpPr>
            <a:spLocks noGrp="1"/>
          </p:cNvSpPr>
          <p:nvPr/>
        </p:nvSpPr>
        <p:spPr>
          <a:xfrm>
            <a:off x="666750" y="6429375"/>
            <a:ext cx="9525000" cy="209550"/>
          </a:xfrm>
          <a:prstGeom prst="rect">
            <a:avLst/>
          </a:prstGeom>
          <a:noFill/>
          <a:ln w="0">
            <a:noFill/>
          </a:ln>
        </p:spPr>
        <p:txBody>
          <a:bodyPr lIns="0" tIns="0" rIns="0" bIns="0">
            <a:noAutofit/>
          </a:bodyPr>
          <a:lstStyle/>
          <a:p>
            <a:pPr>
              <a:defRPr sz="1125" b="0">
                <a:solidFill>
                  <a:srgbClr val="55636A"/>
                </a:solidFill>
                <a:latin typeface="Arial"/>
                <a:ea typeface="Arial"/>
                <a:cs typeface="Arial"/>
              </a:defRPr>
            </a:pPr>
            <a:r>
              <a:rPr sz="1125" b="0">
                <a:solidFill>
                  <a:srgbClr val="55636A"/>
                </a:solidFill>
                <a:latin typeface="Arial"/>
                <a:ea typeface="Arial"/>
                <a:cs typeface="Arial"/>
              </a:rPr>
              <a:t>[B] [K]</a:t>
            </a:r>
          </a:p>
        </p:txBody>
      </p:sp>
    </p:spTree>
    <p:extLst>
      <p:ext uri="{BB962C8B-B14F-4D97-AF65-F5344CB8AC3E}">
        <p14:creationId xmlns:p14="http://schemas.microsoft.com/office/powerpoint/2010/main" val="7641568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1EA"/>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E2CAEE0-C154-43D3-B678-8AE1E9D17140}"/>
              </a:ext>
            </a:extLst>
          </p:cNvPr>
          <p:cNvSpPr>
            <a:spLocks noGrp="1"/>
          </p:cNvSpPr>
          <p:nvPr/>
        </p:nvSpPr>
        <p:spPr>
          <a:xfrm>
            <a:off x="609600" y="457200"/>
            <a:ext cx="10858500" cy="1066800"/>
          </a:xfrm>
          <a:prstGeom prst="rect">
            <a:avLst/>
          </a:prstGeom>
          <a:noFill/>
          <a:ln w="0">
            <a:noFill/>
          </a:ln>
        </p:spPr>
        <p:txBody>
          <a:bodyPr lIns="0" tIns="0" rIns="0" bIns="0">
            <a:noAutofit/>
          </a:bodyPr>
          <a:lstStyle/>
          <a:p>
            <a:pPr>
              <a:defRPr sz="3225" b="1">
                <a:solidFill>
                  <a:srgbClr val="172A36"/>
                </a:solidFill>
                <a:latin typeface="Arial"/>
                <a:ea typeface="Arial"/>
                <a:cs typeface="Arial"/>
              </a:defRPr>
            </a:pPr>
            <a:r>
              <a:rPr sz="3225" b="1">
                <a:solidFill>
                  <a:srgbClr val="172A36"/>
                </a:solidFill>
                <a:latin typeface="Arial"/>
                <a:ea typeface="Arial"/>
                <a:cs typeface="Arial"/>
              </a:rPr>
              <a:t>A 60-second factory challenge</a:t>
            </a:r>
          </a:p>
        </p:txBody>
      </p:sp>
      <p:sp>
        <p:nvSpPr>
          <p:cNvPr id="2" name="Rectangle 1">
            <a:extLst>
              <a:ext uri="{FF2B5EF4-FFF2-40B4-BE49-F238E27FC236}">
                <a16:creationId xmlns:a16="http://schemas.microsoft.com/office/drawing/2014/main" id="{B2E271EB-C23C-499E-8847-813573995574}"/>
              </a:ext>
            </a:extLst>
          </p:cNvPr>
          <p:cNvSpPr>
            <a:spLocks noGrp="1"/>
          </p:cNvSpPr>
          <p:nvPr/>
        </p:nvSpPr>
        <p:spPr>
          <a:xfrm>
            <a:off x="666750" y="1762125"/>
            <a:ext cx="10572750" cy="952500"/>
          </a:xfrm>
          <a:prstGeom prst="rect">
            <a:avLst/>
          </a:prstGeom>
          <a:noFill/>
          <a:ln w="0">
            <a:noFill/>
          </a:ln>
        </p:spPr>
        <p:txBody>
          <a:bodyPr lIns="0" tIns="0" rIns="0" bIns="0">
            <a:noAutofit/>
          </a:bodyPr>
          <a:lstStyle/>
          <a:p>
            <a:pPr>
              <a:defRPr sz="2400" b="0">
                <a:solidFill>
                  <a:srgbClr val="172A36"/>
                </a:solidFill>
                <a:latin typeface="Arial"/>
                <a:ea typeface="Arial"/>
                <a:cs typeface="Arial"/>
              </a:defRPr>
            </a:pPr>
            <a:r>
              <a:rPr sz="2400" b="0">
                <a:solidFill>
                  <a:srgbClr val="172A36"/>
                </a:solidFill>
                <a:latin typeface="Arial"/>
                <a:ea typeface="Arial"/>
                <a:cs typeface="Arial"/>
              </a:rPr>
              <a:t>Imagine four stations: frame, wheels, engine, inspection.</a:t>
            </a:r>
          </a:p>
        </p:txBody>
      </p:sp>
      <p:sp>
        <p:nvSpPr>
          <p:cNvPr id="3" name="Rectangle 2">
            <a:extLst>
              <a:ext uri="{FF2B5EF4-FFF2-40B4-BE49-F238E27FC236}">
                <a16:creationId xmlns:a16="http://schemas.microsoft.com/office/drawing/2014/main" id="{8B1CB992-F38B-4928-90C9-249D35F69EC8}"/>
              </a:ext>
            </a:extLst>
          </p:cNvPr>
          <p:cNvSpPr>
            <a:spLocks noGrp="1"/>
          </p:cNvSpPr>
          <p:nvPr/>
        </p:nvSpPr>
        <p:spPr>
          <a:xfrm>
            <a:off x="666750" y="2809875"/>
            <a:ext cx="10572750" cy="952500"/>
          </a:xfrm>
          <a:prstGeom prst="rect">
            <a:avLst/>
          </a:prstGeom>
          <a:noFill/>
          <a:ln w="0">
            <a:noFill/>
          </a:ln>
        </p:spPr>
        <p:txBody>
          <a:bodyPr lIns="0" tIns="0" rIns="0" bIns="0">
            <a:noAutofit/>
          </a:bodyPr>
          <a:lstStyle/>
          <a:p>
            <a:pPr>
              <a:defRPr sz="2400" b="0">
                <a:solidFill>
                  <a:srgbClr val="172A36"/>
                </a:solidFill>
                <a:latin typeface="Arial"/>
                <a:ea typeface="Arial"/>
                <a:cs typeface="Arial"/>
              </a:defRPr>
            </a:pPr>
            <a:r>
              <a:rPr sz="2400" b="0">
                <a:solidFill>
                  <a:srgbClr val="172A36"/>
                </a:solidFill>
                <a:latin typeface="Arial"/>
                <a:ea typeface="Arial"/>
                <a:cs typeface="Arial"/>
              </a:rPr>
              <a:t>Station times: 10, 20, 10, and 10 seconds per unit.</a:t>
            </a:r>
          </a:p>
        </p:txBody>
      </p:sp>
      <p:sp>
        <p:nvSpPr>
          <p:cNvPr id="4" name="Rectangle 3">
            <a:extLst>
              <a:ext uri="{FF2B5EF4-FFF2-40B4-BE49-F238E27FC236}">
                <a16:creationId xmlns:a16="http://schemas.microsoft.com/office/drawing/2014/main" id="{E9CEFF19-BE43-4A00-842B-4BB9FA9FA22E}"/>
              </a:ext>
            </a:extLst>
          </p:cNvPr>
          <p:cNvSpPr>
            <a:spLocks noGrp="1"/>
          </p:cNvSpPr>
          <p:nvPr/>
        </p:nvSpPr>
        <p:spPr>
          <a:xfrm>
            <a:off x="666750" y="3857625"/>
            <a:ext cx="10572750" cy="952500"/>
          </a:xfrm>
          <a:prstGeom prst="rect">
            <a:avLst/>
          </a:prstGeom>
          <a:noFill/>
          <a:ln w="0">
            <a:noFill/>
          </a:ln>
        </p:spPr>
        <p:txBody>
          <a:bodyPr lIns="0" tIns="0" rIns="0" bIns="0">
            <a:noAutofit/>
          </a:bodyPr>
          <a:lstStyle/>
          <a:p>
            <a:pPr>
              <a:defRPr sz="2400" b="0">
                <a:solidFill>
                  <a:srgbClr val="172A36"/>
                </a:solidFill>
                <a:latin typeface="Arial"/>
                <a:ea typeface="Arial"/>
                <a:cs typeface="Arial"/>
              </a:defRPr>
            </a:pPr>
            <a:r>
              <a:rPr sz="2400" b="0">
                <a:solidFill>
                  <a:srgbClr val="172A36"/>
                </a:solidFill>
                <a:latin typeface="Arial"/>
                <a:ea typeface="Arial"/>
                <a:cs typeface="Arial"/>
              </a:rPr>
              <a:t>Which station limits output? Would faster frame work help?</a:t>
            </a:r>
          </a:p>
        </p:txBody>
      </p:sp>
      <p:sp>
        <p:nvSpPr>
          <p:cNvPr id="5" name="Rectangle 4">
            <a:extLst>
              <a:ext uri="{FF2B5EF4-FFF2-40B4-BE49-F238E27FC236}">
                <a16:creationId xmlns:a16="http://schemas.microsoft.com/office/drawing/2014/main" id="{FC85393B-4C71-4636-938F-E98C30FA5EAA}"/>
              </a:ext>
            </a:extLst>
          </p:cNvPr>
          <p:cNvSpPr>
            <a:spLocks noGrp="1"/>
          </p:cNvSpPr>
          <p:nvPr/>
        </p:nvSpPr>
        <p:spPr>
          <a:xfrm>
            <a:off x="666750" y="6096000"/>
            <a:ext cx="10715625" cy="238125"/>
          </a:xfrm>
          <a:prstGeom prst="rect">
            <a:avLst/>
          </a:prstGeom>
          <a:noFill/>
          <a:ln w="0">
            <a:noFill/>
          </a:ln>
        </p:spPr>
        <p:txBody>
          <a:bodyPr lIns="0" tIns="0" rIns="0" bIns="0">
            <a:noAutofit/>
          </a:bodyPr>
          <a:lstStyle/>
          <a:p>
            <a:pPr>
              <a:defRPr sz="1350" b="0">
                <a:solidFill>
                  <a:srgbClr val="A95D35"/>
                </a:solidFill>
                <a:latin typeface="Arial"/>
                <a:ea typeface="Arial"/>
                <a:cs typeface="Arial"/>
              </a:defRPr>
            </a:pPr>
            <a:r>
              <a:rPr sz="1350" b="0">
                <a:solidFill>
                  <a:srgbClr val="A95D35"/>
                </a:solidFill>
                <a:latin typeface="Arial"/>
                <a:ea typeface="Arial"/>
                <a:cs typeface="Arial"/>
              </a:rPr>
              <a:t>Class activity: illustrative numbers, not historical Ford data</a:t>
            </a:r>
          </a:p>
        </p:txBody>
      </p:sp>
      <p:sp>
        <p:nvSpPr>
          <p:cNvPr id="6" name="Rectangle 5">
            <a:extLst>
              <a:ext uri="{FF2B5EF4-FFF2-40B4-BE49-F238E27FC236}">
                <a16:creationId xmlns:a16="http://schemas.microsoft.com/office/drawing/2014/main" id="{0BF69F4C-A39E-4F7F-817C-F6346FA47FD8}"/>
              </a:ext>
            </a:extLst>
          </p:cNvPr>
          <p:cNvSpPr>
            <a:spLocks noGrp="1"/>
          </p:cNvSpPr>
          <p:nvPr/>
        </p:nvSpPr>
        <p:spPr>
          <a:xfrm>
            <a:off x="11430000" y="6429375"/>
            <a:ext cx="428625" cy="209550"/>
          </a:xfrm>
          <a:prstGeom prst="rect">
            <a:avLst/>
          </a:prstGeom>
          <a:noFill/>
          <a:ln w="0">
            <a:noFill/>
          </a:ln>
        </p:spPr>
        <p:txBody>
          <a:bodyPr lIns="0" tIns="0" rIns="0" bIns="0">
            <a:noAutofit/>
          </a:bodyPr>
          <a:lstStyle/>
          <a:p>
            <a:pPr>
              <a:defRPr sz="1125" b="0">
                <a:solidFill>
                  <a:srgbClr val="55636A"/>
                </a:solidFill>
                <a:latin typeface="Arial"/>
                <a:ea typeface="Arial"/>
                <a:cs typeface="Arial"/>
              </a:defRPr>
            </a:pPr>
            <a:r>
              <a:rPr sz="1125" b="0">
                <a:solidFill>
                  <a:srgbClr val="55636A"/>
                </a:solidFill>
                <a:latin typeface="Arial"/>
                <a:ea typeface="Arial"/>
                <a:cs typeface="Arial"/>
              </a:rPr>
              <a:t>06</a:t>
            </a:r>
          </a:p>
        </p:txBody>
      </p:sp>
    </p:spTree>
    <p:extLst>
      <p:ext uri="{BB962C8B-B14F-4D97-AF65-F5344CB8AC3E}">
        <p14:creationId xmlns:p14="http://schemas.microsoft.com/office/powerpoint/2010/main" val="11893786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1EA"/>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5B1EA06-F5D7-4919-B118-A6FC230CDC93}"/>
              </a:ext>
            </a:extLst>
          </p:cNvPr>
          <p:cNvSpPr>
            <a:spLocks noGrp="1"/>
          </p:cNvSpPr>
          <p:nvPr/>
        </p:nvSpPr>
        <p:spPr>
          <a:xfrm>
            <a:off x="609600" y="457200"/>
            <a:ext cx="10858500" cy="1066800"/>
          </a:xfrm>
          <a:prstGeom prst="rect">
            <a:avLst/>
          </a:prstGeom>
          <a:noFill/>
          <a:ln w="0">
            <a:noFill/>
          </a:ln>
        </p:spPr>
        <p:txBody>
          <a:bodyPr lIns="0" tIns="0" rIns="0" bIns="0">
            <a:noAutofit/>
          </a:bodyPr>
          <a:lstStyle/>
          <a:p>
            <a:pPr>
              <a:defRPr sz="3225" b="1">
                <a:solidFill>
                  <a:srgbClr val="172A36"/>
                </a:solidFill>
                <a:latin typeface="Arial"/>
                <a:ea typeface="Arial"/>
                <a:cs typeface="Arial"/>
              </a:defRPr>
            </a:pPr>
            <a:r>
              <a:rPr sz="3225" b="1">
                <a:solidFill>
                  <a:srgbClr val="172A36"/>
                </a:solidFill>
                <a:latin typeface="Arial"/>
                <a:ea typeface="Arial"/>
                <a:cs typeface="Arial"/>
              </a:rPr>
              <a:t>Assembly time fell dramatically</a:t>
            </a:r>
          </a:p>
        </p:txBody>
      </p:sp>
      <p:sp>
        <p:nvSpPr>
          <p:cNvPr id="2" name="Rectangle 1">
            <a:extLst>
              <a:ext uri="{FF2B5EF4-FFF2-40B4-BE49-F238E27FC236}">
                <a16:creationId xmlns:a16="http://schemas.microsoft.com/office/drawing/2014/main" id="{8EF86609-EFB3-4571-AF6F-5F07EC81322E}"/>
              </a:ext>
            </a:extLst>
          </p:cNvPr>
          <p:cNvSpPr>
            <a:spLocks noGrp="1"/>
          </p:cNvSpPr>
          <p:nvPr/>
        </p:nvSpPr>
        <p:spPr>
          <a:xfrm>
            <a:off x="609600" y="1857375"/>
            <a:ext cx="10287000" cy="1428750"/>
          </a:xfrm>
          <a:prstGeom prst="rect">
            <a:avLst/>
          </a:prstGeom>
          <a:noFill/>
          <a:ln w="0">
            <a:noFill/>
          </a:ln>
        </p:spPr>
        <p:txBody>
          <a:bodyPr lIns="0" tIns="0" rIns="0" bIns="0">
            <a:noAutofit/>
          </a:bodyPr>
          <a:lstStyle/>
          <a:p>
            <a:pPr>
              <a:defRPr sz="4875" b="1">
                <a:solidFill>
                  <a:srgbClr val="A95D35"/>
                </a:solidFill>
                <a:latin typeface="Arial"/>
                <a:ea typeface="Arial"/>
                <a:cs typeface="Arial"/>
              </a:defRPr>
            </a:pPr>
            <a:r>
              <a:rPr sz="4875" b="1">
                <a:solidFill>
                  <a:srgbClr val="A95D35"/>
                </a:solidFill>
                <a:latin typeface="Arial"/>
                <a:ea typeface="Arial"/>
                <a:cs typeface="Arial"/>
              </a:rPr>
              <a:t>12½ hours     93 minutes</a:t>
            </a:r>
          </a:p>
        </p:txBody>
      </p:sp>
      <p:sp>
        <p:nvSpPr>
          <p:cNvPr id="3" name="Rectangle 2">
            <a:extLst>
              <a:ext uri="{FF2B5EF4-FFF2-40B4-BE49-F238E27FC236}">
                <a16:creationId xmlns:a16="http://schemas.microsoft.com/office/drawing/2014/main" id="{23FB2BC3-60A6-4E16-8056-BBE6A0F80420}"/>
              </a:ext>
            </a:extLst>
          </p:cNvPr>
          <p:cNvSpPr>
            <a:spLocks noGrp="1"/>
          </p:cNvSpPr>
          <p:nvPr/>
        </p:nvSpPr>
        <p:spPr>
          <a:xfrm>
            <a:off x="666750" y="3581400"/>
            <a:ext cx="10382250" cy="2095500"/>
          </a:xfrm>
          <a:prstGeom prst="rect">
            <a:avLst/>
          </a:prstGeom>
          <a:noFill/>
          <a:ln w="0">
            <a:noFill/>
          </a:ln>
        </p:spPr>
        <p:txBody>
          <a:bodyPr lIns="0" tIns="0" rIns="0" bIns="0">
            <a:noAutofit/>
          </a:bodyPr>
          <a:lstStyle/>
          <a:p>
            <a:pPr>
              <a:defRPr sz="2175" b="0">
                <a:solidFill>
                  <a:srgbClr val="172A36"/>
                </a:solidFill>
                <a:latin typeface="Arial"/>
                <a:ea typeface="Arial"/>
                <a:cs typeface="Arial"/>
              </a:defRPr>
            </a:pPr>
            <a:r>
              <a:rPr sz="2175" b="0">
                <a:solidFill>
                  <a:srgbClr val="172A36"/>
                </a:solidFill>
                <a:latin typeface="Arial"/>
                <a:ea typeface="Arial"/>
                <a:cs typeface="Arial"/>
              </a:rPr>
              <a:t>Approximate Model T chassis assembly time</a:t>
            </a:r>
          </a:p>
          <a:p>
            <a:endParaRPr sz="2175" b="0">
              <a:solidFill>
                <a:srgbClr val="172A36"/>
              </a:solidFill>
              <a:latin typeface="Arial"/>
              <a:ea typeface="Arial"/>
              <a:cs typeface="Arial"/>
            </a:endParaRPr>
          </a:p>
          <a:p>
            <a:pPr>
              <a:defRPr sz="2175" b="0">
                <a:solidFill>
                  <a:srgbClr val="172A36"/>
                </a:solidFill>
                <a:latin typeface="Arial"/>
                <a:ea typeface="Arial"/>
                <a:cs typeface="Arial"/>
              </a:defRPr>
            </a:pPr>
            <a:r>
              <a:rPr sz="2175" b="0">
                <a:solidFill>
                  <a:srgbClr val="172A36"/>
                </a:solidFill>
                <a:latin typeface="Arial"/>
                <a:ea typeface="Arial"/>
                <a:cs typeface="Arial"/>
              </a:rPr>
              <a:t>After the moving-line experiments of 1913–1914</a:t>
            </a:r>
          </a:p>
          <a:p>
            <a:endParaRPr sz="2175" b="0">
              <a:solidFill>
                <a:srgbClr val="172A36"/>
              </a:solidFill>
              <a:latin typeface="Arial"/>
              <a:ea typeface="Arial"/>
              <a:cs typeface="Arial"/>
            </a:endParaRPr>
          </a:p>
          <a:p>
            <a:pPr>
              <a:defRPr sz="2175" b="0">
                <a:solidFill>
                  <a:srgbClr val="172A36"/>
                </a:solidFill>
                <a:latin typeface="Arial"/>
                <a:ea typeface="Arial"/>
                <a:cs typeface="Arial"/>
              </a:defRPr>
            </a:pPr>
            <a:r>
              <a:rPr sz="2175" b="0">
                <a:solidFill>
                  <a:srgbClr val="172A36"/>
                </a:solidFill>
                <a:latin typeface="Arial"/>
                <a:ea typeface="Arial"/>
                <a:cs typeface="Arial"/>
              </a:rPr>
              <a:t>About 88% less elapsed assembly time</a:t>
            </a:r>
          </a:p>
        </p:txBody>
      </p:sp>
      <p:sp>
        <p:nvSpPr>
          <p:cNvPr id="4" name="Rectangle 3">
            <a:extLst>
              <a:ext uri="{FF2B5EF4-FFF2-40B4-BE49-F238E27FC236}">
                <a16:creationId xmlns:a16="http://schemas.microsoft.com/office/drawing/2014/main" id="{F1A43EBD-4A8F-4EC5-8734-7488D1FFD835}"/>
              </a:ext>
            </a:extLst>
          </p:cNvPr>
          <p:cNvSpPr>
            <a:spLocks noGrp="1"/>
          </p:cNvSpPr>
          <p:nvPr/>
        </p:nvSpPr>
        <p:spPr>
          <a:xfrm>
            <a:off x="666750" y="6096000"/>
            <a:ext cx="10715625" cy="238125"/>
          </a:xfrm>
          <a:prstGeom prst="rect">
            <a:avLst/>
          </a:prstGeom>
          <a:noFill/>
          <a:ln w="0">
            <a:noFill/>
          </a:ln>
        </p:spPr>
        <p:txBody>
          <a:bodyPr lIns="0" tIns="0" rIns="0" bIns="0">
            <a:noAutofit/>
          </a:bodyPr>
          <a:lstStyle/>
          <a:p>
            <a:pPr>
              <a:defRPr sz="1350" b="0">
                <a:solidFill>
                  <a:srgbClr val="A95D35"/>
                </a:solidFill>
                <a:latin typeface="Arial"/>
                <a:ea typeface="Arial"/>
                <a:cs typeface="Arial"/>
              </a:defRPr>
            </a:pPr>
            <a:r>
              <a:rPr sz="1350" b="0">
                <a:solidFill>
                  <a:srgbClr val="A95D35"/>
                </a:solidFill>
                <a:latin typeface="Arial"/>
                <a:ea typeface="Arial"/>
                <a:cs typeface="Arial"/>
              </a:rPr>
              <a:t>93 minutes is assembly duration, not the gap between completed vehicles</a:t>
            </a:r>
          </a:p>
        </p:txBody>
      </p:sp>
      <p:sp>
        <p:nvSpPr>
          <p:cNvPr id="5" name="Rectangle 4">
            <a:extLst>
              <a:ext uri="{FF2B5EF4-FFF2-40B4-BE49-F238E27FC236}">
                <a16:creationId xmlns:a16="http://schemas.microsoft.com/office/drawing/2014/main" id="{8907420E-61D7-44E5-B33F-6FE7C2A32BE4}"/>
              </a:ext>
            </a:extLst>
          </p:cNvPr>
          <p:cNvSpPr>
            <a:spLocks noGrp="1"/>
          </p:cNvSpPr>
          <p:nvPr/>
        </p:nvSpPr>
        <p:spPr>
          <a:xfrm>
            <a:off x="11430000" y="6429375"/>
            <a:ext cx="428625" cy="209550"/>
          </a:xfrm>
          <a:prstGeom prst="rect">
            <a:avLst/>
          </a:prstGeom>
          <a:noFill/>
          <a:ln w="0">
            <a:noFill/>
          </a:ln>
        </p:spPr>
        <p:txBody>
          <a:bodyPr lIns="0" tIns="0" rIns="0" bIns="0">
            <a:noAutofit/>
          </a:bodyPr>
          <a:lstStyle/>
          <a:p>
            <a:pPr>
              <a:defRPr sz="1125" b="0">
                <a:solidFill>
                  <a:srgbClr val="55636A"/>
                </a:solidFill>
                <a:latin typeface="Arial"/>
                <a:ea typeface="Arial"/>
                <a:cs typeface="Arial"/>
              </a:defRPr>
            </a:pPr>
            <a:r>
              <a:rPr sz="1125" b="0">
                <a:solidFill>
                  <a:srgbClr val="55636A"/>
                </a:solidFill>
                <a:latin typeface="Arial"/>
                <a:ea typeface="Arial"/>
                <a:cs typeface="Arial"/>
              </a:rPr>
              <a:t>07</a:t>
            </a:r>
          </a:p>
        </p:txBody>
      </p:sp>
      <p:sp>
        <p:nvSpPr>
          <p:cNvPr id="6" name="Rectangle 5">
            <a:extLst>
              <a:ext uri="{FF2B5EF4-FFF2-40B4-BE49-F238E27FC236}">
                <a16:creationId xmlns:a16="http://schemas.microsoft.com/office/drawing/2014/main" id="{933E589F-3944-40ED-902B-71538DC5DB5E}"/>
              </a:ext>
            </a:extLst>
          </p:cNvPr>
          <p:cNvSpPr>
            <a:spLocks noGrp="1"/>
          </p:cNvSpPr>
          <p:nvPr/>
        </p:nvSpPr>
        <p:spPr>
          <a:xfrm>
            <a:off x="666750" y="6429375"/>
            <a:ext cx="9525000" cy="209550"/>
          </a:xfrm>
          <a:prstGeom prst="rect">
            <a:avLst/>
          </a:prstGeom>
          <a:noFill/>
          <a:ln w="0">
            <a:noFill/>
          </a:ln>
        </p:spPr>
        <p:txBody>
          <a:bodyPr lIns="0" tIns="0" rIns="0" bIns="0">
            <a:noAutofit/>
          </a:bodyPr>
          <a:lstStyle/>
          <a:p>
            <a:pPr>
              <a:defRPr sz="1125" b="0">
                <a:solidFill>
                  <a:srgbClr val="55636A"/>
                </a:solidFill>
                <a:latin typeface="Arial"/>
                <a:ea typeface="Arial"/>
                <a:cs typeface="Arial"/>
              </a:defRPr>
            </a:pPr>
            <a:r>
              <a:rPr sz="1125" b="0">
                <a:solidFill>
                  <a:srgbClr val="55636A"/>
                </a:solidFill>
                <a:latin typeface="Arial"/>
                <a:ea typeface="Arial"/>
                <a:cs typeface="Arial"/>
              </a:rPr>
              <a:t>[B] [D]</a:t>
            </a:r>
          </a:p>
        </p:txBody>
      </p:sp>
    </p:spTree>
    <p:extLst>
      <p:ext uri="{BB962C8B-B14F-4D97-AF65-F5344CB8AC3E}">
        <p14:creationId xmlns:p14="http://schemas.microsoft.com/office/powerpoint/2010/main" val="9174056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1EA"/>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B74974B-3C0D-4ADB-A457-26EB25E5C667}"/>
              </a:ext>
            </a:extLst>
          </p:cNvPr>
          <p:cNvSpPr>
            <a:spLocks noGrp="1"/>
          </p:cNvSpPr>
          <p:nvPr/>
        </p:nvSpPr>
        <p:spPr>
          <a:xfrm>
            <a:off x="609600" y="457200"/>
            <a:ext cx="10858500" cy="1066800"/>
          </a:xfrm>
          <a:prstGeom prst="rect">
            <a:avLst/>
          </a:prstGeom>
          <a:noFill/>
          <a:ln w="0">
            <a:noFill/>
          </a:ln>
        </p:spPr>
        <p:txBody>
          <a:bodyPr lIns="0" tIns="0" rIns="0" bIns="0">
            <a:noAutofit/>
          </a:bodyPr>
          <a:lstStyle/>
          <a:p>
            <a:pPr>
              <a:defRPr sz="3225" b="1">
                <a:solidFill>
                  <a:srgbClr val="172A36"/>
                </a:solidFill>
                <a:latin typeface="Arial"/>
                <a:ea typeface="Arial"/>
                <a:cs typeface="Arial"/>
              </a:defRPr>
            </a:pPr>
            <a:r>
              <a:rPr sz="3225" b="1">
                <a:solidFill>
                  <a:srgbClr val="172A36"/>
                </a:solidFill>
                <a:latin typeface="Arial"/>
                <a:ea typeface="Arial"/>
                <a:cs typeface="Arial"/>
              </a:rPr>
              <a:t>Efficiency expanded the market</a:t>
            </a:r>
          </a:p>
        </p:txBody>
      </p:sp>
      <p:sp>
        <p:nvSpPr>
          <p:cNvPr id="2" name="Rectangle 1">
            <a:extLst>
              <a:ext uri="{FF2B5EF4-FFF2-40B4-BE49-F238E27FC236}">
                <a16:creationId xmlns:a16="http://schemas.microsoft.com/office/drawing/2014/main" id="{3151F4FE-84CF-45A1-B030-3541580D142E}"/>
              </a:ext>
            </a:extLst>
          </p:cNvPr>
          <p:cNvSpPr>
            <a:spLocks noGrp="1"/>
          </p:cNvSpPr>
          <p:nvPr/>
        </p:nvSpPr>
        <p:spPr>
          <a:xfrm>
            <a:off x="609600" y="1857375"/>
            <a:ext cx="10287000" cy="1428750"/>
          </a:xfrm>
          <a:prstGeom prst="rect">
            <a:avLst/>
          </a:prstGeom>
          <a:noFill/>
          <a:ln w="0">
            <a:noFill/>
          </a:ln>
        </p:spPr>
        <p:txBody>
          <a:bodyPr lIns="0" tIns="0" rIns="0" bIns="0">
            <a:noAutofit/>
          </a:bodyPr>
          <a:lstStyle/>
          <a:p>
            <a:pPr>
              <a:defRPr sz="4875" b="1">
                <a:solidFill>
                  <a:srgbClr val="A95D35"/>
                </a:solidFill>
                <a:latin typeface="Arial"/>
                <a:ea typeface="Arial"/>
                <a:cs typeface="Arial"/>
              </a:defRPr>
            </a:pPr>
            <a:r>
              <a:rPr sz="4875" b="1">
                <a:solidFill>
                  <a:srgbClr val="A95D35"/>
                </a:solidFill>
                <a:latin typeface="Arial"/>
                <a:ea typeface="Arial"/>
                <a:cs typeface="Arial"/>
              </a:rPr>
              <a:t>$850          as low as $260</a:t>
            </a:r>
          </a:p>
        </p:txBody>
      </p:sp>
      <p:sp>
        <p:nvSpPr>
          <p:cNvPr id="3" name="Rectangle 2">
            <a:extLst>
              <a:ext uri="{FF2B5EF4-FFF2-40B4-BE49-F238E27FC236}">
                <a16:creationId xmlns:a16="http://schemas.microsoft.com/office/drawing/2014/main" id="{A38CF771-E74A-4286-92BC-7BBF2DA60987}"/>
              </a:ext>
            </a:extLst>
          </p:cNvPr>
          <p:cNvSpPr>
            <a:spLocks noGrp="1"/>
          </p:cNvSpPr>
          <p:nvPr/>
        </p:nvSpPr>
        <p:spPr>
          <a:xfrm>
            <a:off x="666750" y="3581400"/>
            <a:ext cx="10382250" cy="2095500"/>
          </a:xfrm>
          <a:prstGeom prst="rect">
            <a:avLst/>
          </a:prstGeom>
          <a:noFill/>
          <a:ln w="0">
            <a:noFill/>
          </a:ln>
        </p:spPr>
        <p:txBody>
          <a:bodyPr lIns="0" tIns="0" rIns="0" bIns="0">
            <a:noAutofit/>
          </a:bodyPr>
          <a:lstStyle/>
          <a:p>
            <a:pPr>
              <a:defRPr sz="2175" b="0">
                <a:solidFill>
                  <a:srgbClr val="172A36"/>
                </a:solidFill>
                <a:latin typeface="Arial"/>
                <a:ea typeface="Arial"/>
                <a:cs typeface="Arial"/>
              </a:defRPr>
            </a:pPr>
            <a:r>
              <a:rPr sz="2175" b="0">
                <a:solidFill>
                  <a:srgbClr val="172A36"/>
                </a:solidFill>
                <a:latin typeface="Arial"/>
                <a:ea typeface="Arial"/>
                <a:cs typeface="Arial"/>
              </a:rPr>
              <a:t>Model T prices over its production life, in nominal dollars</a:t>
            </a:r>
          </a:p>
          <a:p>
            <a:endParaRPr sz="2175" b="0">
              <a:solidFill>
                <a:srgbClr val="172A36"/>
              </a:solidFill>
              <a:latin typeface="Arial"/>
              <a:ea typeface="Arial"/>
              <a:cs typeface="Arial"/>
            </a:endParaRPr>
          </a:p>
          <a:p>
            <a:pPr>
              <a:defRPr sz="2175" b="0">
                <a:solidFill>
                  <a:srgbClr val="172A36"/>
                </a:solidFill>
                <a:latin typeface="Arial"/>
                <a:ea typeface="Arial"/>
                <a:cs typeface="Arial"/>
              </a:defRPr>
            </a:pPr>
            <a:r>
              <a:rPr sz="2175" b="0">
                <a:solidFill>
                  <a:srgbClr val="172A36"/>
                </a:solidFill>
                <a:latin typeface="Arial"/>
                <a:ea typeface="Arial"/>
                <a:cs typeface="Arial"/>
              </a:rPr>
              <a:t>More than 15 million Model Ts built and sold</a:t>
            </a:r>
          </a:p>
          <a:p>
            <a:endParaRPr sz="2175" b="0">
              <a:solidFill>
                <a:srgbClr val="172A36"/>
              </a:solidFill>
              <a:latin typeface="Arial"/>
              <a:ea typeface="Arial"/>
              <a:cs typeface="Arial"/>
            </a:endParaRPr>
          </a:p>
          <a:p>
            <a:pPr>
              <a:defRPr sz="2175" b="0">
                <a:solidFill>
                  <a:srgbClr val="172A36"/>
                </a:solidFill>
                <a:latin typeface="Arial"/>
                <a:ea typeface="Arial"/>
                <a:cs typeface="Arial"/>
              </a:defRPr>
            </a:pPr>
            <a:r>
              <a:rPr sz="2175" b="0">
                <a:solidFill>
                  <a:srgbClr val="172A36"/>
                </a:solidFill>
                <a:latin typeface="Arial"/>
                <a:ea typeface="Arial"/>
                <a:cs typeface="Arial"/>
              </a:rPr>
              <a:t>A broad market supported a strategy built around low cost.</a:t>
            </a:r>
          </a:p>
        </p:txBody>
      </p:sp>
      <p:sp>
        <p:nvSpPr>
          <p:cNvPr id="4" name="Rectangle 3">
            <a:extLst>
              <a:ext uri="{FF2B5EF4-FFF2-40B4-BE49-F238E27FC236}">
                <a16:creationId xmlns:a16="http://schemas.microsoft.com/office/drawing/2014/main" id="{B9B5365A-B1BE-45D0-A562-00155400323A}"/>
              </a:ext>
            </a:extLst>
          </p:cNvPr>
          <p:cNvSpPr>
            <a:spLocks noGrp="1"/>
          </p:cNvSpPr>
          <p:nvPr/>
        </p:nvSpPr>
        <p:spPr>
          <a:xfrm>
            <a:off x="666750" y="6096000"/>
            <a:ext cx="10715625" cy="238125"/>
          </a:xfrm>
          <a:prstGeom prst="rect">
            <a:avLst/>
          </a:prstGeom>
          <a:noFill/>
          <a:ln w="0">
            <a:noFill/>
          </a:ln>
        </p:spPr>
        <p:txBody>
          <a:bodyPr lIns="0" tIns="0" rIns="0" bIns="0">
            <a:noAutofit/>
          </a:bodyPr>
          <a:lstStyle/>
          <a:p>
            <a:pPr>
              <a:defRPr sz="1350" b="0">
                <a:solidFill>
                  <a:srgbClr val="A95D35"/>
                </a:solidFill>
                <a:latin typeface="Arial"/>
                <a:ea typeface="Arial"/>
                <a:cs typeface="Arial"/>
              </a:defRPr>
            </a:pPr>
            <a:r>
              <a:rPr sz="1350" b="0">
                <a:solidFill>
                  <a:srgbClr val="A95D35"/>
                </a:solidFill>
                <a:latin typeface="Arial"/>
                <a:ea typeface="Arial"/>
                <a:cs typeface="Arial"/>
              </a:rPr>
              <a:t>Management connection: competitive strategy and cost leadership</a:t>
            </a:r>
          </a:p>
        </p:txBody>
      </p:sp>
      <p:sp>
        <p:nvSpPr>
          <p:cNvPr id="5" name="Rectangle 4">
            <a:extLst>
              <a:ext uri="{FF2B5EF4-FFF2-40B4-BE49-F238E27FC236}">
                <a16:creationId xmlns:a16="http://schemas.microsoft.com/office/drawing/2014/main" id="{75754E9C-ACCB-407C-B099-FBEF85AD306D}"/>
              </a:ext>
            </a:extLst>
          </p:cNvPr>
          <p:cNvSpPr>
            <a:spLocks noGrp="1"/>
          </p:cNvSpPr>
          <p:nvPr/>
        </p:nvSpPr>
        <p:spPr>
          <a:xfrm>
            <a:off x="11430000" y="6429375"/>
            <a:ext cx="428625" cy="209550"/>
          </a:xfrm>
          <a:prstGeom prst="rect">
            <a:avLst/>
          </a:prstGeom>
          <a:noFill/>
          <a:ln w="0">
            <a:noFill/>
          </a:ln>
        </p:spPr>
        <p:txBody>
          <a:bodyPr lIns="0" tIns="0" rIns="0" bIns="0">
            <a:noAutofit/>
          </a:bodyPr>
          <a:lstStyle/>
          <a:p>
            <a:pPr>
              <a:defRPr sz="1125" b="0">
                <a:solidFill>
                  <a:srgbClr val="55636A"/>
                </a:solidFill>
                <a:latin typeface="Arial"/>
                <a:ea typeface="Arial"/>
                <a:cs typeface="Arial"/>
              </a:defRPr>
            </a:pPr>
            <a:r>
              <a:rPr sz="1125" b="0">
                <a:solidFill>
                  <a:srgbClr val="55636A"/>
                </a:solidFill>
                <a:latin typeface="Arial"/>
                <a:ea typeface="Arial"/>
                <a:cs typeface="Arial"/>
              </a:rPr>
              <a:t>08</a:t>
            </a:r>
          </a:p>
        </p:txBody>
      </p:sp>
      <p:sp>
        <p:nvSpPr>
          <p:cNvPr id="6" name="Rectangle 5">
            <a:extLst>
              <a:ext uri="{FF2B5EF4-FFF2-40B4-BE49-F238E27FC236}">
                <a16:creationId xmlns:a16="http://schemas.microsoft.com/office/drawing/2014/main" id="{80C9E772-0B96-465D-A9BD-442C125E3AD4}"/>
              </a:ext>
            </a:extLst>
          </p:cNvPr>
          <p:cNvSpPr>
            <a:spLocks noGrp="1"/>
          </p:cNvSpPr>
          <p:nvPr/>
        </p:nvSpPr>
        <p:spPr>
          <a:xfrm>
            <a:off x="666750" y="6429375"/>
            <a:ext cx="9525000" cy="209550"/>
          </a:xfrm>
          <a:prstGeom prst="rect">
            <a:avLst/>
          </a:prstGeom>
          <a:noFill/>
          <a:ln w="0">
            <a:noFill/>
          </a:ln>
        </p:spPr>
        <p:txBody>
          <a:bodyPr lIns="0" tIns="0" rIns="0" bIns="0">
            <a:noAutofit/>
          </a:bodyPr>
          <a:lstStyle/>
          <a:p>
            <a:pPr>
              <a:defRPr sz="1125" b="0">
                <a:solidFill>
                  <a:srgbClr val="55636A"/>
                </a:solidFill>
                <a:latin typeface="Arial"/>
                <a:ea typeface="Arial"/>
                <a:cs typeface="Arial"/>
              </a:defRPr>
            </a:pPr>
            <a:r>
              <a:rPr sz="1125" b="0">
                <a:solidFill>
                  <a:srgbClr val="55636A"/>
                </a:solidFill>
                <a:latin typeface="Arial"/>
                <a:ea typeface="Arial"/>
                <a:cs typeface="Arial"/>
              </a:rPr>
              <a:t>[C]</a:t>
            </a:r>
          </a:p>
        </p:txBody>
      </p:sp>
    </p:spTree>
    <p:extLst>
      <p:ext uri="{BB962C8B-B14F-4D97-AF65-F5344CB8AC3E}">
        <p14:creationId xmlns:p14="http://schemas.microsoft.com/office/powerpoint/2010/main" val="8152039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1EA"/>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CDBF4FB-8570-447B-9978-56DBD7A57429}"/>
              </a:ext>
            </a:extLst>
          </p:cNvPr>
          <p:cNvSpPr>
            <a:spLocks noGrp="1"/>
          </p:cNvSpPr>
          <p:nvPr/>
        </p:nvSpPr>
        <p:spPr>
          <a:xfrm>
            <a:off x="609600" y="457200"/>
            <a:ext cx="10858500" cy="1066800"/>
          </a:xfrm>
          <a:prstGeom prst="rect">
            <a:avLst/>
          </a:prstGeom>
          <a:noFill/>
          <a:ln w="0">
            <a:noFill/>
          </a:ln>
        </p:spPr>
        <p:txBody>
          <a:bodyPr lIns="0" tIns="0" rIns="0" bIns="0">
            <a:noAutofit/>
          </a:bodyPr>
          <a:lstStyle/>
          <a:p>
            <a:pPr>
              <a:defRPr sz="3225" b="1">
                <a:solidFill>
                  <a:srgbClr val="172A36"/>
                </a:solidFill>
                <a:latin typeface="Arial"/>
                <a:ea typeface="Arial"/>
                <a:cs typeface="Arial"/>
              </a:defRPr>
            </a:pPr>
            <a:r>
              <a:rPr sz="3225" b="1">
                <a:solidFill>
                  <a:srgbClr val="172A36"/>
                </a:solidFill>
                <a:latin typeface="Arial"/>
                <a:ea typeface="Arial"/>
                <a:cs typeface="Arial"/>
              </a:rPr>
              <a:t>Fordism as a management system</a:t>
            </a:r>
          </a:p>
        </p:txBody>
      </p:sp>
      <p:sp>
        <p:nvSpPr>
          <p:cNvPr id="2" name="Rectangle 1">
            <a:extLst>
              <a:ext uri="{FF2B5EF4-FFF2-40B4-BE49-F238E27FC236}">
                <a16:creationId xmlns:a16="http://schemas.microsoft.com/office/drawing/2014/main" id="{8A942F9A-7D52-48AF-9822-DC3D51CAF0DF}"/>
              </a:ext>
            </a:extLst>
          </p:cNvPr>
          <p:cNvSpPr>
            <a:spLocks noGrp="1"/>
          </p:cNvSpPr>
          <p:nvPr/>
        </p:nvSpPr>
        <p:spPr>
          <a:xfrm>
            <a:off x="666750" y="1809750"/>
            <a:ext cx="5143500" cy="619125"/>
          </a:xfrm>
          <a:prstGeom prst="rect">
            <a:avLst/>
          </a:prstGeom>
          <a:noFill/>
          <a:ln w="0">
            <a:noFill/>
          </a:ln>
        </p:spPr>
        <p:txBody>
          <a:bodyPr lIns="0" tIns="0" rIns="0" bIns="0">
            <a:noAutofit/>
          </a:bodyPr>
          <a:lstStyle/>
          <a:p>
            <a:pPr>
              <a:defRPr sz="2325" b="1">
                <a:solidFill>
                  <a:srgbClr val="A95D35"/>
                </a:solidFill>
                <a:latin typeface="Arial"/>
                <a:ea typeface="Arial"/>
                <a:cs typeface="Arial"/>
              </a:defRPr>
            </a:pPr>
            <a:r>
              <a:rPr sz="2325" b="1">
                <a:solidFill>
                  <a:srgbClr val="A95D35"/>
                </a:solidFill>
                <a:latin typeface="Arial"/>
                <a:ea typeface="Arial"/>
                <a:cs typeface="Arial"/>
              </a:rPr>
              <a:t>Reinforcing decisions</a:t>
            </a:r>
          </a:p>
        </p:txBody>
      </p:sp>
      <p:sp>
        <p:nvSpPr>
          <p:cNvPr id="3" name="Rectangle 2">
            <a:extLst>
              <a:ext uri="{FF2B5EF4-FFF2-40B4-BE49-F238E27FC236}">
                <a16:creationId xmlns:a16="http://schemas.microsoft.com/office/drawing/2014/main" id="{5E7EC10D-EDDF-415F-86CC-EFEE30EFE1F4}"/>
              </a:ext>
            </a:extLst>
          </p:cNvPr>
          <p:cNvSpPr>
            <a:spLocks noGrp="1"/>
          </p:cNvSpPr>
          <p:nvPr/>
        </p:nvSpPr>
        <p:spPr>
          <a:xfrm>
            <a:off x="666750" y="2638425"/>
            <a:ext cx="5048250" cy="3000375"/>
          </a:xfrm>
          <a:prstGeom prst="rect">
            <a:avLst/>
          </a:prstGeom>
          <a:noFill/>
          <a:ln w="0">
            <a:noFill/>
          </a:ln>
        </p:spPr>
        <p:txBody>
          <a:bodyPr lIns="0" tIns="0" rIns="0" bIns="0">
            <a:noAutofit/>
          </a:bodyPr>
          <a:lstStyle/>
          <a:p>
            <a:pPr>
              <a:defRPr sz="2175" b="0">
                <a:solidFill>
                  <a:srgbClr val="172A36"/>
                </a:solidFill>
                <a:latin typeface="Arial"/>
                <a:ea typeface="Arial"/>
                <a:cs typeface="Arial"/>
              </a:defRPr>
            </a:pPr>
            <a:r>
              <a:rPr sz="2175" b="0">
                <a:solidFill>
                  <a:srgbClr val="172A36"/>
                </a:solidFill>
                <a:latin typeface="Arial"/>
                <a:ea typeface="Arial"/>
                <a:cs typeface="Arial"/>
              </a:rPr>
              <a:t>A standardized product supports repeatable work.</a:t>
            </a:r>
          </a:p>
          <a:p>
            <a:endParaRPr sz="2175" b="0">
              <a:solidFill>
                <a:srgbClr val="172A36"/>
              </a:solidFill>
              <a:latin typeface="Arial"/>
              <a:ea typeface="Arial"/>
              <a:cs typeface="Arial"/>
            </a:endParaRPr>
          </a:p>
          <a:p>
            <a:pPr>
              <a:defRPr sz="2175" b="0">
                <a:solidFill>
                  <a:srgbClr val="172A36"/>
                </a:solidFill>
                <a:latin typeface="Arial"/>
                <a:ea typeface="Arial"/>
                <a:cs typeface="Arial"/>
              </a:defRPr>
            </a:pPr>
            <a:r>
              <a:rPr sz="2175" b="0">
                <a:solidFill>
                  <a:srgbClr val="172A36"/>
                </a:solidFill>
                <a:latin typeface="Arial"/>
                <a:ea typeface="Arial"/>
                <a:cs typeface="Arial"/>
              </a:rPr>
              <a:t>High volume spreads fixed costs across more units.</a:t>
            </a:r>
          </a:p>
        </p:txBody>
      </p:sp>
      <p:sp>
        <p:nvSpPr>
          <p:cNvPr id="4" name="Rectangle 3">
            <a:extLst>
              <a:ext uri="{FF2B5EF4-FFF2-40B4-BE49-F238E27FC236}">
                <a16:creationId xmlns:a16="http://schemas.microsoft.com/office/drawing/2014/main" id="{A9C13060-F0FC-4232-A3E5-BA197FDF140F}"/>
              </a:ext>
            </a:extLst>
          </p:cNvPr>
          <p:cNvSpPr>
            <a:spLocks noGrp="1"/>
          </p:cNvSpPr>
          <p:nvPr/>
        </p:nvSpPr>
        <p:spPr>
          <a:xfrm>
            <a:off x="6286500" y="1809750"/>
            <a:ext cx="5143500" cy="619125"/>
          </a:xfrm>
          <a:prstGeom prst="rect">
            <a:avLst/>
          </a:prstGeom>
          <a:noFill/>
          <a:ln w="0">
            <a:noFill/>
          </a:ln>
        </p:spPr>
        <p:txBody>
          <a:bodyPr lIns="0" tIns="0" rIns="0" bIns="0">
            <a:noAutofit/>
          </a:bodyPr>
          <a:lstStyle/>
          <a:p>
            <a:pPr>
              <a:defRPr sz="2325" b="1">
                <a:solidFill>
                  <a:srgbClr val="A95D35"/>
                </a:solidFill>
                <a:latin typeface="Arial"/>
                <a:ea typeface="Arial"/>
                <a:cs typeface="Arial"/>
              </a:defRPr>
            </a:pPr>
            <a:r>
              <a:rPr sz="2325" b="1">
                <a:solidFill>
                  <a:srgbClr val="A95D35"/>
                </a:solidFill>
                <a:latin typeface="Arial"/>
                <a:ea typeface="Arial"/>
                <a:cs typeface="Arial"/>
              </a:rPr>
              <a:t>The system depends on people</a:t>
            </a:r>
          </a:p>
        </p:txBody>
      </p:sp>
      <p:sp>
        <p:nvSpPr>
          <p:cNvPr id="5" name="Rectangle 4">
            <a:extLst>
              <a:ext uri="{FF2B5EF4-FFF2-40B4-BE49-F238E27FC236}">
                <a16:creationId xmlns:a16="http://schemas.microsoft.com/office/drawing/2014/main" id="{0DC1444F-8269-4533-AD03-DB3FB637EA6F}"/>
              </a:ext>
            </a:extLst>
          </p:cNvPr>
          <p:cNvSpPr>
            <a:spLocks noGrp="1"/>
          </p:cNvSpPr>
          <p:nvPr/>
        </p:nvSpPr>
        <p:spPr>
          <a:xfrm>
            <a:off x="6286500" y="2638425"/>
            <a:ext cx="5048250" cy="3000375"/>
          </a:xfrm>
          <a:prstGeom prst="rect">
            <a:avLst/>
          </a:prstGeom>
          <a:noFill/>
          <a:ln w="0">
            <a:noFill/>
          </a:ln>
        </p:spPr>
        <p:txBody>
          <a:bodyPr lIns="0" tIns="0" rIns="0" bIns="0">
            <a:noAutofit/>
          </a:bodyPr>
          <a:lstStyle/>
          <a:p>
            <a:pPr>
              <a:defRPr sz="2175" b="0">
                <a:solidFill>
                  <a:srgbClr val="172A36"/>
                </a:solidFill>
                <a:latin typeface="Arial"/>
                <a:ea typeface="Arial"/>
                <a:cs typeface="Arial"/>
              </a:defRPr>
            </a:pPr>
            <a:r>
              <a:rPr sz="2175" b="0">
                <a:solidFill>
                  <a:srgbClr val="172A36"/>
                </a:solidFill>
                <a:latin typeface="Arial"/>
                <a:ea typeface="Arial"/>
                <a:cs typeface="Arial"/>
              </a:rPr>
              <a:t>Affordable prices can widen demand.</a:t>
            </a:r>
          </a:p>
          <a:p>
            <a:endParaRPr sz="2175" b="0">
              <a:solidFill>
                <a:srgbClr val="172A36"/>
              </a:solidFill>
              <a:latin typeface="Arial"/>
              <a:ea typeface="Arial"/>
              <a:cs typeface="Arial"/>
            </a:endParaRPr>
          </a:p>
          <a:p>
            <a:pPr>
              <a:defRPr sz="2175" b="0">
                <a:solidFill>
                  <a:srgbClr val="172A36"/>
                </a:solidFill>
                <a:latin typeface="Arial"/>
                <a:ea typeface="Arial"/>
                <a:cs typeface="Arial"/>
              </a:defRPr>
            </a:pPr>
            <a:r>
              <a:rPr sz="2175" b="0">
                <a:solidFill>
                  <a:srgbClr val="172A36"/>
                </a:solidFill>
                <a:latin typeface="Arial"/>
                <a:ea typeface="Arial"/>
                <a:cs typeface="Arial"/>
              </a:rPr>
              <a:t>Stable staffing helps sustain the production plan.</a:t>
            </a:r>
          </a:p>
        </p:txBody>
      </p:sp>
      <p:sp>
        <p:nvSpPr>
          <p:cNvPr id="6" name="Rectangle 5">
            <a:extLst>
              <a:ext uri="{FF2B5EF4-FFF2-40B4-BE49-F238E27FC236}">
                <a16:creationId xmlns:a16="http://schemas.microsoft.com/office/drawing/2014/main" id="{4F8902AC-8FE5-4967-ACF9-84DA4F0F00E3}"/>
              </a:ext>
            </a:extLst>
          </p:cNvPr>
          <p:cNvSpPr>
            <a:spLocks noGrp="1"/>
          </p:cNvSpPr>
          <p:nvPr/>
        </p:nvSpPr>
        <p:spPr>
          <a:xfrm>
            <a:off x="666750" y="6096000"/>
            <a:ext cx="10715625" cy="238125"/>
          </a:xfrm>
          <a:prstGeom prst="rect">
            <a:avLst/>
          </a:prstGeom>
          <a:noFill/>
          <a:ln w="0">
            <a:noFill/>
          </a:ln>
        </p:spPr>
        <p:txBody>
          <a:bodyPr lIns="0" tIns="0" rIns="0" bIns="0">
            <a:noAutofit/>
          </a:bodyPr>
          <a:lstStyle/>
          <a:p>
            <a:pPr>
              <a:defRPr sz="1350" b="0">
                <a:solidFill>
                  <a:srgbClr val="A95D35"/>
                </a:solidFill>
                <a:latin typeface="Arial"/>
                <a:ea typeface="Arial"/>
                <a:cs typeface="Arial"/>
              </a:defRPr>
            </a:pPr>
            <a:r>
              <a:rPr sz="1350" b="0">
                <a:solidFill>
                  <a:srgbClr val="A95D35"/>
                </a:solidFill>
                <a:latin typeface="Arial"/>
                <a:ea typeface="Arial"/>
                <a:cs typeface="Arial"/>
              </a:rPr>
              <a:t>Management connection: systems thinking and organizational design</a:t>
            </a:r>
          </a:p>
        </p:txBody>
      </p:sp>
      <p:sp>
        <p:nvSpPr>
          <p:cNvPr id="7" name="Rectangle 6">
            <a:extLst>
              <a:ext uri="{FF2B5EF4-FFF2-40B4-BE49-F238E27FC236}">
                <a16:creationId xmlns:a16="http://schemas.microsoft.com/office/drawing/2014/main" id="{799B427D-6963-4D62-971F-428492AF43CE}"/>
              </a:ext>
            </a:extLst>
          </p:cNvPr>
          <p:cNvSpPr>
            <a:spLocks noGrp="1"/>
          </p:cNvSpPr>
          <p:nvPr/>
        </p:nvSpPr>
        <p:spPr>
          <a:xfrm>
            <a:off x="11430000" y="6429375"/>
            <a:ext cx="428625" cy="209550"/>
          </a:xfrm>
          <a:prstGeom prst="rect">
            <a:avLst/>
          </a:prstGeom>
          <a:noFill/>
          <a:ln w="0">
            <a:noFill/>
          </a:ln>
        </p:spPr>
        <p:txBody>
          <a:bodyPr lIns="0" tIns="0" rIns="0" bIns="0">
            <a:noAutofit/>
          </a:bodyPr>
          <a:lstStyle/>
          <a:p>
            <a:pPr>
              <a:defRPr sz="1125" b="0">
                <a:solidFill>
                  <a:srgbClr val="55636A"/>
                </a:solidFill>
                <a:latin typeface="Arial"/>
                <a:ea typeface="Arial"/>
                <a:cs typeface="Arial"/>
              </a:defRPr>
            </a:pPr>
            <a:r>
              <a:rPr sz="1125" b="0">
                <a:solidFill>
                  <a:srgbClr val="55636A"/>
                </a:solidFill>
                <a:latin typeface="Arial"/>
                <a:ea typeface="Arial"/>
                <a:cs typeface="Arial"/>
              </a:rPr>
              <a:t>09</a:t>
            </a:r>
          </a:p>
        </p:txBody>
      </p:sp>
    </p:spTree>
    <p:extLst>
      <p:ext uri="{BB962C8B-B14F-4D97-AF65-F5344CB8AC3E}">
        <p14:creationId xmlns:p14="http://schemas.microsoft.com/office/powerpoint/2010/main" val="11516970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1EA"/>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C67E375-D222-427B-9AEF-93428A4AFB10}"/>
              </a:ext>
            </a:extLst>
          </p:cNvPr>
          <p:cNvSpPr>
            <a:spLocks noGrp="1"/>
          </p:cNvSpPr>
          <p:nvPr/>
        </p:nvSpPr>
        <p:spPr>
          <a:xfrm>
            <a:off x="609600" y="457200"/>
            <a:ext cx="6477000" cy="1066800"/>
          </a:xfrm>
          <a:prstGeom prst="rect">
            <a:avLst/>
          </a:prstGeom>
          <a:noFill/>
          <a:ln w="0">
            <a:noFill/>
          </a:ln>
        </p:spPr>
        <p:txBody>
          <a:bodyPr lIns="0" tIns="0" rIns="0" bIns="0">
            <a:noAutofit/>
          </a:bodyPr>
          <a:lstStyle/>
          <a:p>
            <a:pPr>
              <a:defRPr sz="3225" b="1">
                <a:solidFill>
                  <a:srgbClr val="172A36"/>
                </a:solidFill>
                <a:latin typeface="Arial"/>
                <a:ea typeface="Arial"/>
                <a:cs typeface="Arial"/>
              </a:defRPr>
            </a:pPr>
            <a:r>
              <a:rPr sz="3225" b="1">
                <a:solidFill>
                  <a:srgbClr val="172A36"/>
                </a:solidFill>
                <a:latin typeface="Arial"/>
                <a:ea typeface="Arial"/>
                <a:cs typeface="Arial"/>
              </a:rPr>
              <a:t>The staffing problem</a:t>
            </a:r>
          </a:p>
        </p:txBody>
      </p:sp>
      <p:pic>
        <p:nvPicPr>
          <p:cNvPr id="11" name="Picture 10"/>
          <p:cNvPicPr>
            <a:picLocks noChangeAspect="1"/>
          </p:cNvPicPr>
          <p:nvPr/>
        </p:nvPicPr>
        <p:blipFill>
          <a:blip r:embed="rId3"/>
          <a:stretch/>
        </p:blipFill>
        <p:spPr>
          <a:xfrm>
            <a:off x="8058575" y="1714500"/>
            <a:ext cx="2504225" cy="4000500"/>
          </a:xfrm>
          <a:prstGeom prst="rect">
            <a:avLst/>
          </a:prstGeom>
        </p:spPr>
      </p:pic>
      <p:sp>
        <p:nvSpPr>
          <p:cNvPr id="3" name="Rectangle 2">
            <a:extLst>
              <a:ext uri="{FF2B5EF4-FFF2-40B4-BE49-F238E27FC236}">
                <a16:creationId xmlns:a16="http://schemas.microsoft.com/office/drawing/2014/main" id="{A2EE4D0D-6158-4BAA-B48A-7F92098B976D}"/>
              </a:ext>
            </a:extLst>
          </p:cNvPr>
          <p:cNvSpPr>
            <a:spLocks noGrp="1"/>
          </p:cNvSpPr>
          <p:nvPr/>
        </p:nvSpPr>
        <p:spPr>
          <a:xfrm>
            <a:off x="666750" y="1847850"/>
            <a:ext cx="5905500" cy="904875"/>
          </a:xfrm>
          <a:prstGeom prst="rect">
            <a:avLst/>
          </a:prstGeom>
          <a:noFill/>
          <a:ln w="0">
            <a:noFill/>
          </a:ln>
        </p:spPr>
        <p:txBody>
          <a:bodyPr lIns="0" tIns="0" rIns="0" bIns="0">
            <a:noAutofit/>
          </a:bodyPr>
          <a:lstStyle/>
          <a:p>
            <a:pPr>
              <a:defRPr sz="2175" b="0">
                <a:solidFill>
                  <a:srgbClr val="172A36"/>
                </a:solidFill>
                <a:latin typeface="Arial"/>
                <a:ea typeface="Arial"/>
                <a:cs typeface="Arial"/>
              </a:defRPr>
            </a:pPr>
            <a:r>
              <a:rPr sz="2175" b="0">
                <a:solidFill>
                  <a:srgbClr val="172A36"/>
                </a:solidFill>
                <a:latin typeface="Arial"/>
                <a:ea typeface="Arial"/>
                <a:cs typeface="Arial"/>
              </a:rPr>
              <a:t>Repetitive work reduced autonomy and variety.</a:t>
            </a:r>
          </a:p>
        </p:txBody>
      </p:sp>
      <p:sp>
        <p:nvSpPr>
          <p:cNvPr id="4" name="Rectangle 3">
            <a:extLst>
              <a:ext uri="{FF2B5EF4-FFF2-40B4-BE49-F238E27FC236}">
                <a16:creationId xmlns:a16="http://schemas.microsoft.com/office/drawing/2014/main" id="{F464EABB-7F41-4B06-A712-90D65011433F}"/>
              </a:ext>
            </a:extLst>
          </p:cNvPr>
          <p:cNvSpPr>
            <a:spLocks noGrp="1"/>
          </p:cNvSpPr>
          <p:nvPr/>
        </p:nvSpPr>
        <p:spPr>
          <a:xfrm>
            <a:off x="666750" y="2943225"/>
            <a:ext cx="5905500" cy="904875"/>
          </a:xfrm>
          <a:prstGeom prst="rect">
            <a:avLst/>
          </a:prstGeom>
          <a:noFill/>
          <a:ln w="0">
            <a:noFill/>
          </a:ln>
        </p:spPr>
        <p:txBody>
          <a:bodyPr lIns="0" tIns="0" rIns="0" bIns="0">
            <a:noAutofit/>
          </a:bodyPr>
          <a:lstStyle/>
          <a:p>
            <a:pPr>
              <a:defRPr sz="2175" b="0">
                <a:solidFill>
                  <a:srgbClr val="172A36"/>
                </a:solidFill>
                <a:latin typeface="Arial"/>
                <a:ea typeface="Arial"/>
                <a:cs typeface="Arial"/>
              </a:defRPr>
            </a:pPr>
            <a:r>
              <a:rPr sz="2175" b="0">
                <a:solidFill>
                  <a:srgbClr val="172A36"/>
                </a:solidFill>
                <a:latin typeface="Arial"/>
                <a:ea typeface="Arial"/>
                <a:cs typeface="Arial"/>
              </a:rPr>
              <a:t>Turnover threatened reliable production.</a:t>
            </a:r>
          </a:p>
        </p:txBody>
      </p:sp>
      <p:sp>
        <p:nvSpPr>
          <p:cNvPr id="5" name="Rectangle 4">
            <a:extLst>
              <a:ext uri="{FF2B5EF4-FFF2-40B4-BE49-F238E27FC236}">
                <a16:creationId xmlns:a16="http://schemas.microsoft.com/office/drawing/2014/main" id="{207A6BE5-A2B4-49FB-8BA1-C9912D9A9C95}"/>
              </a:ext>
            </a:extLst>
          </p:cNvPr>
          <p:cNvSpPr>
            <a:spLocks noGrp="1"/>
          </p:cNvSpPr>
          <p:nvPr/>
        </p:nvSpPr>
        <p:spPr>
          <a:xfrm>
            <a:off x="666750" y="4038600"/>
            <a:ext cx="5905500" cy="904875"/>
          </a:xfrm>
          <a:prstGeom prst="rect">
            <a:avLst/>
          </a:prstGeom>
          <a:noFill/>
          <a:ln w="0">
            <a:noFill/>
          </a:ln>
        </p:spPr>
        <p:txBody>
          <a:bodyPr lIns="0" tIns="0" rIns="0" bIns="0">
            <a:noAutofit/>
          </a:bodyPr>
          <a:lstStyle/>
          <a:p>
            <a:pPr>
              <a:defRPr sz="2175" b="0">
                <a:solidFill>
                  <a:srgbClr val="172A36"/>
                </a:solidFill>
                <a:latin typeface="Arial"/>
                <a:ea typeface="Arial"/>
                <a:cs typeface="Arial"/>
              </a:defRPr>
            </a:pPr>
            <a:r>
              <a:rPr sz="2175" b="0">
                <a:solidFill>
                  <a:srgbClr val="172A36"/>
                </a:solidFill>
                <a:latin typeface="Arial"/>
                <a:ea typeface="Arial"/>
                <a:cs typeface="Arial"/>
              </a:rPr>
              <a:t>Recruiting and training replacements carried costs.</a:t>
            </a:r>
          </a:p>
        </p:txBody>
      </p:sp>
      <p:sp>
        <p:nvSpPr>
          <p:cNvPr id="6" name="Rectangle 5">
            <a:extLst>
              <a:ext uri="{FF2B5EF4-FFF2-40B4-BE49-F238E27FC236}">
                <a16:creationId xmlns:a16="http://schemas.microsoft.com/office/drawing/2014/main" id="{94F02083-20EB-41BD-B1E9-D0B3563E7E69}"/>
              </a:ext>
            </a:extLst>
          </p:cNvPr>
          <p:cNvSpPr>
            <a:spLocks noGrp="1"/>
          </p:cNvSpPr>
          <p:nvPr/>
        </p:nvSpPr>
        <p:spPr>
          <a:xfrm>
            <a:off x="7048500" y="5772150"/>
            <a:ext cx="4524375" cy="190500"/>
          </a:xfrm>
          <a:prstGeom prst="rect">
            <a:avLst/>
          </a:prstGeom>
          <a:noFill/>
          <a:ln w="0">
            <a:noFill/>
          </a:ln>
        </p:spPr>
        <p:txBody>
          <a:bodyPr lIns="0" tIns="0" rIns="0" bIns="0">
            <a:noAutofit/>
          </a:bodyPr>
          <a:lstStyle/>
          <a:p>
            <a:pPr>
              <a:defRPr sz="1125" b="0">
                <a:solidFill>
                  <a:srgbClr val="55636A"/>
                </a:solidFill>
                <a:latin typeface="Arial"/>
                <a:ea typeface="Arial"/>
                <a:cs typeface="Arial"/>
              </a:defRPr>
            </a:pPr>
            <a:r>
              <a:rPr sz="1125" b="0">
                <a:solidFill>
                  <a:srgbClr val="55636A"/>
                </a:solidFill>
                <a:latin typeface="Arial"/>
                <a:ea typeface="Arial"/>
                <a:cs typeface="Arial"/>
              </a:rPr>
              <a:t>A worker’s wife complained to Ford in 1914</a:t>
            </a:r>
          </a:p>
        </p:txBody>
      </p:sp>
      <p:sp>
        <p:nvSpPr>
          <p:cNvPr id="7" name="Rectangle 6">
            <a:extLst>
              <a:ext uri="{FF2B5EF4-FFF2-40B4-BE49-F238E27FC236}">
                <a16:creationId xmlns:a16="http://schemas.microsoft.com/office/drawing/2014/main" id="{7B0346B6-D0A2-4045-A631-9616D37A1826}"/>
              </a:ext>
            </a:extLst>
          </p:cNvPr>
          <p:cNvSpPr>
            <a:spLocks noGrp="1"/>
          </p:cNvSpPr>
          <p:nvPr/>
        </p:nvSpPr>
        <p:spPr>
          <a:xfrm>
            <a:off x="666750" y="6096000"/>
            <a:ext cx="10715625" cy="238125"/>
          </a:xfrm>
          <a:prstGeom prst="rect">
            <a:avLst/>
          </a:prstGeom>
          <a:noFill/>
          <a:ln w="0">
            <a:noFill/>
          </a:ln>
        </p:spPr>
        <p:txBody>
          <a:bodyPr lIns="0" tIns="0" rIns="0" bIns="0">
            <a:noAutofit/>
          </a:bodyPr>
          <a:lstStyle/>
          <a:p>
            <a:pPr>
              <a:defRPr sz="1350" b="0">
                <a:solidFill>
                  <a:srgbClr val="A95D35"/>
                </a:solidFill>
                <a:latin typeface="Arial"/>
                <a:ea typeface="Arial"/>
                <a:cs typeface="Arial"/>
              </a:defRPr>
            </a:pPr>
            <a:r>
              <a:rPr sz="1350" b="0">
                <a:solidFill>
                  <a:srgbClr val="A95D35"/>
                </a:solidFill>
                <a:latin typeface="Arial"/>
                <a:ea typeface="Arial"/>
                <a:cs typeface="Arial"/>
              </a:rPr>
              <a:t>Management connection: retention and job design</a:t>
            </a:r>
          </a:p>
        </p:txBody>
      </p:sp>
      <p:sp>
        <p:nvSpPr>
          <p:cNvPr id="8" name="Rectangle 7">
            <a:extLst>
              <a:ext uri="{FF2B5EF4-FFF2-40B4-BE49-F238E27FC236}">
                <a16:creationId xmlns:a16="http://schemas.microsoft.com/office/drawing/2014/main" id="{0C3AEC60-4687-4A3C-BB0D-D60D671CEE97}"/>
              </a:ext>
            </a:extLst>
          </p:cNvPr>
          <p:cNvSpPr>
            <a:spLocks noGrp="1"/>
          </p:cNvSpPr>
          <p:nvPr/>
        </p:nvSpPr>
        <p:spPr>
          <a:xfrm>
            <a:off x="11430000" y="6429375"/>
            <a:ext cx="428625" cy="209550"/>
          </a:xfrm>
          <a:prstGeom prst="rect">
            <a:avLst/>
          </a:prstGeom>
          <a:noFill/>
          <a:ln w="0">
            <a:noFill/>
          </a:ln>
        </p:spPr>
        <p:txBody>
          <a:bodyPr lIns="0" tIns="0" rIns="0" bIns="0">
            <a:noAutofit/>
          </a:bodyPr>
          <a:lstStyle/>
          <a:p>
            <a:pPr>
              <a:defRPr sz="1125" b="0">
                <a:solidFill>
                  <a:srgbClr val="55636A"/>
                </a:solidFill>
                <a:latin typeface="Arial"/>
                <a:ea typeface="Arial"/>
                <a:cs typeface="Arial"/>
              </a:defRPr>
            </a:pPr>
            <a:r>
              <a:rPr sz="1125" b="0">
                <a:solidFill>
                  <a:srgbClr val="55636A"/>
                </a:solidFill>
                <a:latin typeface="Arial"/>
                <a:ea typeface="Arial"/>
                <a:cs typeface="Arial"/>
              </a:rPr>
              <a:t>10</a:t>
            </a:r>
          </a:p>
        </p:txBody>
      </p:sp>
      <p:sp>
        <p:nvSpPr>
          <p:cNvPr id="9" name="Rectangle 8">
            <a:extLst>
              <a:ext uri="{FF2B5EF4-FFF2-40B4-BE49-F238E27FC236}">
                <a16:creationId xmlns:a16="http://schemas.microsoft.com/office/drawing/2014/main" id="{4ACD6C25-0C13-4EC1-9BDE-DCDBA02BE277}"/>
              </a:ext>
            </a:extLst>
          </p:cNvPr>
          <p:cNvSpPr>
            <a:spLocks noGrp="1"/>
          </p:cNvSpPr>
          <p:nvPr/>
        </p:nvSpPr>
        <p:spPr>
          <a:xfrm>
            <a:off x="666750" y="6429375"/>
            <a:ext cx="9525000" cy="209550"/>
          </a:xfrm>
          <a:prstGeom prst="rect">
            <a:avLst/>
          </a:prstGeom>
          <a:noFill/>
          <a:ln w="0">
            <a:noFill/>
          </a:ln>
        </p:spPr>
        <p:txBody>
          <a:bodyPr lIns="0" tIns="0" rIns="0" bIns="0">
            <a:noAutofit/>
          </a:bodyPr>
          <a:lstStyle/>
          <a:p>
            <a:pPr>
              <a:defRPr sz="1125" b="0">
                <a:solidFill>
                  <a:srgbClr val="55636A"/>
                </a:solidFill>
                <a:latin typeface="Arial"/>
                <a:ea typeface="Arial"/>
                <a:cs typeface="Arial"/>
              </a:defRPr>
            </a:pPr>
            <a:r>
              <a:rPr sz="1125" b="0">
                <a:solidFill>
                  <a:srgbClr val="55636A"/>
                </a:solidFill>
                <a:latin typeface="Arial"/>
                <a:ea typeface="Arial"/>
                <a:cs typeface="Arial"/>
              </a:rPr>
              <a:t>[A] [K]</a:t>
            </a:r>
          </a:p>
        </p:txBody>
      </p:sp>
    </p:spTree>
    <p:extLst>
      <p:ext uri="{BB962C8B-B14F-4D97-AF65-F5344CB8AC3E}">
        <p14:creationId xmlns:p14="http://schemas.microsoft.com/office/powerpoint/2010/main" val="20612746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1EA"/>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2A3B210-8686-4BF1-A336-9FA2AD6B5DB0}"/>
              </a:ext>
            </a:extLst>
          </p:cNvPr>
          <p:cNvSpPr>
            <a:spLocks noGrp="1"/>
          </p:cNvSpPr>
          <p:nvPr/>
        </p:nvSpPr>
        <p:spPr>
          <a:xfrm>
            <a:off x="609600" y="457200"/>
            <a:ext cx="6477000" cy="1066800"/>
          </a:xfrm>
          <a:prstGeom prst="rect">
            <a:avLst/>
          </a:prstGeom>
          <a:noFill/>
          <a:ln w="0">
            <a:noFill/>
          </a:ln>
        </p:spPr>
        <p:txBody>
          <a:bodyPr lIns="0" tIns="0" rIns="0" bIns="0">
            <a:noAutofit/>
          </a:bodyPr>
          <a:lstStyle/>
          <a:p>
            <a:pPr>
              <a:defRPr sz="3225" b="1">
                <a:solidFill>
                  <a:srgbClr val="172A36"/>
                </a:solidFill>
                <a:latin typeface="Arial"/>
                <a:ea typeface="Arial"/>
                <a:cs typeface="Arial"/>
              </a:defRPr>
            </a:pPr>
            <a:r>
              <a:rPr sz="3225" b="1">
                <a:solidFill>
                  <a:srgbClr val="172A36"/>
                </a:solidFill>
                <a:latin typeface="Arial"/>
                <a:ea typeface="Arial"/>
                <a:cs typeface="Arial"/>
              </a:rPr>
              <a:t>The $5 day, with conditions</a:t>
            </a:r>
          </a:p>
        </p:txBody>
      </p:sp>
      <p:pic>
        <p:nvPicPr>
          <p:cNvPr id="11" name="Picture 10"/>
          <p:cNvPicPr>
            <a:picLocks noChangeAspect="1"/>
          </p:cNvPicPr>
          <p:nvPr/>
        </p:nvPicPr>
        <p:blipFill>
          <a:blip r:embed="rId3"/>
          <a:stretch/>
        </p:blipFill>
        <p:spPr>
          <a:xfrm>
            <a:off x="7723823" y="1714500"/>
            <a:ext cx="3173730" cy="4000500"/>
          </a:xfrm>
          <a:prstGeom prst="rect">
            <a:avLst/>
          </a:prstGeom>
        </p:spPr>
      </p:pic>
      <p:sp>
        <p:nvSpPr>
          <p:cNvPr id="3" name="Rectangle 2">
            <a:extLst>
              <a:ext uri="{FF2B5EF4-FFF2-40B4-BE49-F238E27FC236}">
                <a16:creationId xmlns:a16="http://schemas.microsoft.com/office/drawing/2014/main" id="{F81745F6-D94E-4485-8792-261A1218ABAE}"/>
              </a:ext>
            </a:extLst>
          </p:cNvPr>
          <p:cNvSpPr>
            <a:spLocks noGrp="1"/>
          </p:cNvSpPr>
          <p:nvPr/>
        </p:nvSpPr>
        <p:spPr>
          <a:xfrm>
            <a:off x="666750" y="1847850"/>
            <a:ext cx="5905500" cy="904875"/>
          </a:xfrm>
          <a:prstGeom prst="rect">
            <a:avLst/>
          </a:prstGeom>
          <a:noFill/>
          <a:ln w="0">
            <a:noFill/>
          </a:ln>
        </p:spPr>
        <p:txBody>
          <a:bodyPr lIns="0" tIns="0" rIns="0" bIns="0">
            <a:noAutofit/>
          </a:bodyPr>
          <a:lstStyle/>
          <a:p>
            <a:pPr>
              <a:defRPr sz="2175" b="0">
                <a:solidFill>
                  <a:srgbClr val="172A36"/>
                </a:solidFill>
                <a:latin typeface="Arial"/>
                <a:ea typeface="Arial"/>
                <a:cs typeface="Arial"/>
              </a:defRPr>
            </a:pPr>
            <a:r>
              <a:rPr sz="2175" b="0">
                <a:solidFill>
                  <a:srgbClr val="172A36"/>
                </a:solidFill>
                <a:latin typeface="Arial"/>
                <a:ea typeface="Arial"/>
                <a:cs typeface="Arial"/>
              </a:rPr>
              <a:t>January 5, 1914</a:t>
            </a:r>
          </a:p>
          <a:p>
            <a:pPr>
              <a:defRPr sz="2175" b="0">
                <a:solidFill>
                  <a:srgbClr val="172A36"/>
                </a:solidFill>
                <a:latin typeface="Arial"/>
                <a:ea typeface="Arial"/>
                <a:cs typeface="Arial"/>
              </a:defRPr>
            </a:pPr>
            <a:r>
              <a:rPr sz="2175" b="0">
                <a:solidFill>
                  <a:srgbClr val="172A36"/>
                </a:solidFill>
                <a:latin typeface="Arial"/>
                <a:ea typeface="Arial"/>
                <a:cs typeface="Arial"/>
              </a:rPr>
              <a:t>Ford and James Couzens announced the plan.</a:t>
            </a:r>
          </a:p>
        </p:txBody>
      </p:sp>
      <p:sp>
        <p:nvSpPr>
          <p:cNvPr id="4" name="Rectangle 3">
            <a:extLst>
              <a:ext uri="{FF2B5EF4-FFF2-40B4-BE49-F238E27FC236}">
                <a16:creationId xmlns:a16="http://schemas.microsoft.com/office/drawing/2014/main" id="{144937CF-9588-4AC4-B716-53A9B1195B7E}"/>
              </a:ext>
            </a:extLst>
          </p:cNvPr>
          <p:cNvSpPr>
            <a:spLocks noGrp="1"/>
          </p:cNvSpPr>
          <p:nvPr/>
        </p:nvSpPr>
        <p:spPr>
          <a:xfrm>
            <a:off x="666750" y="3038475"/>
            <a:ext cx="5905500" cy="904875"/>
          </a:xfrm>
          <a:prstGeom prst="rect">
            <a:avLst/>
          </a:prstGeom>
          <a:noFill/>
          <a:ln w="0">
            <a:noFill/>
          </a:ln>
        </p:spPr>
        <p:txBody>
          <a:bodyPr lIns="0" tIns="0" rIns="0" bIns="0">
            <a:noAutofit/>
          </a:bodyPr>
          <a:lstStyle/>
          <a:p>
            <a:pPr>
              <a:defRPr sz="2175" b="0">
                <a:solidFill>
                  <a:srgbClr val="172A36"/>
                </a:solidFill>
                <a:latin typeface="Arial"/>
                <a:ea typeface="Arial"/>
                <a:cs typeface="Arial"/>
              </a:defRPr>
            </a:pPr>
            <a:r>
              <a:rPr sz="2175" b="0">
                <a:solidFill>
                  <a:srgbClr val="172A36"/>
                </a:solidFill>
                <a:latin typeface="Arial"/>
                <a:ea typeface="Arial"/>
                <a:cs typeface="Arial"/>
              </a:rPr>
              <a:t>Eligible workers could receive $5 per day.</a:t>
            </a:r>
          </a:p>
        </p:txBody>
      </p:sp>
      <p:sp>
        <p:nvSpPr>
          <p:cNvPr id="5" name="Rectangle 4">
            <a:extLst>
              <a:ext uri="{FF2B5EF4-FFF2-40B4-BE49-F238E27FC236}">
                <a16:creationId xmlns:a16="http://schemas.microsoft.com/office/drawing/2014/main" id="{954D0D36-B660-4A43-9C2E-25B95C1C4C20}"/>
              </a:ext>
            </a:extLst>
          </p:cNvPr>
          <p:cNvSpPr>
            <a:spLocks noGrp="1"/>
          </p:cNvSpPr>
          <p:nvPr/>
        </p:nvSpPr>
        <p:spPr>
          <a:xfrm>
            <a:off x="666750" y="4229100"/>
            <a:ext cx="5905500" cy="904875"/>
          </a:xfrm>
          <a:prstGeom prst="rect">
            <a:avLst/>
          </a:prstGeom>
          <a:noFill/>
          <a:ln w="0">
            <a:noFill/>
          </a:ln>
        </p:spPr>
        <p:txBody>
          <a:bodyPr lIns="0" tIns="0" rIns="0" bIns="0">
            <a:noAutofit/>
          </a:bodyPr>
          <a:lstStyle/>
          <a:p>
            <a:pPr>
              <a:defRPr sz="2175" b="0">
                <a:solidFill>
                  <a:srgbClr val="172A36"/>
                </a:solidFill>
                <a:latin typeface="Arial"/>
                <a:ea typeface="Arial"/>
                <a:cs typeface="Arial"/>
              </a:defRPr>
            </a:pPr>
            <a:r>
              <a:rPr sz="2175" b="0">
                <a:solidFill>
                  <a:srgbClr val="172A36"/>
                </a:solidFill>
                <a:latin typeface="Arial"/>
                <a:ea typeface="Arial"/>
                <a:cs typeface="Arial"/>
              </a:rPr>
              <a:t>The package included conditional profit sharing.</a:t>
            </a:r>
          </a:p>
        </p:txBody>
      </p:sp>
      <p:sp>
        <p:nvSpPr>
          <p:cNvPr id="6" name="Rectangle 5">
            <a:extLst>
              <a:ext uri="{FF2B5EF4-FFF2-40B4-BE49-F238E27FC236}">
                <a16:creationId xmlns:a16="http://schemas.microsoft.com/office/drawing/2014/main" id="{0EF50A20-6601-4954-8B15-A47A9D654180}"/>
              </a:ext>
            </a:extLst>
          </p:cNvPr>
          <p:cNvSpPr>
            <a:spLocks noGrp="1"/>
          </p:cNvSpPr>
          <p:nvPr/>
        </p:nvSpPr>
        <p:spPr>
          <a:xfrm>
            <a:off x="7048500" y="5772150"/>
            <a:ext cx="4524375" cy="190500"/>
          </a:xfrm>
          <a:prstGeom prst="rect">
            <a:avLst/>
          </a:prstGeom>
          <a:noFill/>
          <a:ln w="0">
            <a:noFill/>
          </a:ln>
        </p:spPr>
        <p:txBody>
          <a:bodyPr lIns="0" tIns="0" rIns="0" bIns="0">
            <a:noAutofit/>
          </a:bodyPr>
          <a:lstStyle/>
          <a:p>
            <a:pPr>
              <a:defRPr sz="1125" b="0">
                <a:solidFill>
                  <a:srgbClr val="55636A"/>
                </a:solidFill>
                <a:latin typeface="Arial"/>
                <a:ea typeface="Arial"/>
                <a:cs typeface="Arial"/>
              </a:defRPr>
            </a:pPr>
            <a:r>
              <a:rPr sz="1125" b="0">
                <a:solidFill>
                  <a:srgbClr val="55636A"/>
                </a:solidFill>
                <a:latin typeface="Arial"/>
                <a:ea typeface="Arial"/>
                <a:cs typeface="Arial"/>
              </a:rPr>
              <a:t>Contemporary coverage of the wage announcement</a:t>
            </a:r>
          </a:p>
        </p:txBody>
      </p:sp>
      <p:sp>
        <p:nvSpPr>
          <p:cNvPr id="7" name="Rectangle 6">
            <a:extLst>
              <a:ext uri="{FF2B5EF4-FFF2-40B4-BE49-F238E27FC236}">
                <a16:creationId xmlns:a16="http://schemas.microsoft.com/office/drawing/2014/main" id="{9DC95C62-B097-4CB5-A111-DD90EB1C103C}"/>
              </a:ext>
            </a:extLst>
          </p:cNvPr>
          <p:cNvSpPr>
            <a:spLocks noGrp="1"/>
          </p:cNvSpPr>
          <p:nvPr/>
        </p:nvSpPr>
        <p:spPr>
          <a:xfrm>
            <a:off x="666750" y="6096000"/>
            <a:ext cx="10715625" cy="238125"/>
          </a:xfrm>
          <a:prstGeom prst="rect">
            <a:avLst/>
          </a:prstGeom>
          <a:noFill/>
          <a:ln w="0">
            <a:noFill/>
          </a:ln>
        </p:spPr>
        <p:txBody>
          <a:bodyPr lIns="0" tIns="0" rIns="0" bIns="0">
            <a:noAutofit/>
          </a:bodyPr>
          <a:lstStyle/>
          <a:p>
            <a:pPr>
              <a:defRPr sz="1350" b="0">
                <a:solidFill>
                  <a:srgbClr val="A95D35"/>
                </a:solidFill>
                <a:latin typeface="Arial"/>
                <a:ea typeface="Arial"/>
                <a:cs typeface="Arial"/>
              </a:defRPr>
            </a:pPr>
            <a:r>
              <a:rPr sz="1350" b="0">
                <a:solidFill>
                  <a:srgbClr val="A95D35"/>
                </a:solidFill>
                <a:latin typeface="Arial"/>
                <a:ea typeface="Arial"/>
                <a:cs typeface="Arial"/>
              </a:rPr>
              <a:t>Management connection: compensation and employee retention</a:t>
            </a:r>
          </a:p>
        </p:txBody>
      </p:sp>
      <p:sp>
        <p:nvSpPr>
          <p:cNvPr id="8" name="Rectangle 7">
            <a:extLst>
              <a:ext uri="{FF2B5EF4-FFF2-40B4-BE49-F238E27FC236}">
                <a16:creationId xmlns:a16="http://schemas.microsoft.com/office/drawing/2014/main" id="{1477660C-E000-4904-BC17-4B5DA1F1B39E}"/>
              </a:ext>
            </a:extLst>
          </p:cNvPr>
          <p:cNvSpPr>
            <a:spLocks noGrp="1"/>
          </p:cNvSpPr>
          <p:nvPr/>
        </p:nvSpPr>
        <p:spPr>
          <a:xfrm>
            <a:off x="11430000" y="6429375"/>
            <a:ext cx="428625" cy="209550"/>
          </a:xfrm>
          <a:prstGeom prst="rect">
            <a:avLst/>
          </a:prstGeom>
          <a:noFill/>
          <a:ln w="0">
            <a:noFill/>
          </a:ln>
        </p:spPr>
        <p:txBody>
          <a:bodyPr lIns="0" tIns="0" rIns="0" bIns="0">
            <a:noAutofit/>
          </a:bodyPr>
          <a:lstStyle/>
          <a:p>
            <a:pPr>
              <a:defRPr sz="1125" b="0">
                <a:solidFill>
                  <a:srgbClr val="55636A"/>
                </a:solidFill>
                <a:latin typeface="Arial"/>
                <a:ea typeface="Arial"/>
                <a:cs typeface="Arial"/>
              </a:defRPr>
            </a:pPr>
            <a:r>
              <a:rPr sz="1125" b="0">
                <a:solidFill>
                  <a:srgbClr val="55636A"/>
                </a:solidFill>
                <a:latin typeface="Arial"/>
                <a:ea typeface="Arial"/>
                <a:cs typeface="Arial"/>
              </a:rPr>
              <a:t>11</a:t>
            </a:r>
          </a:p>
        </p:txBody>
      </p:sp>
      <p:sp>
        <p:nvSpPr>
          <p:cNvPr id="9" name="Rectangle 8">
            <a:extLst>
              <a:ext uri="{FF2B5EF4-FFF2-40B4-BE49-F238E27FC236}">
                <a16:creationId xmlns:a16="http://schemas.microsoft.com/office/drawing/2014/main" id="{4354F531-0F19-406D-9854-6677119DF99A}"/>
              </a:ext>
            </a:extLst>
          </p:cNvPr>
          <p:cNvSpPr>
            <a:spLocks noGrp="1"/>
          </p:cNvSpPr>
          <p:nvPr/>
        </p:nvSpPr>
        <p:spPr>
          <a:xfrm>
            <a:off x="666750" y="6429375"/>
            <a:ext cx="9525000" cy="209550"/>
          </a:xfrm>
          <a:prstGeom prst="rect">
            <a:avLst/>
          </a:prstGeom>
          <a:noFill/>
          <a:ln w="0">
            <a:noFill/>
          </a:ln>
        </p:spPr>
        <p:txBody>
          <a:bodyPr lIns="0" tIns="0" rIns="0" bIns="0">
            <a:noAutofit/>
          </a:bodyPr>
          <a:lstStyle/>
          <a:p>
            <a:pPr>
              <a:defRPr sz="1125" b="0">
                <a:solidFill>
                  <a:srgbClr val="55636A"/>
                </a:solidFill>
                <a:latin typeface="Arial"/>
                <a:ea typeface="Arial"/>
                <a:cs typeface="Arial"/>
              </a:defRPr>
            </a:pPr>
            <a:r>
              <a:rPr sz="1125" b="0">
                <a:solidFill>
                  <a:srgbClr val="55636A"/>
                </a:solidFill>
                <a:latin typeface="Arial"/>
                <a:ea typeface="Arial"/>
                <a:cs typeface="Arial"/>
              </a:rPr>
              <a:t>[D]</a:t>
            </a:r>
          </a:p>
        </p:txBody>
      </p:sp>
    </p:spTree>
    <p:extLst>
      <p:ext uri="{BB962C8B-B14F-4D97-AF65-F5344CB8AC3E}">
        <p14:creationId xmlns:p14="http://schemas.microsoft.com/office/powerpoint/2010/main" val="1150664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1EA"/>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5387827-F73F-4E47-86BC-C52328D601B8}"/>
              </a:ext>
            </a:extLst>
          </p:cNvPr>
          <p:cNvSpPr>
            <a:spLocks noGrp="1"/>
          </p:cNvSpPr>
          <p:nvPr/>
        </p:nvSpPr>
        <p:spPr>
          <a:xfrm>
            <a:off x="609600" y="457200"/>
            <a:ext cx="10858500" cy="1066800"/>
          </a:xfrm>
          <a:prstGeom prst="rect">
            <a:avLst/>
          </a:prstGeom>
          <a:noFill/>
          <a:ln w="0">
            <a:noFill/>
          </a:ln>
        </p:spPr>
        <p:txBody>
          <a:bodyPr lIns="0" tIns="0" rIns="0" bIns="0">
            <a:noAutofit/>
          </a:bodyPr>
          <a:lstStyle/>
          <a:p>
            <a:pPr>
              <a:defRPr sz="3225" b="1">
                <a:solidFill>
                  <a:srgbClr val="172A36"/>
                </a:solidFill>
                <a:latin typeface="Arial"/>
                <a:ea typeface="Arial"/>
                <a:cs typeface="Arial"/>
              </a:defRPr>
            </a:pPr>
            <a:r>
              <a:rPr sz="3225" b="1">
                <a:solidFill>
                  <a:srgbClr val="172A36"/>
                </a:solidFill>
                <a:latin typeface="Arial"/>
                <a:ea typeface="Arial"/>
                <a:cs typeface="Arial"/>
              </a:rPr>
              <a:t>When employee welfare became control</a:t>
            </a:r>
          </a:p>
        </p:txBody>
      </p:sp>
      <p:sp>
        <p:nvSpPr>
          <p:cNvPr id="2" name="Rectangle 1">
            <a:extLst>
              <a:ext uri="{FF2B5EF4-FFF2-40B4-BE49-F238E27FC236}">
                <a16:creationId xmlns:a16="http://schemas.microsoft.com/office/drawing/2014/main" id="{ABBDF933-13E3-4690-9182-383A124D717B}"/>
              </a:ext>
            </a:extLst>
          </p:cNvPr>
          <p:cNvSpPr>
            <a:spLocks noGrp="1"/>
          </p:cNvSpPr>
          <p:nvPr/>
        </p:nvSpPr>
        <p:spPr>
          <a:xfrm>
            <a:off x="666750" y="1809750"/>
            <a:ext cx="5143500" cy="619125"/>
          </a:xfrm>
          <a:prstGeom prst="rect">
            <a:avLst/>
          </a:prstGeom>
          <a:noFill/>
          <a:ln w="0">
            <a:noFill/>
          </a:ln>
        </p:spPr>
        <p:txBody>
          <a:bodyPr lIns="0" tIns="0" rIns="0" bIns="0">
            <a:noAutofit/>
          </a:bodyPr>
          <a:lstStyle/>
          <a:p>
            <a:pPr>
              <a:defRPr sz="2325" b="1">
                <a:solidFill>
                  <a:srgbClr val="A95D35"/>
                </a:solidFill>
                <a:latin typeface="Arial"/>
                <a:ea typeface="Arial"/>
                <a:cs typeface="Arial"/>
              </a:defRPr>
            </a:pPr>
            <a:r>
              <a:rPr sz="2325" b="1">
                <a:solidFill>
                  <a:srgbClr val="A95D35"/>
                </a:solidFill>
                <a:latin typeface="Arial"/>
                <a:ea typeface="Arial"/>
                <a:cs typeface="Arial"/>
              </a:rPr>
              <a:t>Company support</a:t>
            </a:r>
          </a:p>
        </p:txBody>
      </p:sp>
      <p:sp>
        <p:nvSpPr>
          <p:cNvPr id="3" name="Rectangle 2">
            <a:extLst>
              <a:ext uri="{FF2B5EF4-FFF2-40B4-BE49-F238E27FC236}">
                <a16:creationId xmlns:a16="http://schemas.microsoft.com/office/drawing/2014/main" id="{D425E547-032A-453F-A125-C680237E9197}"/>
              </a:ext>
            </a:extLst>
          </p:cNvPr>
          <p:cNvSpPr>
            <a:spLocks noGrp="1"/>
          </p:cNvSpPr>
          <p:nvPr/>
        </p:nvSpPr>
        <p:spPr>
          <a:xfrm>
            <a:off x="666750" y="2638425"/>
            <a:ext cx="5048250" cy="3000375"/>
          </a:xfrm>
          <a:prstGeom prst="rect">
            <a:avLst/>
          </a:prstGeom>
          <a:noFill/>
          <a:ln w="0">
            <a:noFill/>
          </a:ln>
        </p:spPr>
        <p:txBody>
          <a:bodyPr lIns="0" tIns="0" rIns="0" bIns="0">
            <a:noAutofit/>
          </a:bodyPr>
          <a:lstStyle/>
          <a:p>
            <a:pPr>
              <a:defRPr sz="2175" b="0">
                <a:solidFill>
                  <a:srgbClr val="172A36"/>
                </a:solidFill>
                <a:latin typeface="Arial"/>
                <a:ea typeface="Arial"/>
                <a:cs typeface="Arial"/>
              </a:defRPr>
            </a:pPr>
            <a:r>
              <a:rPr sz="2175" b="0">
                <a:solidFill>
                  <a:srgbClr val="172A36"/>
                </a:solidFill>
                <a:latin typeface="Arial"/>
                <a:ea typeface="Arial"/>
                <a:cs typeface="Arial"/>
              </a:rPr>
              <a:t>Hygiene instruction</a:t>
            </a:r>
          </a:p>
          <a:p>
            <a:pPr>
              <a:defRPr sz="2175" b="0">
                <a:solidFill>
                  <a:srgbClr val="172A36"/>
                </a:solidFill>
                <a:latin typeface="Arial"/>
                <a:ea typeface="Arial"/>
                <a:cs typeface="Arial"/>
              </a:defRPr>
            </a:pPr>
            <a:r>
              <a:rPr sz="2175" b="0">
                <a:solidFill>
                  <a:srgbClr val="172A36"/>
                </a:solidFill>
                <a:latin typeface="Arial"/>
                <a:ea typeface="Arial"/>
                <a:cs typeface="Arial"/>
              </a:rPr>
              <a:t>Financial and legal advice</a:t>
            </a:r>
          </a:p>
          <a:p>
            <a:pPr>
              <a:defRPr sz="2175" b="0">
                <a:solidFill>
                  <a:srgbClr val="172A36"/>
                </a:solidFill>
                <a:latin typeface="Arial"/>
                <a:ea typeface="Arial"/>
                <a:cs typeface="Arial"/>
              </a:defRPr>
            </a:pPr>
            <a:r>
              <a:rPr sz="2175" b="0">
                <a:solidFill>
                  <a:srgbClr val="172A36"/>
                </a:solidFill>
                <a:latin typeface="Arial"/>
                <a:ea typeface="Arial"/>
                <a:cs typeface="Arial"/>
              </a:rPr>
              <a:t>English-language education</a:t>
            </a:r>
          </a:p>
        </p:txBody>
      </p:sp>
      <p:sp>
        <p:nvSpPr>
          <p:cNvPr id="4" name="Rectangle 3">
            <a:extLst>
              <a:ext uri="{FF2B5EF4-FFF2-40B4-BE49-F238E27FC236}">
                <a16:creationId xmlns:a16="http://schemas.microsoft.com/office/drawing/2014/main" id="{A3D1FBCE-07A0-45E7-B953-1691FDE36668}"/>
              </a:ext>
            </a:extLst>
          </p:cNvPr>
          <p:cNvSpPr>
            <a:spLocks noGrp="1"/>
          </p:cNvSpPr>
          <p:nvPr/>
        </p:nvSpPr>
        <p:spPr>
          <a:xfrm>
            <a:off x="6286500" y="1809750"/>
            <a:ext cx="5143500" cy="619125"/>
          </a:xfrm>
          <a:prstGeom prst="rect">
            <a:avLst/>
          </a:prstGeom>
          <a:noFill/>
          <a:ln w="0">
            <a:noFill/>
          </a:ln>
        </p:spPr>
        <p:txBody>
          <a:bodyPr lIns="0" tIns="0" rIns="0" bIns="0">
            <a:noAutofit/>
          </a:bodyPr>
          <a:lstStyle/>
          <a:p>
            <a:pPr>
              <a:defRPr sz="2325" b="1">
                <a:solidFill>
                  <a:srgbClr val="A95D35"/>
                </a:solidFill>
                <a:latin typeface="Arial"/>
                <a:ea typeface="Arial"/>
                <a:cs typeface="Arial"/>
              </a:defRPr>
            </a:pPr>
            <a:r>
              <a:rPr sz="2325" b="1">
                <a:solidFill>
                  <a:srgbClr val="A95D35"/>
                </a:solidFill>
                <a:latin typeface="Arial"/>
                <a:ea typeface="Arial"/>
                <a:cs typeface="Arial"/>
              </a:rPr>
              <a:t>Company intrusion</a:t>
            </a:r>
          </a:p>
        </p:txBody>
      </p:sp>
      <p:sp>
        <p:nvSpPr>
          <p:cNvPr id="5" name="Rectangle 4">
            <a:extLst>
              <a:ext uri="{FF2B5EF4-FFF2-40B4-BE49-F238E27FC236}">
                <a16:creationId xmlns:a16="http://schemas.microsoft.com/office/drawing/2014/main" id="{960164FA-BF24-4B50-AEA2-1359803D472D}"/>
              </a:ext>
            </a:extLst>
          </p:cNvPr>
          <p:cNvSpPr>
            <a:spLocks noGrp="1"/>
          </p:cNvSpPr>
          <p:nvPr/>
        </p:nvSpPr>
        <p:spPr>
          <a:xfrm>
            <a:off x="6286500" y="2638425"/>
            <a:ext cx="5048250" cy="3000375"/>
          </a:xfrm>
          <a:prstGeom prst="rect">
            <a:avLst/>
          </a:prstGeom>
          <a:noFill/>
          <a:ln w="0">
            <a:noFill/>
          </a:ln>
        </p:spPr>
        <p:txBody>
          <a:bodyPr lIns="0" tIns="0" rIns="0" bIns="0">
            <a:noAutofit/>
          </a:bodyPr>
          <a:lstStyle/>
          <a:p>
            <a:pPr>
              <a:defRPr sz="2175" b="0">
                <a:solidFill>
                  <a:srgbClr val="172A36"/>
                </a:solidFill>
                <a:latin typeface="Arial"/>
                <a:ea typeface="Arial"/>
                <a:cs typeface="Arial"/>
              </a:defRPr>
            </a:pPr>
            <a:r>
              <a:rPr sz="2175" b="0">
                <a:solidFill>
                  <a:srgbClr val="172A36"/>
                </a:solidFill>
                <a:latin typeface="Arial"/>
                <a:ea typeface="Arial"/>
                <a:cs typeface="Arial"/>
              </a:rPr>
              <a:t>Home inspections</a:t>
            </a:r>
          </a:p>
          <a:p>
            <a:pPr>
              <a:defRPr sz="2175" b="0">
                <a:solidFill>
                  <a:srgbClr val="172A36"/>
                </a:solidFill>
                <a:latin typeface="Arial"/>
                <a:ea typeface="Arial"/>
                <a:cs typeface="Arial"/>
              </a:defRPr>
            </a:pPr>
            <a:r>
              <a:rPr sz="2175" b="0">
                <a:solidFill>
                  <a:srgbClr val="172A36"/>
                </a:solidFill>
                <a:latin typeface="Arial"/>
                <a:ea typeface="Arial"/>
                <a:cs typeface="Arial"/>
              </a:rPr>
              <a:t>Bank-deposit checks</a:t>
            </a:r>
          </a:p>
          <a:p>
            <a:pPr>
              <a:defRPr sz="2175" b="0">
                <a:solidFill>
                  <a:srgbClr val="172A36"/>
                </a:solidFill>
                <a:latin typeface="Arial"/>
                <a:ea typeface="Arial"/>
                <a:cs typeface="Arial"/>
              </a:defRPr>
            </a:pPr>
            <a:r>
              <a:rPr sz="2175" b="0">
                <a:solidFill>
                  <a:srgbClr val="172A36"/>
                </a:solidFill>
                <a:latin typeface="Arial"/>
                <a:ea typeface="Arial"/>
                <a:cs typeface="Arial"/>
              </a:rPr>
              <a:t>Monitoring family life</a:t>
            </a:r>
          </a:p>
        </p:txBody>
      </p:sp>
      <p:sp>
        <p:nvSpPr>
          <p:cNvPr id="6" name="Rectangle 5">
            <a:extLst>
              <a:ext uri="{FF2B5EF4-FFF2-40B4-BE49-F238E27FC236}">
                <a16:creationId xmlns:a16="http://schemas.microsoft.com/office/drawing/2014/main" id="{4A6A35A1-124F-4EAB-A80A-EB3ADF3C1086}"/>
              </a:ext>
            </a:extLst>
          </p:cNvPr>
          <p:cNvSpPr>
            <a:spLocks noGrp="1"/>
          </p:cNvSpPr>
          <p:nvPr/>
        </p:nvSpPr>
        <p:spPr>
          <a:xfrm>
            <a:off x="666750" y="6096000"/>
            <a:ext cx="10715625" cy="238125"/>
          </a:xfrm>
          <a:prstGeom prst="rect">
            <a:avLst/>
          </a:prstGeom>
          <a:noFill/>
          <a:ln w="0">
            <a:noFill/>
          </a:ln>
        </p:spPr>
        <p:txBody>
          <a:bodyPr lIns="0" tIns="0" rIns="0" bIns="0">
            <a:noAutofit/>
          </a:bodyPr>
          <a:lstStyle/>
          <a:p>
            <a:pPr>
              <a:defRPr sz="1350" b="0">
                <a:solidFill>
                  <a:srgbClr val="A95D35"/>
                </a:solidFill>
                <a:latin typeface="Arial"/>
                <a:ea typeface="Arial"/>
                <a:cs typeface="Arial"/>
              </a:defRPr>
            </a:pPr>
            <a:r>
              <a:rPr sz="1350" b="0">
                <a:solidFill>
                  <a:srgbClr val="A95D35"/>
                </a:solidFill>
                <a:latin typeface="Arial"/>
                <a:ea typeface="Arial"/>
                <a:cs typeface="Arial"/>
              </a:rPr>
              <a:t>Management connection: stakeholder interests, culture, and ethics</a:t>
            </a:r>
          </a:p>
        </p:txBody>
      </p:sp>
      <p:sp>
        <p:nvSpPr>
          <p:cNvPr id="7" name="Rectangle 6">
            <a:extLst>
              <a:ext uri="{FF2B5EF4-FFF2-40B4-BE49-F238E27FC236}">
                <a16:creationId xmlns:a16="http://schemas.microsoft.com/office/drawing/2014/main" id="{6B0C3878-4133-449F-AD96-4596014E08FA}"/>
              </a:ext>
            </a:extLst>
          </p:cNvPr>
          <p:cNvSpPr>
            <a:spLocks noGrp="1"/>
          </p:cNvSpPr>
          <p:nvPr/>
        </p:nvSpPr>
        <p:spPr>
          <a:xfrm>
            <a:off x="11430000" y="6429375"/>
            <a:ext cx="428625" cy="209550"/>
          </a:xfrm>
          <a:prstGeom prst="rect">
            <a:avLst/>
          </a:prstGeom>
          <a:noFill/>
          <a:ln w="0">
            <a:noFill/>
          </a:ln>
        </p:spPr>
        <p:txBody>
          <a:bodyPr lIns="0" tIns="0" rIns="0" bIns="0">
            <a:noAutofit/>
          </a:bodyPr>
          <a:lstStyle/>
          <a:p>
            <a:pPr>
              <a:defRPr sz="1125" b="0">
                <a:solidFill>
                  <a:srgbClr val="55636A"/>
                </a:solidFill>
                <a:latin typeface="Arial"/>
                <a:ea typeface="Arial"/>
                <a:cs typeface="Arial"/>
              </a:defRPr>
            </a:pPr>
            <a:r>
              <a:rPr sz="1125" b="0">
                <a:solidFill>
                  <a:srgbClr val="55636A"/>
                </a:solidFill>
                <a:latin typeface="Arial"/>
                <a:ea typeface="Arial"/>
                <a:cs typeface="Arial"/>
              </a:rPr>
              <a:t>12</a:t>
            </a:r>
          </a:p>
        </p:txBody>
      </p:sp>
      <p:sp>
        <p:nvSpPr>
          <p:cNvPr id="8" name="Rectangle 7">
            <a:extLst>
              <a:ext uri="{FF2B5EF4-FFF2-40B4-BE49-F238E27FC236}">
                <a16:creationId xmlns:a16="http://schemas.microsoft.com/office/drawing/2014/main" id="{11403689-98C0-4D75-A7BB-C903C6EC66E3}"/>
              </a:ext>
            </a:extLst>
          </p:cNvPr>
          <p:cNvSpPr>
            <a:spLocks noGrp="1"/>
          </p:cNvSpPr>
          <p:nvPr/>
        </p:nvSpPr>
        <p:spPr>
          <a:xfrm>
            <a:off x="666750" y="6429375"/>
            <a:ext cx="9525000" cy="209550"/>
          </a:xfrm>
          <a:prstGeom prst="rect">
            <a:avLst/>
          </a:prstGeom>
          <a:noFill/>
          <a:ln w="0">
            <a:noFill/>
          </a:ln>
        </p:spPr>
        <p:txBody>
          <a:bodyPr lIns="0" tIns="0" rIns="0" bIns="0">
            <a:noAutofit/>
          </a:bodyPr>
          <a:lstStyle/>
          <a:p>
            <a:pPr>
              <a:defRPr sz="1125" b="0">
                <a:solidFill>
                  <a:srgbClr val="55636A"/>
                </a:solidFill>
                <a:latin typeface="Arial"/>
                <a:ea typeface="Arial"/>
                <a:cs typeface="Arial"/>
              </a:defRPr>
            </a:pPr>
            <a:r>
              <a:rPr sz="1125" b="0">
                <a:solidFill>
                  <a:srgbClr val="55636A"/>
                </a:solidFill>
                <a:latin typeface="Arial"/>
                <a:ea typeface="Arial"/>
                <a:cs typeface="Arial"/>
              </a:rPr>
              <a:t>[E]</a:t>
            </a:r>
          </a:p>
        </p:txBody>
      </p:sp>
    </p:spTree>
    <p:extLst>
      <p:ext uri="{BB962C8B-B14F-4D97-AF65-F5344CB8AC3E}">
        <p14:creationId xmlns:p14="http://schemas.microsoft.com/office/powerpoint/2010/main" val="3273648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1EA"/>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0D8EE5C-AE9C-4CEE-BFAE-320E2C95625B}"/>
              </a:ext>
            </a:extLst>
          </p:cNvPr>
          <p:cNvSpPr>
            <a:spLocks noGrp="1"/>
          </p:cNvSpPr>
          <p:nvPr/>
        </p:nvSpPr>
        <p:spPr>
          <a:xfrm>
            <a:off x="609600" y="457200"/>
            <a:ext cx="10858500" cy="1066800"/>
          </a:xfrm>
          <a:prstGeom prst="rect">
            <a:avLst/>
          </a:prstGeom>
          <a:noFill/>
          <a:ln w="0">
            <a:noFill/>
          </a:ln>
        </p:spPr>
        <p:txBody>
          <a:bodyPr lIns="0" tIns="0" rIns="0" bIns="0">
            <a:noAutofit/>
          </a:bodyPr>
          <a:lstStyle/>
          <a:p>
            <a:pPr>
              <a:defRPr sz="3225" b="1">
                <a:solidFill>
                  <a:srgbClr val="172A36"/>
                </a:solidFill>
                <a:latin typeface="Arial"/>
                <a:ea typeface="Arial"/>
                <a:cs typeface="Arial"/>
              </a:defRPr>
            </a:pPr>
            <a:r>
              <a:rPr sz="3225" b="1">
                <a:solidFill>
                  <a:srgbClr val="172A36"/>
                </a:solidFill>
                <a:latin typeface="Arial"/>
                <a:ea typeface="Arial"/>
                <a:cs typeface="Arial"/>
              </a:rPr>
              <a:t>River Rouge and vertical integration</a:t>
            </a:r>
          </a:p>
        </p:txBody>
      </p:sp>
      <p:sp>
        <p:nvSpPr>
          <p:cNvPr id="2" name="Rectangle 1">
            <a:extLst>
              <a:ext uri="{FF2B5EF4-FFF2-40B4-BE49-F238E27FC236}">
                <a16:creationId xmlns:a16="http://schemas.microsoft.com/office/drawing/2014/main" id="{B646DA62-8182-4AF4-B1C2-1FB26ADDC362}"/>
              </a:ext>
            </a:extLst>
          </p:cNvPr>
          <p:cNvSpPr>
            <a:spLocks noGrp="1"/>
          </p:cNvSpPr>
          <p:nvPr/>
        </p:nvSpPr>
        <p:spPr>
          <a:xfrm>
            <a:off x="666750" y="1762125"/>
            <a:ext cx="10572750" cy="952500"/>
          </a:xfrm>
          <a:prstGeom prst="rect">
            <a:avLst/>
          </a:prstGeom>
          <a:noFill/>
          <a:ln w="0">
            <a:noFill/>
          </a:ln>
        </p:spPr>
        <p:txBody>
          <a:bodyPr lIns="0" tIns="0" rIns="0" bIns="0">
            <a:noAutofit/>
          </a:bodyPr>
          <a:lstStyle/>
          <a:p>
            <a:pPr>
              <a:defRPr sz="2400" b="0">
                <a:solidFill>
                  <a:srgbClr val="172A36"/>
                </a:solidFill>
                <a:latin typeface="Arial"/>
                <a:ea typeface="Arial"/>
                <a:cs typeface="Arial"/>
              </a:defRPr>
            </a:pPr>
            <a:r>
              <a:rPr sz="2400" b="0">
                <a:solidFill>
                  <a:srgbClr val="172A36"/>
                </a:solidFill>
                <a:latin typeface="Arial"/>
                <a:ea typeface="Arial"/>
                <a:cs typeface="Arial"/>
              </a:rPr>
              <a:t>Ford brought more stages of production under company control.</a:t>
            </a:r>
          </a:p>
        </p:txBody>
      </p:sp>
      <p:sp>
        <p:nvSpPr>
          <p:cNvPr id="3" name="Rectangle 2">
            <a:extLst>
              <a:ext uri="{FF2B5EF4-FFF2-40B4-BE49-F238E27FC236}">
                <a16:creationId xmlns:a16="http://schemas.microsoft.com/office/drawing/2014/main" id="{EBFC1E94-9999-4BF1-AE68-316048E8FE3D}"/>
              </a:ext>
            </a:extLst>
          </p:cNvPr>
          <p:cNvSpPr>
            <a:spLocks noGrp="1"/>
          </p:cNvSpPr>
          <p:nvPr/>
        </p:nvSpPr>
        <p:spPr>
          <a:xfrm>
            <a:off x="666750" y="2809875"/>
            <a:ext cx="10572750" cy="952500"/>
          </a:xfrm>
          <a:prstGeom prst="rect">
            <a:avLst/>
          </a:prstGeom>
          <a:noFill/>
          <a:ln w="0">
            <a:noFill/>
          </a:ln>
        </p:spPr>
        <p:txBody>
          <a:bodyPr lIns="0" tIns="0" rIns="0" bIns="0">
            <a:noAutofit/>
          </a:bodyPr>
          <a:lstStyle/>
          <a:p>
            <a:pPr>
              <a:defRPr sz="2400" b="0">
                <a:solidFill>
                  <a:srgbClr val="172A36"/>
                </a:solidFill>
                <a:latin typeface="Arial"/>
                <a:ea typeface="Arial"/>
                <a:cs typeface="Arial"/>
              </a:defRPr>
            </a:pPr>
            <a:r>
              <a:rPr sz="2400" b="0">
                <a:solidFill>
                  <a:srgbClr val="172A36"/>
                </a:solidFill>
                <a:latin typeface="Arial"/>
                <a:ea typeface="Arial"/>
                <a:cs typeface="Arial"/>
              </a:rPr>
              <a:t>At Rouge: ore docks, steelmaking, glassmaking, and vehicle assembly</a:t>
            </a:r>
          </a:p>
        </p:txBody>
      </p:sp>
      <p:sp>
        <p:nvSpPr>
          <p:cNvPr id="4" name="Rectangle 3">
            <a:extLst>
              <a:ext uri="{FF2B5EF4-FFF2-40B4-BE49-F238E27FC236}">
                <a16:creationId xmlns:a16="http://schemas.microsoft.com/office/drawing/2014/main" id="{F042F00D-3380-4892-9B9E-45CD120B91BC}"/>
              </a:ext>
            </a:extLst>
          </p:cNvPr>
          <p:cNvSpPr>
            <a:spLocks noGrp="1"/>
          </p:cNvSpPr>
          <p:nvPr/>
        </p:nvSpPr>
        <p:spPr>
          <a:xfrm>
            <a:off x="666750" y="3857625"/>
            <a:ext cx="10572750" cy="952500"/>
          </a:xfrm>
          <a:prstGeom prst="rect">
            <a:avLst/>
          </a:prstGeom>
          <a:noFill/>
          <a:ln w="0">
            <a:noFill/>
          </a:ln>
        </p:spPr>
        <p:txBody>
          <a:bodyPr lIns="0" tIns="0" rIns="0" bIns="0">
            <a:noAutofit/>
          </a:bodyPr>
          <a:lstStyle/>
          <a:p>
            <a:pPr>
              <a:defRPr sz="2400" b="0">
                <a:solidFill>
                  <a:srgbClr val="172A36"/>
                </a:solidFill>
                <a:latin typeface="Arial"/>
                <a:ea typeface="Arial"/>
                <a:cs typeface="Arial"/>
              </a:defRPr>
            </a:pPr>
            <a:r>
              <a:rPr sz="2400" b="0">
                <a:solidFill>
                  <a:srgbClr val="172A36"/>
                </a:solidFill>
                <a:latin typeface="Arial"/>
                <a:ea typeface="Arial"/>
                <a:cs typeface="Arial"/>
              </a:rPr>
              <a:t>The complex achieved “ore to assembly” with the Model A in 1927.</a:t>
            </a:r>
          </a:p>
        </p:txBody>
      </p:sp>
      <p:sp>
        <p:nvSpPr>
          <p:cNvPr id="5" name="Rectangle 4">
            <a:extLst>
              <a:ext uri="{FF2B5EF4-FFF2-40B4-BE49-F238E27FC236}">
                <a16:creationId xmlns:a16="http://schemas.microsoft.com/office/drawing/2014/main" id="{3393E27F-C759-4148-AA3B-7DE9FB1C400B}"/>
              </a:ext>
            </a:extLst>
          </p:cNvPr>
          <p:cNvSpPr>
            <a:spLocks noGrp="1"/>
          </p:cNvSpPr>
          <p:nvPr/>
        </p:nvSpPr>
        <p:spPr>
          <a:xfrm>
            <a:off x="666750" y="6096000"/>
            <a:ext cx="10715625" cy="238125"/>
          </a:xfrm>
          <a:prstGeom prst="rect">
            <a:avLst/>
          </a:prstGeom>
          <a:noFill/>
          <a:ln w="0">
            <a:noFill/>
          </a:ln>
        </p:spPr>
        <p:txBody>
          <a:bodyPr lIns="0" tIns="0" rIns="0" bIns="0">
            <a:noAutofit/>
          </a:bodyPr>
          <a:lstStyle/>
          <a:p>
            <a:pPr>
              <a:defRPr sz="1350" b="0">
                <a:solidFill>
                  <a:srgbClr val="A95D35"/>
                </a:solidFill>
                <a:latin typeface="Arial"/>
                <a:ea typeface="Arial"/>
                <a:cs typeface="Arial"/>
              </a:defRPr>
            </a:pPr>
            <a:r>
              <a:rPr sz="1350" b="0">
                <a:solidFill>
                  <a:srgbClr val="A95D35"/>
                </a:solidFill>
                <a:latin typeface="Arial"/>
                <a:ea typeface="Arial"/>
                <a:cs typeface="Arial"/>
              </a:rPr>
              <a:t>Management connection: vertical integration as a growth strategy</a:t>
            </a:r>
          </a:p>
        </p:txBody>
      </p:sp>
      <p:sp>
        <p:nvSpPr>
          <p:cNvPr id="6" name="Rectangle 5">
            <a:extLst>
              <a:ext uri="{FF2B5EF4-FFF2-40B4-BE49-F238E27FC236}">
                <a16:creationId xmlns:a16="http://schemas.microsoft.com/office/drawing/2014/main" id="{10E8FF42-5A00-4594-BBC9-97ACFB46D2D1}"/>
              </a:ext>
            </a:extLst>
          </p:cNvPr>
          <p:cNvSpPr>
            <a:spLocks noGrp="1"/>
          </p:cNvSpPr>
          <p:nvPr/>
        </p:nvSpPr>
        <p:spPr>
          <a:xfrm>
            <a:off x="11430000" y="6429375"/>
            <a:ext cx="428625" cy="209550"/>
          </a:xfrm>
          <a:prstGeom prst="rect">
            <a:avLst/>
          </a:prstGeom>
          <a:noFill/>
          <a:ln w="0">
            <a:noFill/>
          </a:ln>
        </p:spPr>
        <p:txBody>
          <a:bodyPr lIns="0" tIns="0" rIns="0" bIns="0">
            <a:noAutofit/>
          </a:bodyPr>
          <a:lstStyle/>
          <a:p>
            <a:pPr>
              <a:defRPr sz="1125" b="0">
                <a:solidFill>
                  <a:srgbClr val="55636A"/>
                </a:solidFill>
                <a:latin typeface="Arial"/>
                <a:ea typeface="Arial"/>
                <a:cs typeface="Arial"/>
              </a:defRPr>
            </a:pPr>
            <a:r>
              <a:rPr sz="1125" b="0">
                <a:solidFill>
                  <a:srgbClr val="55636A"/>
                </a:solidFill>
                <a:latin typeface="Arial"/>
                <a:ea typeface="Arial"/>
                <a:cs typeface="Arial"/>
              </a:rPr>
              <a:t>13</a:t>
            </a:r>
          </a:p>
        </p:txBody>
      </p:sp>
      <p:sp>
        <p:nvSpPr>
          <p:cNvPr id="7" name="Rectangle 6">
            <a:extLst>
              <a:ext uri="{FF2B5EF4-FFF2-40B4-BE49-F238E27FC236}">
                <a16:creationId xmlns:a16="http://schemas.microsoft.com/office/drawing/2014/main" id="{39D1DC8E-ADAF-4FA8-B3E0-5E91081E99FC}"/>
              </a:ext>
            </a:extLst>
          </p:cNvPr>
          <p:cNvSpPr>
            <a:spLocks noGrp="1"/>
          </p:cNvSpPr>
          <p:nvPr/>
        </p:nvSpPr>
        <p:spPr>
          <a:xfrm>
            <a:off x="666750" y="6429375"/>
            <a:ext cx="9525000" cy="209550"/>
          </a:xfrm>
          <a:prstGeom prst="rect">
            <a:avLst/>
          </a:prstGeom>
          <a:noFill/>
          <a:ln w="0">
            <a:noFill/>
          </a:ln>
        </p:spPr>
        <p:txBody>
          <a:bodyPr lIns="0" tIns="0" rIns="0" bIns="0">
            <a:noAutofit/>
          </a:bodyPr>
          <a:lstStyle/>
          <a:p>
            <a:pPr>
              <a:defRPr sz="1125" b="0">
                <a:solidFill>
                  <a:srgbClr val="55636A"/>
                </a:solidFill>
                <a:latin typeface="Arial"/>
                <a:ea typeface="Arial"/>
                <a:cs typeface="Arial"/>
              </a:defRPr>
            </a:pPr>
            <a:r>
              <a:rPr sz="1125" b="0">
                <a:solidFill>
                  <a:srgbClr val="55636A"/>
                </a:solidFill>
                <a:latin typeface="Arial"/>
                <a:ea typeface="Arial"/>
                <a:cs typeface="Arial"/>
              </a:rPr>
              <a:t>[F]</a:t>
            </a:r>
          </a:p>
        </p:txBody>
      </p:sp>
    </p:spTree>
    <p:extLst>
      <p:ext uri="{BB962C8B-B14F-4D97-AF65-F5344CB8AC3E}">
        <p14:creationId xmlns:p14="http://schemas.microsoft.com/office/powerpoint/2010/main" val="20927966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F1EA"/>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FFEBB9-EA21-4B89-8C4F-4D3BEBF186C3}"/>
              </a:ext>
            </a:extLst>
          </p:cNvPr>
          <p:cNvSpPr>
            <a:spLocks noGrp="1"/>
          </p:cNvSpPr>
          <p:nvPr/>
        </p:nvSpPr>
        <p:spPr>
          <a:xfrm>
            <a:off x="609600" y="457200"/>
            <a:ext cx="6477000" cy="1066800"/>
          </a:xfrm>
          <a:prstGeom prst="rect">
            <a:avLst/>
          </a:prstGeom>
          <a:noFill/>
          <a:ln w="0">
            <a:noFill/>
          </a:ln>
        </p:spPr>
        <p:txBody>
          <a:bodyPr lIns="0" tIns="0" rIns="0" bIns="0">
            <a:noAutofit/>
          </a:bodyPr>
          <a:lstStyle/>
          <a:p>
            <a:pPr>
              <a:defRPr sz="3225" b="1">
                <a:solidFill>
                  <a:srgbClr val="172A36"/>
                </a:solidFill>
                <a:latin typeface="Arial"/>
                <a:ea typeface="Arial"/>
                <a:cs typeface="Arial"/>
              </a:defRPr>
            </a:pPr>
            <a:r>
              <a:rPr sz="3225" b="1">
                <a:solidFill>
                  <a:srgbClr val="172A36"/>
                </a:solidFill>
                <a:latin typeface="Arial"/>
                <a:ea typeface="Arial"/>
                <a:cs typeface="Arial"/>
              </a:rPr>
              <a:t>The innovator resisted change</a:t>
            </a:r>
          </a:p>
        </p:txBody>
      </p:sp>
      <p:pic>
        <p:nvPicPr>
          <p:cNvPr id="11" name="Picture 10"/>
          <p:cNvPicPr>
            <a:picLocks noChangeAspect="1"/>
          </p:cNvPicPr>
          <p:nvPr/>
        </p:nvPicPr>
        <p:blipFill>
          <a:blip r:embed="rId3"/>
          <a:stretch/>
        </p:blipFill>
        <p:spPr>
          <a:xfrm>
            <a:off x="7048500" y="1884263"/>
            <a:ext cx="4524375" cy="3660973"/>
          </a:xfrm>
          <a:prstGeom prst="rect">
            <a:avLst/>
          </a:prstGeom>
        </p:spPr>
      </p:pic>
      <p:sp>
        <p:nvSpPr>
          <p:cNvPr id="3" name="Rectangle 2">
            <a:extLst>
              <a:ext uri="{FF2B5EF4-FFF2-40B4-BE49-F238E27FC236}">
                <a16:creationId xmlns:a16="http://schemas.microsoft.com/office/drawing/2014/main" id="{C8F9AA52-03EA-4CF5-BE0A-41F70A1B56C5}"/>
              </a:ext>
            </a:extLst>
          </p:cNvPr>
          <p:cNvSpPr>
            <a:spLocks noGrp="1"/>
          </p:cNvSpPr>
          <p:nvPr/>
        </p:nvSpPr>
        <p:spPr>
          <a:xfrm>
            <a:off x="666750" y="1847850"/>
            <a:ext cx="5905500" cy="904875"/>
          </a:xfrm>
          <a:prstGeom prst="rect">
            <a:avLst/>
          </a:prstGeom>
          <a:noFill/>
          <a:ln w="0">
            <a:noFill/>
          </a:ln>
        </p:spPr>
        <p:txBody>
          <a:bodyPr lIns="0" tIns="0" rIns="0" bIns="0">
            <a:noAutofit/>
          </a:bodyPr>
          <a:lstStyle/>
          <a:p>
            <a:pPr>
              <a:defRPr sz="2175" b="0">
                <a:solidFill>
                  <a:srgbClr val="172A36"/>
                </a:solidFill>
                <a:latin typeface="Arial"/>
                <a:ea typeface="Arial"/>
                <a:cs typeface="Arial"/>
              </a:defRPr>
            </a:pPr>
            <a:r>
              <a:rPr sz="2175" b="0">
                <a:solidFill>
                  <a:srgbClr val="172A36"/>
                </a:solidFill>
                <a:latin typeface="Arial"/>
                <a:ea typeface="Arial"/>
                <a:cs typeface="Arial"/>
              </a:rPr>
              <a:t>Customer preferences moved beyond the Model T.</a:t>
            </a:r>
          </a:p>
        </p:txBody>
      </p:sp>
      <p:sp>
        <p:nvSpPr>
          <p:cNvPr id="4" name="Rectangle 3">
            <a:extLst>
              <a:ext uri="{FF2B5EF4-FFF2-40B4-BE49-F238E27FC236}">
                <a16:creationId xmlns:a16="http://schemas.microsoft.com/office/drawing/2014/main" id="{626CE590-178D-4726-A3FC-31A4B0AACDDB}"/>
              </a:ext>
            </a:extLst>
          </p:cNvPr>
          <p:cNvSpPr>
            <a:spLocks noGrp="1"/>
          </p:cNvSpPr>
          <p:nvPr/>
        </p:nvSpPr>
        <p:spPr>
          <a:xfrm>
            <a:off x="666750" y="2990850"/>
            <a:ext cx="5905500" cy="904875"/>
          </a:xfrm>
          <a:prstGeom prst="rect">
            <a:avLst/>
          </a:prstGeom>
          <a:noFill/>
          <a:ln w="0">
            <a:noFill/>
          </a:ln>
        </p:spPr>
        <p:txBody>
          <a:bodyPr lIns="0" tIns="0" rIns="0" bIns="0">
            <a:noAutofit/>
          </a:bodyPr>
          <a:lstStyle/>
          <a:p>
            <a:pPr>
              <a:defRPr sz="2175" b="0">
                <a:solidFill>
                  <a:srgbClr val="172A36"/>
                </a:solidFill>
                <a:latin typeface="Arial"/>
                <a:ea typeface="Arial"/>
                <a:cs typeface="Arial"/>
              </a:defRPr>
            </a:pPr>
            <a:r>
              <a:rPr sz="2175" b="0">
                <a:solidFill>
                  <a:srgbClr val="172A36"/>
                </a:solidFill>
                <a:latin typeface="Arial"/>
                <a:ea typeface="Arial"/>
                <a:cs typeface="Arial"/>
              </a:rPr>
              <a:t>Ford delayed a major product replacement.</a:t>
            </a:r>
          </a:p>
        </p:txBody>
      </p:sp>
      <p:sp>
        <p:nvSpPr>
          <p:cNvPr id="5" name="Rectangle 4">
            <a:extLst>
              <a:ext uri="{FF2B5EF4-FFF2-40B4-BE49-F238E27FC236}">
                <a16:creationId xmlns:a16="http://schemas.microsoft.com/office/drawing/2014/main" id="{FEEB0438-29E5-4D47-83EE-8FDA3FDBCCC0}"/>
              </a:ext>
            </a:extLst>
          </p:cNvPr>
          <p:cNvSpPr>
            <a:spLocks noGrp="1"/>
          </p:cNvSpPr>
          <p:nvPr/>
        </p:nvSpPr>
        <p:spPr>
          <a:xfrm>
            <a:off x="666750" y="4133850"/>
            <a:ext cx="5905500" cy="904875"/>
          </a:xfrm>
          <a:prstGeom prst="rect">
            <a:avLst/>
          </a:prstGeom>
          <a:noFill/>
          <a:ln w="0">
            <a:noFill/>
          </a:ln>
        </p:spPr>
        <p:txBody>
          <a:bodyPr lIns="0" tIns="0" rIns="0" bIns="0">
            <a:noAutofit/>
          </a:bodyPr>
          <a:lstStyle/>
          <a:p>
            <a:pPr>
              <a:defRPr sz="2175" b="0">
                <a:solidFill>
                  <a:srgbClr val="172A36"/>
                </a:solidFill>
                <a:latin typeface="Arial"/>
                <a:ea typeface="Arial"/>
                <a:cs typeface="Arial"/>
              </a:defRPr>
            </a:pPr>
            <a:r>
              <a:rPr sz="2175" b="0">
                <a:solidFill>
                  <a:srgbClr val="172A36"/>
                </a:solidFill>
                <a:latin typeface="Arial"/>
                <a:ea typeface="Arial"/>
                <a:cs typeface="Arial"/>
              </a:rPr>
              <a:t>The Model A arrived in 1927.</a:t>
            </a:r>
          </a:p>
        </p:txBody>
      </p:sp>
      <p:sp>
        <p:nvSpPr>
          <p:cNvPr id="6" name="Rectangle 5">
            <a:extLst>
              <a:ext uri="{FF2B5EF4-FFF2-40B4-BE49-F238E27FC236}">
                <a16:creationId xmlns:a16="http://schemas.microsoft.com/office/drawing/2014/main" id="{B94725B4-6CFE-4045-883D-EFCE87FF5ED5}"/>
              </a:ext>
            </a:extLst>
          </p:cNvPr>
          <p:cNvSpPr>
            <a:spLocks noGrp="1"/>
          </p:cNvSpPr>
          <p:nvPr/>
        </p:nvSpPr>
        <p:spPr>
          <a:xfrm>
            <a:off x="7048500" y="5772150"/>
            <a:ext cx="4524375" cy="190500"/>
          </a:xfrm>
          <a:prstGeom prst="rect">
            <a:avLst/>
          </a:prstGeom>
          <a:noFill/>
          <a:ln w="0">
            <a:noFill/>
          </a:ln>
        </p:spPr>
        <p:txBody>
          <a:bodyPr lIns="0" tIns="0" rIns="0" bIns="0">
            <a:noAutofit/>
          </a:bodyPr>
          <a:lstStyle/>
          <a:p>
            <a:pPr>
              <a:defRPr sz="1125" b="0">
                <a:solidFill>
                  <a:srgbClr val="55636A"/>
                </a:solidFill>
                <a:latin typeface="Arial"/>
                <a:ea typeface="Arial"/>
                <a:cs typeface="Arial"/>
              </a:defRPr>
            </a:pPr>
            <a:r>
              <a:rPr sz="1125" b="0">
                <a:solidFill>
                  <a:srgbClr val="55636A"/>
                </a:solidFill>
                <a:latin typeface="Arial"/>
                <a:ea typeface="Arial"/>
                <a:cs typeface="Arial"/>
              </a:rPr>
              <a:t>Edsel and Henry Ford with a Model A, 1928</a:t>
            </a:r>
          </a:p>
        </p:txBody>
      </p:sp>
      <p:sp>
        <p:nvSpPr>
          <p:cNvPr id="7" name="Rectangle 6">
            <a:extLst>
              <a:ext uri="{FF2B5EF4-FFF2-40B4-BE49-F238E27FC236}">
                <a16:creationId xmlns:a16="http://schemas.microsoft.com/office/drawing/2014/main" id="{A2FF3233-559F-4669-8369-EAAAB16C14F7}"/>
              </a:ext>
            </a:extLst>
          </p:cNvPr>
          <p:cNvSpPr>
            <a:spLocks noGrp="1"/>
          </p:cNvSpPr>
          <p:nvPr/>
        </p:nvSpPr>
        <p:spPr>
          <a:xfrm>
            <a:off x="666750" y="6096000"/>
            <a:ext cx="10715625" cy="238125"/>
          </a:xfrm>
          <a:prstGeom prst="rect">
            <a:avLst/>
          </a:prstGeom>
          <a:noFill/>
          <a:ln w="0">
            <a:noFill/>
          </a:ln>
        </p:spPr>
        <p:txBody>
          <a:bodyPr lIns="0" tIns="0" rIns="0" bIns="0">
            <a:noAutofit/>
          </a:bodyPr>
          <a:lstStyle/>
          <a:p>
            <a:pPr>
              <a:defRPr sz="1350" b="0">
                <a:solidFill>
                  <a:srgbClr val="A95D35"/>
                </a:solidFill>
                <a:latin typeface="Arial"/>
                <a:ea typeface="Arial"/>
                <a:cs typeface="Arial"/>
              </a:defRPr>
            </a:pPr>
            <a:r>
              <a:rPr sz="1350" b="0">
                <a:solidFill>
                  <a:srgbClr val="A95D35"/>
                </a:solidFill>
                <a:latin typeface="Arial"/>
                <a:ea typeface="Arial"/>
                <a:cs typeface="Arial"/>
              </a:rPr>
              <a:t>Management connection: environmental scanning and resistance to change</a:t>
            </a:r>
          </a:p>
        </p:txBody>
      </p:sp>
      <p:sp>
        <p:nvSpPr>
          <p:cNvPr id="8" name="Rectangle 7">
            <a:extLst>
              <a:ext uri="{FF2B5EF4-FFF2-40B4-BE49-F238E27FC236}">
                <a16:creationId xmlns:a16="http://schemas.microsoft.com/office/drawing/2014/main" id="{2D4AD548-B20D-4F96-B405-B501E43330F2}"/>
              </a:ext>
            </a:extLst>
          </p:cNvPr>
          <p:cNvSpPr>
            <a:spLocks noGrp="1"/>
          </p:cNvSpPr>
          <p:nvPr/>
        </p:nvSpPr>
        <p:spPr>
          <a:xfrm>
            <a:off x="11430000" y="6429375"/>
            <a:ext cx="428625" cy="209550"/>
          </a:xfrm>
          <a:prstGeom prst="rect">
            <a:avLst/>
          </a:prstGeom>
          <a:noFill/>
          <a:ln w="0">
            <a:noFill/>
          </a:ln>
        </p:spPr>
        <p:txBody>
          <a:bodyPr lIns="0" tIns="0" rIns="0" bIns="0">
            <a:noAutofit/>
          </a:bodyPr>
          <a:lstStyle/>
          <a:p>
            <a:pPr>
              <a:defRPr sz="1125" b="0">
                <a:solidFill>
                  <a:srgbClr val="55636A"/>
                </a:solidFill>
                <a:latin typeface="Arial"/>
                <a:ea typeface="Arial"/>
                <a:cs typeface="Arial"/>
              </a:defRPr>
            </a:pPr>
            <a:r>
              <a:rPr sz="1125" b="0">
                <a:solidFill>
                  <a:srgbClr val="55636A"/>
                </a:solidFill>
                <a:latin typeface="Arial"/>
                <a:ea typeface="Arial"/>
                <a:cs typeface="Arial"/>
              </a:rPr>
              <a:t>14</a:t>
            </a:r>
          </a:p>
        </p:txBody>
      </p:sp>
      <p:sp>
        <p:nvSpPr>
          <p:cNvPr id="9" name="Rectangle 8">
            <a:extLst>
              <a:ext uri="{FF2B5EF4-FFF2-40B4-BE49-F238E27FC236}">
                <a16:creationId xmlns:a16="http://schemas.microsoft.com/office/drawing/2014/main" id="{06A907BF-19AF-4D3B-8F81-263449B67D4B}"/>
              </a:ext>
            </a:extLst>
          </p:cNvPr>
          <p:cNvSpPr>
            <a:spLocks noGrp="1"/>
          </p:cNvSpPr>
          <p:nvPr/>
        </p:nvSpPr>
        <p:spPr>
          <a:xfrm>
            <a:off x="666750" y="6429375"/>
            <a:ext cx="9525000" cy="209550"/>
          </a:xfrm>
          <a:prstGeom prst="rect">
            <a:avLst/>
          </a:prstGeom>
          <a:noFill/>
          <a:ln w="0">
            <a:noFill/>
          </a:ln>
        </p:spPr>
        <p:txBody>
          <a:bodyPr lIns="0" tIns="0" rIns="0" bIns="0">
            <a:noAutofit/>
          </a:bodyPr>
          <a:lstStyle/>
          <a:p>
            <a:pPr>
              <a:defRPr sz="1125" b="0">
                <a:solidFill>
                  <a:srgbClr val="55636A"/>
                </a:solidFill>
                <a:latin typeface="Arial"/>
                <a:ea typeface="Arial"/>
                <a:cs typeface="Arial"/>
              </a:defRPr>
            </a:pPr>
            <a:r>
              <a:rPr sz="1125" b="0">
                <a:solidFill>
                  <a:srgbClr val="55636A"/>
                </a:solidFill>
                <a:latin typeface="Arial"/>
                <a:ea typeface="Arial"/>
                <a:cs typeface="Arial"/>
              </a:rPr>
              <a:t>[G]</a:t>
            </a:r>
          </a:p>
        </p:txBody>
      </p:sp>
    </p:spTree>
    <p:extLst>
      <p:ext uri="{BB962C8B-B14F-4D97-AF65-F5344CB8AC3E}">
        <p14:creationId xmlns:p14="http://schemas.microsoft.com/office/powerpoint/2010/main" val="5943827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4F1EA"/>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7C3CE0A-5052-49B6-8A11-4F057228CE15}"/>
              </a:ext>
            </a:extLst>
          </p:cNvPr>
          <p:cNvSpPr>
            <a:spLocks noGrp="1"/>
          </p:cNvSpPr>
          <p:nvPr/>
        </p:nvSpPr>
        <p:spPr>
          <a:xfrm>
            <a:off x="609600" y="457200"/>
            <a:ext cx="10858500" cy="1066800"/>
          </a:xfrm>
          <a:prstGeom prst="rect">
            <a:avLst/>
          </a:prstGeom>
          <a:noFill/>
          <a:ln w="0">
            <a:noFill/>
          </a:ln>
        </p:spPr>
        <p:txBody>
          <a:bodyPr lIns="0" tIns="0" rIns="0" bIns="0">
            <a:noAutofit/>
          </a:bodyPr>
          <a:lstStyle/>
          <a:p>
            <a:pPr>
              <a:defRPr sz="3225" b="1">
                <a:solidFill>
                  <a:srgbClr val="172A36"/>
                </a:solidFill>
                <a:latin typeface="Arial"/>
                <a:ea typeface="Arial"/>
                <a:cs typeface="Arial"/>
              </a:defRPr>
            </a:pPr>
            <a:r>
              <a:rPr sz="3225" b="1">
                <a:solidFill>
                  <a:srgbClr val="172A36"/>
                </a:solidFill>
                <a:latin typeface="Arial"/>
                <a:ea typeface="Arial"/>
                <a:cs typeface="Arial"/>
              </a:rPr>
              <a:t>Labor relations and worker voice</a:t>
            </a:r>
          </a:p>
        </p:txBody>
      </p:sp>
      <p:sp>
        <p:nvSpPr>
          <p:cNvPr id="2" name="Rectangle 1">
            <a:extLst>
              <a:ext uri="{FF2B5EF4-FFF2-40B4-BE49-F238E27FC236}">
                <a16:creationId xmlns:a16="http://schemas.microsoft.com/office/drawing/2014/main" id="{BEDBF06C-4D82-44AE-B7F6-A89BC9D751C2}"/>
              </a:ext>
            </a:extLst>
          </p:cNvPr>
          <p:cNvSpPr>
            <a:spLocks noGrp="1"/>
          </p:cNvSpPr>
          <p:nvPr/>
        </p:nvSpPr>
        <p:spPr>
          <a:xfrm>
            <a:off x="666750" y="1762125"/>
            <a:ext cx="10572750" cy="952500"/>
          </a:xfrm>
          <a:prstGeom prst="rect">
            <a:avLst/>
          </a:prstGeom>
          <a:noFill/>
          <a:ln w="0">
            <a:noFill/>
          </a:ln>
        </p:spPr>
        <p:txBody>
          <a:bodyPr lIns="0" tIns="0" rIns="0" bIns="0">
            <a:noAutofit/>
          </a:bodyPr>
          <a:lstStyle/>
          <a:p>
            <a:pPr>
              <a:defRPr sz="2400" b="0">
                <a:solidFill>
                  <a:srgbClr val="172A36"/>
                </a:solidFill>
                <a:latin typeface="Arial"/>
                <a:ea typeface="Arial"/>
                <a:cs typeface="Arial"/>
              </a:defRPr>
            </a:pPr>
            <a:r>
              <a:rPr sz="2400" b="0">
                <a:solidFill>
                  <a:srgbClr val="172A36"/>
                </a:solidFill>
                <a:latin typeface="Arial"/>
                <a:ea typeface="Arial"/>
                <a:cs typeface="Arial"/>
              </a:rPr>
              <a:t>1937: Ford security personnel attacked union organizers at the Battle of the Overpass.</a:t>
            </a:r>
          </a:p>
        </p:txBody>
      </p:sp>
      <p:sp>
        <p:nvSpPr>
          <p:cNvPr id="3" name="Rectangle 2">
            <a:extLst>
              <a:ext uri="{FF2B5EF4-FFF2-40B4-BE49-F238E27FC236}">
                <a16:creationId xmlns:a16="http://schemas.microsoft.com/office/drawing/2014/main" id="{2D04FD28-B185-4323-A53E-E9C524DC11F9}"/>
              </a:ext>
            </a:extLst>
          </p:cNvPr>
          <p:cNvSpPr>
            <a:spLocks noGrp="1"/>
          </p:cNvSpPr>
          <p:nvPr/>
        </p:nvSpPr>
        <p:spPr>
          <a:xfrm>
            <a:off x="666750" y="2809875"/>
            <a:ext cx="10572750" cy="952500"/>
          </a:xfrm>
          <a:prstGeom prst="rect">
            <a:avLst/>
          </a:prstGeom>
          <a:noFill/>
          <a:ln w="0">
            <a:noFill/>
          </a:ln>
        </p:spPr>
        <p:txBody>
          <a:bodyPr lIns="0" tIns="0" rIns="0" bIns="0">
            <a:noAutofit/>
          </a:bodyPr>
          <a:lstStyle/>
          <a:p>
            <a:pPr>
              <a:defRPr sz="2400" b="0">
                <a:solidFill>
                  <a:srgbClr val="172A36"/>
                </a:solidFill>
                <a:latin typeface="Arial"/>
                <a:ea typeface="Arial"/>
                <a:cs typeface="Arial"/>
              </a:defRPr>
            </a:pPr>
            <a:r>
              <a:rPr sz="2400" b="0">
                <a:solidFill>
                  <a:srgbClr val="172A36"/>
                </a:solidFill>
                <a:latin typeface="Arial"/>
                <a:ea typeface="Arial"/>
                <a:cs typeface="Arial"/>
              </a:rPr>
              <a:t>1941: Ford accepted union representation.</a:t>
            </a:r>
          </a:p>
        </p:txBody>
      </p:sp>
      <p:sp>
        <p:nvSpPr>
          <p:cNvPr id="4" name="Rectangle 3">
            <a:extLst>
              <a:ext uri="{FF2B5EF4-FFF2-40B4-BE49-F238E27FC236}">
                <a16:creationId xmlns:a16="http://schemas.microsoft.com/office/drawing/2014/main" id="{79D9DF02-373E-41A4-82B5-D39AE938A5AB}"/>
              </a:ext>
            </a:extLst>
          </p:cNvPr>
          <p:cNvSpPr>
            <a:spLocks noGrp="1"/>
          </p:cNvSpPr>
          <p:nvPr/>
        </p:nvSpPr>
        <p:spPr>
          <a:xfrm>
            <a:off x="666750" y="3857625"/>
            <a:ext cx="10572750" cy="952500"/>
          </a:xfrm>
          <a:prstGeom prst="rect">
            <a:avLst/>
          </a:prstGeom>
          <a:noFill/>
          <a:ln w="0">
            <a:noFill/>
          </a:ln>
        </p:spPr>
        <p:txBody>
          <a:bodyPr lIns="0" tIns="0" rIns="0" bIns="0">
            <a:noAutofit/>
          </a:bodyPr>
          <a:lstStyle/>
          <a:p>
            <a:pPr>
              <a:defRPr sz="2400" b="0">
                <a:solidFill>
                  <a:srgbClr val="172A36"/>
                </a:solidFill>
                <a:latin typeface="Arial"/>
                <a:ea typeface="Arial"/>
                <a:cs typeface="Arial"/>
              </a:defRPr>
            </a:pPr>
            <a:r>
              <a:rPr sz="2400" b="0">
                <a:solidFill>
                  <a:srgbClr val="172A36"/>
                </a:solidFill>
                <a:latin typeface="Arial"/>
                <a:ea typeface="Arial"/>
                <a:cs typeface="Arial"/>
              </a:rPr>
              <a:t>High pay did not settle questions of power, dignity, or employee voice.</a:t>
            </a:r>
          </a:p>
        </p:txBody>
      </p:sp>
      <p:sp>
        <p:nvSpPr>
          <p:cNvPr id="5" name="Rectangle 4">
            <a:extLst>
              <a:ext uri="{FF2B5EF4-FFF2-40B4-BE49-F238E27FC236}">
                <a16:creationId xmlns:a16="http://schemas.microsoft.com/office/drawing/2014/main" id="{796AE8BB-EEB8-431A-B344-A67AA34EDAAC}"/>
              </a:ext>
            </a:extLst>
          </p:cNvPr>
          <p:cNvSpPr>
            <a:spLocks noGrp="1"/>
          </p:cNvSpPr>
          <p:nvPr/>
        </p:nvSpPr>
        <p:spPr>
          <a:xfrm>
            <a:off x="666750" y="6096000"/>
            <a:ext cx="10715625" cy="238125"/>
          </a:xfrm>
          <a:prstGeom prst="rect">
            <a:avLst/>
          </a:prstGeom>
          <a:noFill/>
          <a:ln w="0">
            <a:noFill/>
          </a:ln>
        </p:spPr>
        <p:txBody>
          <a:bodyPr lIns="0" tIns="0" rIns="0" bIns="0">
            <a:noAutofit/>
          </a:bodyPr>
          <a:lstStyle/>
          <a:p>
            <a:pPr>
              <a:defRPr sz="1350" b="0">
                <a:solidFill>
                  <a:srgbClr val="A95D35"/>
                </a:solidFill>
                <a:latin typeface="Arial"/>
                <a:ea typeface="Arial"/>
                <a:cs typeface="Arial"/>
              </a:defRPr>
            </a:pPr>
            <a:r>
              <a:rPr sz="1350" b="0">
                <a:solidFill>
                  <a:srgbClr val="A95D35"/>
                </a:solidFill>
                <a:latin typeface="Arial"/>
                <a:ea typeface="Arial"/>
                <a:cs typeface="Arial"/>
              </a:rPr>
              <a:t>Management connection: stakeholders and ethical leadership</a:t>
            </a:r>
          </a:p>
        </p:txBody>
      </p:sp>
      <p:sp>
        <p:nvSpPr>
          <p:cNvPr id="6" name="Rectangle 5">
            <a:extLst>
              <a:ext uri="{FF2B5EF4-FFF2-40B4-BE49-F238E27FC236}">
                <a16:creationId xmlns:a16="http://schemas.microsoft.com/office/drawing/2014/main" id="{1C3CE7B8-7E90-4CFC-A769-FC983317EF10}"/>
              </a:ext>
            </a:extLst>
          </p:cNvPr>
          <p:cNvSpPr>
            <a:spLocks noGrp="1"/>
          </p:cNvSpPr>
          <p:nvPr/>
        </p:nvSpPr>
        <p:spPr>
          <a:xfrm>
            <a:off x="11430000" y="6429375"/>
            <a:ext cx="428625" cy="209550"/>
          </a:xfrm>
          <a:prstGeom prst="rect">
            <a:avLst/>
          </a:prstGeom>
          <a:noFill/>
          <a:ln w="0">
            <a:noFill/>
          </a:ln>
        </p:spPr>
        <p:txBody>
          <a:bodyPr lIns="0" tIns="0" rIns="0" bIns="0">
            <a:noAutofit/>
          </a:bodyPr>
          <a:lstStyle/>
          <a:p>
            <a:pPr>
              <a:defRPr sz="1125" b="0">
                <a:solidFill>
                  <a:srgbClr val="55636A"/>
                </a:solidFill>
                <a:latin typeface="Arial"/>
                <a:ea typeface="Arial"/>
                <a:cs typeface="Arial"/>
              </a:defRPr>
            </a:pPr>
            <a:r>
              <a:rPr sz="1125" b="0">
                <a:solidFill>
                  <a:srgbClr val="55636A"/>
                </a:solidFill>
                <a:latin typeface="Arial"/>
                <a:ea typeface="Arial"/>
                <a:cs typeface="Arial"/>
              </a:rPr>
              <a:t>15</a:t>
            </a:r>
          </a:p>
        </p:txBody>
      </p:sp>
      <p:sp>
        <p:nvSpPr>
          <p:cNvPr id="7" name="Rectangle 6">
            <a:extLst>
              <a:ext uri="{FF2B5EF4-FFF2-40B4-BE49-F238E27FC236}">
                <a16:creationId xmlns:a16="http://schemas.microsoft.com/office/drawing/2014/main" id="{9B186427-3EBE-4C9A-A711-5E9BCC905B8F}"/>
              </a:ext>
            </a:extLst>
          </p:cNvPr>
          <p:cNvSpPr>
            <a:spLocks noGrp="1"/>
          </p:cNvSpPr>
          <p:nvPr/>
        </p:nvSpPr>
        <p:spPr>
          <a:xfrm>
            <a:off x="666750" y="6429375"/>
            <a:ext cx="9525000" cy="209550"/>
          </a:xfrm>
          <a:prstGeom prst="rect">
            <a:avLst/>
          </a:prstGeom>
          <a:noFill/>
          <a:ln w="0">
            <a:noFill/>
          </a:ln>
        </p:spPr>
        <p:txBody>
          <a:bodyPr lIns="0" tIns="0" rIns="0" bIns="0">
            <a:noAutofit/>
          </a:bodyPr>
          <a:lstStyle/>
          <a:p>
            <a:pPr>
              <a:defRPr sz="1125" b="0">
                <a:solidFill>
                  <a:srgbClr val="55636A"/>
                </a:solidFill>
                <a:latin typeface="Arial"/>
                <a:ea typeface="Arial"/>
                <a:cs typeface="Arial"/>
              </a:defRPr>
            </a:pPr>
            <a:r>
              <a:rPr sz="1125" b="0">
                <a:solidFill>
                  <a:srgbClr val="55636A"/>
                </a:solidFill>
                <a:latin typeface="Arial"/>
                <a:ea typeface="Arial"/>
                <a:cs typeface="Arial"/>
              </a:rPr>
              <a:t>[I]</a:t>
            </a:r>
          </a:p>
        </p:txBody>
      </p:sp>
    </p:spTree>
    <p:extLst>
      <p:ext uri="{BB962C8B-B14F-4D97-AF65-F5344CB8AC3E}">
        <p14:creationId xmlns:p14="http://schemas.microsoft.com/office/powerpoint/2010/main" val="17339938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72A36"/>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9B617E9-D706-42B9-B24E-9BB468535BDE}"/>
              </a:ext>
            </a:extLst>
          </p:cNvPr>
          <p:cNvSpPr>
            <a:spLocks noGrp="1"/>
          </p:cNvSpPr>
          <p:nvPr/>
        </p:nvSpPr>
        <p:spPr>
          <a:xfrm>
            <a:off x="609600" y="457200"/>
            <a:ext cx="10858500" cy="1066800"/>
          </a:xfrm>
          <a:prstGeom prst="rect">
            <a:avLst/>
          </a:prstGeom>
          <a:noFill/>
          <a:ln w="0">
            <a:noFill/>
          </a:ln>
        </p:spPr>
        <p:txBody>
          <a:bodyPr lIns="0" tIns="0" rIns="0" bIns="0">
            <a:noAutofit/>
          </a:bodyPr>
          <a:lstStyle/>
          <a:p>
            <a:pPr>
              <a:defRPr sz="3225" b="1">
                <a:solidFill>
                  <a:srgbClr val="F4F1EA"/>
                </a:solidFill>
                <a:latin typeface="Arial"/>
                <a:ea typeface="Arial"/>
                <a:cs typeface="Arial"/>
              </a:defRPr>
            </a:pPr>
            <a:r>
              <a:rPr sz="3225" b="1">
                <a:solidFill>
                  <a:srgbClr val="F4F1EA"/>
                </a:solidFill>
                <a:latin typeface="Arial"/>
                <a:ea typeface="Arial"/>
                <a:cs typeface="Arial"/>
              </a:rPr>
              <a:t>Antisemitism and the use of influence</a:t>
            </a:r>
          </a:p>
        </p:txBody>
      </p:sp>
      <p:sp>
        <p:nvSpPr>
          <p:cNvPr id="2" name="Rectangle 1">
            <a:extLst>
              <a:ext uri="{FF2B5EF4-FFF2-40B4-BE49-F238E27FC236}">
                <a16:creationId xmlns:a16="http://schemas.microsoft.com/office/drawing/2014/main" id="{F2E6F455-1742-4F7A-A8BC-BE07CEB072C0}"/>
              </a:ext>
            </a:extLst>
          </p:cNvPr>
          <p:cNvSpPr>
            <a:spLocks noGrp="1"/>
          </p:cNvSpPr>
          <p:nvPr/>
        </p:nvSpPr>
        <p:spPr>
          <a:xfrm>
            <a:off x="666750" y="1762125"/>
            <a:ext cx="10572750" cy="952500"/>
          </a:xfrm>
          <a:prstGeom prst="rect">
            <a:avLst/>
          </a:prstGeom>
          <a:noFill/>
          <a:ln w="0">
            <a:noFill/>
          </a:ln>
        </p:spPr>
        <p:txBody>
          <a:bodyPr lIns="0" tIns="0" rIns="0" bIns="0">
            <a:noAutofit/>
          </a:bodyPr>
          <a:lstStyle/>
          <a:p>
            <a:pPr>
              <a:defRPr sz="2400" b="0">
                <a:solidFill>
                  <a:srgbClr val="F4F1EA"/>
                </a:solidFill>
                <a:latin typeface="Arial"/>
                <a:ea typeface="Arial"/>
                <a:cs typeface="Arial"/>
              </a:defRPr>
            </a:pPr>
            <a:r>
              <a:rPr sz="2400" b="0">
                <a:solidFill>
                  <a:srgbClr val="F4F1EA"/>
                </a:solidFill>
                <a:latin typeface="Arial"/>
                <a:ea typeface="Arial"/>
                <a:cs typeface="Arial"/>
              </a:rPr>
              <a:t>Ford’s newspaper spread antisemitic conspiracy theories beginning in 1920.</a:t>
            </a:r>
          </a:p>
        </p:txBody>
      </p:sp>
      <p:sp>
        <p:nvSpPr>
          <p:cNvPr id="3" name="Rectangle 2">
            <a:extLst>
              <a:ext uri="{FF2B5EF4-FFF2-40B4-BE49-F238E27FC236}">
                <a16:creationId xmlns:a16="http://schemas.microsoft.com/office/drawing/2014/main" id="{0F792B95-2D11-4AF1-B39D-567CF2D7C1A8}"/>
              </a:ext>
            </a:extLst>
          </p:cNvPr>
          <p:cNvSpPr>
            <a:spLocks noGrp="1"/>
          </p:cNvSpPr>
          <p:nvPr/>
        </p:nvSpPr>
        <p:spPr>
          <a:xfrm>
            <a:off x="666750" y="2809875"/>
            <a:ext cx="10572750" cy="952500"/>
          </a:xfrm>
          <a:prstGeom prst="rect">
            <a:avLst/>
          </a:prstGeom>
          <a:noFill/>
          <a:ln w="0">
            <a:noFill/>
          </a:ln>
        </p:spPr>
        <p:txBody>
          <a:bodyPr lIns="0" tIns="0" rIns="0" bIns="0">
            <a:noAutofit/>
          </a:bodyPr>
          <a:lstStyle/>
          <a:p>
            <a:pPr>
              <a:defRPr sz="2400" b="0">
                <a:solidFill>
                  <a:srgbClr val="F4F1EA"/>
                </a:solidFill>
                <a:latin typeface="Arial"/>
                <a:ea typeface="Arial"/>
                <a:cs typeface="Arial"/>
              </a:defRPr>
            </a:pPr>
            <a:r>
              <a:rPr sz="2400" b="0">
                <a:solidFill>
                  <a:srgbClr val="F4F1EA"/>
                </a:solidFill>
                <a:latin typeface="Arial"/>
                <a:ea typeface="Arial"/>
                <a:cs typeface="Arial"/>
              </a:rPr>
              <a:t>The articles circulated internationally as The International Jew.</a:t>
            </a:r>
          </a:p>
        </p:txBody>
      </p:sp>
      <p:sp>
        <p:nvSpPr>
          <p:cNvPr id="4" name="Rectangle 3">
            <a:extLst>
              <a:ext uri="{FF2B5EF4-FFF2-40B4-BE49-F238E27FC236}">
                <a16:creationId xmlns:a16="http://schemas.microsoft.com/office/drawing/2014/main" id="{BA65A202-45AE-44B7-90D9-7489BF7972DD}"/>
              </a:ext>
            </a:extLst>
          </p:cNvPr>
          <p:cNvSpPr>
            <a:spLocks noGrp="1"/>
          </p:cNvSpPr>
          <p:nvPr/>
        </p:nvSpPr>
        <p:spPr>
          <a:xfrm>
            <a:off x="666750" y="3857625"/>
            <a:ext cx="10572750" cy="952500"/>
          </a:xfrm>
          <a:prstGeom prst="rect">
            <a:avLst/>
          </a:prstGeom>
          <a:noFill/>
          <a:ln w="0">
            <a:noFill/>
          </a:ln>
        </p:spPr>
        <p:txBody>
          <a:bodyPr lIns="0" tIns="0" rIns="0" bIns="0">
            <a:noAutofit/>
          </a:bodyPr>
          <a:lstStyle/>
          <a:p>
            <a:pPr>
              <a:defRPr sz="2400" b="0">
                <a:solidFill>
                  <a:srgbClr val="F4F1EA"/>
                </a:solidFill>
                <a:latin typeface="Arial"/>
                <a:ea typeface="Arial"/>
                <a:cs typeface="Arial"/>
              </a:defRPr>
            </a:pPr>
            <a:r>
              <a:rPr sz="2400" b="0">
                <a:solidFill>
                  <a:srgbClr val="F4F1EA"/>
                </a:solidFill>
                <a:latin typeface="Arial"/>
                <a:ea typeface="Arial"/>
                <a:cs typeface="Arial"/>
              </a:rPr>
              <a:t>He issued an apology in 1927. The propaganda’s harm continued.</a:t>
            </a:r>
          </a:p>
        </p:txBody>
      </p:sp>
      <p:sp>
        <p:nvSpPr>
          <p:cNvPr id="5" name="Rectangle 4">
            <a:extLst>
              <a:ext uri="{FF2B5EF4-FFF2-40B4-BE49-F238E27FC236}">
                <a16:creationId xmlns:a16="http://schemas.microsoft.com/office/drawing/2014/main" id="{C36D1C57-AA49-4EA2-A81B-837C94A6BA20}"/>
              </a:ext>
            </a:extLst>
          </p:cNvPr>
          <p:cNvSpPr>
            <a:spLocks noGrp="1"/>
          </p:cNvSpPr>
          <p:nvPr/>
        </p:nvSpPr>
        <p:spPr>
          <a:xfrm>
            <a:off x="666750" y="6096000"/>
            <a:ext cx="10715625" cy="238125"/>
          </a:xfrm>
          <a:prstGeom prst="rect">
            <a:avLst/>
          </a:prstGeom>
          <a:noFill/>
          <a:ln w="0">
            <a:noFill/>
          </a:ln>
        </p:spPr>
        <p:txBody>
          <a:bodyPr lIns="0" tIns="0" rIns="0" bIns="0">
            <a:noAutofit/>
          </a:bodyPr>
          <a:lstStyle/>
          <a:p>
            <a:pPr>
              <a:defRPr sz="1350" b="0">
                <a:solidFill>
                  <a:srgbClr val="D99A72"/>
                </a:solidFill>
                <a:latin typeface="Arial"/>
                <a:ea typeface="Arial"/>
                <a:cs typeface="Arial"/>
              </a:defRPr>
            </a:pPr>
            <a:r>
              <a:rPr sz="1350" b="0">
                <a:solidFill>
                  <a:srgbClr val="D99A72"/>
                </a:solidFill>
                <a:latin typeface="Arial"/>
                <a:ea typeface="Arial"/>
                <a:cs typeface="Arial"/>
              </a:rPr>
              <a:t>Management connection: leader accountability and organizational culture</a:t>
            </a:r>
          </a:p>
        </p:txBody>
      </p:sp>
      <p:sp>
        <p:nvSpPr>
          <p:cNvPr id="6" name="Rectangle 5">
            <a:extLst>
              <a:ext uri="{FF2B5EF4-FFF2-40B4-BE49-F238E27FC236}">
                <a16:creationId xmlns:a16="http://schemas.microsoft.com/office/drawing/2014/main" id="{4EA1AFC6-BE60-45A9-B1D5-C6C7C46470C3}"/>
              </a:ext>
            </a:extLst>
          </p:cNvPr>
          <p:cNvSpPr>
            <a:spLocks noGrp="1"/>
          </p:cNvSpPr>
          <p:nvPr/>
        </p:nvSpPr>
        <p:spPr>
          <a:xfrm>
            <a:off x="11430000" y="6429375"/>
            <a:ext cx="428625" cy="209550"/>
          </a:xfrm>
          <a:prstGeom prst="rect">
            <a:avLst/>
          </a:prstGeom>
          <a:noFill/>
          <a:ln w="0">
            <a:noFill/>
          </a:ln>
        </p:spPr>
        <p:txBody>
          <a:bodyPr lIns="0" tIns="0" rIns="0" bIns="0">
            <a:noAutofit/>
          </a:bodyPr>
          <a:lstStyle/>
          <a:p>
            <a:pPr>
              <a:defRPr sz="1125" b="0">
                <a:solidFill>
                  <a:srgbClr val="C2C9CB"/>
                </a:solidFill>
                <a:latin typeface="Arial"/>
                <a:ea typeface="Arial"/>
                <a:cs typeface="Arial"/>
              </a:defRPr>
            </a:pPr>
            <a:r>
              <a:rPr sz="1125" b="0">
                <a:solidFill>
                  <a:srgbClr val="C2C9CB"/>
                </a:solidFill>
                <a:latin typeface="Arial"/>
                <a:ea typeface="Arial"/>
                <a:cs typeface="Arial"/>
              </a:rPr>
              <a:t>16</a:t>
            </a:r>
          </a:p>
        </p:txBody>
      </p:sp>
      <p:sp>
        <p:nvSpPr>
          <p:cNvPr id="7" name="Rectangle 6">
            <a:extLst>
              <a:ext uri="{FF2B5EF4-FFF2-40B4-BE49-F238E27FC236}">
                <a16:creationId xmlns:a16="http://schemas.microsoft.com/office/drawing/2014/main" id="{AD6D2BDB-5A75-4938-9DF9-EEE374E58D84}"/>
              </a:ext>
            </a:extLst>
          </p:cNvPr>
          <p:cNvSpPr>
            <a:spLocks noGrp="1"/>
          </p:cNvSpPr>
          <p:nvPr/>
        </p:nvSpPr>
        <p:spPr>
          <a:xfrm>
            <a:off x="666750" y="6429375"/>
            <a:ext cx="9525000" cy="209550"/>
          </a:xfrm>
          <a:prstGeom prst="rect">
            <a:avLst/>
          </a:prstGeom>
          <a:noFill/>
          <a:ln w="0">
            <a:noFill/>
          </a:ln>
        </p:spPr>
        <p:txBody>
          <a:bodyPr lIns="0" tIns="0" rIns="0" bIns="0">
            <a:noAutofit/>
          </a:bodyPr>
          <a:lstStyle/>
          <a:p>
            <a:pPr>
              <a:defRPr sz="1125" b="0">
                <a:solidFill>
                  <a:srgbClr val="C2C9CB"/>
                </a:solidFill>
                <a:latin typeface="Arial"/>
                <a:ea typeface="Arial"/>
                <a:cs typeface="Arial"/>
              </a:defRPr>
            </a:pPr>
            <a:r>
              <a:rPr sz="1125" b="0">
                <a:solidFill>
                  <a:srgbClr val="C2C9CB"/>
                </a:solidFill>
                <a:latin typeface="Arial"/>
                <a:ea typeface="Arial"/>
                <a:cs typeface="Arial"/>
              </a:rPr>
              <a:t>[H] [M]</a:t>
            </a:r>
          </a:p>
        </p:txBody>
      </p:sp>
    </p:spTree>
    <p:extLst>
      <p:ext uri="{BB962C8B-B14F-4D97-AF65-F5344CB8AC3E}">
        <p14:creationId xmlns:p14="http://schemas.microsoft.com/office/powerpoint/2010/main" val="3466759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4F1EA"/>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CA96CB6-3B49-4477-94D4-83E59175CBDB}"/>
              </a:ext>
            </a:extLst>
          </p:cNvPr>
          <p:cNvSpPr>
            <a:spLocks noGrp="1"/>
          </p:cNvSpPr>
          <p:nvPr/>
        </p:nvSpPr>
        <p:spPr>
          <a:xfrm>
            <a:off x="609600" y="457200"/>
            <a:ext cx="10858500" cy="1066800"/>
          </a:xfrm>
          <a:prstGeom prst="rect">
            <a:avLst/>
          </a:prstGeom>
          <a:noFill/>
          <a:ln w="0">
            <a:noFill/>
          </a:ln>
        </p:spPr>
        <p:txBody>
          <a:bodyPr lIns="0" tIns="0" rIns="0" bIns="0">
            <a:noAutofit/>
          </a:bodyPr>
          <a:lstStyle/>
          <a:p>
            <a:pPr>
              <a:defRPr sz="3225" b="1">
                <a:solidFill>
                  <a:srgbClr val="172A36"/>
                </a:solidFill>
                <a:latin typeface="Arial"/>
                <a:ea typeface="Arial"/>
                <a:cs typeface="Arial"/>
              </a:defRPr>
            </a:pPr>
            <a:r>
              <a:rPr sz="3225" b="1">
                <a:solidFill>
                  <a:srgbClr val="172A36"/>
                </a:solidFill>
                <a:latin typeface="Arial"/>
                <a:ea typeface="Arial"/>
                <a:cs typeface="Arial"/>
              </a:rPr>
              <a:t>A balanced evaluation of Ford</a:t>
            </a:r>
          </a:p>
        </p:txBody>
      </p:sp>
      <p:sp>
        <p:nvSpPr>
          <p:cNvPr id="2" name="Rectangle 1">
            <a:extLst>
              <a:ext uri="{FF2B5EF4-FFF2-40B4-BE49-F238E27FC236}">
                <a16:creationId xmlns:a16="http://schemas.microsoft.com/office/drawing/2014/main" id="{C4887213-BD36-45A6-A1C6-6992294EA200}"/>
              </a:ext>
            </a:extLst>
          </p:cNvPr>
          <p:cNvSpPr>
            <a:spLocks noGrp="1"/>
          </p:cNvSpPr>
          <p:nvPr/>
        </p:nvSpPr>
        <p:spPr>
          <a:xfrm>
            <a:off x="666750" y="1809750"/>
            <a:ext cx="5143500" cy="619125"/>
          </a:xfrm>
          <a:prstGeom prst="rect">
            <a:avLst/>
          </a:prstGeom>
          <a:noFill/>
          <a:ln w="0">
            <a:noFill/>
          </a:ln>
        </p:spPr>
        <p:txBody>
          <a:bodyPr lIns="0" tIns="0" rIns="0" bIns="0">
            <a:noAutofit/>
          </a:bodyPr>
          <a:lstStyle/>
          <a:p>
            <a:pPr>
              <a:defRPr sz="2325" b="1">
                <a:solidFill>
                  <a:srgbClr val="A95D35"/>
                </a:solidFill>
                <a:latin typeface="Arial"/>
                <a:ea typeface="Arial"/>
                <a:cs typeface="Arial"/>
              </a:defRPr>
            </a:pPr>
            <a:r>
              <a:rPr sz="2325" b="1">
                <a:solidFill>
                  <a:srgbClr val="A95D35"/>
                </a:solidFill>
                <a:latin typeface="Arial"/>
                <a:ea typeface="Arial"/>
                <a:cs typeface="Arial"/>
              </a:rPr>
              <a:t>Contributions</a:t>
            </a:r>
          </a:p>
        </p:txBody>
      </p:sp>
      <p:sp>
        <p:nvSpPr>
          <p:cNvPr id="3" name="Rectangle 2">
            <a:extLst>
              <a:ext uri="{FF2B5EF4-FFF2-40B4-BE49-F238E27FC236}">
                <a16:creationId xmlns:a16="http://schemas.microsoft.com/office/drawing/2014/main" id="{52FD7697-C718-4AEA-BF01-32D9599740F9}"/>
              </a:ext>
            </a:extLst>
          </p:cNvPr>
          <p:cNvSpPr>
            <a:spLocks noGrp="1"/>
          </p:cNvSpPr>
          <p:nvPr/>
        </p:nvSpPr>
        <p:spPr>
          <a:xfrm>
            <a:off x="666750" y="2638425"/>
            <a:ext cx="5048250" cy="3000375"/>
          </a:xfrm>
          <a:prstGeom prst="rect">
            <a:avLst/>
          </a:prstGeom>
          <a:noFill/>
          <a:ln w="0">
            <a:noFill/>
          </a:ln>
        </p:spPr>
        <p:txBody>
          <a:bodyPr lIns="0" tIns="0" rIns="0" bIns="0">
            <a:noAutofit/>
          </a:bodyPr>
          <a:lstStyle/>
          <a:p>
            <a:pPr>
              <a:defRPr sz="2175" b="0">
                <a:solidFill>
                  <a:srgbClr val="172A36"/>
                </a:solidFill>
                <a:latin typeface="Arial"/>
                <a:ea typeface="Arial"/>
                <a:cs typeface="Arial"/>
              </a:defRPr>
            </a:pPr>
            <a:r>
              <a:rPr sz="2175" b="0">
                <a:solidFill>
                  <a:srgbClr val="172A36"/>
                </a:solidFill>
                <a:latin typeface="Arial"/>
                <a:ea typeface="Arial"/>
                <a:cs typeface="Arial"/>
              </a:rPr>
              <a:t>Affordable mass production</a:t>
            </a:r>
          </a:p>
          <a:p>
            <a:pPr>
              <a:defRPr sz="2175" b="0">
                <a:solidFill>
                  <a:srgbClr val="172A36"/>
                </a:solidFill>
                <a:latin typeface="Arial"/>
                <a:ea typeface="Arial"/>
                <a:cs typeface="Arial"/>
              </a:defRPr>
            </a:pPr>
            <a:r>
              <a:rPr sz="2175" b="0">
                <a:solidFill>
                  <a:srgbClr val="172A36"/>
                </a:solidFill>
                <a:latin typeface="Arial"/>
                <a:ea typeface="Arial"/>
                <a:cs typeface="Arial"/>
              </a:rPr>
              <a:t>A coordinated operating system</a:t>
            </a:r>
          </a:p>
          <a:p>
            <a:pPr>
              <a:defRPr sz="2175" b="0">
                <a:solidFill>
                  <a:srgbClr val="172A36"/>
                </a:solidFill>
                <a:latin typeface="Arial"/>
                <a:ea typeface="Arial"/>
                <a:cs typeface="Arial"/>
              </a:defRPr>
            </a:pPr>
            <a:r>
              <a:rPr sz="2175" b="0">
                <a:solidFill>
                  <a:srgbClr val="172A36"/>
                </a:solidFill>
                <a:latin typeface="Arial"/>
                <a:ea typeface="Arial"/>
                <a:cs typeface="Arial"/>
              </a:rPr>
              <a:t>Compensation as a staffing decision</a:t>
            </a:r>
          </a:p>
        </p:txBody>
      </p:sp>
      <p:sp>
        <p:nvSpPr>
          <p:cNvPr id="4" name="Rectangle 3">
            <a:extLst>
              <a:ext uri="{FF2B5EF4-FFF2-40B4-BE49-F238E27FC236}">
                <a16:creationId xmlns:a16="http://schemas.microsoft.com/office/drawing/2014/main" id="{85D81303-4906-46BD-B625-53405CC633E5}"/>
              </a:ext>
            </a:extLst>
          </p:cNvPr>
          <p:cNvSpPr>
            <a:spLocks noGrp="1"/>
          </p:cNvSpPr>
          <p:nvPr/>
        </p:nvSpPr>
        <p:spPr>
          <a:xfrm>
            <a:off x="6286500" y="1809750"/>
            <a:ext cx="5143500" cy="619125"/>
          </a:xfrm>
          <a:prstGeom prst="rect">
            <a:avLst/>
          </a:prstGeom>
          <a:noFill/>
          <a:ln w="0">
            <a:noFill/>
          </a:ln>
        </p:spPr>
        <p:txBody>
          <a:bodyPr lIns="0" tIns="0" rIns="0" bIns="0">
            <a:noAutofit/>
          </a:bodyPr>
          <a:lstStyle/>
          <a:p>
            <a:pPr>
              <a:defRPr sz="2325" b="1">
                <a:solidFill>
                  <a:srgbClr val="A95D35"/>
                </a:solidFill>
                <a:latin typeface="Arial"/>
                <a:ea typeface="Arial"/>
                <a:cs typeface="Arial"/>
              </a:defRPr>
            </a:pPr>
            <a:r>
              <a:rPr sz="2325" b="1">
                <a:solidFill>
                  <a:srgbClr val="A95D35"/>
                </a:solidFill>
                <a:latin typeface="Arial"/>
                <a:ea typeface="Arial"/>
                <a:cs typeface="Arial"/>
              </a:rPr>
              <a:t>Limits and failures</a:t>
            </a:r>
          </a:p>
        </p:txBody>
      </p:sp>
      <p:sp>
        <p:nvSpPr>
          <p:cNvPr id="5" name="Rectangle 4">
            <a:extLst>
              <a:ext uri="{FF2B5EF4-FFF2-40B4-BE49-F238E27FC236}">
                <a16:creationId xmlns:a16="http://schemas.microsoft.com/office/drawing/2014/main" id="{E2BDDF58-C2EA-4D4D-88B5-BB3999E1D7B1}"/>
              </a:ext>
            </a:extLst>
          </p:cNvPr>
          <p:cNvSpPr>
            <a:spLocks noGrp="1"/>
          </p:cNvSpPr>
          <p:nvPr/>
        </p:nvSpPr>
        <p:spPr>
          <a:xfrm>
            <a:off x="6286500" y="2638425"/>
            <a:ext cx="5048250" cy="3000375"/>
          </a:xfrm>
          <a:prstGeom prst="rect">
            <a:avLst/>
          </a:prstGeom>
          <a:noFill/>
          <a:ln w="0">
            <a:noFill/>
          </a:ln>
        </p:spPr>
        <p:txBody>
          <a:bodyPr lIns="0" tIns="0" rIns="0" bIns="0">
            <a:noAutofit/>
          </a:bodyPr>
          <a:lstStyle/>
          <a:p>
            <a:pPr>
              <a:defRPr sz="2175" b="0">
                <a:solidFill>
                  <a:srgbClr val="172A36"/>
                </a:solidFill>
                <a:latin typeface="Arial"/>
                <a:ea typeface="Arial"/>
                <a:cs typeface="Arial"/>
              </a:defRPr>
            </a:pPr>
            <a:r>
              <a:rPr sz="2175" b="0">
                <a:solidFill>
                  <a:srgbClr val="172A36"/>
                </a:solidFill>
                <a:latin typeface="Arial"/>
                <a:ea typeface="Arial"/>
                <a:cs typeface="Arial"/>
              </a:rPr>
              <a:t>Intrusive employee oversight</a:t>
            </a:r>
          </a:p>
          <a:p>
            <a:pPr>
              <a:defRPr sz="2175" b="0">
                <a:solidFill>
                  <a:srgbClr val="172A36"/>
                </a:solidFill>
                <a:latin typeface="Arial"/>
                <a:ea typeface="Arial"/>
                <a:cs typeface="Arial"/>
              </a:defRPr>
            </a:pPr>
            <a:r>
              <a:rPr sz="2175" b="0">
                <a:solidFill>
                  <a:srgbClr val="172A36"/>
                </a:solidFill>
                <a:latin typeface="Arial"/>
                <a:ea typeface="Arial"/>
                <a:cs typeface="Arial"/>
              </a:rPr>
              <a:t>Resistance to product change</a:t>
            </a:r>
          </a:p>
          <a:p>
            <a:pPr>
              <a:defRPr sz="2175" b="0">
                <a:solidFill>
                  <a:srgbClr val="172A36"/>
                </a:solidFill>
                <a:latin typeface="Arial"/>
                <a:ea typeface="Arial"/>
                <a:cs typeface="Arial"/>
              </a:defRPr>
            </a:pPr>
            <a:r>
              <a:rPr sz="2175" b="0">
                <a:solidFill>
                  <a:srgbClr val="172A36"/>
                </a:solidFill>
                <a:latin typeface="Arial"/>
                <a:ea typeface="Arial"/>
                <a:cs typeface="Arial"/>
              </a:rPr>
              <a:t>Labor coercion and antisemitism</a:t>
            </a:r>
          </a:p>
        </p:txBody>
      </p:sp>
      <p:sp>
        <p:nvSpPr>
          <p:cNvPr id="6" name="Rectangle 5">
            <a:extLst>
              <a:ext uri="{FF2B5EF4-FFF2-40B4-BE49-F238E27FC236}">
                <a16:creationId xmlns:a16="http://schemas.microsoft.com/office/drawing/2014/main" id="{12AA2B77-683C-4B14-9CDF-63B840315E80}"/>
              </a:ext>
            </a:extLst>
          </p:cNvPr>
          <p:cNvSpPr>
            <a:spLocks noGrp="1"/>
          </p:cNvSpPr>
          <p:nvPr/>
        </p:nvSpPr>
        <p:spPr>
          <a:xfrm>
            <a:off x="666750" y="6096000"/>
            <a:ext cx="10715625" cy="238125"/>
          </a:xfrm>
          <a:prstGeom prst="rect">
            <a:avLst/>
          </a:prstGeom>
          <a:noFill/>
          <a:ln w="0">
            <a:noFill/>
          </a:ln>
        </p:spPr>
        <p:txBody>
          <a:bodyPr lIns="0" tIns="0" rIns="0" bIns="0">
            <a:noAutofit/>
          </a:bodyPr>
          <a:lstStyle/>
          <a:p>
            <a:pPr>
              <a:defRPr sz="1350" b="0">
                <a:solidFill>
                  <a:srgbClr val="A95D35"/>
                </a:solidFill>
                <a:latin typeface="Arial"/>
                <a:ea typeface="Arial"/>
                <a:cs typeface="Arial"/>
              </a:defRPr>
            </a:pPr>
            <a:r>
              <a:rPr sz="1350" b="0">
                <a:solidFill>
                  <a:srgbClr val="A95D35"/>
                </a:solidFill>
                <a:latin typeface="Arial"/>
                <a:ea typeface="Arial"/>
                <a:cs typeface="Arial"/>
              </a:rPr>
              <a:t>Management connection: efficiency, effectiveness, and ethical responsibility</a:t>
            </a:r>
          </a:p>
        </p:txBody>
      </p:sp>
      <p:sp>
        <p:nvSpPr>
          <p:cNvPr id="7" name="Rectangle 6">
            <a:extLst>
              <a:ext uri="{FF2B5EF4-FFF2-40B4-BE49-F238E27FC236}">
                <a16:creationId xmlns:a16="http://schemas.microsoft.com/office/drawing/2014/main" id="{998F2A3A-0C3C-40EC-B230-9601E0C1B3C5}"/>
              </a:ext>
            </a:extLst>
          </p:cNvPr>
          <p:cNvSpPr>
            <a:spLocks noGrp="1"/>
          </p:cNvSpPr>
          <p:nvPr/>
        </p:nvSpPr>
        <p:spPr>
          <a:xfrm>
            <a:off x="11430000" y="6429375"/>
            <a:ext cx="428625" cy="209550"/>
          </a:xfrm>
          <a:prstGeom prst="rect">
            <a:avLst/>
          </a:prstGeom>
          <a:noFill/>
          <a:ln w="0">
            <a:noFill/>
          </a:ln>
        </p:spPr>
        <p:txBody>
          <a:bodyPr lIns="0" tIns="0" rIns="0" bIns="0">
            <a:noAutofit/>
          </a:bodyPr>
          <a:lstStyle/>
          <a:p>
            <a:pPr>
              <a:defRPr sz="1125" b="0">
                <a:solidFill>
                  <a:srgbClr val="55636A"/>
                </a:solidFill>
                <a:latin typeface="Arial"/>
                <a:ea typeface="Arial"/>
                <a:cs typeface="Arial"/>
              </a:defRPr>
            </a:pPr>
            <a:r>
              <a:rPr sz="1125" b="0">
                <a:solidFill>
                  <a:srgbClr val="55636A"/>
                </a:solidFill>
                <a:latin typeface="Arial"/>
                <a:ea typeface="Arial"/>
                <a:cs typeface="Arial"/>
              </a:rPr>
              <a:t>17</a:t>
            </a:r>
          </a:p>
        </p:txBody>
      </p:sp>
      <p:sp>
        <p:nvSpPr>
          <p:cNvPr id="8" name="Rectangle 7">
            <a:extLst>
              <a:ext uri="{FF2B5EF4-FFF2-40B4-BE49-F238E27FC236}">
                <a16:creationId xmlns:a16="http://schemas.microsoft.com/office/drawing/2014/main" id="{B5E2D795-017E-4BF7-BDB0-E843B95260B6}"/>
              </a:ext>
            </a:extLst>
          </p:cNvPr>
          <p:cNvSpPr>
            <a:spLocks noGrp="1"/>
          </p:cNvSpPr>
          <p:nvPr/>
        </p:nvSpPr>
        <p:spPr>
          <a:xfrm>
            <a:off x="666750" y="6429375"/>
            <a:ext cx="9525000" cy="209550"/>
          </a:xfrm>
          <a:prstGeom prst="rect">
            <a:avLst/>
          </a:prstGeom>
          <a:noFill/>
          <a:ln w="0">
            <a:noFill/>
          </a:ln>
        </p:spPr>
        <p:txBody>
          <a:bodyPr lIns="0" tIns="0" rIns="0" bIns="0">
            <a:noAutofit/>
          </a:bodyPr>
          <a:lstStyle/>
          <a:p>
            <a:pPr>
              <a:defRPr sz="1125" b="0">
                <a:solidFill>
                  <a:srgbClr val="55636A"/>
                </a:solidFill>
                <a:latin typeface="Arial"/>
                <a:ea typeface="Arial"/>
                <a:cs typeface="Arial"/>
              </a:defRPr>
            </a:pPr>
            <a:r>
              <a:rPr sz="1125" b="0">
                <a:solidFill>
                  <a:srgbClr val="55636A"/>
                </a:solidFill>
                <a:latin typeface="Arial"/>
                <a:ea typeface="Arial"/>
                <a:cs typeface="Arial"/>
              </a:rPr>
              <a:t>[C] [D] [E] [G] [H] [I]</a:t>
            </a:r>
          </a:p>
        </p:txBody>
      </p:sp>
    </p:spTree>
    <p:extLst>
      <p:ext uri="{BB962C8B-B14F-4D97-AF65-F5344CB8AC3E}">
        <p14:creationId xmlns:p14="http://schemas.microsoft.com/office/powerpoint/2010/main" val="6045249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4F1EA"/>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BDDA134-2785-4A8A-A2C5-766BD6F1FBA2}"/>
              </a:ext>
            </a:extLst>
          </p:cNvPr>
          <p:cNvSpPr>
            <a:spLocks noGrp="1"/>
          </p:cNvSpPr>
          <p:nvPr/>
        </p:nvSpPr>
        <p:spPr>
          <a:xfrm>
            <a:off x="609600" y="457200"/>
            <a:ext cx="10858500" cy="1066800"/>
          </a:xfrm>
          <a:prstGeom prst="rect">
            <a:avLst/>
          </a:prstGeom>
          <a:noFill/>
          <a:ln w="0">
            <a:noFill/>
          </a:ln>
        </p:spPr>
        <p:txBody>
          <a:bodyPr lIns="0" tIns="0" rIns="0" bIns="0">
            <a:noAutofit/>
          </a:bodyPr>
          <a:lstStyle/>
          <a:p>
            <a:pPr>
              <a:defRPr sz="3225" b="1">
                <a:solidFill>
                  <a:srgbClr val="172A36"/>
                </a:solidFill>
                <a:latin typeface="Arial"/>
                <a:ea typeface="Arial"/>
                <a:cs typeface="Arial"/>
              </a:defRPr>
            </a:pPr>
            <a:r>
              <a:rPr sz="3225" b="1">
                <a:solidFill>
                  <a:srgbClr val="172A36"/>
                </a:solidFill>
                <a:latin typeface="Arial"/>
                <a:ea typeface="Arial"/>
                <a:cs typeface="Arial"/>
              </a:rPr>
              <a:t>Where we still see related ideas</a:t>
            </a:r>
          </a:p>
        </p:txBody>
      </p:sp>
      <p:sp>
        <p:nvSpPr>
          <p:cNvPr id="2" name="Rectangle 1">
            <a:extLst>
              <a:ext uri="{FF2B5EF4-FFF2-40B4-BE49-F238E27FC236}">
                <a16:creationId xmlns:a16="http://schemas.microsoft.com/office/drawing/2014/main" id="{2EC71B3A-3D55-4E8D-A055-5D2C314B180D}"/>
              </a:ext>
            </a:extLst>
          </p:cNvPr>
          <p:cNvSpPr>
            <a:spLocks noGrp="1"/>
          </p:cNvSpPr>
          <p:nvPr/>
        </p:nvSpPr>
        <p:spPr>
          <a:xfrm>
            <a:off x="666750" y="1809750"/>
            <a:ext cx="5143500" cy="619125"/>
          </a:xfrm>
          <a:prstGeom prst="rect">
            <a:avLst/>
          </a:prstGeom>
          <a:noFill/>
          <a:ln w="0">
            <a:noFill/>
          </a:ln>
        </p:spPr>
        <p:txBody>
          <a:bodyPr lIns="0" tIns="0" rIns="0" bIns="0">
            <a:noAutofit/>
          </a:bodyPr>
          <a:lstStyle/>
          <a:p>
            <a:pPr>
              <a:defRPr sz="2325" b="1">
                <a:solidFill>
                  <a:srgbClr val="A95D35"/>
                </a:solidFill>
                <a:latin typeface="Arial"/>
                <a:ea typeface="Arial"/>
                <a:cs typeface="Arial"/>
              </a:defRPr>
            </a:pPr>
            <a:r>
              <a:rPr sz="2325" b="1">
                <a:solidFill>
                  <a:srgbClr val="A95D35"/>
                </a:solidFill>
                <a:latin typeface="Arial"/>
                <a:ea typeface="Arial"/>
                <a:cs typeface="Arial"/>
              </a:rPr>
              <a:t>Manufacturing</a:t>
            </a:r>
          </a:p>
        </p:txBody>
      </p:sp>
      <p:sp>
        <p:nvSpPr>
          <p:cNvPr id="3" name="Rectangle 2">
            <a:extLst>
              <a:ext uri="{FF2B5EF4-FFF2-40B4-BE49-F238E27FC236}">
                <a16:creationId xmlns:a16="http://schemas.microsoft.com/office/drawing/2014/main" id="{E180806A-EF0A-4A89-9453-0DA9F31CE7EA}"/>
              </a:ext>
            </a:extLst>
          </p:cNvPr>
          <p:cNvSpPr>
            <a:spLocks noGrp="1"/>
          </p:cNvSpPr>
          <p:nvPr/>
        </p:nvSpPr>
        <p:spPr>
          <a:xfrm>
            <a:off x="666750" y="2638425"/>
            <a:ext cx="5048250" cy="3000375"/>
          </a:xfrm>
          <a:prstGeom prst="rect">
            <a:avLst/>
          </a:prstGeom>
          <a:noFill/>
          <a:ln w="0">
            <a:noFill/>
          </a:ln>
        </p:spPr>
        <p:txBody>
          <a:bodyPr lIns="0" tIns="0" rIns="0" bIns="0">
            <a:noAutofit/>
          </a:bodyPr>
          <a:lstStyle/>
          <a:p>
            <a:pPr>
              <a:defRPr sz="2175" b="0">
                <a:solidFill>
                  <a:srgbClr val="172A36"/>
                </a:solidFill>
                <a:latin typeface="Arial"/>
                <a:ea typeface="Arial"/>
                <a:cs typeface="Arial"/>
              </a:defRPr>
            </a:pPr>
            <a:r>
              <a:rPr sz="2175" b="0">
                <a:solidFill>
                  <a:srgbClr val="172A36"/>
                </a:solidFill>
                <a:latin typeface="Arial"/>
                <a:ea typeface="Arial"/>
                <a:cs typeface="Arial"/>
              </a:rPr>
              <a:t>Repeated work and coordinated material flow remain central.</a:t>
            </a:r>
          </a:p>
          <a:p>
            <a:endParaRPr sz="2175" b="0">
              <a:solidFill>
                <a:srgbClr val="172A36"/>
              </a:solidFill>
              <a:latin typeface="Arial"/>
              <a:ea typeface="Arial"/>
              <a:cs typeface="Arial"/>
            </a:endParaRPr>
          </a:p>
          <a:p>
            <a:pPr>
              <a:defRPr sz="2175" b="0">
                <a:solidFill>
                  <a:srgbClr val="172A36"/>
                </a:solidFill>
                <a:latin typeface="Arial"/>
                <a:ea typeface="Arial"/>
                <a:cs typeface="Arial"/>
              </a:defRPr>
            </a:pPr>
            <a:r>
              <a:rPr sz="2175" b="0">
                <a:solidFill>
                  <a:srgbClr val="172A36"/>
                </a:solidFill>
                <a:latin typeface="Arial"/>
                <a:ea typeface="Arial"/>
                <a:cs typeface="Arial"/>
              </a:rPr>
              <a:t>Toyota adds pull production and built-in quality.</a:t>
            </a:r>
          </a:p>
        </p:txBody>
      </p:sp>
      <p:sp>
        <p:nvSpPr>
          <p:cNvPr id="4" name="Rectangle 3">
            <a:extLst>
              <a:ext uri="{FF2B5EF4-FFF2-40B4-BE49-F238E27FC236}">
                <a16:creationId xmlns:a16="http://schemas.microsoft.com/office/drawing/2014/main" id="{F1A9033D-A2FE-435F-A800-7424799FC780}"/>
              </a:ext>
            </a:extLst>
          </p:cNvPr>
          <p:cNvSpPr>
            <a:spLocks noGrp="1"/>
          </p:cNvSpPr>
          <p:nvPr/>
        </p:nvSpPr>
        <p:spPr>
          <a:xfrm>
            <a:off x="6286500" y="1809750"/>
            <a:ext cx="5143500" cy="619125"/>
          </a:xfrm>
          <a:prstGeom prst="rect">
            <a:avLst/>
          </a:prstGeom>
          <a:noFill/>
          <a:ln w="0">
            <a:noFill/>
          </a:ln>
        </p:spPr>
        <p:txBody>
          <a:bodyPr lIns="0" tIns="0" rIns="0" bIns="0">
            <a:noAutofit/>
          </a:bodyPr>
          <a:lstStyle/>
          <a:p>
            <a:pPr>
              <a:defRPr sz="2325" b="1">
                <a:solidFill>
                  <a:srgbClr val="A95D35"/>
                </a:solidFill>
                <a:latin typeface="Arial"/>
                <a:ea typeface="Arial"/>
                <a:cs typeface="Arial"/>
              </a:defRPr>
            </a:pPr>
            <a:r>
              <a:rPr sz="2325" b="1">
                <a:solidFill>
                  <a:srgbClr val="A95D35"/>
                </a:solidFill>
                <a:latin typeface="Arial"/>
                <a:ea typeface="Arial"/>
                <a:cs typeface="Arial"/>
              </a:rPr>
              <a:t>Services and logistics</a:t>
            </a:r>
          </a:p>
        </p:txBody>
      </p:sp>
      <p:sp>
        <p:nvSpPr>
          <p:cNvPr id="5" name="Rectangle 4">
            <a:extLst>
              <a:ext uri="{FF2B5EF4-FFF2-40B4-BE49-F238E27FC236}">
                <a16:creationId xmlns:a16="http://schemas.microsoft.com/office/drawing/2014/main" id="{CBCEC124-01C8-44A1-955E-983B33FD8AE4}"/>
              </a:ext>
            </a:extLst>
          </p:cNvPr>
          <p:cNvSpPr>
            <a:spLocks noGrp="1"/>
          </p:cNvSpPr>
          <p:nvPr/>
        </p:nvSpPr>
        <p:spPr>
          <a:xfrm>
            <a:off x="6286500" y="2638425"/>
            <a:ext cx="5048250" cy="3000375"/>
          </a:xfrm>
          <a:prstGeom prst="rect">
            <a:avLst/>
          </a:prstGeom>
          <a:noFill/>
          <a:ln w="0">
            <a:noFill/>
          </a:ln>
        </p:spPr>
        <p:txBody>
          <a:bodyPr lIns="0" tIns="0" rIns="0" bIns="0">
            <a:noAutofit/>
          </a:bodyPr>
          <a:lstStyle/>
          <a:p>
            <a:pPr>
              <a:defRPr sz="2175" b="0">
                <a:solidFill>
                  <a:srgbClr val="172A36"/>
                </a:solidFill>
                <a:latin typeface="Arial"/>
                <a:ea typeface="Arial"/>
                <a:cs typeface="Arial"/>
              </a:defRPr>
            </a:pPr>
            <a:r>
              <a:rPr sz="2175" b="0">
                <a:solidFill>
                  <a:srgbClr val="172A36"/>
                </a:solidFill>
                <a:latin typeface="Arial"/>
                <a:ea typeface="Arial"/>
                <a:cs typeface="Arial"/>
              </a:rPr>
              <a:t>A kitchen divides work into stations.</a:t>
            </a:r>
          </a:p>
          <a:p>
            <a:endParaRPr sz="2175" b="0">
              <a:solidFill>
                <a:srgbClr val="172A36"/>
              </a:solidFill>
              <a:latin typeface="Arial"/>
              <a:ea typeface="Arial"/>
              <a:cs typeface="Arial"/>
            </a:endParaRPr>
          </a:p>
          <a:p>
            <a:pPr>
              <a:defRPr sz="2175" b="0">
                <a:solidFill>
                  <a:srgbClr val="172A36"/>
                </a:solidFill>
                <a:latin typeface="Arial"/>
                <a:ea typeface="Arial"/>
                <a:cs typeface="Arial"/>
              </a:defRPr>
            </a:pPr>
            <a:r>
              <a:rPr sz="2175" b="0">
                <a:solidFill>
                  <a:srgbClr val="172A36"/>
                </a:solidFill>
                <a:latin typeface="Arial"/>
                <a:ea typeface="Arial"/>
                <a:cs typeface="Arial"/>
              </a:rPr>
              <a:t>A fulfillment operation standardizes picking and packing.</a:t>
            </a:r>
          </a:p>
        </p:txBody>
      </p:sp>
      <p:sp>
        <p:nvSpPr>
          <p:cNvPr id="6" name="Rectangle 5">
            <a:extLst>
              <a:ext uri="{FF2B5EF4-FFF2-40B4-BE49-F238E27FC236}">
                <a16:creationId xmlns:a16="http://schemas.microsoft.com/office/drawing/2014/main" id="{47152219-72DF-4CA4-A099-2F3B2F71E995}"/>
              </a:ext>
            </a:extLst>
          </p:cNvPr>
          <p:cNvSpPr>
            <a:spLocks noGrp="1"/>
          </p:cNvSpPr>
          <p:nvPr/>
        </p:nvSpPr>
        <p:spPr>
          <a:xfrm>
            <a:off x="666750" y="6096000"/>
            <a:ext cx="10715625" cy="238125"/>
          </a:xfrm>
          <a:prstGeom prst="rect">
            <a:avLst/>
          </a:prstGeom>
          <a:noFill/>
          <a:ln w="0">
            <a:noFill/>
          </a:ln>
        </p:spPr>
        <p:txBody>
          <a:bodyPr lIns="0" tIns="0" rIns="0" bIns="0">
            <a:noAutofit/>
          </a:bodyPr>
          <a:lstStyle/>
          <a:p>
            <a:pPr>
              <a:defRPr sz="1350" b="0">
                <a:solidFill>
                  <a:srgbClr val="A95D35"/>
                </a:solidFill>
                <a:latin typeface="Arial"/>
                <a:ea typeface="Arial"/>
                <a:cs typeface="Arial"/>
              </a:defRPr>
            </a:pPr>
            <a:r>
              <a:rPr sz="1350" b="0">
                <a:solidFill>
                  <a:srgbClr val="A95D35"/>
                </a:solidFill>
                <a:latin typeface="Arial"/>
                <a:ea typeface="Arial"/>
                <a:cs typeface="Arial"/>
              </a:rPr>
              <a:t>Management connection: organizational design and continuous improvement</a:t>
            </a:r>
          </a:p>
        </p:txBody>
      </p:sp>
      <p:sp>
        <p:nvSpPr>
          <p:cNvPr id="7" name="Rectangle 6">
            <a:extLst>
              <a:ext uri="{FF2B5EF4-FFF2-40B4-BE49-F238E27FC236}">
                <a16:creationId xmlns:a16="http://schemas.microsoft.com/office/drawing/2014/main" id="{36CD5A27-5635-4E14-BE20-4777E953F0B7}"/>
              </a:ext>
            </a:extLst>
          </p:cNvPr>
          <p:cNvSpPr>
            <a:spLocks noGrp="1"/>
          </p:cNvSpPr>
          <p:nvPr/>
        </p:nvSpPr>
        <p:spPr>
          <a:xfrm>
            <a:off x="11430000" y="6429375"/>
            <a:ext cx="428625" cy="209550"/>
          </a:xfrm>
          <a:prstGeom prst="rect">
            <a:avLst/>
          </a:prstGeom>
          <a:noFill/>
          <a:ln w="0">
            <a:noFill/>
          </a:ln>
        </p:spPr>
        <p:txBody>
          <a:bodyPr lIns="0" tIns="0" rIns="0" bIns="0">
            <a:noAutofit/>
          </a:bodyPr>
          <a:lstStyle/>
          <a:p>
            <a:pPr>
              <a:defRPr sz="1125" b="0">
                <a:solidFill>
                  <a:srgbClr val="55636A"/>
                </a:solidFill>
                <a:latin typeface="Arial"/>
                <a:ea typeface="Arial"/>
                <a:cs typeface="Arial"/>
              </a:defRPr>
            </a:pPr>
            <a:r>
              <a:rPr sz="1125" b="0">
                <a:solidFill>
                  <a:srgbClr val="55636A"/>
                </a:solidFill>
                <a:latin typeface="Arial"/>
                <a:ea typeface="Arial"/>
                <a:cs typeface="Arial"/>
              </a:rPr>
              <a:t>18</a:t>
            </a:r>
          </a:p>
        </p:txBody>
      </p:sp>
      <p:sp>
        <p:nvSpPr>
          <p:cNvPr id="8" name="Rectangle 7">
            <a:extLst>
              <a:ext uri="{FF2B5EF4-FFF2-40B4-BE49-F238E27FC236}">
                <a16:creationId xmlns:a16="http://schemas.microsoft.com/office/drawing/2014/main" id="{A39BA2D7-4C26-46A2-9BA1-EA4227EE4EC0}"/>
              </a:ext>
            </a:extLst>
          </p:cNvPr>
          <p:cNvSpPr>
            <a:spLocks noGrp="1"/>
          </p:cNvSpPr>
          <p:nvPr/>
        </p:nvSpPr>
        <p:spPr>
          <a:xfrm>
            <a:off x="666750" y="6429375"/>
            <a:ext cx="9525000" cy="209550"/>
          </a:xfrm>
          <a:prstGeom prst="rect">
            <a:avLst/>
          </a:prstGeom>
          <a:noFill/>
          <a:ln w="0">
            <a:noFill/>
          </a:ln>
        </p:spPr>
        <p:txBody>
          <a:bodyPr lIns="0" tIns="0" rIns="0" bIns="0">
            <a:noAutofit/>
          </a:bodyPr>
          <a:lstStyle/>
          <a:p>
            <a:pPr>
              <a:defRPr sz="1125" b="0">
                <a:solidFill>
                  <a:srgbClr val="55636A"/>
                </a:solidFill>
                <a:latin typeface="Arial"/>
                <a:ea typeface="Arial"/>
                <a:cs typeface="Arial"/>
              </a:defRPr>
            </a:pPr>
            <a:r>
              <a:rPr sz="1125" b="0">
                <a:solidFill>
                  <a:srgbClr val="55636A"/>
                </a:solidFill>
                <a:latin typeface="Arial"/>
                <a:ea typeface="Arial"/>
                <a:cs typeface="Arial"/>
              </a:rPr>
              <a:t>[G] [J]</a:t>
            </a:r>
          </a:p>
        </p:txBody>
      </p:sp>
    </p:spTree>
    <p:extLst>
      <p:ext uri="{BB962C8B-B14F-4D97-AF65-F5344CB8AC3E}">
        <p14:creationId xmlns:p14="http://schemas.microsoft.com/office/powerpoint/2010/main" val="9774095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4F1EA"/>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BB72698-20A5-4D46-909A-E96960487ACD}"/>
              </a:ext>
            </a:extLst>
          </p:cNvPr>
          <p:cNvSpPr>
            <a:spLocks noGrp="1"/>
          </p:cNvSpPr>
          <p:nvPr/>
        </p:nvSpPr>
        <p:spPr>
          <a:xfrm>
            <a:off x="609600" y="457200"/>
            <a:ext cx="10858500" cy="1066800"/>
          </a:xfrm>
          <a:prstGeom prst="rect">
            <a:avLst/>
          </a:prstGeom>
          <a:noFill/>
          <a:ln w="0">
            <a:noFill/>
          </a:ln>
        </p:spPr>
        <p:txBody>
          <a:bodyPr lIns="0" tIns="0" rIns="0" bIns="0">
            <a:noAutofit/>
          </a:bodyPr>
          <a:lstStyle/>
          <a:p>
            <a:pPr>
              <a:defRPr sz="3225" b="1">
                <a:solidFill>
                  <a:srgbClr val="172A36"/>
                </a:solidFill>
                <a:latin typeface="Arial"/>
                <a:ea typeface="Arial"/>
                <a:cs typeface="Arial"/>
              </a:defRPr>
            </a:pPr>
            <a:r>
              <a:rPr sz="3225" b="1">
                <a:solidFill>
                  <a:srgbClr val="172A36"/>
                </a:solidFill>
                <a:latin typeface="Arial"/>
                <a:ea typeface="Arial"/>
                <a:cs typeface="Arial"/>
              </a:rPr>
              <a:t>One company, four management functions</a:t>
            </a:r>
          </a:p>
        </p:txBody>
      </p:sp>
      <p:sp>
        <p:nvSpPr>
          <p:cNvPr id="2" name="Rectangle 1">
            <a:extLst>
              <a:ext uri="{FF2B5EF4-FFF2-40B4-BE49-F238E27FC236}">
                <a16:creationId xmlns:a16="http://schemas.microsoft.com/office/drawing/2014/main" id="{8382BDD0-49D3-4271-9437-4FF204249B66}"/>
              </a:ext>
            </a:extLst>
          </p:cNvPr>
          <p:cNvSpPr>
            <a:spLocks noGrp="1"/>
          </p:cNvSpPr>
          <p:nvPr/>
        </p:nvSpPr>
        <p:spPr>
          <a:xfrm>
            <a:off x="666750" y="1762125"/>
            <a:ext cx="10572750" cy="819150"/>
          </a:xfrm>
          <a:prstGeom prst="rect">
            <a:avLst/>
          </a:prstGeom>
          <a:noFill/>
          <a:ln w="0">
            <a:noFill/>
          </a:ln>
        </p:spPr>
        <p:txBody>
          <a:bodyPr lIns="0" tIns="0" rIns="0" bIns="0">
            <a:noAutofit/>
          </a:bodyPr>
          <a:lstStyle/>
          <a:p>
            <a:pPr>
              <a:defRPr sz="2250" b="0">
                <a:solidFill>
                  <a:srgbClr val="172A36"/>
                </a:solidFill>
                <a:latin typeface="Arial"/>
                <a:ea typeface="Arial"/>
                <a:cs typeface="Arial"/>
              </a:defRPr>
            </a:pPr>
            <a:r>
              <a:rPr sz="2250" b="0">
                <a:solidFill>
                  <a:srgbClr val="172A36"/>
                </a:solidFill>
                <a:latin typeface="Arial"/>
                <a:ea typeface="Arial"/>
                <a:cs typeface="Arial"/>
              </a:rPr>
              <a:t>Planning: a broad market and an affordable product</a:t>
            </a:r>
          </a:p>
        </p:txBody>
      </p:sp>
      <p:sp>
        <p:nvSpPr>
          <p:cNvPr id="3" name="Rectangle 2">
            <a:extLst>
              <a:ext uri="{FF2B5EF4-FFF2-40B4-BE49-F238E27FC236}">
                <a16:creationId xmlns:a16="http://schemas.microsoft.com/office/drawing/2014/main" id="{8C54DF09-E1DB-49B8-BEE9-CE1CC935FB51}"/>
              </a:ext>
            </a:extLst>
          </p:cNvPr>
          <p:cNvSpPr>
            <a:spLocks noGrp="1"/>
          </p:cNvSpPr>
          <p:nvPr/>
        </p:nvSpPr>
        <p:spPr>
          <a:xfrm>
            <a:off x="666750" y="2676525"/>
            <a:ext cx="10572750" cy="819150"/>
          </a:xfrm>
          <a:prstGeom prst="rect">
            <a:avLst/>
          </a:prstGeom>
          <a:noFill/>
          <a:ln w="0">
            <a:noFill/>
          </a:ln>
        </p:spPr>
        <p:txBody>
          <a:bodyPr lIns="0" tIns="0" rIns="0" bIns="0">
            <a:noAutofit/>
          </a:bodyPr>
          <a:lstStyle/>
          <a:p>
            <a:pPr>
              <a:defRPr sz="2250" b="0">
                <a:solidFill>
                  <a:srgbClr val="172A36"/>
                </a:solidFill>
                <a:latin typeface="Arial"/>
                <a:ea typeface="Arial"/>
                <a:cs typeface="Arial"/>
              </a:defRPr>
            </a:pPr>
            <a:r>
              <a:rPr sz="2250" b="0">
                <a:solidFill>
                  <a:srgbClr val="172A36"/>
                </a:solidFill>
                <a:latin typeface="Arial"/>
                <a:ea typeface="Arial"/>
                <a:cs typeface="Arial"/>
              </a:rPr>
              <a:t>Organizing: specialized jobs and coordinated production</a:t>
            </a:r>
          </a:p>
        </p:txBody>
      </p:sp>
      <p:sp>
        <p:nvSpPr>
          <p:cNvPr id="4" name="Rectangle 3">
            <a:extLst>
              <a:ext uri="{FF2B5EF4-FFF2-40B4-BE49-F238E27FC236}">
                <a16:creationId xmlns:a16="http://schemas.microsoft.com/office/drawing/2014/main" id="{FFF503B5-E633-44BF-AB7D-9B3F0BEF8223}"/>
              </a:ext>
            </a:extLst>
          </p:cNvPr>
          <p:cNvSpPr>
            <a:spLocks noGrp="1"/>
          </p:cNvSpPr>
          <p:nvPr/>
        </p:nvSpPr>
        <p:spPr>
          <a:xfrm>
            <a:off x="666750" y="3590925"/>
            <a:ext cx="10572750" cy="819150"/>
          </a:xfrm>
          <a:prstGeom prst="rect">
            <a:avLst/>
          </a:prstGeom>
          <a:noFill/>
          <a:ln w="0">
            <a:noFill/>
          </a:ln>
        </p:spPr>
        <p:txBody>
          <a:bodyPr lIns="0" tIns="0" rIns="0" bIns="0">
            <a:noAutofit/>
          </a:bodyPr>
          <a:lstStyle/>
          <a:p>
            <a:pPr>
              <a:defRPr sz="2250" b="0">
                <a:solidFill>
                  <a:srgbClr val="172A36"/>
                </a:solidFill>
                <a:latin typeface="Arial"/>
                <a:ea typeface="Arial"/>
                <a:cs typeface="Arial"/>
              </a:defRPr>
            </a:pPr>
            <a:r>
              <a:rPr sz="2250" b="0">
                <a:solidFill>
                  <a:srgbClr val="172A36"/>
                </a:solidFill>
                <a:latin typeface="Arial"/>
                <a:ea typeface="Arial"/>
                <a:cs typeface="Arial"/>
              </a:rPr>
              <a:t>Leading: incentives, founder influence, and employee voice</a:t>
            </a:r>
          </a:p>
        </p:txBody>
      </p:sp>
      <p:sp>
        <p:nvSpPr>
          <p:cNvPr id="5" name="Rectangle 4">
            <a:extLst>
              <a:ext uri="{FF2B5EF4-FFF2-40B4-BE49-F238E27FC236}">
                <a16:creationId xmlns:a16="http://schemas.microsoft.com/office/drawing/2014/main" id="{38E9448A-4445-462D-BD30-4A957C5B05EE}"/>
              </a:ext>
            </a:extLst>
          </p:cNvPr>
          <p:cNvSpPr>
            <a:spLocks noGrp="1"/>
          </p:cNvSpPr>
          <p:nvPr/>
        </p:nvSpPr>
        <p:spPr>
          <a:xfrm>
            <a:off x="666750" y="4505325"/>
            <a:ext cx="10572750" cy="819150"/>
          </a:xfrm>
          <a:prstGeom prst="rect">
            <a:avLst/>
          </a:prstGeom>
          <a:noFill/>
          <a:ln w="0">
            <a:noFill/>
          </a:ln>
        </p:spPr>
        <p:txBody>
          <a:bodyPr lIns="0" tIns="0" rIns="0" bIns="0">
            <a:noAutofit/>
          </a:bodyPr>
          <a:lstStyle/>
          <a:p>
            <a:pPr>
              <a:defRPr sz="2250" b="0">
                <a:solidFill>
                  <a:srgbClr val="172A36"/>
                </a:solidFill>
                <a:latin typeface="Arial"/>
                <a:ea typeface="Arial"/>
                <a:cs typeface="Arial"/>
              </a:defRPr>
            </a:pPr>
            <a:r>
              <a:rPr sz="2250" b="0">
                <a:solidFill>
                  <a:srgbClr val="172A36"/>
                </a:solidFill>
                <a:latin typeface="Arial"/>
                <a:ea typeface="Arial"/>
                <a:cs typeface="Arial"/>
              </a:rPr>
              <a:t>Controlling: production measures and the boundaries of oversight</a:t>
            </a:r>
          </a:p>
        </p:txBody>
      </p:sp>
      <p:sp>
        <p:nvSpPr>
          <p:cNvPr id="6" name="Rectangle 5">
            <a:extLst>
              <a:ext uri="{FF2B5EF4-FFF2-40B4-BE49-F238E27FC236}">
                <a16:creationId xmlns:a16="http://schemas.microsoft.com/office/drawing/2014/main" id="{3CAF89C8-7084-4E9A-9D30-A567D467C5BF}"/>
              </a:ext>
            </a:extLst>
          </p:cNvPr>
          <p:cNvSpPr>
            <a:spLocks noGrp="1"/>
          </p:cNvSpPr>
          <p:nvPr/>
        </p:nvSpPr>
        <p:spPr>
          <a:xfrm>
            <a:off x="666750" y="6096000"/>
            <a:ext cx="10715625" cy="238125"/>
          </a:xfrm>
          <a:prstGeom prst="rect">
            <a:avLst/>
          </a:prstGeom>
          <a:noFill/>
          <a:ln w="0">
            <a:noFill/>
          </a:ln>
        </p:spPr>
        <p:txBody>
          <a:bodyPr lIns="0" tIns="0" rIns="0" bIns="0">
            <a:noAutofit/>
          </a:bodyPr>
          <a:lstStyle/>
          <a:p>
            <a:pPr>
              <a:defRPr sz="1350" b="0">
                <a:solidFill>
                  <a:srgbClr val="A95D35"/>
                </a:solidFill>
                <a:latin typeface="Arial"/>
                <a:ea typeface="Arial"/>
                <a:cs typeface="Arial"/>
              </a:defRPr>
            </a:pPr>
            <a:r>
              <a:rPr sz="1350" b="0">
                <a:solidFill>
                  <a:srgbClr val="A95D35"/>
                </a:solidFill>
                <a:latin typeface="Arial"/>
                <a:ea typeface="Arial"/>
                <a:cs typeface="Arial"/>
              </a:rPr>
              <a:t>Management connection: planning, organizing, leading, and controlling</a:t>
            </a:r>
          </a:p>
        </p:txBody>
      </p:sp>
      <p:sp>
        <p:nvSpPr>
          <p:cNvPr id="7" name="Rectangle 6">
            <a:extLst>
              <a:ext uri="{FF2B5EF4-FFF2-40B4-BE49-F238E27FC236}">
                <a16:creationId xmlns:a16="http://schemas.microsoft.com/office/drawing/2014/main" id="{A7F73F54-7F24-4AA2-89A2-F28C0C3BBD12}"/>
              </a:ext>
            </a:extLst>
          </p:cNvPr>
          <p:cNvSpPr>
            <a:spLocks noGrp="1"/>
          </p:cNvSpPr>
          <p:nvPr/>
        </p:nvSpPr>
        <p:spPr>
          <a:xfrm>
            <a:off x="11430000" y="6429375"/>
            <a:ext cx="428625" cy="209550"/>
          </a:xfrm>
          <a:prstGeom prst="rect">
            <a:avLst/>
          </a:prstGeom>
          <a:noFill/>
          <a:ln w="0">
            <a:noFill/>
          </a:ln>
        </p:spPr>
        <p:txBody>
          <a:bodyPr lIns="0" tIns="0" rIns="0" bIns="0">
            <a:noAutofit/>
          </a:bodyPr>
          <a:lstStyle/>
          <a:p>
            <a:pPr>
              <a:defRPr sz="1125" b="0">
                <a:solidFill>
                  <a:srgbClr val="55636A"/>
                </a:solidFill>
                <a:latin typeface="Arial"/>
                <a:ea typeface="Arial"/>
                <a:cs typeface="Arial"/>
              </a:defRPr>
            </a:pPr>
            <a:r>
              <a:rPr sz="1125" b="0">
                <a:solidFill>
                  <a:srgbClr val="55636A"/>
                </a:solidFill>
                <a:latin typeface="Arial"/>
                <a:ea typeface="Arial"/>
                <a:cs typeface="Arial"/>
              </a:rPr>
              <a:t>19</a:t>
            </a:r>
          </a:p>
        </p:txBody>
      </p:sp>
    </p:spTree>
    <p:extLst>
      <p:ext uri="{BB962C8B-B14F-4D97-AF65-F5344CB8AC3E}">
        <p14:creationId xmlns:p14="http://schemas.microsoft.com/office/powerpoint/2010/main" val="16970424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72A36"/>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3A50884-DAE8-4879-8437-D0DE052CD378}"/>
              </a:ext>
            </a:extLst>
          </p:cNvPr>
          <p:cNvSpPr>
            <a:spLocks noGrp="1"/>
          </p:cNvSpPr>
          <p:nvPr/>
        </p:nvSpPr>
        <p:spPr>
          <a:xfrm>
            <a:off x="609600" y="457200"/>
            <a:ext cx="10858500" cy="1066800"/>
          </a:xfrm>
          <a:prstGeom prst="rect">
            <a:avLst/>
          </a:prstGeom>
          <a:noFill/>
          <a:ln w="0">
            <a:noFill/>
          </a:ln>
        </p:spPr>
        <p:txBody>
          <a:bodyPr lIns="0" tIns="0" rIns="0" bIns="0">
            <a:noAutofit/>
          </a:bodyPr>
          <a:lstStyle/>
          <a:p>
            <a:pPr>
              <a:defRPr sz="3225" b="1">
                <a:solidFill>
                  <a:srgbClr val="F4F1EA"/>
                </a:solidFill>
                <a:latin typeface="Arial"/>
                <a:ea typeface="Arial"/>
                <a:cs typeface="Arial"/>
              </a:defRPr>
            </a:pPr>
            <a:r>
              <a:rPr sz="3225" b="1">
                <a:solidFill>
                  <a:srgbClr val="F4F1EA"/>
                </a:solidFill>
                <a:latin typeface="Arial"/>
                <a:ea typeface="Arial"/>
                <a:cs typeface="Arial"/>
              </a:rPr>
              <a:t>What Ford changed about management</a:t>
            </a:r>
          </a:p>
        </p:txBody>
      </p:sp>
      <p:sp>
        <p:nvSpPr>
          <p:cNvPr id="2" name="Rectangle 1">
            <a:extLst>
              <a:ext uri="{FF2B5EF4-FFF2-40B4-BE49-F238E27FC236}">
                <a16:creationId xmlns:a16="http://schemas.microsoft.com/office/drawing/2014/main" id="{67597374-9ABF-4956-843E-F66ECEE8EAE0}"/>
              </a:ext>
            </a:extLst>
          </p:cNvPr>
          <p:cNvSpPr>
            <a:spLocks noGrp="1"/>
          </p:cNvSpPr>
          <p:nvPr/>
        </p:nvSpPr>
        <p:spPr>
          <a:xfrm>
            <a:off x="666750" y="1762125"/>
            <a:ext cx="10572750" cy="952500"/>
          </a:xfrm>
          <a:prstGeom prst="rect">
            <a:avLst/>
          </a:prstGeom>
          <a:noFill/>
          <a:ln w="0">
            <a:noFill/>
          </a:ln>
        </p:spPr>
        <p:txBody>
          <a:bodyPr lIns="0" tIns="0" rIns="0" bIns="0">
            <a:noAutofit/>
          </a:bodyPr>
          <a:lstStyle/>
          <a:p>
            <a:pPr>
              <a:defRPr sz="2400" b="0">
                <a:solidFill>
                  <a:srgbClr val="F4F1EA"/>
                </a:solidFill>
                <a:latin typeface="Arial"/>
                <a:ea typeface="Arial"/>
                <a:cs typeface="Arial"/>
              </a:defRPr>
            </a:pPr>
            <a:r>
              <a:rPr sz="2400" b="0">
                <a:solidFill>
                  <a:srgbClr val="F4F1EA"/>
                </a:solidFill>
                <a:latin typeface="Arial"/>
                <a:ea typeface="Arial"/>
                <a:cs typeface="Arial"/>
              </a:rPr>
              <a:t>Production became a coordinated system designed for scale.</a:t>
            </a:r>
          </a:p>
        </p:txBody>
      </p:sp>
      <p:sp>
        <p:nvSpPr>
          <p:cNvPr id="3" name="Rectangle 2">
            <a:extLst>
              <a:ext uri="{FF2B5EF4-FFF2-40B4-BE49-F238E27FC236}">
                <a16:creationId xmlns:a16="http://schemas.microsoft.com/office/drawing/2014/main" id="{61673A68-2DE4-416D-AB86-CAC70A2CEA3D}"/>
              </a:ext>
            </a:extLst>
          </p:cNvPr>
          <p:cNvSpPr>
            <a:spLocks noGrp="1"/>
          </p:cNvSpPr>
          <p:nvPr/>
        </p:nvSpPr>
        <p:spPr>
          <a:xfrm>
            <a:off x="666750" y="2809875"/>
            <a:ext cx="10572750" cy="952500"/>
          </a:xfrm>
          <a:prstGeom prst="rect">
            <a:avLst/>
          </a:prstGeom>
          <a:noFill/>
          <a:ln w="0">
            <a:noFill/>
          </a:ln>
        </p:spPr>
        <p:txBody>
          <a:bodyPr lIns="0" tIns="0" rIns="0" bIns="0">
            <a:noAutofit/>
          </a:bodyPr>
          <a:lstStyle/>
          <a:p>
            <a:pPr>
              <a:defRPr sz="2400" b="0">
                <a:solidFill>
                  <a:srgbClr val="F4F1EA"/>
                </a:solidFill>
                <a:latin typeface="Arial"/>
                <a:ea typeface="Arial"/>
                <a:cs typeface="Arial"/>
              </a:defRPr>
            </a:pPr>
            <a:r>
              <a:rPr sz="2400" b="0">
                <a:solidFill>
                  <a:srgbClr val="F4F1EA"/>
                </a:solidFill>
                <a:latin typeface="Arial"/>
                <a:ea typeface="Arial"/>
                <a:cs typeface="Arial"/>
              </a:rPr>
              <a:t>Pay and job design affected whether that system could work.</a:t>
            </a:r>
          </a:p>
        </p:txBody>
      </p:sp>
      <p:sp>
        <p:nvSpPr>
          <p:cNvPr id="4" name="Rectangle 3">
            <a:extLst>
              <a:ext uri="{FF2B5EF4-FFF2-40B4-BE49-F238E27FC236}">
                <a16:creationId xmlns:a16="http://schemas.microsoft.com/office/drawing/2014/main" id="{C475EE1B-3FD4-4EC2-A24A-91657EB60E93}"/>
              </a:ext>
            </a:extLst>
          </p:cNvPr>
          <p:cNvSpPr>
            <a:spLocks noGrp="1"/>
          </p:cNvSpPr>
          <p:nvPr/>
        </p:nvSpPr>
        <p:spPr>
          <a:xfrm>
            <a:off x="666750" y="3857625"/>
            <a:ext cx="10572750" cy="952500"/>
          </a:xfrm>
          <a:prstGeom prst="rect">
            <a:avLst/>
          </a:prstGeom>
          <a:noFill/>
          <a:ln w="0">
            <a:noFill/>
          </a:ln>
        </p:spPr>
        <p:txBody>
          <a:bodyPr lIns="0" tIns="0" rIns="0" bIns="0">
            <a:noAutofit/>
          </a:bodyPr>
          <a:lstStyle/>
          <a:p>
            <a:pPr>
              <a:defRPr sz="2400" b="0">
                <a:solidFill>
                  <a:srgbClr val="F4F1EA"/>
                </a:solidFill>
                <a:latin typeface="Arial"/>
                <a:ea typeface="Arial"/>
                <a:cs typeface="Arial"/>
              </a:defRPr>
            </a:pPr>
            <a:r>
              <a:rPr sz="2400" b="0">
                <a:solidFill>
                  <a:srgbClr val="F4F1EA"/>
                </a:solidFill>
                <a:latin typeface="Arial"/>
                <a:ea typeface="Arial"/>
                <a:cs typeface="Arial"/>
              </a:rPr>
              <a:t>Effective management also requires adaptation and ethical limits.</a:t>
            </a:r>
          </a:p>
        </p:txBody>
      </p:sp>
      <p:sp>
        <p:nvSpPr>
          <p:cNvPr id="5" name="Rectangle 4">
            <a:extLst>
              <a:ext uri="{FF2B5EF4-FFF2-40B4-BE49-F238E27FC236}">
                <a16:creationId xmlns:a16="http://schemas.microsoft.com/office/drawing/2014/main" id="{53BCDF8F-A799-455A-87EE-57B2349F2C8B}"/>
              </a:ext>
            </a:extLst>
          </p:cNvPr>
          <p:cNvSpPr>
            <a:spLocks noGrp="1"/>
          </p:cNvSpPr>
          <p:nvPr/>
        </p:nvSpPr>
        <p:spPr>
          <a:xfrm>
            <a:off x="11430000" y="6429375"/>
            <a:ext cx="428625" cy="209550"/>
          </a:xfrm>
          <a:prstGeom prst="rect">
            <a:avLst/>
          </a:prstGeom>
          <a:noFill/>
          <a:ln w="0">
            <a:noFill/>
          </a:ln>
        </p:spPr>
        <p:txBody>
          <a:bodyPr lIns="0" tIns="0" rIns="0" bIns="0">
            <a:noAutofit/>
          </a:bodyPr>
          <a:lstStyle/>
          <a:p>
            <a:pPr>
              <a:defRPr sz="1125" b="0">
                <a:solidFill>
                  <a:srgbClr val="C2C9CB"/>
                </a:solidFill>
                <a:latin typeface="Arial"/>
                <a:ea typeface="Arial"/>
                <a:cs typeface="Arial"/>
              </a:defRPr>
            </a:pPr>
            <a:r>
              <a:rPr sz="1125" b="0">
                <a:solidFill>
                  <a:srgbClr val="C2C9CB"/>
                </a:solidFill>
                <a:latin typeface="Arial"/>
                <a:ea typeface="Arial"/>
                <a:cs typeface="Arial"/>
              </a:rPr>
              <a:t>20</a:t>
            </a:r>
          </a:p>
        </p:txBody>
      </p:sp>
      <p:sp>
        <p:nvSpPr>
          <p:cNvPr id="6" name="Rectangle 5">
            <a:extLst>
              <a:ext uri="{FF2B5EF4-FFF2-40B4-BE49-F238E27FC236}">
                <a16:creationId xmlns:a16="http://schemas.microsoft.com/office/drawing/2014/main" id="{9BF32EA4-0199-4082-9B56-EDCCBB276DB6}"/>
              </a:ext>
            </a:extLst>
          </p:cNvPr>
          <p:cNvSpPr>
            <a:spLocks noGrp="1"/>
          </p:cNvSpPr>
          <p:nvPr/>
        </p:nvSpPr>
        <p:spPr>
          <a:xfrm>
            <a:off x="666750" y="6429375"/>
            <a:ext cx="9525000" cy="209550"/>
          </a:xfrm>
          <a:prstGeom prst="rect">
            <a:avLst/>
          </a:prstGeom>
          <a:noFill/>
          <a:ln w="0">
            <a:noFill/>
          </a:ln>
        </p:spPr>
        <p:txBody>
          <a:bodyPr lIns="0" tIns="0" rIns="0" bIns="0">
            <a:noAutofit/>
          </a:bodyPr>
          <a:lstStyle/>
          <a:p>
            <a:pPr>
              <a:defRPr sz="1125" b="0">
                <a:solidFill>
                  <a:srgbClr val="C2C9CB"/>
                </a:solidFill>
                <a:latin typeface="Arial"/>
                <a:ea typeface="Arial"/>
                <a:cs typeface="Arial"/>
              </a:defRPr>
            </a:pPr>
            <a:r>
              <a:rPr sz="1125" b="0">
                <a:solidFill>
                  <a:srgbClr val="C2C9CB"/>
                </a:solidFill>
                <a:latin typeface="Arial"/>
                <a:ea typeface="Arial"/>
                <a:cs typeface="Arial"/>
              </a:rPr>
              <a:t>[B] [D] [G] [H]</a:t>
            </a:r>
          </a:p>
        </p:txBody>
      </p:sp>
    </p:spTree>
    <p:extLst>
      <p:ext uri="{BB962C8B-B14F-4D97-AF65-F5344CB8AC3E}">
        <p14:creationId xmlns:p14="http://schemas.microsoft.com/office/powerpoint/2010/main" val="8298987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4F1EA"/>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DFCCB62-5A11-496C-84E2-C16430C1FB91}"/>
              </a:ext>
            </a:extLst>
          </p:cNvPr>
          <p:cNvSpPr>
            <a:spLocks noGrp="1"/>
          </p:cNvSpPr>
          <p:nvPr/>
        </p:nvSpPr>
        <p:spPr>
          <a:xfrm>
            <a:off x="609600" y="457200"/>
            <a:ext cx="10858500" cy="1066800"/>
          </a:xfrm>
          <a:prstGeom prst="rect">
            <a:avLst/>
          </a:prstGeom>
          <a:noFill/>
          <a:ln w="0">
            <a:noFill/>
          </a:ln>
        </p:spPr>
        <p:txBody>
          <a:bodyPr lIns="0" tIns="0" rIns="0" bIns="0">
            <a:noAutofit/>
          </a:bodyPr>
          <a:lstStyle/>
          <a:p>
            <a:pPr>
              <a:defRPr sz="3225" b="1">
                <a:solidFill>
                  <a:srgbClr val="172A36"/>
                </a:solidFill>
                <a:latin typeface="Arial"/>
                <a:ea typeface="Arial"/>
                <a:cs typeface="Arial"/>
              </a:defRPr>
            </a:pPr>
            <a:r>
              <a:rPr sz="3225" b="1">
                <a:solidFill>
                  <a:srgbClr val="172A36"/>
                </a:solidFill>
                <a:latin typeface="Arial"/>
                <a:ea typeface="Arial"/>
                <a:cs typeface="Arial"/>
              </a:rPr>
              <a:t>Questions and discussion</a:t>
            </a:r>
          </a:p>
        </p:txBody>
      </p:sp>
      <p:sp>
        <p:nvSpPr>
          <p:cNvPr id="2" name="Rectangle 1">
            <a:extLst>
              <a:ext uri="{FF2B5EF4-FFF2-40B4-BE49-F238E27FC236}">
                <a16:creationId xmlns:a16="http://schemas.microsoft.com/office/drawing/2014/main" id="{47BD5238-22A2-4C65-9234-3B16B1FCC7AB}"/>
              </a:ext>
            </a:extLst>
          </p:cNvPr>
          <p:cNvSpPr>
            <a:spLocks noGrp="1"/>
          </p:cNvSpPr>
          <p:nvPr/>
        </p:nvSpPr>
        <p:spPr>
          <a:xfrm>
            <a:off x="609600" y="1857375"/>
            <a:ext cx="10287000" cy="1428750"/>
          </a:xfrm>
          <a:prstGeom prst="rect">
            <a:avLst/>
          </a:prstGeom>
          <a:noFill/>
          <a:ln w="0">
            <a:noFill/>
          </a:ln>
        </p:spPr>
        <p:txBody>
          <a:bodyPr lIns="0" tIns="0" rIns="0" bIns="0">
            <a:noAutofit/>
          </a:bodyPr>
          <a:lstStyle/>
          <a:p>
            <a:pPr>
              <a:defRPr sz="4875" b="1">
                <a:solidFill>
                  <a:srgbClr val="A95D35"/>
                </a:solidFill>
                <a:latin typeface="Arial"/>
                <a:ea typeface="Arial"/>
                <a:cs typeface="Arial"/>
              </a:defRPr>
            </a:pPr>
            <a:r>
              <a:rPr sz="4875" b="1">
                <a:solidFill>
                  <a:srgbClr val="A95D35"/>
                </a:solidFill>
                <a:latin typeface="Arial"/>
                <a:ea typeface="Arial"/>
                <a:cs typeface="Arial"/>
              </a:rPr>
              <a:t>Where should control end?</a:t>
            </a:r>
          </a:p>
        </p:txBody>
      </p:sp>
      <p:sp>
        <p:nvSpPr>
          <p:cNvPr id="3" name="Rectangle 2">
            <a:extLst>
              <a:ext uri="{FF2B5EF4-FFF2-40B4-BE49-F238E27FC236}">
                <a16:creationId xmlns:a16="http://schemas.microsoft.com/office/drawing/2014/main" id="{75938FA3-DB04-42A2-B6DB-D860E0D851D4}"/>
              </a:ext>
            </a:extLst>
          </p:cNvPr>
          <p:cNvSpPr>
            <a:spLocks noGrp="1"/>
          </p:cNvSpPr>
          <p:nvPr/>
        </p:nvSpPr>
        <p:spPr>
          <a:xfrm>
            <a:off x="666750" y="3581400"/>
            <a:ext cx="10382250" cy="2095500"/>
          </a:xfrm>
          <a:prstGeom prst="rect">
            <a:avLst/>
          </a:prstGeom>
          <a:noFill/>
          <a:ln w="0">
            <a:noFill/>
          </a:ln>
        </p:spPr>
        <p:txBody>
          <a:bodyPr lIns="0" tIns="0" rIns="0" bIns="0">
            <a:noAutofit/>
          </a:bodyPr>
          <a:lstStyle/>
          <a:p>
            <a:pPr>
              <a:defRPr sz="2175" b="0">
                <a:solidFill>
                  <a:srgbClr val="172A36"/>
                </a:solidFill>
                <a:latin typeface="Arial"/>
                <a:ea typeface="Arial"/>
                <a:cs typeface="Arial"/>
              </a:defRPr>
            </a:pPr>
            <a:r>
              <a:rPr sz="2175" b="0">
                <a:solidFill>
                  <a:srgbClr val="172A36"/>
                </a:solidFill>
                <a:latin typeface="Arial"/>
                <a:ea typeface="Arial"/>
                <a:cs typeface="Arial"/>
              </a:rPr>
              <a:t>Which Ford practice would you keep?</a:t>
            </a:r>
          </a:p>
          <a:p>
            <a:endParaRPr sz="2175" b="0">
              <a:solidFill>
                <a:srgbClr val="172A36"/>
              </a:solidFill>
              <a:latin typeface="Arial"/>
              <a:ea typeface="Arial"/>
              <a:cs typeface="Arial"/>
            </a:endParaRPr>
          </a:p>
          <a:p>
            <a:pPr>
              <a:defRPr sz="2175" b="0">
                <a:solidFill>
                  <a:srgbClr val="172A36"/>
                </a:solidFill>
                <a:latin typeface="Arial"/>
                <a:ea typeface="Arial"/>
                <a:cs typeface="Arial"/>
              </a:defRPr>
            </a:pPr>
            <a:r>
              <a:rPr sz="2175" b="0">
                <a:solidFill>
                  <a:srgbClr val="172A36"/>
                </a:solidFill>
                <a:latin typeface="Arial"/>
                <a:ea typeface="Arial"/>
                <a:cs typeface="Arial"/>
              </a:rPr>
              <a:t>Which would you change first, and why?</a:t>
            </a:r>
          </a:p>
        </p:txBody>
      </p:sp>
      <p:sp>
        <p:nvSpPr>
          <p:cNvPr id="4" name="Rectangle 3">
            <a:extLst>
              <a:ext uri="{FF2B5EF4-FFF2-40B4-BE49-F238E27FC236}">
                <a16:creationId xmlns:a16="http://schemas.microsoft.com/office/drawing/2014/main" id="{51B180E9-6066-496C-8B8F-62EDE033C601}"/>
              </a:ext>
            </a:extLst>
          </p:cNvPr>
          <p:cNvSpPr>
            <a:spLocks noGrp="1"/>
          </p:cNvSpPr>
          <p:nvPr/>
        </p:nvSpPr>
        <p:spPr>
          <a:xfrm>
            <a:off x="11430000" y="6429375"/>
            <a:ext cx="428625" cy="209550"/>
          </a:xfrm>
          <a:prstGeom prst="rect">
            <a:avLst/>
          </a:prstGeom>
          <a:noFill/>
          <a:ln w="0">
            <a:noFill/>
          </a:ln>
        </p:spPr>
        <p:txBody>
          <a:bodyPr lIns="0" tIns="0" rIns="0" bIns="0">
            <a:noAutofit/>
          </a:bodyPr>
          <a:lstStyle/>
          <a:p>
            <a:pPr>
              <a:defRPr sz="1125" b="0">
                <a:solidFill>
                  <a:srgbClr val="55636A"/>
                </a:solidFill>
                <a:latin typeface="Arial"/>
                <a:ea typeface="Arial"/>
                <a:cs typeface="Arial"/>
              </a:defRPr>
            </a:pPr>
            <a:r>
              <a:rPr sz="1125" b="0">
                <a:solidFill>
                  <a:srgbClr val="55636A"/>
                </a:solidFill>
                <a:latin typeface="Arial"/>
                <a:ea typeface="Arial"/>
                <a:cs typeface="Arial"/>
              </a:rPr>
              <a:t>21</a:t>
            </a:r>
          </a:p>
        </p:txBody>
      </p:sp>
      <p:sp>
        <p:nvSpPr>
          <p:cNvPr id="5" name="Rectangle 4">
            <a:extLst>
              <a:ext uri="{FF2B5EF4-FFF2-40B4-BE49-F238E27FC236}">
                <a16:creationId xmlns:a16="http://schemas.microsoft.com/office/drawing/2014/main" id="{B445B7F3-850A-4DEA-8C88-82C66E5DA3EA}"/>
              </a:ext>
            </a:extLst>
          </p:cNvPr>
          <p:cNvSpPr>
            <a:spLocks noGrp="1"/>
          </p:cNvSpPr>
          <p:nvPr/>
        </p:nvSpPr>
        <p:spPr>
          <a:xfrm>
            <a:off x="666750" y="6429375"/>
            <a:ext cx="9525000" cy="209550"/>
          </a:xfrm>
          <a:prstGeom prst="rect">
            <a:avLst/>
          </a:prstGeom>
          <a:noFill/>
          <a:ln w="0">
            <a:noFill/>
          </a:ln>
        </p:spPr>
        <p:txBody>
          <a:bodyPr lIns="0" tIns="0" rIns="0" bIns="0">
            <a:noAutofit/>
          </a:bodyPr>
          <a:lstStyle/>
          <a:p>
            <a:pPr>
              <a:defRPr sz="1125" b="0">
                <a:solidFill>
                  <a:srgbClr val="55636A"/>
                </a:solidFill>
                <a:latin typeface="Arial"/>
                <a:ea typeface="Arial"/>
                <a:cs typeface="Arial"/>
              </a:defRPr>
            </a:pPr>
            <a:r>
              <a:rPr sz="1125" b="0">
                <a:solidFill>
                  <a:srgbClr val="55636A"/>
                </a:solidFill>
                <a:latin typeface="Arial"/>
                <a:ea typeface="Arial"/>
                <a:cs typeface="Arial"/>
              </a:rPr>
              <a:t>[B] [D] [H]</a:t>
            </a:r>
          </a:p>
        </p:txBody>
      </p:sp>
    </p:spTree>
    <p:extLst>
      <p:ext uri="{BB962C8B-B14F-4D97-AF65-F5344CB8AC3E}">
        <p14:creationId xmlns:p14="http://schemas.microsoft.com/office/powerpoint/2010/main" val="3996919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4F1EA"/>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A8FA70DE-2997-4939-BF44-0774B9853717}"/>
              </a:ext>
            </a:extLst>
          </p:cNvPr>
          <p:cNvSpPr>
            <a:spLocks noGrp="1"/>
          </p:cNvSpPr>
          <p:nvPr/>
        </p:nvSpPr>
        <p:spPr>
          <a:xfrm>
            <a:off x="609600" y="457200"/>
            <a:ext cx="10953750" cy="666750"/>
          </a:xfrm>
          <a:prstGeom prst="rect">
            <a:avLst/>
          </a:prstGeom>
          <a:noFill/>
          <a:ln w="0">
            <a:noFill/>
          </a:ln>
        </p:spPr>
        <p:txBody>
          <a:bodyPr lIns="0" tIns="0" rIns="0" bIns="0">
            <a:noAutofit/>
          </a:bodyPr>
          <a:lstStyle/>
          <a:p>
            <a:pPr>
              <a:defRPr sz="3000" b="1">
                <a:solidFill>
                  <a:srgbClr val="172A36"/>
                </a:solidFill>
                <a:latin typeface="Arial"/>
                <a:ea typeface="Arial"/>
                <a:cs typeface="Arial"/>
              </a:defRPr>
            </a:pPr>
            <a:r>
              <a:rPr sz="3000" b="1">
                <a:solidFill>
                  <a:srgbClr val="172A36"/>
                </a:solidFill>
                <a:latin typeface="Arial"/>
                <a:ea typeface="Arial"/>
                <a:cs typeface="Arial"/>
              </a:rPr>
              <a:t>References: production and strategy</a:t>
            </a:r>
          </a:p>
        </p:txBody>
      </p:sp>
      <p:sp>
        <p:nvSpPr>
          <p:cNvPr id="2" name="Rectangle 1">
            <a:extLst>
              <a:ext uri="{FF2B5EF4-FFF2-40B4-BE49-F238E27FC236}">
                <a16:creationId xmlns:a16="http://schemas.microsoft.com/office/drawing/2014/main" id="{8C8B6524-D7EC-40E1-BF43-83C08465AEFD}"/>
              </a:ext>
            </a:extLst>
          </p:cNvPr>
          <p:cNvSpPr>
            <a:spLocks noGrp="1"/>
          </p:cNvSpPr>
          <p:nvPr/>
        </p:nvSpPr>
        <p:spPr>
          <a:xfrm>
            <a:off x="666750" y="1419225"/>
            <a:ext cx="10572750" cy="333375"/>
          </a:xfrm>
          <a:prstGeom prst="rect">
            <a:avLst/>
          </a:prstGeom>
          <a:noFill/>
          <a:ln w="0">
            <a:noFill/>
          </a:ln>
        </p:spPr>
        <p:txBody>
          <a:bodyPr lIns="0" tIns="0" rIns="0" bIns="0">
            <a:noAutofit/>
          </a:bodyPr>
          <a:lstStyle/>
          <a:p>
            <a:pPr>
              <a:defRPr sz="1575" b="1">
                <a:solidFill>
                  <a:srgbClr val="172A36"/>
                </a:solidFill>
                <a:latin typeface="Arial"/>
                <a:ea typeface="Arial"/>
                <a:cs typeface="Arial"/>
              </a:defRPr>
            </a:pPr>
            <a:r>
              <a:rPr sz="1575" b="1">
                <a:solidFill>
                  <a:srgbClr val="172A36"/>
                </a:solidFill>
                <a:latin typeface="Arial"/>
                <a:ea typeface="Arial"/>
                <a:cs typeface="Arial"/>
              </a:rPr>
              <a:t>[A] The Henry Ford, “Henry Ford” biography and interview transcript</a:t>
            </a:r>
          </a:p>
        </p:txBody>
      </p:sp>
      <p:sp>
        <p:nvSpPr>
          <p:cNvPr id="3" name="Rectangle 2">
            <a:extLst>
              <a:ext uri="{FF2B5EF4-FFF2-40B4-BE49-F238E27FC236}">
                <a16:creationId xmlns:a16="http://schemas.microsoft.com/office/drawing/2014/main" id="{147B227D-9150-49DC-922F-FAD7CE4E88F5}"/>
              </a:ext>
            </a:extLst>
          </p:cNvPr>
          <p:cNvSpPr>
            <a:spLocks noGrp="1"/>
          </p:cNvSpPr>
          <p:nvPr/>
        </p:nvSpPr>
        <p:spPr>
          <a:xfrm>
            <a:off x="666750" y="1752600"/>
            <a:ext cx="10572750" cy="304800"/>
          </a:xfrm>
          <a:prstGeom prst="rect">
            <a:avLst/>
          </a:prstGeom>
          <a:noFill/>
          <a:ln w="0">
            <a:noFill/>
          </a:ln>
        </p:spPr>
        <p:txBody>
          <a:bodyPr lIns="0" tIns="0" rIns="0" bIns="0">
            <a:noAutofit/>
          </a:bodyPr>
          <a:lstStyle/>
          <a:p>
            <a:pPr>
              <a:defRPr sz="1125" b="0">
                <a:solidFill>
                  <a:srgbClr val="55636A"/>
                </a:solidFill>
                <a:latin typeface="Arial"/>
                <a:ea typeface="Arial"/>
                <a:cs typeface="Arial"/>
              </a:defRPr>
            </a:pPr>
            <a:r>
              <a:rPr>
                <a:hlinkClick r:id="rId3"/>
              </a:rPr>
              <a:t>https://www.thehenryford.org/collections/explore/videos/henry-ford</a:t>
            </a:r>
          </a:p>
        </p:txBody>
      </p:sp>
      <p:sp>
        <p:nvSpPr>
          <p:cNvPr id="4" name="Rectangle 3">
            <a:extLst>
              <a:ext uri="{FF2B5EF4-FFF2-40B4-BE49-F238E27FC236}">
                <a16:creationId xmlns:a16="http://schemas.microsoft.com/office/drawing/2014/main" id="{77E7EB32-C53F-4E00-9A2A-A0F53E7BA496}"/>
              </a:ext>
            </a:extLst>
          </p:cNvPr>
          <p:cNvSpPr>
            <a:spLocks noGrp="1"/>
          </p:cNvSpPr>
          <p:nvPr/>
        </p:nvSpPr>
        <p:spPr>
          <a:xfrm>
            <a:off x="666750" y="2162175"/>
            <a:ext cx="10572750" cy="333375"/>
          </a:xfrm>
          <a:prstGeom prst="rect">
            <a:avLst/>
          </a:prstGeom>
          <a:noFill/>
          <a:ln w="0">
            <a:noFill/>
          </a:ln>
        </p:spPr>
        <p:txBody>
          <a:bodyPr lIns="0" tIns="0" rIns="0" bIns="0">
            <a:noAutofit/>
          </a:bodyPr>
          <a:lstStyle/>
          <a:p>
            <a:pPr>
              <a:defRPr sz="1575" b="1">
                <a:solidFill>
                  <a:srgbClr val="172A36"/>
                </a:solidFill>
                <a:latin typeface="Arial"/>
                <a:ea typeface="Arial"/>
                <a:cs typeface="Arial"/>
              </a:defRPr>
            </a:pPr>
            <a:r>
              <a:rPr sz="1575" b="1">
                <a:solidFill>
                  <a:srgbClr val="172A36"/>
                </a:solidFill>
                <a:latin typeface="Arial"/>
                <a:ea typeface="Arial"/>
                <a:cs typeface="Arial"/>
              </a:rPr>
              <a:t>[B] Library of Congress, “Ford Implements the Moving Assembly Line”</a:t>
            </a:r>
          </a:p>
        </p:txBody>
      </p:sp>
      <p:sp>
        <p:nvSpPr>
          <p:cNvPr id="5" name="Rectangle 4">
            <a:extLst>
              <a:ext uri="{FF2B5EF4-FFF2-40B4-BE49-F238E27FC236}">
                <a16:creationId xmlns:a16="http://schemas.microsoft.com/office/drawing/2014/main" id="{9ADC7496-F931-4B34-84AB-CBD5B7ECF747}"/>
              </a:ext>
            </a:extLst>
          </p:cNvPr>
          <p:cNvSpPr>
            <a:spLocks noGrp="1"/>
          </p:cNvSpPr>
          <p:nvPr/>
        </p:nvSpPr>
        <p:spPr>
          <a:xfrm>
            <a:off x="666750" y="2495550"/>
            <a:ext cx="10572750" cy="304800"/>
          </a:xfrm>
          <a:prstGeom prst="rect">
            <a:avLst/>
          </a:prstGeom>
          <a:noFill/>
          <a:ln w="0">
            <a:noFill/>
          </a:ln>
        </p:spPr>
        <p:txBody>
          <a:bodyPr lIns="0" tIns="0" rIns="0" bIns="0">
            <a:noAutofit/>
          </a:bodyPr>
          <a:lstStyle/>
          <a:p>
            <a:pPr>
              <a:defRPr sz="1125" b="0">
                <a:solidFill>
                  <a:srgbClr val="55636A"/>
                </a:solidFill>
                <a:latin typeface="Arial"/>
                <a:ea typeface="Arial"/>
                <a:cs typeface="Arial"/>
              </a:defRPr>
            </a:pPr>
            <a:r>
              <a:rPr>
                <a:hlinkClick r:id="rId4"/>
              </a:rPr>
              <a:t>https://guides.loc.gov/this-month-in-business-history/october/ford</a:t>
            </a:r>
          </a:p>
        </p:txBody>
      </p:sp>
      <p:sp>
        <p:nvSpPr>
          <p:cNvPr id="6" name="Rectangle 5">
            <a:extLst>
              <a:ext uri="{FF2B5EF4-FFF2-40B4-BE49-F238E27FC236}">
                <a16:creationId xmlns:a16="http://schemas.microsoft.com/office/drawing/2014/main" id="{8CA58206-E27B-4BCC-A430-2055EC968A5D}"/>
              </a:ext>
            </a:extLst>
          </p:cNvPr>
          <p:cNvSpPr>
            <a:spLocks noGrp="1"/>
          </p:cNvSpPr>
          <p:nvPr/>
        </p:nvSpPr>
        <p:spPr>
          <a:xfrm>
            <a:off x="666750" y="2905125"/>
            <a:ext cx="10572750" cy="333375"/>
          </a:xfrm>
          <a:prstGeom prst="rect">
            <a:avLst/>
          </a:prstGeom>
          <a:noFill/>
          <a:ln w="0">
            <a:noFill/>
          </a:ln>
        </p:spPr>
        <p:txBody>
          <a:bodyPr lIns="0" tIns="0" rIns="0" bIns="0">
            <a:noAutofit/>
          </a:bodyPr>
          <a:lstStyle/>
          <a:p>
            <a:pPr>
              <a:defRPr sz="1575" b="1">
                <a:solidFill>
                  <a:srgbClr val="172A36"/>
                </a:solidFill>
                <a:latin typeface="Arial"/>
                <a:ea typeface="Arial"/>
                <a:cs typeface="Arial"/>
              </a:defRPr>
            </a:pPr>
            <a:r>
              <a:rPr sz="1575" b="1">
                <a:solidFill>
                  <a:srgbClr val="172A36"/>
                </a:solidFill>
                <a:latin typeface="Arial"/>
                <a:ea typeface="Arial"/>
                <a:cs typeface="Arial"/>
              </a:rPr>
              <a:t>[C] Ford Motor Company, “The Model T” (2020)</a:t>
            </a:r>
          </a:p>
        </p:txBody>
      </p:sp>
      <p:sp>
        <p:nvSpPr>
          <p:cNvPr id="7" name="Rectangle 6">
            <a:extLst>
              <a:ext uri="{FF2B5EF4-FFF2-40B4-BE49-F238E27FC236}">
                <a16:creationId xmlns:a16="http://schemas.microsoft.com/office/drawing/2014/main" id="{59A49D1E-D45D-4143-A039-A9F1706D1117}"/>
              </a:ext>
            </a:extLst>
          </p:cNvPr>
          <p:cNvSpPr>
            <a:spLocks noGrp="1"/>
          </p:cNvSpPr>
          <p:nvPr/>
        </p:nvSpPr>
        <p:spPr>
          <a:xfrm>
            <a:off x="666750" y="3238500"/>
            <a:ext cx="10572750" cy="304800"/>
          </a:xfrm>
          <a:prstGeom prst="rect">
            <a:avLst/>
          </a:prstGeom>
          <a:noFill/>
          <a:ln w="0">
            <a:noFill/>
          </a:ln>
        </p:spPr>
        <p:txBody>
          <a:bodyPr lIns="0" tIns="0" rIns="0" bIns="0">
            <a:noAutofit/>
          </a:bodyPr>
          <a:lstStyle/>
          <a:p>
            <a:pPr>
              <a:defRPr sz="1125" b="0">
                <a:solidFill>
                  <a:srgbClr val="55636A"/>
                </a:solidFill>
                <a:latin typeface="Arial"/>
                <a:ea typeface="Arial"/>
                <a:cs typeface="Arial"/>
              </a:defRPr>
            </a:pPr>
            <a:r>
              <a:rPr>
                <a:hlinkClick r:id="rId5"/>
              </a:rPr>
              <a:t>https://corporate.ford.com/articles/history/the-model-t/</a:t>
            </a:r>
          </a:p>
        </p:txBody>
      </p:sp>
      <p:sp>
        <p:nvSpPr>
          <p:cNvPr id="8" name="Rectangle 7">
            <a:extLst>
              <a:ext uri="{FF2B5EF4-FFF2-40B4-BE49-F238E27FC236}">
                <a16:creationId xmlns:a16="http://schemas.microsoft.com/office/drawing/2014/main" id="{5A4FF3A0-CB38-4312-9B17-47776D90F842}"/>
              </a:ext>
            </a:extLst>
          </p:cNvPr>
          <p:cNvSpPr>
            <a:spLocks noGrp="1"/>
          </p:cNvSpPr>
          <p:nvPr/>
        </p:nvSpPr>
        <p:spPr>
          <a:xfrm>
            <a:off x="666750" y="3648075"/>
            <a:ext cx="10572750" cy="333375"/>
          </a:xfrm>
          <a:prstGeom prst="rect">
            <a:avLst/>
          </a:prstGeom>
          <a:noFill/>
          <a:ln w="0">
            <a:noFill/>
          </a:ln>
        </p:spPr>
        <p:txBody>
          <a:bodyPr lIns="0" tIns="0" rIns="0" bIns="0">
            <a:noAutofit/>
          </a:bodyPr>
          <a:lstStyle/>
          <a:p>
            <a:pPr>
              <a:defRPr sz="1575" b="1">
                <a:solidFill>
                  <a:srgbClr val="172A36"/>
                </a:solidFill>
                <a:latin typeface="Arial"/>
                <a:ea typeface="Arial"/>
                <a:cs typeface="Arial"/>
              </a:defRPr>
            </a:pPr>
            <a:r>
              <a:rPr sz="1575" b="1">
                <a:solidFill>
                  <a:srgbClr val="172A36"/>
                </a:solidFill>
                <a:latin typeface="Arial"/>
                <a:ea typeface="Arial"/>
                <a:cs typeface="Arial"/>
              </a:rPr>
              <a:t>[F] The Henry Ford, “Ford Rouge Factory” research guide</a:t>
            </a:r>
          </a:p>
        </p:txBody>
      </p:sp>
      <p:sp>
        <p:nvSpPr>
          <p:cNvPr id="9" name="Rectangle 8">
            <a:extLst>
              <a:ext uri="{FF2B5EF4-FFF2-40B4-BE49-F238E27FC236}">
                <a16:creationId xmlns:a16="http://schemas.microsoft.com/office/drawing/2014/main" id="{84D8F836-AB1C-4842-8F14-E6AFF8B4394E}"/>
              </a:ext>
            </a:extLst>
          </p:cNvPr>
          <p:cNvSpPr>
            <a:spLocks noGrp="1"/>
          </p:cNvSpPr>
          <p:nvPr/>
        </p:nvSpPr>
        <p:spPr>
          <a:xfrm>
            <a:off x="666750" y="3981450"/>
            <a:ext cx="10572750" cy="304800"/>
          </a:xfrm>
          <a:prstGeom prst="rect">
            <a:avLst/>
          </a:prstGeom>
          <a:noFill/>
          <a:ln w="0">
            <a:noFill/>
          </a:ln>
        </p:spPr>
        <p:txBody>
          <a:bodyPr lIns="0" tIns="0" rIns="0" bIns="0">
            <a:noAutofit/>
          </a:bodyPr>
          <a:lstStyle/>
          <a:p>
            <a:pPr>
              <a:defRPr sz="1125" b="0">
                <a:solidFill>
                  <a:srgbClr val="55636A"/>
                </a:solidFill>
                <a:latin typeface="Arial"/>
                <a:ea typeface="Arial"/>
                <a:cs typeface="Arial"/>
              </a:defRPr>
            </a:pPr>
            <a:r>
              <a:rPr>
                <a:hlinkClick r:id="rId6"/>
              </a:rPr>
              <a:t>https://askus.thehenryford.org/K12/faq/405833</a:t>
            </a:r>
          </a:p>
        </p:txBody>
      </p:sp>
      <p:sp>
        <p:nvSpPr>
          <p:cNvPr id="10" name="Rectangle 9">
            <a:extLst>
              <a:ext uri="{FF2B5EF4-FFF2-40B4-BE49-F238E27FC236}">
                <a16:creationId xmlns:a16="http://schemas.microsoft.com/office/drawing/2014/main" id="{46597C9A-E053-4724-9D25-D0A86C6244A3}"/>
              </a:ext>
            </a:extLst>
          </p:cNvPr>
          <p:cNvSpPr>
            <a:spLocks noGrp="1"/>
          </p:cNvSpPr>
          <p:nvPr/>
        </p:nvSpPr>
        <p:spPr>
          <a:xfrm>
            <a:off x="666750" y="4391025"/>
            <a:ext cx="10572750" cy="333375"/>
          </a:xfrm>
          <a:prstGeom prst="rect">
            <a:avLst/>
          </a:prstGeom>
          <a:noFill/>
          <a:ln w="0">
            <a:noFill/>
          </a:ln>
        </p:spPr>
        <p:txBody>
          <a:bodyPr lIns="0" tIns="0" rIns="0" bIns="0">
            <a:noAutofit/>
          </a:bodyPr>
          <a:lstStyle/>
          <a:p>
            <a:pPr>
              <a:defRPr sz="1575" b="1">
                <a:solidFill>
                  <a:srgbClr val="172A36"/>
                </a:solidFill>
                <a:latin typeface="Arial"/>
                <a:ea typeface="Arial"/>
                <a:cs typeface="Arial"/>
              </a:defRPr>
            </a:pPr>
            <a:r>
              <a:rPr sz="1575" b="1">
                <a:solidFill>
                  <a:srgbClr val="172A36"/>
                </a:solidFill>
                <a:latin typeface="Arial"/>
                <a:ea typeface="Arial"/>
                <a:cs typeface="Arial"/>
              </a:rPr>
              <a:t>[G] Bob Casey, “Henry Ford: Case Study of an Innovator” (2021)</a:t>
            </a:r>
          </a:p>
        </p:txBody>
      </p:sp>
      <p:sp>
        <p:nvSpPr>
          <p:cNvPr id="11" name="Rectangle 10">
            <a:extLst>
              <a:ext uri="{FF2B5EF4-FFF2-40B4-BE49-F238E27FC236}">
                <a16:creationId xmlns:a16="http://schemas.microsoft.com/office/drawing/2014/main" id="{FE0A59F2-419B-4B2D-81CC-66C4320EBA3F}"/>
              </a:ext>
            </a:extLst>
          </p:cNvPr>
          <p:cNvSpPr>
            <a:spLocks noGrp="1"/>
          </p:cNvSpPr>
          <p:nvPr/>
        </p:nvSpPr>
        <p:spPr>
          <a:xfrm>
            <a:off x="666750" y="4724400"/>
            <a:ext cx="10572750" cy="304800"/>
          </a:xfrm>
          <a:prstGeom prst="rect">
            <a:avLst/>
          </a:prstGeom>
          <a:noFill/>
          <a:ln w="0">
            <a:noFill/>
          </a:ln>
        </p:spPr>
        <p:txBody>
          <a:bodyPr lIns="0" tIns="0" rIns="0" bIns="0">
            <a:noAutofit/>
          </a:bodyPr>
          <a:lstStyle/>
          <a:p>
            <a:pPr>
              <a:defRPr sz="1125" b="0">
                <a:solidFill>
                  <a:srgbClr val="55636A"/>
                </a:solidFill>
                <a:latin typeface="Arial"/>
                <a:ea typeface="Arial"/>
                <a:cs typeface="Arial"/>
              </a:defRPr>
            </a:pPr>
            <a:r>
              <a:rPr>
                <a:hlinkClick r:id="rId7"/>
              </a:rPr>
              <a:t>https://www.thehenryford.org/collections/explore/articles/henry-ford-case-study-of-an-innovator</a:t>
            </a:r>
          </a:p>
        </p:txBody>
      </p:sp>
      <p:sp>
        <p:nvSpPr>
          <p:cNvPr id="12" name="Rectangle 11">
            <a:extLst>
              <a:ext uri="{FF2B5EF4-FFF2-40B4-BE49-F238E27FC236}">
                <a16:creationId xmlns:a16="http://schemas.microsoft.com/office/drawing/2014/main" id="{53A1D4D6-02EF-4B70-B35A-0D8FF2D8EFB5}"/>
              </a:ext>
            </a:extLst>
          </p:cNvPr>
          <p:cNvSpPr>
            <a:spLocks noGrp="1"/>
          </p:cNvSpPr>
          <p:nvPr/>
        </p:nvSpPr>
        <p:spPr>
          <a:xfrm>
            <a:off x="666750" y="5133975"/>
            <a:ext cx="10572750" cy="333375"/>
          </a:xfrm>
          <a:prstGeom prst="rect">
            <a:avLst/>
          </a:prstGeom>
          <a:noFill/>
          <a:ln w="0">
            <a:noFill/>
          </a:ln>
        </p:spPr>
        <p:txBody>
          <a:bodyPr lIns="0" tIns="0" rIns="0" bIns="0">
            <a:noAutofit/>
          </a:bodyPr>
          <a:lstStyle/>
          <a:p>
            <a:pPr>
              <a:defRPr sz="1575" b="1">
                <a:solidFill>
                  <a:srgbClr val="172A36"/>
                </a:solidFill>
                <a:latin typeface="Arial"/>
                <a:ea typeface="Arial"/>
                <a:cs typeface="Arial"/>
              </a:defRPr>
            </a:pPr>
            <a:r>
              <a:rPr sz="1575" b="1">
                <a:solidFill>
                  <a:srgbClr val="172A36"/>
                </a:solidFill>
                <a:latin typeface="Arial"/>
                <a:ea typeface="Arial"/>
                <a:cs typeface="Arial"/>
              </a:rPr>
              <a:t>[L] The Henry Ford, authenticated Henry Ford quotations, Edison recollections</a:t>
            </a:r>
          </a:p>
        </p:txBody>
      </p:sp>
      <p:sp>
        <p:nvSpPr>
          <p:cNvPr id="13" name="Rectangle 12">
            <a:extLst>
              <a:ext uri="{FF2B5EF4-FFF2-40B4-BE49-F238E27FC236}">
                <a16:creationId xmlns:a16="http://schemas.microsoft.com/office/drawing/2014/main" id="{86A728B0-83CA-4646-AEC8-C2920442194F}"/>
              </a:ext>
            </a:extLst>
          </p:cNvPr>
          <p:cNvSpPr>
            <a:spLocks noGrp="1"/>
          </p:cNvSpPr>
          <p:nvPr/>
        </p:nvSpPr>
        <p:spPr>
          <a:xfrm>
            <a:off x="666750" y="5467350"/>
            <a:ext cx="10572750" cy="304800"/>
          </a:xfrm>
          <a:prstGeom prst="rect">
            <a:avLst/>
          </a:prstGeom>
          <a:noFill/>
          <a:ln w="0">
            <a:noFill/>
          </a:ln>
        </p:spPr>
        <p:txBody>
          <a:bodyPr lIns="0" tIns="0" rIns="0" bIns="0">
            <a:noAutofit/>
          </a:bodyPr>
          <a:lstStyle/>
          <a:p>
            <a:pPr>
              <a:defRPr sz="1125" b="0">
                <a:solidFill>
                  <a:srgbClr val="55636A"/>
                </a:solidFill>
                <a:latin typeface="Arial"/>
                <a:ea typeface="Arial"/>
                <a:cs typeface="Arial"/>
              </a:defRPr>
            </a:pPr>
            <a:r>
              <a:rPr>
                <a:hlinkClick r:id="rId8"/>
              </a:rPr>
              <a:t>https://www.thehenryford.org/collections/explore/popular-research-topics/henry-ford-quotations</a:t>
            </a:r>
          </a:p>
        </p:txBody>
      </p:sp>
      <p:sp>
        <p:nvSpPr>
          <p:cNvPr id="14" name="Rectangle 13">
            <a:extLst>
              <a:ext uri="{FF2B5EF4-FFF2-40B4-BE49-F238E27FC236}">
                <a16:creationId xmlns:a16="http://schemas.microsoft.com/office/drawing/2014/main" id="{CE994970-1060-4908-879F-23B7C3726D83}"/>
              </a:ext>
            </a:extLst>
          </p:cNvPr>
          <p:cNvSpPr>
            <a:spLocks noGrp="1"/>
          </p:cNvSpPr>
          <p:nvPr/>
        </p:nvSpPr>
        <p:spPr>
          <a:xfrm>
            <a:off x="666750" y="6238875"/>
            <a:ext cx="10668000" cy="333375"/>
          </a:xfrm>
          <a:prstGeom prst="rect">
            <a:avLst/>
          </a:prstGeom>
          <a:noFill/>
          <a:ln w="0">
            <a:noFill/>
          </a:ln>
        </p:spPr>
        <p:txBody>
          <a:bodyPr lIns="0" tIns="0" rIns="0" bIns="0">
            <a:noAutofit/>
          </a:bodyPr>
          <a:lstStyle/>
          <a:p>
            <a:pPr>
              <a:defRPr sz="1275" b="0">
                <a:solidFill>
                  <a:srgbClr val="55636A"/>
                </a:solidFill>
                <a:latin typeface="Arial"/>
                <a:ea typeface="Arial"/>
                <a:cs typeface="Arial"/>
              </a:defRPr>
            </a:pPr>
            <a:r>
              <a:rPr sz="1275" b="0">
                <a:solidFill>
                  <a:srgbClr val="55636A"/>
                </a:solidFill>
                <a:latin typeface="Arial"/>
                <a:ea typeface="Arial"/>
                <a:cs typeface="Arial"/>
              </a:rPr>
              <a:t>All websites accessed October 19, 2026. Full citations also appear in the relevant slide notes.</a:t>
            </a:r>
          </a:p>
        </p:txBody>
      </p:sp>
    </p:spTree>
    <p:extLst>
      <p:ext uri="{BB962C8B-B14F-4D97-AF65-F5344CB8AC3E}">
        <p14:creationId xmlns:p14="http://schemas.microsoft.com/office/powerpoint/2010/main" val="5876710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4F1EA"/>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93CE63B6-E21F-45C6-85F8-4A2504F579AF}"/>
              </a:ext>
            </a:extLst>
          </p:cNvPr>
          <p:cNvSpPr>
            <a:spLocks noGrp="1"/>
          </p:cNvSpPr>
          <p:nvPr/>
        </p:nvSpPr>
        <p:spPr>
          <a:xfrm>
            <a:off x="609600" y="457200"/>
            <a:ext cx="10953750" cy="666750"/>
          </a:xfrm>
          <a:prstGeom prst="rect">
            <a:avLst/>
          </a:prstGeom>
          <a:noFill/>
          <a:ln w="0">
            <a:noFill/>
          </a:ln>
        </p:spPr>
        <p:txBody>
          <a:bodyPr lIns="0" tIns="0" rIns="0" bIns="0">
            <a:noAutofit/>
          </a:bodyPr>
          <a:lstStyle/>
          <a:p>
            <a:pPr>
              <a:defRPr sz="3000" b="1">
                <a:solidFill>
                  <a:srgbClr val="172A36"/>
                </a:solidFill>
                <a:latin typeface="Arial"/>
                <a:ea typeface="Arial"/>
                <a:cs typeface="Arial"/>
              </a:defRPr>
            </a:pPr>
            <a:r>
              <a:rPr sz="3000" b="1">
                <a:solidFill>
                  <a:srgbClr val="172A36"/>
                </a:solidFill>
                <a:latin typeface="Arial"/>
                <a:ea typeface="Arial"/>
                <a:cs typeface="Arial"/>
              </a:rPr>
              <a:t>References: employees and legacy</a:t>
            </a:r>
          </a:p>
        </p:txBody>
      </p:sp>
      <p:sp>
        <p:nvSpPr>
          <p:cNvPr id="2" name="Rectangle 1">
            <a:extLst>
              <a:ext uri="{FF2B5EF4-FFF2-40B4-BE49-F238E27FC236}">
                <a16:creationId xmlns:a16="http://schemas.microsoft.com/office/drawing/2014/main" id="{8E758E81-1C1C-431B-9D16-AFF8AB152AD5}"/>
              </a:ext>
            </a:extLst>
          </p:cNvPr>
          <p:cNvSpPr>
            <a:spLocks noGrp="1"/>
          </p:cNvSpPr>
          <p:nvPr/>
        </p:nvSpPr>
        <p:spPr>
          <a:xfrm>
            <a:off x="666750" y="1419225"/>
            <a:ext cx="10572750" cy="333375"/>
          </a:xfrm>
          <a:prstGeom prst="rect">
            <a:avLst/>
          </a:prstGeom>
          <a:noFill/>
          <a:ln w="0">
            <a:noFill/>
          </a:ln>
        </p:spPr>
        <p:txBody>
          <a:bodyPr lIns="0" tIns="0" rIns="0" bIns="0">
            <a:noAutofit/>
          </a:bodyPr>
          <a:lstStyle/>
          <a:p>
            <a:pPr>
              <a:defRPr sz="1575" b="1">
                <a:solidFill>
                  <a:srgbClr val="172A36"/>
                </a:solidFill>
                <a:latin typeface="Arial"/>
                <a:ea typeface="Arial"/>
                <a:cs typeface="Arial"/>
              </a:defRPr>
            </a:pPr>
            <a:r>
              <a:rPr sz="1575" b="1">
                <a:solidFill>
                  <a:srgbClr val="172A36"/>
                </a:solidFill>
                <a:latin typeface="Arial"/>
                <a:ea typeface="Arial"/>
                <a:cs typeface="Arial"/>
              </a:rPr>
              <a:t>[D] Matt Anderson, “Ford’s Five-Dollar Day,” The Henry Ford (2014)</a:t>
            </a:r>
          </a:p>
        </p:txBody>
      </p:sp>
      <p:sp>
        <p:nvSpPr>
          <p:cNvPr id="3" name="Rectangle 2">
            <a:extLst>
              <a:ext uri="{FF2B5EF4-FFF2-40B4-BE49-F238E27FC236}">
                <a16:creationId xmlns:a16="http://schemas.microsoft.com/office/drawing/2014/main" id="{DA6034E0-EE1F-4968-A59C-F4B723E15294}"/>
              </a:ext>
            </a:extLst>
          </p:cNvPr>
          <p:cNvSpPr>
            <a:spLocks noGrp="1"/>
          </p:cNvSpPr>
          <p:nvPr/>
        </p:nvSpPr>
        <p:spPr>
          <a:xfrm>
            <a:off x="666750" y="1752600"/>
            <a:ext cx="10572750" cy="304800"/>
          </a:xfrm>
          <a:prstGeom prst="rect">
            <a:avLst/>
          </a:prstGeom>
          <a:noFill/>
          <a:ln w="0">
            <a:noFill/>
          </a:ln>
        </p:spPr>
        <p:txBody>
          <a:bodyPr lIns="0" tIns="0" rIns="0" bIns="0">
            <a:noAutofit/>
          </a:bodyPr>
          <a:lstStyle/>
          <a:p>
            <a:pPr>
              <a:defRPr sz="1125" b="0">
                <a:solidFill>
                  <a:srgbClr val="55636A"/>
                </a:solidFill>
                <a:latin typeface="Arial"/>
                <a:ea typeface="Arial"/>
                <a:cs typeface="Arial"/>
              </a:defRPr>
            </a:pPr>
            <a:r>
              <a:rPr>
                <a:hlinkClick r:id="rId3"/>
              </a:rPr>
              <a:t>https://www.thehenryford.org/collections/explore/articles/fords-five-dollar-day</a:t>
            </a:r>
          </a:p>
        </p:txBody>
      </p:sp>
      <p:sp>
        <p:nvSpPr>
          <p:cNvPr id="4" name="Rectangle 3">
            <a:extLst>
              <a:ext uri="{FF2B5EF4-FFF2-40B4-BE49-F238E27FC236}">
                <a16:creationId xmlns:a16="http://schemas.microsoft.com/office/drawing/2014/main" id="{A614B4FF-E9EE-4AAB-AA28-A3C1915C2B5C}"/>
              </a:ext>
            </a:extLst>
          </p:cNvPr>
          <p:cNvSpPr>
            <a:spLocks noGrp="1"/>
          </p:cNvSpPr>
          <p:nvPr/>
        </p:nvSpPr>
        <p:spPr>
          <a:xfrm>
            <a:off x="666750" y="2162175"/>
            <a:ext cx="10572750" cy="333375"/>
          </a:xfrm>
          <a:prstGeom prst="rect">
            <a:avLst/>
          </a:prstGeom>
          <a:noFill/>
          <a:ln w="0">
            <a:noFill/>
          </a:ln>
        </p:spPr>
        <p:txBody>
          <a:bodyPr lIns="0" tIns="0" rIns="0" bIns="0">
            <a:noAutofit/>
          </a:bodyPr>
          <a:lstStyle/>
          <a:p>
            <a:pPr>
              <a:defRPr sz="1575" b="1">
                <a:solidFill>
                  <a:srgbClr val="172A36"/>
                </a:solidFill>
                <a:latin typeface="Arial"/>
                <a:ea typeface="Arial"/>
                <a:cs typeface="Arial"/>
              </a:defRPr>
            </a:pPr>
            <a:r>
              <a:rPr sz="1575" b="1">
                <a:solidFill>
                  <a:srgbClr val="172A36"/>
                </a:solidFill>
                <a:latin typeface="Arial"/>
                <a:ea typeface="Arial"/>
                <a:cs typeface="Arial"/>
              </a:rPr>
              <a:t>[E] The Henry Ford, “Henry Ford: Sociological Department”</a:t>
            </a:r>
          </a:p>
        </p:txBody>
      </p:sp>
      <p:sp>
        <p:nvSpPr>
          <p:cNvPr id="5" name="Rectangle 4">
            <a:extLst>
              <a:ext uri="{FF2B5EF4-FFF2-40B4-BE49-F238E27FC236}">
                <a16:creationId xmlns:a16="http://schemas.microsoft.com/office/drawing/2014/main" id="{BD7D39F0-83A7-4100-990A-E48E2013DC40}"/>
              </a:ext>
            </a:extLst>
          </p:cNvPr>
          <p:cNvSpPr>
            <a:spLocks noGrp="1"/>
          </p:cNvSpPr>
          <p:nvPr/>
        </p:nvSpPr>
        <p:spPr>
          <a:xfrm>
            <a:off x="666750" y="2495550"/>
            <a:ext cx="10572750" cy="304800"/>
          </a:xfrm>
          <a:prstGeom prst="rect">
            <a:avLst/>
          </a:prstGeom>
          <a:noFill/>
          <a:ln w="0">
            <a:noFill/>
          </a:ln>
        </p:spPr>
        <p:txBody>
          <a:bodyPr lIns="0" tIns="0" rIns="0" bIns="0">
            <a:noAutofit/>
          </a:bodyPr>
          <a:lstStyle/>
          <a:p>
            <a:pPr>
              <a:defRPr sz="1125" b="0">
                <a:solidFill>
                  <a:srgbClr val="55636A"/>
                </a:solidFill>
                <a:latin typeface="Arial"/>
                <a:ea typeface="Arial"/>
                <a:cs typeface="Arial"/>
              </a:defRPr>
            </a:pPr>
            <a:r>
              <a:rPr>
                <a:hlinkClick r:id="rId4"/>
              </a:rPr>
              <a:t>https://www.thehenryford.org/collections/explore/sets/detail/henry-ford-sociological-department</a:t>
            </a:r>
          </a:p>
        </p:txBody>
      </p:sp>
      <p:sp>
        <p:nvSpPr>
          <p:cNvPr id="6" name="Rectangle 5">
            <a:extLst>
              <a:ext uri="{FF2B5EF4-FFF2-40B4-BE49-F238E27FC236}">
                <a16:creationId xmlns:a16="http://schemas.microsoft.com/office/drawing/2014/main" id="{953819C7-9691-46EA-A756-32C756ED78ED}"/>
              </a:ext>
            </a:extLst>
          </p:cNvPr>
          <p:cNvSpPr>
            <a:spLocks noGrp="1"/>
          </p:cNvSpPr>
          <p:nvPr/>
        </p:nvSpPr>
        <p:spPr>
          <a:xfrm>
            <a:off x="666750" y="2905125"/>
            <a:ext cx="10572750" cy="333375"/>
          </a:xfrm>
          <a:prstGeom prst="rect">
            <a:avLst/>
          </a:prstGeom>
          <a:noFill/>
          <a:ln w="0">
            <a:noFill/>
          </a:ln>
        </p:spPr>
        <p:txBody>
          <a:bodyPr lIns="0" tIns="0" rIns="0" bIns="0">
            <a:noAutofit/>
          </a:bodyPr>
          <a:lstStyle/>
          <a:p>
            <a:pPr>
              <a:defRPr sz="1575" b="1">
                <a:solidFill>
                  <a:srgbClr val="172A36"/>
                </a:solidFill>
                <a:latin typeface="Arial"/>
                <a:ea typeface="Arial"/>
                <a:cs typeface="Arial"/>
              </a:defRPr>
            </a:pPr>
            <a:r>
              <a:rPr sz="1575" b="1">
                <a:solidFill>
                  <a:srgbClr val="172A36"/>
                </a:solidFill>
                <a:latin typeface="Arial"/>
                <a:ea typeface="Arial"/>
                <a:cs typeface="Arial"/>
              </a:rPr>
              <a:t>[H] U.S. Holocaust Memorial Museum, “Antisemitism and Henry Ford’s ‘The International Jew’”</a:t>
            </a:r>
          </a:p>
        </p:txBody>
      </p:sp>
      <p:sp>
        <p:nvSpPr>
          <p:cNvPr id="7" name="Rectangle 6">
            <a:extLst>
              <a:ext uri="{FF2B5EF4-FFF2-40B4-BE49-F238E27FC236}">
                <a16:creationId xmlns:a16="http://schemas.microsoft.com/office/drawing/2014/main" id="{CA8378BE-DD4F-4569-AA64-32FCFD893A64}"/>
              </a:ext>
            </a:extLst>
          </p:cNvPr>
          <p:cNvSpPr>
            <a:spLocks noGrp="1"/>
          </p:cNvSpPr>
          <p:nvPr/>
        </p:nvSpPr>
        <p:spPr>
          <a:xfrm>
            <a:off x="666750" y="3238500"/>
            <a:ext cx="10572750" cy="304800"/>
          </a:xfrm>
          <a:prstGeom prst="rect">
            <a:avLst/>
          </a:prstGeom>
          <a:noFill/>
          <a:ln w="0">
            <a:noFill/>
          </a:ln>
        </p:spPr>
        <p:txBody>
          <a:bodyPr lIns="0" tIns="0" rIns="0" bIns="0">
            <a:noAutofit/>
          </a:bodyPr>
          <a:lstStyle/>
          <a:p>
            <a:pPr>
              <a:defRPr sz="1125" b="0">
                <a:solidFill>
                  <a:srgbClr val="55636A"/>
                </a:solidFill>
                <a:latin typeface="Arial"/>
                <a:ea typeface="Arial"/>
                <a:cs typeface="Arial"/>
              </a:defRPr>
            </a:pPr>
            <a:r>
              <a:rPr>
                <a:hlinkClick r:id="rId5"/>
              </a:rPr>
              <a:t>https://encyclopedia.ushmm.org/content/en/article/antisemitism-and-henry-fords-international-jew</a:t>
            </a:r>
          </a:p>
        </p:txBody>
      </p:sp>
      <p:sp>
        <p:nvSpPr>
          <p:cNvPr id="8" name="Rectangle 7">
            <a:extLst>
              <a:ext uri="{FF2B5EF4-FFF2-40B4-BE49-F238E27FC236}">
                <a16:creationId xmlns:a16="http://schemas.microsoft.com/office/drawing/2014/main" id="{E0DB038E-A1F7-4AD0-8C73-2EE4E82966E0}"/>
              </a:ext>
            </a:extLst>
          </p:cNvPr>
          <p:cNvSpPr>
            <a:spLocks noGrp="1"/>
          </p:cNvSpPr>
          <p:nvPr/>
        </p:nvSpPr>
        <p:spPr>
          <a:xfrm>
            <a:off x="666750" y="3648075"/>
            <a:ext cx="10572750" cy="333375"/>
          </a:xfrm>
          <a:prstGeom prst="rect">
            <a:avLst/>
          </a:prstGeom>
          <a:noFill/>
          <a:ln w="0">
            <a:noFill/>
          </a:ln>
        </p:spPr>
        <p:txBody>
          <a:bodyPr lIns="0" tIns="0" rIns="0" bIns="0">
            <a:noAutofit/>
          </a:bodyPr>
          <a:lstStyle/>
          <a:p>
            <a:pPr>
              <a:defRPr sz="1575" b="1">
                <a:solidFill>
                  <a:srgbClr val="172A36"/>
                </a:solidFill>
                <a:latin typeface="Arial"/>
                <a:ea typeface="Arial"/>
                <a:cs typeface="Arial"/>
              </a:defRPr>
            </a:pPr>
            <a:r>
              <a:rPr sz="1575" b="1">
                <a:solidFill>
                  <a:srgbClr val="172A36"/>
                </a:solidFill>
                <a:latin typeface="Arial"/>
                <a:ea typeface="Arial"/>
                <a:cs typeface="Arial"/>
              </a:rPr>
              <a:t>[I] Michigan Supreme Court Learning Center, “Right of Assembly: Battle of the Overpass”</a:t>
            </a:r>
          </a:p>
        </p:txBody>
      </p:sp>
      <p:sp>
        <p:nvSpPr>
          <p:cNvPr id="9" name="Rectangle 8">
            <a:extLst>
              <a:ext uri="{FF2B5EF4-FFF2-40B4-BE49-F238E27FC236}">
                <a16:creationId xmlns:a16="http://schemas.microsoft.com/office/drawing/2014/main" id="{8FE4EC0B-648C-49F9-A0E8-5FB3E9E67A17}"/>
              </a:ext>
            </a:extLst>
          </p:cNvPr>
          <p:cNvSpPr>
            <a:spLocks noGrp="1"/>
          </p:cNvSpPr>
          <p:nvPr/>
        </p:nvSpPr>
        <p:spPr>
          <a:xfrm>
            <a:off x="666750" y="3981450"/>
            <a:ext cx="10572750" cy="304800"/>
          </a:xfrm>
          <a:prstGeom prst="rect">
            <a:avLst/>
          </a:prstGeom>
          <a:noFill/>
          <a:ln w="0">
            <a:noFill/>
          </a:ln>
        </p:spPr>
        <p:txBody>
          <a:bodyPr lIns="0" tIns="0" rIns="0" bIns="0">
            <a:noAutofit/>
          </a:bodyPr>
          <a:lstStyle/>
          <a:p>
            <a:pPr>
              <a:defRPr sz="1125" b="0">
                <a:solidFill>
                  <a:srgbClr val="55636A"/>
                </a:solidFill>
                <a:latin typeface="Arial"/>
                <a:ea typeface="Arial"/>
                <a:cs typeface="Arial"/>
              </a:defRPr>
            </a:pPr>
            <a:r>
              <a:rPr>
                <a:hlinkClick r:id="rId6"/>
              </a:rPr>
              <a:t>https://www.courts.michigan.gov/49b296/siteassets/msc-learning-center/scrapbook-fordbattleoverpass1937.pdf</a:t>
            </a:r>
          </a:p>
        </p:txBody>
      </p:sp>
      <p:sp>
        <p:nvSpPr>
          <p:cNvPr id="10" name="Rectangle 9">
            <a:extLst>
              <a:ext uri="{FF2B5EF4-FFF2-40B4-BE49-F238E27FC236}">
                <a16:creationId xmlns:a16="http://schemas.microsoft.com/office/drawing/2014/main" id="{B23B48C5-17A4-48B5-B3F6-09292A06BCA4}"/>
              </a:ext>
            </a:extLst>
          </p:cNvPr>
          <p:cNvSpPr>
            <a:spLocks noGrp="1"/>
          </p:cNvSpPr>
          <p:nvPr/>
        </p:nvSpPr>
        <p:spPr>
          <a:xfrm>
            <a:off x="666750" y="4391025"/>
            <a:ext cx="10572750" cy="333375"/>
          </a:xfrm>
          <a:prstGeom prst="rect">
            <a:avLst/>
          </a:prstGeom>
          <a:noFill/>
          <a:ln w="0">
            <a:noFill/>
          </a:ln>
        </p:spPr>
        <p:txBody>
          <a:bodyPr lIns="0" tIns="0" rIns="0" bIns="0">
            <a:noAutofit/>
          </a:bodyPr>
          <a:lstStyle/>
          <a:p>
            <a:pPr>
              <a:defRPr sz="1575" b="1">
                <a:solidFill>
                  <a:srgbClr val="172A36"/>
                </a:solidFill>
                <a:latin typeface="Arial"/>
                <a:ea typeface="Arial"/>
                <a:cs typeface="Arial"/>
              </a:defRPr>
            </a:pPr>
            <a:r>
              <a:rPr sz="1575" b="1">
                <a:solidFill>
                  <a:srgbClr val="172A36"/>
                </a:solidFill>
                <a:latin typeface="Arial"/>
                <a:ea typeface="Arial"/>
                <a:cs typeface="Arial"/>
              </a:rPr>
              <a:t>[J] Toyota Motor Corporation, “Toyota Production System”</a:t>
            </a:r>
          </a:p>
        </p:txBody>
      </p:sp>
      <p:sp>
        <p:nvSpPr>
          <p:cNvPr id="11" name="Rectangle 10">
            <a:extLst>
              <a:ext uri="{FF2B5EF4-FFF2-40B4-BE49-F238E27FC236}">
                <a16:creationId xmlns:a16="http://schemas.microsoft.com/office/drawing/2014/main" id="{E1AB450E-FAAD-404B-9320-A7C52AFCBC08}"/>
              </a:ext>
            </a:extLst>
          </p:cNvPr>
          <p:cNvSpPr>
            <a:spLocks noGrp="1"/>
          </p:cNvSpPr>
          <p:nvPr/>
        </p:nvSpPr>
        <p:spPr>
          <a:xfrm>
            <a:off x="666750" y="4724400"/>
            <a:ext cx="10572750" cy="304800"/>
          </a:xfrm>
          <a:prstGeom prst="rect">
            <a:avLst/>
          </a:prstGeom>
          <a:noFill/>
          <a:ln w="0">
            <a:noFill/>
          </a:ln>
        </p:spPr>
        <p:txBody>
          <a:bodyPr lIns="0" tIns="0" rIns="0" bIns="0">
            <a:noAutofit/>
          </a:bodyPr>
          <a:lstStyle/>
          <a:p>
            <a:pPr>
              <a:defRPr sz="1125" b="0">
                <a:solidFill>
                  <a:srgbClr val="55636A"/>
                </a:solidFill>
                <a:latin typeface="Arial"/>
                <a:ea typeface="Arial"/>
                <a:cs typeface="Arial"/>
              </a:defRPr>
            </a:pPr>
            <a:r>
              <a:rPr>
                <a:hlinkClick r:id="rId7"/>
              </a:rPr>
              <a:t>https://global.toyota/en/company/plant-tours/production-system/</a:t>
            </a:r>
          </a:p>
        </p:txBody>
      </p:sp>
      <p:sp>
        <p:nvSpPr>
          <p:cNvPr id="12" name="Rectangle 11">
            <a:extLst>
              <a:ext uri="{FF2B5EF4-FFF2-40B4-BE49-F238E27FC236}">
                <a16:creationId xmlns:a16="http://schemas.microsoft.com/office/drawing/2014/main" id="{6816746D-C687-43B6-BED9-4FAC1727EE1E}"/>
              </a:ext>
            </a:extLst>
          </p:cNvPr>
          <p:cNvSpPr>
            <a:spLocks noGrp="1"/>
          </p:cNvSpPr>
          <p:nvPr/>
        </p:nvSpPr>
        <p:spPr>
          <a:xfrm>
            <a:off x="666750" y="5133975"/>
            <a:ext cx="10572750" cy="333375"/>
          </a:xfrm>
          <a:prstGeom prst="rect">
            <a:avLst/>
          </a:prstGeom>
          <a:noFill/>
          <a:ln w="0">
            <a:noFill/>
          </a:ln>
        </p:spPr>
        <p:txBody>
          <a:bodyPr lIns="0" tIns="0" rIns="0" bIns="0">
            <a:noAutofit/>
          </a:bodyPr>
          <a:lstStyle/>
          <a:p>
            <a:pPr>
              <a:defRPr sz="1575" b="1">
                <a:solidFill>
                  <a:srgbClr val="172A36"/>
                </a:solidFill>
                <a:latin typeface="Arial"/>
                <a:ea typeface="Arial"/>
                <a:cs typeface="Arial"/>
              </a:defRPr>
            </a:pPr>
            <a:r>
              <a:rPr sz="1575" b="1">
                <a:solidFill>
                  <a:srgbClr val="172A36"/>
                </a:solidFill>
                <a:latin typeface="Arial"/>
                <a:ea typeface="Arial"/>
                <a:cs typeface="Arial"/>
              </a:rPr>
              <a:t>[M] The Henry Ford, “Henry Ford and Anti-Semitism”</a:t>
            </a:r>
          </a:p>
        </p:txBody>
      </p:sp>
      <p:sp>
        <p:nvSpPr>
          <p:cNvPr id="13" name="Rectangle 12">
            <a:extLst>
              <a:ext uri="{FF2B5EF4-FFF2-40B4-BE49-F238E27FC236}">
                <a16:creationId xmlns:a16="http://schemas.microsoft.com/office/drawing/2014/main" id="{C2477CE8-4042-4E90-9928-266F5BB04C06}"/>
              </a:ext>
            </a:extLst>
          </p:cNvPr>
          <p:cNvSpPr>
            <a:spLocks noGrp="1"/>
          </p:cNvSpPr>
          <p:nvPr/>
        </p:nvSpPr>
        <p:spPr>
          <a:xfrm>
            <a:off x="666750" y="5467350"/>
            <a:ext cx="10572750" cy="304800"/>
          </a:xfrm>
          <a:prstGeom prst="rect">
            <a:avLst/>
          </a:prstGeom>
          <a:noFill/>
          <a:ln w="0">
            <a:noFill/>
          </a:ln>
        </p:spPr>
        <p:txBody>
          <a:bodyPr lIns="0" tIns="0" rIns="0" bIns="0">
            <a:noAutofit/>
          </a:bodyPr>
          <a:lstStyle/>
          <a:p>
            <a:pPr>
              <a:defRPr sz="1125" b="0">
                <a:solidFill>
                  <a:srgbClr val="55636A"/>
                </a:solidFill>
                <a:latin typeface="Arial"/>
                <a:ea typeface="Arial"/>
                <a:cs typeface="Arial"/>
              </a:defRPr>
            </a:pPr>
            <a:r>
              <a:rPr>
                <a:hlinkClick r:id="rId8"/>
              </a:rPr>
              <a:t>https://www.thehenryford.org/collections/explore/popular-research-topics/henry-ford-and-anti-semitism</a:t>
            </a:r>
          </a:p>
        </p:txBody>
      </p:sp>
      <p:sp>
        <p:nvSpPr>
          <p:cNvPr id="14" name="Rectangle 13">
            <a:extLst>
              <a:ext uri="{FF2B5EF4-FFF2-40B4-BE49-F238E27FC236}">
                <a16:creationId xmlns:a16="http://schemas.microsoft.com/office/drawing/2014/main" id="{5B6B3133-D4EA-428E-A63E-AD69407C1A3A}"/>
              </a:ext>
            </a:extLst>
          </p:cNvPr>
          <p:cNvSpPr>
            <a:spLocks noGrp="1"/>
          </p:cNvSpPr>
          <p:nvPr/>
        </p:nvSpPr>
        <p:spPr>
          <a:xfrm>
            <a:off x="666750" y="6238875"/>
            <a:ext cx="10668000" cy="333375"/>
          </a:xfrm>
          <a:prstGeom prst="rect">
            <a:avLst/>
          </a:prstGeom>
          <a:noFill/>
          <a:ln w="0">
            <a:noFill/>
          </a:ln>
        </p:spPr>
        <p:txBody>
          <a:bodyPr lIns="0" tIns="0" rIns="0" bIns="0">
            <a:noAutofit/>
          </a:bodyPr>
          <a:lstStyle/>
          <a:p>
            <a:pPr>
              <a:defRPr sz="1275" b="0">
                <a:solidFill>
                  <a:srgbClr val="55636A"/>
                </a:solidFill>
                <a:latin typeface="Arial"/>
                <a:ea typeface="Arial"/>
                <a:cs typeface="Arial"/>
              </a:defRPr>
            </a:pPr>
            <a:r>
              <a:rPr sz="1275" b="0">
                <a:solidFill>
                  <a:srgbClr val="55636A"/>
                </a:solidFill>
                <a:latin typeface="Arial"/>
                <a:ea typeface="Arial"/>
                <a:cs typeface="Arial"/>
              </a:rPr>
              <a:t>All websites accessed October 19, 2026. Full citations also appear in the relevant slide notes.</a:t>
            </a:r>
          </a:p>
        </p:txBody>
      </p:sp>
    </p:spTree>
    <p:extLst>
      <p:ext uri="{BB962C8B-B14F-4D97-AF65-F5344CB8AC3E}">
        <p14:creationId xmlns:p14="http://schemas.microsoft.com/office/powerpoint/2010/main" val="7179558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4F1EA"/>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3BEC89E-4903-4DE7-B989-D101965DFC34}"/>
              </a:ext>
            </a:extLst>
          </p:cNvPr>
          <p:cNvSpPr>
            <a:spLocks noGrp="1"/>
          </p:cNvSpPr>
          <p:nvPr/>
        </p:nvSpPr>
        <p:spPr>
          <a:xfrm>
            <a:off x="609600" y="457200"/>
            <a:ext cx="10858500" cy="1066800"/>
          </a:xfrm>
          <a:prstGeom prst="rect">
            <a:avLst/>
          </a:prstGeom>
          <a:noFill/>
          <a:ln w="0">
            <a:noFill/>
          </a:ln>
        </p:spPr>
        <p:txBody>
          <a:bodyPr lIns="0" tIns="0" rIns="0" bIns="0">
            <a:noAutofit/>
          </a:bodyPr>
          <a:lstStyle/>
          <a:p>
            <a:pPr>
              <a:defRPr sz="3225" b="1">
                <a:solidFill>
                  <a:srgbClr val="172A36"/>
                </a:solidFill>
                <a:latin typeface="Arial"/>
                <a:ea typeface="Arial"/>
                <a:cs typeface="Arial"/>
              </a:defRPr>
            </a:pPr>
            <a:r>
              <a:rPr sz="3225" b="1">
                <a:solidFill>
                  <a:srgbClr val="172A36"/>
                </a:solidFill>
                <a:latin typeface="Arial"/>
                <a:ea typeface="Arial"/>
                <a:cs typeface="Arial"/>
              </a:rPr>
              <a:t>Course materials and visual credits</a:t>
            </a:r>
          </a:p>
        </p:txBody>
      </p:sp>
      <p:sp>
        <p:nvSpPr>
          <p:cNvPr id="2" name="Rectangle 1">
            <a:extLst>
              <a:ext uri="{FF2B5EF4-FFF2-40B4-BE49-F238E27FC236}">
                <a16:creationId xmlns:a16="http://schemas.microsoft.com/office/drawing/2014/main" id="{2B15E13B-B077-4DB8-858F-321A16B01ADB}"/>
              </a:ext>
            </a:extLst>
          </p:cNvPr>
          <p:cNvSpPr>
            <a:spLocks noGrp="1"/>
          </p:cNvSpPr>
          <p:nvPr/>
        </p:nvSpPr>
        <p:spPr>
          <a:xfrm>
            <a:off x="666750" y="1762125"/>
            <a:ext cx="10572750" cy="1143000"/>
          </a:xfrm>
          <a:prstGeom prst="rect">
            <a:avLst/>
          </a:prstGeom>
          <a:noFill/>
          <a:ln w="0">
            <a:noFill/>
          </a:ln>
        </p:spPr>
        <p:txBody>
          <a:bodyPr lIns="0" tIns="0" rIns="0" bIns="0">
            <a:noAutofit/>
          </a:bodyPr>
          <a:lstStyle/>
          <a:p>
            <a:pPr>
              <a:defRPr sz="2025" b="0">
                <a:solidFill>
                  <a:srgbClr val="172A36"/>
                </a:solidFill>
                <a:latin typeface="Arial"/>
                <a:ea typeface="Arial"/>
                <a:cs typeface="Arial"/>
              </a:defRPr>
            </a:pPr>
            <a:r>
              <a:rPr sz="2025" b="0">
                <a:solidFill>
                  <a:srgbClr val="172A36"/>
                </a:solidFill>
                <a:latin typeface="Arial"/>
                <a:ea typeface="Arial"/>
                <a:cs typeface="Arial"/>
              </a:rPr>
              <a:t>Fundamentals of Management, 11th ed.</a:t>
            </a:r>
          </a:p>
          <a:p>
            <a:pPr>
              <a:defRPr sz="2025" b="0">
                <a:solidFill>
                  <a:srgbClr val="172A36"/>
                </a:solidFill>
                <a:latin typeface="Arial"/>
                <a:ea typeface="Arial"/>
                <a:cs typeface="Arial"/>
              </a:defRPr>
            </a:pPr>
            <a:r>
              <a:rPr sz="2025" b="0">
                <a:solidFill>
                  <a:srgbClr val="172A36"/>
                </a:solidFill>
                <a:latin typeface="Arial"/>
                <a:ea typeface="Arial"/>
                <a:cs typeface="Arial"/>
              </a:rPr>
              <a:t>Uploaded Pearson chapter slides 1–6, 8, and 9 (2020)</a:t>
            </a:r>
          </a:p>
        </p:txBody>
      </p:sp>
      <p:sp>
        <p:nvSpPr>
          <p:cNvPr id="3" name="Rectangle 2">
            <a:extLst>
              <a:ext uri="{FF2B5EF4-FFF2-40B4-BE49-F238E27FC236}">
                <a16:creationId xmlns:a16="http://schemas.microsoft.com/office/drawing/2014/main" id="{64F2E96B-01CC-4412-89BD-E6E66F026FE9}"/>
              </a:ext>
            </a:extLst>
          </p:cNvPr>
          <p:cNvSpPr>
            <a:spLocks noGrp="1"/>
          </p:cNvSpPr>
          <p:nvPr/>
        </p:nvSpPr>
        <p:spPr>
          <a:xfrm>
            <a:off x="666750" y="3124200"/>
            <a:ext cx="10572750" cy="1143000"/>
          </a:xfrm>
          <a:prstGeom prst="rect">
            <a:avLst/>
          </a:prstGeom>
          <a:noFill/>
          <a:ln w="0">
            <a:noFill/>
          </a:ln>
        </p:spPr>
        <p:txBody>
          <a:bodyPr lIns="0" tIns="0" rIns="0" bIns="0">
            <a:noAutofit/>
          </a:bodyPr>
          <a:lstStyle/>
          <a:p>
            <a:pPr>
              <a:defRPr sz="2025" b="0">
                <a:solidFill>
                  <a:srgbClr val="172A36"/>
                </a:solidFill>
                <a:latin typeface="Arial"/>
                <a:ea typeface="Arial"/>
                <a:cs typeface="Arial"/>
              </a:defRPr>
            </a:pPr>
            <a:r>
              <a:rPr sz="2025" b="0">
                <a:solidFill>
                  <a:srgbClr val="172A36"/>
                </a:solidFill>
                <a:latin typeface="Arial"/>
                <a:ea typeface="Arial"/>
                <a:cs typeface="Arial"/>
              </a:rPr>
              <a:t>History Module-1.pdf</a:t>
            </a:r>
          </a:p>
          <a:p>
            <a:pPr>
              <a:defRPr sz="2025" b="0">
                <a:solidFill>
                  <a:srgbClr val="172A36"/>
                </a:solidFill>
                <a:latin typeface="Arial"/>
                <a:ea typeface="Arial"/>
                <a:cs typeface="Arial"/>
              </a:defRPr>
            </a:pPr>
            <a:r>
              <a:rPr sz="2025" b="0">
                <a:solidFill>
                  <a:srgbClr val="172A36"/>
                </a:solidFill>
                <a:latin typeface="Arial"/>
                <a:ea typeface="Arial"/>
                <a:cs typeface="Arial"/>
              </a:rPr>
              <a:t>Uploaded Prentice Hall management-history module (2005)</a:t>
            </a:r>
          </a:p>
        </p:txBody>
      </p:sp>
      <p:sp>
        <p:nvSpPr>
          <p:cNvPr id="4" name="Rectangle 3">
            <a:extLst>
              <a:ext uri="{FF2B5EF4-FFF2-40B4-BE49-F238E27FC236}">
                <a16:creationId xmlns:a16="http://schemas.microsoft.com/office/drawing/2014/main" id="{D64D27FE-A1DE-4938-9D55-C7FF34CBA4A8}"/>
              </a:ext>
            </a:extLst>
          </p:cNvPr>
          <p:cNvSpPr>
            <a:spLocks noGrp="1"/>
          </p:cNvSpPr>
          <p:nvPr/>
        </p:nvSpPr>
        <p:spPr>
          <a:xfrm>
            <a:off x="666750" y="4486275"/>
            <a:ext cx="10572750" cy="1143000"/>
          </a:xfrm>
          <a:prstGeom prst="rect">
            <a:avLst/>
          </a:prstGeom>
          <a:noFill/>
          <a:ln w="0">
            <a:noFill/>
          </a:ln>
        </p:spPr>
        <p:txBody>
          <a:bodyPr lIns="0" tIns="0" rIns="0" bIns="0">
            <a:noAutofit/>
          </a:bodyPr>
          <a:lstStyle/>
          <a:p>
            <a:pPr>
              <a:defRPr sz="2025" b="0">
                <a:solidFill>
                  <a:srgbClr val="172A36"/>
                </a:solidFill>
                <a:latin typeface="Arial"/>
                <a:ea typeface="Arial"/>
                <a:cs typeface="Arial"/>
              </a:defRPr>
            </a:pPr>
            <a:r>
              <a:rPr sz="2025" b="0">
                <a:solidFill>
                  <a:srgbClr val="172A36"/>
                </a:solidFill>
                <a:latin typeface="Arial"/>
                <a:ea typeface="Arial"/>
                <a:cs typeface="Arial"/>
              </a:rPr>
              <a:t>The Henry Ford digital collections</a:t>
            </a:r>
          </a:p>
          <a:p>
            <a:pPr>
              <a:defRPr sz="2025" b="0">
                <a:solidFill>
                  <a:srgbClr val="172A36"/>
                </a:solidFill>
                <a:latin typeface="Arial"/>
                <a:ea typeface="Arial"/>
                <a:cs typeface="Arial"/>
              </a:defRPr>
            </a:pPr>
            <a:r>
              <a:rPr sz="2025" b="0">
                <a:solidFill>
                  <a:srgbClr val="172A36"/>
                </a:solidFill>
                <a:latin typeface="Arial"/>
                <a:ea typeface="Arial"/>
                <a:cs typeface="Arial"/>
              </a:rPr>
              <a:t>Historical photographs and documents identified in slide notes</a:t>
            </a:r>
          </a:p>
        </p:txBody>
      </p:sp>
      <p:sp>
        <p:nvSpPr>
          <p:cNvPr id="5" name="Rectangle 4">
            <a:extLst>
              <a:ext uri="{FF2B5EF4-FFF2-40B4-BE49-F238E27FC236}">
                <a16:creationId xmlns:a16="http://schemas.microsoft.com/office/drawing/2014/main" id="{F20B6C5F-3010-4536-B6DD-1FE99F24AB42}"/>
              </a:ext>
            </a:extLst>
          </p:cNvPr>
          <p:cNvSpPr>
            <a:spLocks noGrp="1"/>
          </p:cNvSpPr>
          <p:nvPr/>
        </p:nvSpPr>
        <p:spPr>
          <a:xfrm>
            <a:off x="11430000" y="6429375"/>
            <a:ext cx="428625" cy="209550"/>
          </a:xfrm>
          <a:prstGeom prst="rect">
            <a:avLst/>
          </a:prstGeom>
          <a:noFill/>
          <a:ln w="0">
            <a:noFill/>
          </a:ln>
        </p:spPr>
        <p:txBody>
          <a:bodyPr lIns="0" tIns="0" rIns="0" bIns="0">
            <a:noAutofit/>
          </a:bodyPr>
          <a:lstStyle/>
          <a:p>
            <a:pPr>
              <a:defRPr sz="1125" b="0">
                <a:solidFill>
                  <a:srgbClr val="55636A"/>
                </a:solidFill>
                <a:latin typeface="Arial"/>
                <a:ea typeface="Arial"/>
                <a:cs typeface="Arial"/>
              </a:defRPr>
            </a:pPr>
            <a:r>
              <a:rPr sz="1125" b="0">
                <a:solidFill>
                  <a:srgbClr val="55636A"/>
                </a:solidFill>
                <a:latin typeface="Arial"/>
                <a:ea typeface="Arial"/>
                <a:cs typeface="Arial"/>
              </a:rPr>
              <a:t>24</a:t>
            </a:r>
          </a:p>
        </p:txBody>
      </p:sp>
      <p:sp>
        <p:nvSpPr>
          <p:cNvPr id="6" name="Rectangle 5">
            <a:extLst>
              <a:ext uri="{FF2B5EF4-FFF2-40B4-BE49-F238E27FC236}">
                <a16:creationId xmlns:a16="http://schemas.microsoft.com/office/drawing/2014/main" id="{7239C693-E2B4-4E01-95BA-E4DF9FE38252}"/>
              </a:ext>
            </a:extLst>
          </p:cNvPr>
          <p:cNvSpPr>
            <a:spLocks noGrp="1"/>
          </p:cNvSpPr>
          <p:nvPr/>
        </p:nvSpPr>
        <p:spPr>
          <a:xfrm>
            <a:off x="666750" y="6429375"/>
            <a:ext cx="9525000" cy="209550"/>
          </a:xfrm>
          <a:prstGeom prst="rect">
            <a:avLst/>
          </a:prstGeom>
          <a:noFill/>
          <a:ln w="0">
            <a:noFill/>
          </a:ln>
        </p:spPr>
        <p:txBody>
          <a:bodyPr lIns="0" tIns="0" rIns="0" bIns="0">
            <a:noAutofit/>
          </a:bodyPr>
          <a:lstStyle/>
          <a:p>
            <a:pPr>
              <a:defRPr sz="1125" b="0">
                <a:solidFill>
                  <a:srgbClr val="55636A"/>
                </a:solidFill>
                <a:latin typeface="Arial"/>
                <a:ea typeface="Arial"/>
                <a:cs typeface="Arial"/>
              </a:defRPr>
            </a:pPr>
            <a:r>
              <a:rPr sz="1125" b="0">
                <a:solidFill>
                  <a:srgbClr val="55636A"/>
                </a:solidFill>
                <a:latin typeface="Arial"/>
                <a:ea typeface="Arial"/>
                <a:cs typeface="Arial"/>
              </a:rPr>
              <a:t>[K]</a:t>
            </a:r>
          </a:p>
        </p:txBody>
      </p:sp>
    </p:spTree>
    <p:extLst>
      <p:ext uri="{BB962C8B-B14F-4D97-AF65-F5344CB8AC3E}">
        <p14:creationId xmlns:p14="http://schemas.microsoft.com/office/powerpoint/2010/main" val="1144555163"/>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7114</Words>
  <Application>Microsoft Office PowerPoint</Application>
  <DocSecurity>0</DocSecurity>
  <PresentationFormat>Widescreen</PresentationFormat>
  <Paragraphs>532</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Andy Johnson</cp:lastModifiedBy>
  <cp:revision>1</cp:revision>
  <dcterms:created xsi:type="dcterms:W3CDTF">2026-10-19T18:52:24Z</dcterms:created>
  <dcterms:modified xsi:type="dcterms:W3CDTF">2026-10-19T19:22:24Z</dcterms:modified>
</cp:coreProperties>
</file>