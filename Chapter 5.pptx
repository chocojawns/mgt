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76" r:id="rId5"/>
  </p:sldMasterIdLst>
  <p:notesMasterIdLst>
    <p:notesMasterId r:id="rId39"/>
  </p:notesMasterIdLst>
  <p:handoutMasterIdLst>
    <p:handoutMasterId r:id="rId40"/>
  </p:handoutMasterIdLst>
  <p:sldIdLst>
    <p:sldId id="310" r:id="rId6"/>
    <p:sldId id="427" r:id="rId7"/>
    <p:sldId id="428" r:id="rId8"/>
    <p:sldId id="458" r:id="rId9"/>
    <p:sldId id="688" r:id="rId10"/>
    <p:sldId id="459" r:id="rId11"/>
    <p:sldId id="432" r:id="rId12"/>
    <p:sldId id="433" r:id="rId13"/>
    <p:sldId id="434" r:id="rId14"/>
    <p:sldId id="435" r:id="rId15"/>
    <p:sldId id="689" r:id="rId16"/>
    <p:sldId id="698" r:id="rId17"/>
    <p:sldId id="438" r:id="rId18"/>
    <p:sldId id="439" r:id="rId19"/>
    <p:sldId id="691" r:id="rId20"/>
    <p:sldId id="441" r:id="rId21"/>
    <p:sldId id="442" r:id="rId22"/>
    <p:sldId id="443" r:id="rId23"/>
    <p:sldId id="693" r:id="rId24"/>
    <p:sldId id="445" r:id="rId25"/>
    <p:sldId id="694" r:id="rId26"/>
    <p:sldId id="447" r:id="rId27"/>
    <p:sldId id="448" r:id="rId28"/>
    <p:sldId id="695" r:id="rId29"/>
    <p:sldId id="461" r:id="rId30"/>
    <p:sldId id="451" r:id="rId31"/>
    <p:sldId id="462" r:id="rId32"/>
    <p:sldId id="453" r:id="rId33"/>
    <p:sldId id="696" r:id="rId34"/>
    <p:sldId id="697" r:id="rId35"/>
    <p:sldId id="456" r:id="rId36"/>
    <p:sldId id="457" r:id="rId37"/>
    <p:sldId id="68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436" userDrawn="1">
          <p15:clr>
            <a:srgbClr val="A4A3A4"/>
          </p15:clr>
        </p15:guide>
        <p15:guide id="4" orient="horz" pos="799" userDrawn="1">
          <p15:clr>
            <a:srgbClr val="A4A3A4"/>
          </p15:clr>
        </p15:guide>
        <p15:guide id="6" orient="horz" pos="4110" userDrawn="1">
          <p15:clr>
            <a:srgbClr val="A4A3A4"/>
          </p15:clr>
        </p15:guide>
        <p15:guide id="8" pos="295">
          <p15:clr>
            <a:srgbClr val="A4A3A4"/>
          </p15:clr>
        </p15:guide>
        <p15:guide id="9" pos="551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laser" initials="l" lastIdx="1" clrIdx="1"/>
  <p:cmAuthor id="3" name="Darathie Renganathan, Integra-PDY, IN" initials="DRII" lastIdx="3" clrIdx="2"/>
  <p:cmAuthor id="4" name="veronica bashian" initials="vb" lastIdx="6" clrIdx="3"/>
  <p:cmAuthor id="5" name="Manoj Kumar Mishra, Integra-PDY, IN" initials="MKMII" lastIdx="3"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D4EA"/>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70" autoAdjust="0"/>
    <p:restoredTop sz="90526" autoAdjust="0"/>
  </p:normalViewPr>
  <p:slideViewPr>
    <p:cSldViewPr>
      <p:cViewPr varScale="1">
        <p:scale>
          <a:sx n="78" d="100"/>
          <a:sy n="78" d="100"/>
        </p:scale>
        <p:origin x="1718" y="58"/>
      </p:cViewPr>
      <p:guideLst>
        <p:guide orient="horz" pos="2160"/>
        <p:guide pos="2880"/>
        <p:guide orient="horz" pos="436"/>
        <p:guide orient="horz" pos="799"/>
        <p:guide orient="horz" pos="4110"/>
        <p:guide pos="295"/>
        <p:guide pos="5511"/>
      </p:guideLst>
    </p:cSldViewPr>
  </p:slideViewPr>
  <p:outlineViewPr>
    <p:cViewPr>
      <p:scale>
        <a:sx n="33" d="100"/>
        <a:sy n="33" d="100"/>
      </p:scale>
      <p:origin x="0" y="-6222"/>
    </p:cViewPr>
  </p:outlineViewPr>
  <p:notesTextViewPr>
    <p:cViewPr>
      <p:scale>
        <a:sx n="100" d="100"/>
        <a:sy n="100" d="100"/>
      </p:scale>
      <p:origin x="0" y="0"/>
    </p:cViewPr>
  </p:notesTextViewPr>
  <p:sorterViewPr>
    <p:cViewPr>
      <p:scale>
        <a:sx n="100" d="100"/>
        <a:sy n="100" d="100"/>
      </p:scale>
      <p:origin x="0" y="-4854"/>
    </p:cViewPr>
  </p:sorterViewPr>
  <p:notesViewPr>
    <p:cSldViewPr>
      <p:cViewPr varScale="1">
        <p:scale>
          <a:sx n="54" d="100"/>
          <a:sy n="54" d="100"/>
        </p:scale>
        <p:origin x="179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8/8/2023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935204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605272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15116"/>
            <a:ext cx="5486400" cy="4114800"/>
          </a:xfrm>
        </p:spPr>
        <p:txBody>
          <a:bodyPr/>
          <a:lstStyle/>
          <a:p>
            <a:pPr marR="0" lvl="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906888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605272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333136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70000"/>
              </a:lnSpc>
              <a:buFont typeface="+mj-lt" charset="0"/>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861171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2283998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0238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128227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854255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7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912332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541849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252490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292500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10920270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292500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endParaRPr lang="en-US" altLang="en-US" sz="1200" dirty="0">
              <a:solidFill>
                <a:schemeClr val="tx1">
                  <a:lumMod val="75000"/>
                  <a:lumOff val="25000"/>
                </a:schemeClr>
              </a:solidFill>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2925009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6758356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5855007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nSpc>
                <a:spcPct val="6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33</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9" name="TextBox 8"/>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178399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4" name="Picture 13"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6429119"/>
            <a:ext cx="918000" cy="279915"/>
          </a:xfrm>
          <a:prstGeom prst="rect">
            <a:avLst/>
          </a:prstGeom>
        </p:spPr>
      </p:pic>
    </p:spTree>
    <p:extLst>
      <p:ext uri="{BB962C8B-B14F-4D97-AF65-F5344CB8AC3E}">
        <p14:creationId xmlns:p14="http://schemas.microsoft.com/office/powerpoint/2010/main" val="223603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2055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825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828800"/>
          </a:xfrm>
        </p:spPr>
        <p:txBody>
          <a:bodyPr/>
          <a:lstStyle>
            <a:lvl1pPr marL="0" indent="0">
              <a:buClr>
                <a:srgbClr val="007FA3"/>
              </a:buClr>
              <a:buSzPct val="100000"/>
              <a:buNone/>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Content Placeholder 3"/>
          <p:cNvSpPr>
            <a:spLocks noGrp="1"/>
          </p:cNvSpPr>
          <p:nvPr>
            <p:ph sz="quarter" idx="13"/>
          </p:nvPr>
        </p:nvSpPr>
        <p:spPr>
          <a:xfrm>
            <a:off x="468313" y="4292600"/>
            <a:ext cx="8064500" cy="1728788"/>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55175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5582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962682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782467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138932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3139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95107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grpSp>
        <p:nvGrpSpPr>
          <p:cNvPr id="2" name="Group 4"/>
          <p:cNvGrpSpPr>
            <a:grpSpLocks noChangeAspect="1"/>
          </p:cNvGrpSpPr>
          <p:nvPr userDrawn="1"/>
        </p:nvGrpSpPr>
        <p:grpSpPr bwMode="auto">
          <a:xfrm>
            <a:off x="57755" y="6407126"/>
            <a:ext cx="1611690" cy="417560"/>
            <a:chOff x="21" y="4059"/>
            <a:chExt cx="1046" cy="271"/>
          </a:xfrm>
        </p:grpSpPr>
        <p:sp>
          <p:nvSpPr>
            <p:cNvPr id="3" name="AutoShape 3"/>
            <p:cNvSpPr>
              <a:spLocks noChangeAspect="1" noChangeArrowheads="1" noTextEdit="1"/>
            </p:cNvSpPr>
            <p:nvPr userDrawn="1"/>
          </p:nvSpPr>
          <p:spPr bwMode="auto">
            <a:xfrm>
              <a:off x="21" y="4059"/>
              <a:ext cx="1046"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sp>
          <p:nvSpPr>
            <p:cNvPr id="6" name="Freeform 5"/>
            <p:cNvSpPr>
              <a:spLocks noEditPoints="1"/>
            </p:cNvSpPr>
            <p:nvPr userDrawn="1"/>
          </p:nvSpPr>
          <p:spPr bwMode="auto">
            <a:xfrm>
              <a:off x="125" y="4168"/>
              <a:ext cx="838" cy="51"/>
            </a:xfrm>
            <a:custGeom>
              <a:avLst/>
              <a:gdLst>
                <a:gd name="T0" fmla="*/ 1055 w 21137"/>
                <a:gd name="T1" fmla="*/ 1285 h 1300"/>
                <a:gd name="T2" fmla="*/ 0 w 21137"/>
                <a:gd name="T3" fmla="*/ 1285 h 1300"/>
                <a:gd name="T4" fmla="*/ 417 w 21137"/>
                <a:gd name="T5" fmla="*/ 748 h 1300"/>
                <a:gd name="T6" fmla="*/ 1860 w 21137"/>
                <a:gd name="T7" fmla="*/ 1119 h 1300"/>
                <a:gd name="T8" fmla="*/ 1678 w 21137"/>
                <a:gd name="T9" fmla="*/ 16 h 1300"/>
                <a:gd name="T10" fmla="*/ 4021 w 21137"/>
                <a:gd name="T11" fmla="*/ 1290 h 1300"/>
                <a:gd name="T12" fmla="*/ 2636 w 21137"/>
                <a:gd name="T13" fmla="*/ 16 h 1300"/>
                <a:gd name="T14" fmla="*/ 3693 w 21137"/>
                <a:gd name="T15" fmla="*/ 16 h 1300"/>
                <a:gd name="T16" fmla="*/ 5470 w 21137"/>
                <a:gd name="T17" fmla="*/ 9 h 1300"/>
                <a:gd name="T18" fmla="*/ 5143 w 21137"/>
                <a:gd name="T19" fmla="*/ 909 h 1300"/>
                <a:gd name="T20" fmla="*/ 5610 w 21137"/>
                <a:gd name="T21" fmla="*/ 748 h 1300"/>
                <a:gd name="T22" fmla="*/ 7109 w 21137"/>
                <a:gd name="T23" fmla="*/ 16 h 1300"/>
                <a:gd name="T24" fmla="*/ 6675 w 21137"/>
                <a:gd name="T25" fmla="*/ 1285 h 1300"/>
                <a:gd name="T26" fmla="*/ 6765 w 21137"/>
                <a:gd name="T27" fmla="*/ 453 h 1300"/>
                <a:gd name="T28" fmla="*/ 7796 w 21137"/>
                <a:gd name="T29" fmla="*/ 514 h 1300"/>
                <a:gd name="T30" fmla="*/ 8407 w 21137"/>
                <a:gd name="T31" fmla="*/ 89 h 1300"/>
                <a:gd name="T32" fmla="*/ 7908 w 21137"/>
                <a:gd name="T33" fmla="*/ 309 h 1300"/>
                <a:gd name="T34" fmla="*/ 8457 w 21137"/>
                <a:gd name="T35" fmla="*/ 956 h 1300"/>
                <a:gd name="T36" fmla="*/ 7746 w 21137"/>
                <a:gd name="T37" fmla="*/ 953 h 1300"/>
                <a:gd name="T38" fmla="*/ 8119 w 21137"/>
                <a:gd name="T39" fmla="*/ 754 h 1300"/>
                <a:gd name="T40" fmla="*/ 10671 w 21137"/>
                <a:gd name="T41" fmla="*/ 1119 h 1300"/>
                <a:gd name="T42" fmla="*/ 11202 w 21137"/>
                <a:gd name="T43" fmla="*/ 16 h 1300"/>
                <a:gd name="T44" fmla="*/ 11383 w 21137"/>
                <a:gd name="T45" fmla="*/ 565 h 1300"/>
                <a:gd name="T46" fmla="*/ 11383 w 21137"/>
                <a:gd name="T47" fmla="*/ 1122 h 1300"/>
                <a:gd name="T48" fmla="*/ 11202 w 21137"/>
                <a:gd name="T49" fmla="*/ 16 h 1300"/>
                <a:gd name="T50" fmla="*/ 13458 w 21137"/>
                <a:gd name="T51" fmla="*/ 1285 h 1300"/>
                <a:gd name="T52" fmla="*/ 12402 w 21137"/>
                <a:gd name="T53" fmla="*/ 1285 h 1300"/>
                <a:gd name="T54" fmla="*/ 12819 w 21137"/>
                <a:gd name="T55" fmla="*/ 748 h 1300"/>
                <a:gd name="T56" fmla="*/ 14478 w 21137"/>
                <a:gd name="T57" fmla="*/ 16 h 1300"/>
                <a:gd name="T58" fmla="*/ 14682 w 21137"/>
                <a:gd name="T59" fmla="*/ 682 h 1300"/>
                <a:gd name="T60" fmla="*/ 15138 w 21137"/>
                <a:gd name="T61" fmla="*/ 1285 h 1300"/>
                <a:gd name="T62" fmla="*/ 14820 w 21137"/>
                <a:gd name="T63" fmla="*/ 1136 h 1300"/>
                <a:gd name="T64" fmla="*/ 14516 w 21137"/>
                <a:gd name="T65" fmla="*/ 754 h 1300"/>
                <a:gd name="T66" fmla="*/ 14160 w 21137"/>
                <a:gd name="T67" fmla="*/ 1285 h 1300"/>
                <a:gd name="T68" fmla="*/ 14411 w 21137"/>
                <a:gd name="T69" fmla="*/ 572 h 1300"/>
                <a:gd name="T70" fmla="*/ 14677 w 21137"/>
                <a:gd name="T71" fmla="*/ 260 h 1300"/>
                <a:gd name="T72" fmla="*/ 16830 w 21137"/>
                <a:gd name="T73" fmla="*/ 16 h 1300"/>
                <a:gd name="T74" fmla="*/ 15827 w 21137"/>
                <a:gd name="T75" fmla="*/ 1285 h 1300"/>
                <a:gd name="T76" fmla="*/ 16658 w 21137"/>
                <a:gd name="T77" fmla="*/ 1002 h 1300"/>
                <a:gd name="T78" fmla="*/ 17658 w 21137"/>
                <a:gd name="T79" fmla="*/ 1285 h 1300"/>
                <a:gd name="T80" fmla="*/ 19493 w 21137"/>
                <a:gd name="T81" fmla="*/ 16 h 1300"/>
                <a:gd name="T82" fmla="*/ 18488 w 21137"/>
                <a:gd name="T83" fmla="*/ 1285 h 1300"/>
                <a:gd name="T84" fmla="*/ 19320 w 21137"/>
                <a:gd name="T85" fmla="*/ 1002 h 1300"/>
                <a:gd name="T86" fmla="*/ 21137 w 21137"/>
                <a:gd name="T87" fmla="*/ 1198 h 1300"/>
                <a:gd name="T88" fmla="*/ 20176 w 21137"/>
                <a:gd name="T89" fmla="*/ 189 h 1300"/>
                <a:gd name="T90" fmla="*/ 21112 w 21137"/>
                <a:gd name="T91" fmla="*/ 293 h 1300"/>
                <a:gd name="T92" fmla="*/ 20311 w 21137"/>
                <a:gd name="T93" fmla="*/ 1004 h 1300"/>
                <a:gd name="T94" fmla="*/ 20956 w 21137"/>
                <a:gd name="T95" fmla="*/ 821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137" h="1300">
                  <a:moveTo>
                    <a:pt x="545" y="9"/>
                  </a:moveTo>
                  <a:cubicBezTo>
                    <a:pt x="672" y="9"/>
                    <a:pt x="672" y="9"/>
                    <a:pt x="672" y="9"/>
                  </a:cubicBezTo>
                  <a:cubicBezTo>
                    <a:pt x="1241" y="1285"/>
                    <a:pt x="1241" y="1285"/>
                    <a:pt x="1241" y="1285"/>
                  </a:cubicBezTo>
                  <a:cubicBezTo>
                    <a:pt x="1055" y="1285"/>
                    <a:pt x="1055" y="1285"/>
                    <a:pt x="1055" y="1285"/>
                  </a:cubicBezTo>
                  <a:cubicBezTo>
                    <a:pt x="886" y="909"/>
                    <a:pt x="886" y="909"/>
                    <a:pt x="886" y="909"/>
                  </a:cubicBezTo>
                  <a:cubicBezTo>
                    <a:pt x="345" y="909"/>
                    <a:pt x="345" y="909"/>
                    <a:pt x="345" y="909"/>
                  </a:cubicBezTo>
                  <a:cubicBezTo>
                    <a:pt x="186" y="1285"/>
                    <a:pt x="186" y="1285"/>
                    <a:pt x="186" y="1285"/>
                  </a:cubicBezTo>
                  <a:cubicBezTo>
                    <a:pt x="0" y="1285"/>
                    <a:pt x="0" y="1285"/>
                    <a:pt x="0" y="1285"/>
                  </a:cubicBezTo>
                  <a:lnTo>
                    <a:pt x="545" y="9"/>
                  </a:lnTo>
                  <a:close/>
                  <a:moveTo>
                    <a:pt x="812" y="748"/>
                  </a:moveTo>
                  <a:cubicBezTo>
                    <a:pt x="607" y="287"/>
                    <a:pt x="607" y="287"/>
                    <a:pt x="607" y="287"/>
                  </a:cubicBezTo>
                  <a:cubicBezTo>
                    <a:pt x="417" y="748"/>
                    <a:pt x="417" y="748"/>
                    <a:pt x="417" y="748"/>
                  </a:cubicBezTo>
                  <a:lnTo>
                    <a:pt x="812" y="748"/>
                  </a:lnTo>
                  <a:close/>
                  <a:moveTo>
                    <a:pt x="1678" y="16"/>
                  </a:moveTo>
                  <a:cubicBezTo>
                    <a:pt x="1860" y="16"/>
                    <a:pt x="1860" y="16"/>
                    <a:pt x="1860" y="16"/>
                  </a:cubicBezTo>
                  <a:cubicBezTo>
                    <a:pt x="1860" y="1119"/>
                    <a:pt x="1860" y="1119"/>
                    <a:pt x="1860" y="1119"/>
                  </a:cubicBezTo>
                  <a:cubicBezTo>
                    <a:pt x="2431" y="1119"/>
                    <a:pt x="2431" y="1119"/>
                    <a:pt x="2431" y="1119"/>
                  </a:cubicBezTo>
                  <a:cubicBezTo>
                    <a:pt x="2431" y="1285"/>
                    <a:pt x="2431" y="1285"/>
                    <a:pt x="2431" y="1285"/>
                  </a:cubicBezTo>
                  <a:cubicBezTo>
                    <a:pt x="1678" y="1285"/>
                    <a:pt x="1678" y="1285"/>
                    <a:pt x="1678" y="1285"/>
                  </a:cubicBezTo>
                  <a:lnTo>
                    <a:pt x="1678" y="16"/>
                  </a:lnTo>
                  <a:close/>
                  <a:moveTo>
                    <a:pt x="4392" y="16"/>
                  </a:moveTo>
                  <a:cubicBezTo>
                    <a:pt x="4573" y="16"/>
                    <a:pt x="4573" y="16"/>
                    <a:pt x="4573" y="16"/>
                  </a:cubicBezTo>
                  <a:cubicBezTo>
                    <a:pt x="4061" y="1290"/>
                    <a:pt x="4061" y="1290"/>
                    <a:pt x="4061" y="1290"/>
                  </a:cubicBezTo>
                  <a:cubicBezTo>
                    <a:pt x="4021" y="1290"/>
                    <a:pt x="4021" y="1290"/>
                    <a:pt x="4021" y="1290"/>
                  </a:cubicBezTo>
                  <a:cubicBezTo>
                    <a:pt x="3606" y="258"/>
                    <a:pt x="3606" y="258"/>
                    <a:pt x="3606" y="258"/>
                  </a:cubicBezTo>
                  <a:cubicBezTo>
                    <a:pt x="3187" y="1290"/>
                    <a:pt x="3187" y="1290"/>
                    <a:pt x="3187" y="1290"/>
                  </a:cubicBezTo>
                  <a:cubicBezTo>
                    <a:pt x="3147" y="1290"/>
                    <a:pt x="3147" y="1290"/>
                    <a:pt x="3147" y="1290"/>
                  </a:cubicBezTo>
                  <a:cubicBezTo>
                    <a:pt x="2636" y="16"/>
                    <a:pt x="2636" y="16"/>
                    <a:pt x="2636" y="16"/>
                  </a:cubicBezTo>
                  <a:cubicBezTo>
                    <a:pt x="2819" y="16"/>
                    <a:pt x="2819" y="16"/>
                    <a:pt x="2819" y="16"/>
                  </a:cubicBezTo>
                  <a:cubicBezTo>
                    <a:pt x="3168" y="891"/>
                    <a:pt x="3168" y="891"/>
                    <a:pt x="3168" y="891"/>
                  </a:cubicBezTo>
                  <a:cubicBezTo>
                    <a:pt x="3521" y="16"/>
                    <a:pt x="3521" y="16"/>
                    <a:pt x="3521" y="16"/>
                  </a:cubicBezTo>
                  <a:cubicBezTo>
                    <a:pt x="3693" y="16"/>
                    <a:pt x="3693" y="16"/>
                    <a:pt x="3693" y="16"/>
                  </a:cubicBezTo>
                  <a:cubicBezTo>
                    <a:pt x="4047" y="891"/>
                    <a:pt x="4047" y="891"/>
                    <a:pt x="4047" y="891"/>
                  </a:cubicBezTo>
                  <a:lnTo>
                    <a:pt x="4392" y="16"/>
                  </a:lnTo>
                  <a:close/>
                  <a:moveTo>
                    <a:pt x="5343" y="9"/>
                  </a:moveTo>
                  <a:cubicBezTo>
                    <a:pt x="5470" y="9"/>
                    <a:pt x="5470" y="9"/>
                    <a:pt x="5470" y="9"/>
                  </a:cubicBezTo>
                  <a:cubicBezTo>
                    <a:pt x="6039" y="1285"/>
                    <a:pt x="6039" y="1285"/>
                    <a:pt x="6039" y="1285"/>
                  </a:cubicBezTo>
                  <a:cubicBezTo>
                    <a:pt x="5853" y="1285"/>
                    <a:pt x="5853" y="1285"/>
                    <a:pt x="5853" y="1285"/>
                  </a:cubicBezTo>
                  <a:cubicBezTo>
                    <a:pt x="5685" y="909"/>
                    <a:pt x="5685" y="909"/>
                    <a:pt x="5685" y="909"/>
                  </a:cubicBezTo>
                  <a:cubicBezTo>
                    <a:pt x="5143" y="909"/>
                    <a:pt x="5143" y="909"/>
                    <a:pt x="5143" y="909"/>
                  </a:cubicBezTo>
                  <a:cubicBezTo>
                    <a:pt x="4984" y="1285"/>
                    <a:pt x="4984" y="1285"/>
                    <a:pt x="4984" y="1285"/>
                  </a:cubicBezTo>
                  <a:cubicBezTo>
                    <a:pt x="4798" y="1285"/>
                    <a:pt x="4798" y="1285"/>
                    <a:pt x="4798" y="1285"/>
                  </a:cubicBezTo>
                  <a:lnTo>
                    <a:pt x="5343" y="9"/>
                  </a:lnTo>
                  <a:close/>
                  <a:moveTo>
                    <a:pt x="5610" y="748"/>
                  </a:moveTo>
                  <a:cubicBezTo>
                    <a:pt x="5405" y="287"/>
                    <a:pt x="5405" y="287"/>
                    <a:pt x="5405" y="287"/>
                  </a:cubicBezTo>
                  <a:cubicBezTo>
                    <a:pt x="5215" y="748"/>
                    <a:pt x="5215" y="748"/>
                    <a:pt x="5215" y="748"/>
                  </a:cubicBezTo>
                  <a:lnTo>
                    <a:pt x="5610" y="748"/>
                  </a:lnTo>
                  <a:close/>
                  <a:moveTo>
                    <a:pt x="7109" y="16"/>
                  </a:moveTo>
                  <a:cubicBezTo>
                    <a:pt x="7330" y="16"/>
                    <a:pt x="7330" y="16"/>
                    <a:pt x="7330" y="16"/>
                  </a:cubicBezTo>
                  <a:cubicBezTo>
                    <a:pt x="6861" y="614"/>
                    <a:pt x="6861" y="614"/>
                    <a:pt x="6861" y="614"/>
                  </a:cubicBezTo>
                  <a:cubicBezTo>
                    <a:pt x="6861" y="1285"/>
                    <a:pt x="6861" y="1285"/>
                    <a:pt x="6861" y="1285"/>
                  </a:cubicBezTo>
                  <a:cubicBezTo>
                    <a:pt x="6675" y="1285"/>
                    <a:pt x="6675" y="1285"/>
                    <a:pt x="6675" y="1285"/>
                  </a:cubicBezTo>
                  <a:cubicBezTo>
                    <a:pt x="6675" y="614"/>
                    <a:pt x="6675" y="614"/>
                    <a:pt x="6675" y="614"/>
                  </a:cubicBezTo>
                  <a:cubicBezTo>
                    <a:pt x="6206" y="16"/>
                    <a:pt x="6206" y="16"/>
                    <a:pt x="6206" y="16"/>
                  </a:cubicBezTo>
                  <a:cubicBezTo>
                    <a:pt x="6426" y="16"/>
                    <a:pt x="6426" y="16"/>
                    <a:pt x="6426" y="16"/>
                  </a:cubicBezTo>
                  <a:cubicBezTo>
                    <a:pt x="6765" y="453"/>
                    <a:pt x="6765" y="453"/>
                    <a:pt x="6765" y="453"/>
                  </a:cubicBezTo>
                  <a:lnTo>
                    <a:pt x="7109" y="16"/>
                  </a:lnTo>
                  <a:close/>
                  <a:moveTo>
                    <a:pt x="8119" y="754"/>
                  </a:moveTo>
                  <a:cubicBezTo>
                    <a:pt x="7981" y="670"/>
                    <a:pt x="7981" y="670"/>
                    <a:pt x="7981" y="670"/>
                  </a:cubicBezTo>
                  <a:cubicBezTo>
                    <a:pt x="7894" y="617"/>
                    <a:pt x="7833" y="565"/>
                    <a:pt x="7796" y="514"/>
                  </a:cubicBezTo>
                  <a:cubicBezTo>
                    <a:pt x="7759" y="463"/>
                    <a:pt x="7741" y="404"/>
                    <a:pt x="7741" y="337"/>
                  </a:cubicBezTo>
                  <a:cubicBezTo>
                    <a:pt x="7741" y="236"/>
                    <a:pt x="7776" y="157"/>
                    <a:pt x="7845" y="93"/>
                  </a:cubicBezTo>
                  <a:cubicBezTo>
                    <a:pt x="7914" y="31"/>
                    <a:pt x="8005" y="0"/>
                    <a:pt x="8115" y="0"/>
                  </a:cubicBezTo>
                  <a:cubicBezTo>
                    <a:pt x="8221" y="0"/>
                    <a:pt x="8318" y="30"/>
                    <a:pt x="8407" y="89"/>
                  </a:cubicBezTo>
                  <a:cubicBezTo>
                    <a:pt x="8407" y="295"/>
                    <a:pt x="8407" y="295"/>
                    <a:pt x="8407" y="295"/>
                  </a:cubicBezTo>
                  <a:cubicBezTo>
                    <a:pt x="8315" y="208"/>
                    <a:pt x="8217" y="164"/>
                    <a:pt x="8112" y="164"/>
                  </a:cubicBezTo>
                  <a:cubicBezTo>
                    <a:pt x="8052" y="164"/>
                    <a:pt x="8004" y="177"/>
                    <a:pt x="7965" y="204"/>
                  </a:cubicBezTo>
                  <a:cubicBezTo>
                    <a:pt x="7927" y="232"/>
                    <a:pt x="7908" y="267"/>
                    <a:pt x="7908" y="309"/>
                  </a:cubicBezTo>
                  <a:cubicBezTo>
                    <a:pt x="7908" y="348"/>
                    <a:pt x="7922" y="384"/>
                    <a:pt x="7950" y="416"/>
                  </a:cubicBezTo>
                  <a:cubicBezTo>
                    <a:pt x="7979" y="450"/>
                    <a:pt x="8023" y="485"/>
                    <a:pt x="8086" y="521"/>
                  </a:cubicBezTo>
                  <a:cubicBezTo>
                    <a:pt x="8224" y="603"/>
                    <a:pt x="8224" y="603"/>
                    <a:pt x="8224" y="603"/>
                  </a:cubicBezTo>
                  <a:cubicBezTo>
                    <a:pt x="8379" y="696"/>
                    <a:pt x="8457" y="813"/>
                    <a:pt x="8457" y="956"/>
                  </a:cubicBezTo>
                  <a:cubicBezTo>
                    <a:pt x="8457" y="1057"/>
                    <a:pt x="8423" y="1141"/>
                    <a:pt x="8355" y="1204"/>
                  </a:cubicBezTo>
                  <a:cubicBezTo>
                    <a:pt x="8287" y="1268"/>
                    <a:pt x="8198" y="1300"/>
                    <a:pt x="8089" y="1300"/>
                  </a:cubicBezTo>
                  <a:cubicBezTo>
                    <a:pt x="7964" y="1300"/>
                    <a:pt x="7849" y="1261"/>
                    <a:pt x="7746" y="1185"/>
                  </a:cubicBezTo>
                  <a:cubicBezTo>
                    <a:pt x="7746" y="953"/>
                    <a:pt x="7746" y="953"/>
                    <a:pt x="7746" y="953"/>
                  </a:cubicBezTo>
                  <a:cubicBezTo>
                    <a:pt x="7845" y="1077"/>
                    <a:pt x="7958" y="1140"/>
                    <a:pt x="8087" y="1140"/>
                  </a:cubicBezTo>
                  <a:cubicBezTo>
                    <a:pt x="8144" y="1140"/>
                    <a:pt x="8192" y="1124"/>
                    <a:pt x="8229" y="1092"/>
                  </a:cubicBezTo>
                  <a:cubicBezTo>
                    <a:pt x="8267" y="1061"/>
                    <a:pt x="8286" y="1021"/>
                    <a:pt x="8286" y="973"/>
                  </a:cubicBezTo>
                  <a:cubicBezTo>
                    <a:pt x="8286" y="896"/>
                    <a:pt x="8230" y="823"/>
                    <a:pt x="8119" y="754"/>
                  </a:cubicBezTo>
                  <a:moveTo>
                    <a:pt x="9917" y="16"/>
                  </a:moveTo>
                  <a:cubicBezTo>
                    <a:pt x="10099" y="16"/>
                    <a:pt x="10099" y="16"/>
                    <a:pt x="10099" y="16"/>
                  </a:cubicBezTo>
                  <a:cubicBezTo>
                    <a:pt x="10099" y="1119"/>
                    <a:pt x="10099" y="1119"/>
                    <a:pt x="10099" y="1119"/>
                  </a:cubicBezTo>
                  <a:cubicBezTo>
                    <a:pt x="10671" y="1119"/>
                    <a:pt x="10671" y="1119"/>
                    <a:pt x="10671" y="1119"/>
                  </a:cubicBezTo>
                  <a:cubicBezTo>
                    <a:pt x="10671" y="1285"/>
                    <a:pt x="10671" y="1285"/>
                    <a:pt x="10671" y="1285"/>
                  </a:cubicBezTo>
                  <a:cubicBezTo>
                    <a:pt x="9917" y="1285"/>
                    <a:pt x="9917" y="1285"/>
                    <a:pt x="9917" y="1285"/>
                  </a:cubicBezTo>
                  <a:lnTo>
                    <a:pt x="9917" y="16"/>
                  </a:lnTo>
                  <a:close/>
                  <a:moveTo>
                    <a:pt x="11202" y="16"/>
                  </a:moveTo>
                  <a:cubicBezTo>
                    <a:pt x="11921" y="16"/>
                    <a:pt x="11921" y="16"/>
                    <a:pt x="11921" y="16"/>
                  </a:cubicBezTo>
                  <a:cubicBezTo>
                    <a:pt x="11921" y="177"/>
                    <a:pt x="11921" y="177"/>
                    <a:pt x="11921" y="177"/>
                  </a:cubicBezTo>
                  <a:cubicBezTo>
                    <a:pt x="11383" y="177"/>
                    <a:pt x="11383" y="177"/>
                    <a:pt x="11383" y="177"/>
                  </a:cubicBezTo>
                  <a:cubicBezTo>
                    <a:pt x="11383" y="565"/>
                    <a:pt x="11383" y="565"/>
                    <a:pt x="11383" y="565"/>
                  </a:cubicBezTo>
                  <a:cubicBezTo>
                    <a:pt x="11903" y="565"/>
                    <a:pt x="11903" y="565"/>
                    <a:pt x="11903" y="565"/>
                  </a:cubicBezTo>
                  <a:cubicBezTo>
                    <a:pt x="11903" y="727"/>
                    <a:pt x="11903" y="727"/>
                    <a:pt x="11903" y="727"/>
                  </a:cubicBezTo>
                  <a:cubicBezTo>
                    <a:pt x="11383" y="727"/>
                    <a:pt x="11383" y="727"/>
                    <a:pt x="11383" y="727"/>
                  </a:cubicBezTo>
                  <a:cubicBezTo>
                    <a:pt x="11383" y="1122"/>
                    <a:pt x="11383" y="1122"/>
                    <a:pt x="11383" y="1122"/>
                  </a:cubicBezTo>
                  <a:cubicBezTo>
                    <a:pt x="11939" y="1122"/>
                    <a:pt x="11939" y="1122"/>
                    <a:pt x="11939" y="1122"/>
                  </a:cubicBezTo>
                  <a:cubicBezTo>
                    <a:pt x="11939" y="1283"/>
                    <a:pt x="11939" y="1283"/>
                    <a:pt x="11939" y="1283"/>
                  </a:cubicBezTo>
                  <a:cubicBezTo>
                    <a:pt x="11202" y="1283"/>
                    <a:pt x="11202" y="1283"/>
                    <a:pt x="11202" y="1283"/>
                  </a:cubicBezTo>
                  <a:lnTo>
                    <a:pt x="11202" y="16"/>
                  </a:lnTo>
                  <a:close/>
                  <a:moveTo>
                    <a:pt x="12946" y="9"/>
                  </a:moveTo>
                  <a:cubicBezTo>
                    <a:pt x="13075" y="9"/>
                    <a:pt x="13075" y="9"/>
                    <a:pt x="13075" y="9"/>
                  </a:cubicBezTo>
                  <a:cubicBezTo>
                    <a:pt x="13643" y="1285"/>
                    <a:pt x="13643" y="1285"/>
                    <a:pt x="13643" y="1285"/>
                  </a:cubicBezTo>
                  <a:cubicBezTo>
                    <a:pt x="13458" y="1285"/>
                    <a:pt x="13458" y="1285"/>
                    <a:pt x="13458" y="1285"/>
                  </a:cubicBezTo>
                  <a:cubicBezTo>
                    <a:pt x="13288" y="909"/>
                    <a:pt x="13288" y="909"/>
                    <a:pt x="13288" y="909"/>
                  </a:cubicBezTo>
                  <a:cubicBezTo>
                    <a:pt x="12746" y="909"/>
                    <a:pt x="12746" y="909"/>
                    <a:pt x="12746" y="909"/>
                  </a:cubicBezTo>
                  <a:cubicBezTo>
                    <a:pt x="12588" y="1285"/>
                    <a:pt x="12588" y="1285"/>
                    <a:pt x="12588" y="1285"/>
                  </a:cubicBezTo>
                  <a:cubicBezTo>
                    <a:pt x="12402" y="1285"/>
                    <a:pt x="12402" y="1285"/>
                    <a:pt x="12402" y="1285"/>
                  </a:cubicBezTo>
                  <a:lnTo>
                    <a:pt x="12946" y="9"/>
                  </a:lnTo>
                  <a:close/>
                  <a:moveTo>
                    <a:pt x="13214" y="748"/>
                  </a:moveTo>
                  <a:cubicBezTo>
                    <a:pt x="13009" y="287"/>
                    <a:pt x="13009" y="287"/>
                    <a:pt x="13009" y="287"/>
                  </a:cubicBezTo>
                  <a:cubicBezTo>
                    <a:pt x="12819" y="748"/>
                    <a:pt x="12819" y="748"/>
                    <a:pt x="12819" y="748"/>
                  </a:cubicBezTo>
                  <a:lnTo>
                    <a:pt x="13214" y="748"/>
                  </a:lnTo>
                  <a:close/>
                  <a:moveTo>
                    <a:pt x="14160" y="1285"/>
                  </a:moveTo>
                  <a:cubicBezTo>
                    <a:pt x="14160" y="16"/>
                    <a:pt x="14160" y="16"/>
                    <a:pt x="14160" y="16"/>
                  </a:cubicBezTo>
                  <a:cubicBezTo>
                    <a:pt x="14478" y="16"/>
                    <a:pt x="14478" y="16"/>
                    <a:pt x="14478" y="16"/>
                  </a:cubicBezTo>
                  <a:cubicBezTo>
                    <a:pt x="14606" y="16"/>
                    <a:pt x="14708" y="48"/>
                    <a:pt x="14784" y="112"/>
                  </a:cubicBezTo>
                  <a:cubicBezTo>
                    <a:pt x="14859" y="175"/>
                    <a:pt x="14896" y="261"/>
                    <a:pt x="14896" y="369"/>
                  </a:cubicBezTo>
                  <a:cubicBezTo>
                    <a:pt x="14896" y="444"/>
                    <a:pt x="14878" y="507"/>
                    <a:pt x="14841" y="560"/>
                  </a:cubicBezTo>
                  <a:cubicBezTo>
                    <a:pt x="14804" y="616"/>
                    <a:pt x="14751" y="655"/>
                    <a:pt x="14682" y="682"/>
                  </a:cubicBezTo>
                  <a:cubicBezTo>
                    <a:pt x="14723" y="708"/>
                    <a:pt x="14762" y="745"/>
                    <a:pt x="14801" y="791"/>
                  </a:cubicBezTo>
                  <a:cubicBezTo>
                    <a:pt x="14840" y="837"/>
                    <a:pt x="14895" y="917"/>
                    <a:pt x="14964" y="1031"/>
                  </a:cubicBezTo>
                  <a:cubicBezTo>
                    <a:pt x="15008" y="1103"/>
                    <a:pt x="15045" y="1158"/>
                    <a:pt x="15071" y="1195"/>
                  </a:cubicBezTo>
                  <a:cubicBezTo>
                    <a:pt x="15138" y="1285"/>
                    <a:pt x="15138" y="1285"/>
                    <a:pt x="15138" y="1285"/>
                  </a:cubicBezTo>
                  <a:cubicBezTo>
                    <a:pt x="14922" y="1285"/>
                    <a:pt x="14922" y="1285"/>
                    <a:pt x="14922" y="1285"/>
                  </a:cubicBezTo>
                  <a:cubicBezTo>
                    <a:pt x="14867" y="1201"/>
                    <a:pt x="14867" y="1201"/>
                    <a:pt x="14867" y="1201"/>
                  </a:cubicBezTo>
                  <a:cubicBezTo>
                    <a:pt x="14865" y="1199"/>
                    <a:pt x="14861" y="1193"/>
                    <a:pt x="14856" y="1186"/>
                  </a:cubicBezTo>
                  <a:cubicBezTo>
                    <a:pt x="14820" y="1136"/>
                    <a:pt x="14820" y="1136"/>
                    <a:pt x="14820" y="1136"/>
                  </a:cubicBezTo>
                  <a:cubicBezTo>
                    <a:pt x="14764" y="1043"/>
                    <a:pt x="14764" y="1043"/>
                    <a:pt x="14764" y="1043"/>
                  </a:cubicBezTo>
                  <a:cubicBezTo>
                    <a:pt x="14704" y="944"/>
                    <a:pt x="14704" y="944"/>
                    <a:pt x="14704" y="944"/>
                  </a:cubicBezTo>
                  <a:cubicBezTo>
                    <a:pt x="14666" y="893"/>
                    <a:pt x="14631" y="851"/>
                    <a:pt x="14600" y="820"/>
                  </a:cubicBezTo>
                  <a:cubicBezTo>
                    <a:pt x="14569" y="788"/>
                    <a:pt x="14541" y="767"/>
                    <a:pt x="14516" y="754"/>
                  </a:cubicBezTo>
                  <a:cubicBezTo>
                    <a:pt x="14490" y="740"/>
                    <a:pt x="14449" y="733"/>
                    <a:pt x="14389" y="733"/>
                  </a:cubicBezTo>
                  <a:cubicBezTo>
                    <a:pt x="14342" y="733"/>
                    <a:pt x="14342" y="733"/>
                    <a:pt x="14342" y="733"/>
                  </a:cubicBezTo>
                  <a:cubicBezTo>
                    <a:pt x="14342" y="1285"/>
                    <a:pt x="14342" y="1285"/>
                    <a:pt x="14342" y="1285"/>
                  </a:cubicBezTo>
                  <a:lnTo>
                    <a:pt x="14160" y="1285"/>
                  </a:lnTo>
                  <a:close/>
                  <a:moveTo>
                    <a:pt x="14396" y="170"/>
                  </a:moveTo>
                  <a:cubicBezTo>
                    <a:pt x="14342" y="170"/>
                    <a:pt x="14342" y="170"/>
                    <a:pt x="14342" y="170"/>
                  </a:cubicBezTo>
                  <a:cubicBezTo>
                    <a:pt x="14342" y="572"/>
                    <a:pt x="14342" y="572"/>
                    <a:pt x="14342" y="572"/>
                  </a:cubicBezTo>
                  <a:cubicBezTo>
                    <a:pt x="14411" y="572"/>
                    <a:pt x="14411" y="572"/>
                    <a:pt x="14411" y="572"/>
                  </a:cubicBezTo>
                  <a:cubicBezTo>
                    <a:pt x="14503" y="572"/>
                    <a:pt x="14566" y="564"/>
                    <a:pt x="14600" y="548"/>
                  </a:cubicBezTo>
                  <a:cubicBezTo>
                    <a:pt x="14634" y="531"/>
                    <a:pt x="14661" y="508"/>
                    <a:pt x="14680" y="476"/>
                  </a:cubicBezTo>
                  <a:cubicBezTo>
                    <a:pt x="14699" y="445"/>
                    <a:pt x="14709" y="408"/>
                    <a:pt x="14709" y="368"/>
                  </a:cubicBezTo>
                  <a:cubicBezTo>
                    <a:pt x="14709" y="327"/>
                    <a:pt x="14698" y="292"/>
                    <a:pt x="14677" y="260"/>
                  </a:cubicBezTo>
                  <a:cubicBezTo>
                    <a:pt x="14655" y="227"/>
                    <a:pt x="14626" y="204"/>
                    <a:pt x="14587" y="191"/>
                  </a:cubicBezTo>
                  <a:cubicBezTo>
                    <a:pt x="14548" y="177"/>
                    <a:pt x="14485" y="170"/>
                    <a:pt x="14396" y="170"/>
                  </a:cubicBezTo>
                  <a:moveTo>
                    <a:pt x="16658" y="16"/>
                  </a:moveTo>
                  <a:cubicBezTo>
                    <a:pt x="16830" y="16"/>
                    <a:pt x="16830" y="16"/>
                    <a:pt x="16830" y="16"/>
                  </a:cubicBezTo>
                  <a:cubicBezTo>
                    <a:pt x="16830" y="1285"/>
                    <a:pt x="16830" y="1285"/>
                    <a:pt x="16830" y="1285"/>
                  </a:cubicBezTo>
                  <a:cubicBezTo>
                    <a:pt x="16675" y="1285"/>
                    <a:pt x="16675" y="1285"/>
                    <a:pt x="16675" y="1285"/>
                  </a:cubicBezTo>
                  <a:cubicBezTo>
                    <a:pt x="15827" y="308"/>
                    <a:pt x="15827" y="308"/>
                    <a:pt x="15827" y="308"/>
                  </a:cubicBezTo>
                  <a:cubicBezTo>
                    <a:pt x="15827" y="1285"/>
                    <a:pt x="15827" y="1285"/>
                    <a:pt x="15827" y="1285"/>
                  </a:cubicBezTo>
                  <a:cubicBezTo>
                    <a:pt x="15656" y="1285"/>
                    <a:pt x="15656" y="1285"/>
                    <a:pt x="15656" y="1285"/>
                  </a:cubicBezTo>
                  <a:cubicBezTo>
                    <a:pt x="15656" y="16"/>
                    <a:pt x="15656" y="16"/>
                    <a:pt x="15656" y="16"/>
                  </a:cubicBezTo>
                  <a:cubicBezTo>
                    <a:pt x="15803" y="16"/>
                    <a:pt x="15803" y="16"/>
                    <a:pt x="15803" y="16"/>
                  </a:cubicBezTo>
                  <a:cubicBezTo>
                    <a:pt x="16658" y="1002"/>
                    <a:pt x="16658" y="1002"/>
                    <a:pt x="16658" y="1002"/>
                  </a:cubicBezTo>
                  <a:lnTo>
                    <a:pt x="16658" y="16"/>
                  </a:lnTo>
                  <a:close/>
                  <a:moveTo>
                    <a:pt x="17477" y="16"/>
                  </a:moveTo>
                  <a:cubicBezTo>
                    <a:pt x="17658" y="16"/>
                    <a:pt x="17658" y="16"/>
                    <a:pt x="17658" y="16"/>
                  </a:cubicBezTo>
                  <a:cubicBezTo>
                    <a:pt x="17658" y="1285"/>
                    <a:pt x="17658" y="1285"/>
                    <a:pt x="17658" y="1285"/>
                  </a:cubicBezTo>
                  <a:cubicBezTo>
                    <a:pt x="17477" y="1285"/>
                    <a:pt x="17477" y="1285"/>
                    <a:pt x="17477" y="1285"/>
                  </a:cubicBezTo>
                  <a:lnTo>
                    <a:pt x="17477" y="16"/>
                  </a:lnTo>
                  <a:close/>
                  <a:moveTo>
                    <a:pt x="19320" y="16"/>
                  </a:moveTo>
                  <a:cubicBezTo>
                    <a:pt x="19493" y="16"/>
                    <a:pt x="19493" y="16"/>
                    <a:pt x="19493" y="16"/>
                  </a:cubicBezTo>
                  <a:cubicBezTo>
                    <a:pt x="19493" y="1285"/>
                    <a:pt x="19493" y="1285"/>
                    <a:pt x="19493" y="1285"/>
                  </a:cubicBezTo>
                  <a:cubicBezTo>
                    <a:pt x="19337" y="1285"/>
                    <a:pt x="19337" y="1285"/>
                    <a:pt x="19337" y="1285"/>
                  </a:cubicBezTo>
                  <a:cubicBezTo>
                    <a:pt x="18488" y="308"/>
                    <a:pt x="18488" y="308"/>
                    <a:pt x="18488" y="308"/>
                  </a:cubicBezTo>
                  <a:cubicBezTo>
                    <a:pt x="18488" y="1285"/>
                    <a:pt x="18488" y="1285"/>
                    <a:pt x="18488" y="1285"/>
                  </a:cubicBezTo>
                  <a:cubicBezTo>
                    <a:pt x="18317" y="1285"/>
                    <a:pt x="18317" y="1285"/>
                    <a:pt x="18317" y="1285"/>
                  </a:cubicBezTo>
                  <a:cubicBezTo>
                    <a:pt x="18317" y="16"/>
                    <a:pt x="18317" y="16"/>
                    <a:pt x="18317" y="16"/>
                  </a:cubicBezTo>
                  <a:cubicBezTo>
                    <a:pt x="18464" y="16"/>
                    <a:pt x="18464" y="16"/>
                    <a:pt x="18464" y="16"/>
                  </a:cubicBezTo>
                  <a:cubicBezTo>
                    <a:pt x="19320" y="1002"/>
                    <a:pt x="19320" y="1002"/>
                    <a:pt x="19320" y="1002"/>
                  </a:cubicBezTo>
                  <a:lnTo>
                    <a:pt x="19320" y="16"/>
                  </a:lnTo>
                  <a:close/>
                  <a:moveTo>
                    <a:pt x="20712" y="659"/>
                  </a:moveTo>
                  <a:cubicBezTo>
                    <a:pt x="21137" y="659"/>
                    <a:pt x="21137" y="659"/>
                    <a:pt x="21137" y="659"/>
                  </a:cubicBezTo>
                  <a:cubicBezTo>
                    <a:pt x="21137" y="1198"/>
                    <a:pt x="21137" y="1198"/>
                    <a:pt x="21137" y="1198"/>
                  </a:cubicBezTo>
                  <a:cubicBezTo>
                    <a:pt x="20981" y="1266"/>
                    <a:pt x="20826" y="1300"/>
                    <a:pt x="20673" y="1300"/>
                  </a:cubicBezTo>
                  <a:cubicBezTo>
                    <a:pt x="20463" y="1300"/>
                    <a:pt x="20294" y="1239"/>
                    <a:pt x="20169" y="1115"/>
                  </a:cubicBezTo>
                  <a:cubicBezTo>
                    <a:pt x="20043" y="994"/>
                    <a:pt x="19980" y="842"/>
                    <a:pt x="19980" y="662"/>
                  </a:cubicBezTo>
                  <a:cubicBezTo>
                    <a:pt x="19980" y="473"/>
                    <a:pt x="20045" y="314"/>
                    <a:pt x="20176" y="189"/>
                  </a:cubicBezTo>
                  <a:cubicBezTo>
                    <a:pt x="20306" y="63"/>
                    <a:pt x="20469" y="0"/>
                    <a:pt x="20666" y="0"/>
                  </a:cubicBezTo>
                  <a:cubicBezTo>
                    <a:pt x="20736" y="0"/>
                    <a:pt x="20804" y="8"/>
                    <a:pt x="20869" y="22"/>
                  </a:cubicBezTo>
                  <a:cubicBezTo>
                    <a:pt x="20933" y="39"/>
                    <a:pt x="21014" y="66"/>
                    <a:pt x="21112" y="109"/>
                  </a:cubicBezTo>
                  <a:cubicBezTo>
                    <a:pt x="21112" y="293"/>
                    <a:pt x="21112" y="293"/>
                    <a:pt x="21112" y="293"/>
                  </a:cubicBezTo>
                  <a:cubicBezTo>
                    <a:pt x="20961" y="205"/>
                    <a:pt x="20811" y="161"/>
                    <a:pt x="20661" y="161"/>
                  </a:cubicBezTo>
                  <a:cubicBezTo>
                    <a:pt x="20523" y="161"/>
                    <a:pt x="20407" y="209"/>
                    <a:pt x="20311" y="303"/>
                  </a:cubicBezTo>
                  <a:cubicBezTo>
                    <a:pt x="20215" y="397"/>
                    <a:pt x="20169" y="514"/>
                    <a:pt x="20169" y="651"/>
                  </a:cubicBezTo>
                  <a:cubicBezTo>
                    <a:pt x="20169" y="795"/>
                    <a:pt x="20215" y="913"/>
                    <a:pt x="20311" y="1004"/>
                  </a:cubicBezTo>
                  <a:cubicBezTo>
                    <a:pt x="20407" y="1096"/>
                    <a:pt x="20528" y="1142"/>
                    <a:pt x="20678" y="1142"/>
                  </a:cubicBezTo>
                  <a:cubicBezTo>
                    <a:pt x="20750" y="1142"/>
                    <a:pt x="20838" y="1125"/>
                    <a:pt x="20939" y="1092"/>
                  </a:cubicBezTo>
                  <a:cubicBezTo>
                    <a:pt x="20956" y="1087"/>
                    <a:pt x="20956" y="1087"/>
                    <a:pt x="20956" y="1087"/>
                  </a:cubicBezTo>
                  <a:cubicBezTo>
                    <a:pt x="20956" y="821"/>
                    <a:pt x="20956" y="821"/>
                    <a:pt x="20956" y="821"/>
                  </a:cubicBezTo>
                  <a:cubicBezTo>
                    <a:pt x="20712" y="821"/>
                    <a:pt x="20712" y="821"/>
                    <a:pt x="20712" y="821"/>
                  </a:cubicBezTo>
                  <a:lnTo>
                    <a:pt x="20712" y="65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gr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755" y="6211761"/>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39734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4"/>
          </p:nvPr>
        </p:nvSpPr>
        <p:spPr>
          <a:xfrm>
            <a:off x="468313" y="5013175"/>
            <a:ext cx="8280400" cy="1295549"/>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endParaRPr lang="en-IN" dirty="0"/>
          </a:p>
        </p:txBody>
      </p:sp>
    </p:spTree>
    <p:extLst>
      <p:ext uri="{BB962C8B-B14F-4D97-AF65-F5344CB8AC3E}">
        <p14:creationId xmlns:p14="http://schemas.microsoft.com/office/powerpoint/2010/main" val="3526922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0" indent="0">
              <a:buClr>
                <a:srgbClr val="007FA3"/>
              </a:buClr>
              <a:buSzPct val="100000"/>
              <a:buNone/>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
        <p:nvSpPr>
          <p:cNvPr id="9" name="Content Placeholder 8"/>
          <p:cNvSpPr>
            <a:spLocks noGrp="1"/>
          </p:cNvSpPr>
          <p:nvPr>
            <p:ph sz="quarter" idx="14"/>
          </p:nvPr>
        </p:nvSpPr>
        <p:spPr>
          <a:xfrm>
            <a:off x="468313" y="5013175"/>
            <a:ext cx="8280400" cy="1295549"/>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1538622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a:extLst>
              <a:ext uri="{FF2B5EF4-FFF2-40B4-BE49-F238E27FC236}">
                <a16:creationId xmlns:a16="http://schemas.microsoft.com/office/drawing/2014/main" id="{A86D8D65-0761-4EEF-9A51-BE3E5DD33334}"/>
              </a:ext>
            </a:extLst>
          </p:cNvPr>
          <p:cNvSpPr>
            <a:spLocks noGrp="1"/>
          </p:cNvSpPr>
          <p:nvPr>
            <p:ph sz="quarter" idx="13"/>
          </p:nvPr>
        </p:nvSpPr>
        <p:spPr>
          <a:xfrm>
            <a:off x="457200" y="1628775"/>
            <a:ext cx="1377950"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ADDB751-03D9-4D09-8F65-E090FE16F27B}"/>
              </a:ext>
            </a:extLst>
          </p:cNvPr>
          <p:cNvSpPr>
            <a:spLocks noGrp="1"/>
          </p:cNvSpPr>
          <p:nvPr>
            <p:ph sz="quarter" idx="14"/>
          </p:nvPr>
        </p:nvSpPr>
        <p:spPr>
          <a:xfrm>
            <a:off x="1979613" y="1700213"/>
            <a:ext cx="9366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59862159-C00A-42F8-96E6-40D81FE03BA3}"/>
              </a:ext>
            </a:extLst>
          </p:cNvPr>
          <p:cNvSpPr>
            <a:spLocks noGrp="1"/>
          </p:cNvSpPr>
          <p:nvPr>
            <p:ph sz="quarter" idx="15"/>
          </p:nvPr>
        </p:nvSpPr>
        <p:spPr>
          <a:xfrm>
            <a:off x="3203575" y="1844675"/>
            <a:ext cx="936625"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1DBE703D-B82C-4A93-8EDA-6BC2DFA55520}"/>
              </a:ext>
            </a:extLst>
          </p:cNvPr>
          <p:cNvSpPr>
            <a:spLocks noGrp="1"/>
          </p:cNvSpPr>
          <p:nvPr>
            <p:ph sz="quarter" idx="16"/>
          </p:nvPr>
        </p:nvSpPr>
        <p:spPr>
          <a:xfrm>
            <a:off x="4356100" y="1844675"/>
            <a:ext cx="1295400"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8F542A31-08B2-48B9-B7D7-36E42AB9B4AC}"/>
              </a:ext>
            </a:extLst>
          </p:cNvPr>
          <p:cNvSpPr>
            <a:spLocks noGrp="1"/>
          </p:cNvSpPr>
          <p:nvPr>
            <p:ph sz="quarter" idx="17"/>
          </p:nvPr>
        </p:nvSpPr>
        <p:spPr>
          <a:xfrm>
            <a:off x="5795963" y="1916113"/>
            <a:ext cx="1223962" cy="144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BB1F85E7-1F14-422D-9FB2-7D3CE62AC469}"/>
              </a:ext>
            </a:extLst>
          </p:cNvPr>
          <p:cNvSpPr>
            <a:spLocks noGrp="1"/>
          </p:cNvSpPr>
          <p:nvPr>
            <p:ph sz="quarter" idx="18"/>
          </p:nvPr>
        </p:nvSpPr>
        <p:spPr>
          <a:xfrm>
            <a:off x="539750" y="2636838"/>
            <a:ext cx="1008063"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A4FD5757-7391-4BED-B248-ED8013CFD6EC}"/>
              </a:ext>
            </a:extLst>
          </p:cNvPr>
          <p:cNvSpPr>
            <a:spLocks noGrp="1"/>
          </p:cNvSpPr>
          <p:nvPr>
            <p:ph sz="quarter" idx="19"/>
          </p:nvPr>
        </p:nvSpPr>
        <p:spPr>
          <a:xfrm>
            <a:off x="1835150" y="2708275"/>
            <a:ext cx="18002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21FCFA6E-9512-4D49-B23F-BE25DA91CCE5}"/>
              </a:ext>
            </a:extLst>
          </p:cNvPr>
          <p:cNvSpPr>
            <a:spLocks noGrp="1"/>
          </p:cNvSpPr>
          <p:nvPr>
            <p:ph sz="quarter" idx="20"/>
          </p:nvPr>
        </p:nvSpPr>
        <p:spPr>
          <a:xfrm>
            <a:off x="3851275" y="2708275"/>
            <a:ext cx="7207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9FBFF441-24D0-4000-ABD5-279FDBCBA848}"/>
              </a:ext>
            </a:extLst>
          </p:cNvPr>
          <p:cNvSpPr>
            <a:spLocks noGrp="1"/>
          </p:cNvSpPr>
          <p:nvPr>
            <p:ph sz="quarter" idx="21"/>
          </p:nvPr>
        </p:nvSpPr>
        <p:spPr>
          <a:xfrm>
            <a:off x="4859338" y="2852738"/>
            <a:ext cx="936625"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D17254F4-E158-428C-AF99-BB5E3AF645C4}"/>
              </a:ext>
            </a:extLst>
          </p:cNvPr>
          <p:cNvSpPr>
            <a:spLocks noGrp="1"/>
          </p:cNvSpPr>
          <p:nvPr>
            <p:ph sz="quarter" idx="22"/>
          </p:nvPr>
        </p:nvSpPr>
        <p:spPr>
          <a:xfrm>
            <a:off x="6011863" y="2997200"/>
            <a:ext cx="1223962" cy="257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0947FA81-4A5F-4211-B32D-72FB9143E3B6}"/>
              </a:ext>
            </a:extLst>
          </p:cNvPr>
          <p:cNvSpPr>
            <a:spLocks noGrp="1"/>
          </p:cNvSpPr>
          <p:nvPr>
            <p:ph sz="quarter" idx="23"/>
          </p:nvPr>
        </p:nvSpPr>
        <p:spPr>
          <a:xfrm>
            <a:off x="457200" y="3429000"/>
            <a:ext cx="1235075" cy="576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B151B7FF-CCEF-48EF-A939-81B6724F74A7}"/>
              </a:ext>
            </a:extLst>
          </p:cNvPr>
          <p:cNvSpPr>
            <a:spLocks noGrp="1"/>
          </p:cNvSpPr>
          <p:nvPr>
            <p:ph sz="quarter" idx="24"/>
          </p:nvPr>
        </p:nvSpPr>
        <p:spPr>
          <a:xfrm>
            <a:off x="1835150" y="3573463"/>
            <a:ext cx="1008063" cy="287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5BAE6649-E23E-4091-8262-89B3F8FEAD24}"/>
              </a:ext>
            </a:extLst>
          </p:cNvPr>
          <p:cNvSpPr>
            <a:spLocks noGrp="1"/>
          </p:cNvSpPr>
          <p:nvPr>
            <p:ph sz="quarter" idx="25"/>
          </p:nvPr>
        </p:nvSpPr>
        <p:spPr>
          <a:xfrm>
            <a:off x="3059113" y="3573463"/>
            <a:ext cx="1008062"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F1756D1-89F4-4A22-AEE4-EDF664434B44}"/>
              </a:ext>
            </a:extLst>
          </p:cNvPr>
          <p:cNvSpPr>
            <a:spLocks noGrp="1"/>
          </p:cNvSpPr>
          <p:nvPr>
            <p:ph sz="quarter" idx="26"/>
          </p:nvPr>
        </p:nvSpPr>
        <p:spPr>
          <a:xfrm>
            <a:off x="4356100" y="3716338"/>
            <a:ext cx="1077913"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B35734F6-A281-454B-ABAD-36D6FE6729C9}"/>
              </a:ext>
            </a:extLst>
          </p:cNvPr>
          <p:cNvSpPr>
            <a:spLocks noGrp="1"/>
          </p:cNvSpPr>
          <p:nvPr>
            <p:ph sz="quarter" idx="27"/>
          </p:nvPr>
        </p:nvSpPr>
        <p:spPr>
          <a:xfrm>
            <a:off x="5795963" y="3860800"/>
            <a:ext cx="1223962" cy="41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CAC0ACA8-F91A-4698-9F23-2644812432E0}"/>
              </a:ext>
            </a:extLst>
          </p:cNvPr>
          <p:cNvSpPr>
            <a:spLocks noGrp="1"/>
          </p:cNvSpPr>
          <p:nvPr>
            <p:ph sz="quarter" idx="28"/>
          </p:nvPr>
        </p:nvSpPr>
        <p:spPr>
          <a:xfrm>
            <a:off x="539750" y="4271963"/>
            <a:ext cx="1377950" cy="62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B6169D4C-61F2-4379-89B2-DCF5AEF3ABE7}"/>
              </a:ext>
            </a:extLst>
          </p:cNvPr>
          <p:cNvSpPr>
            <a:spLocks noGrp="1"/>
          </p:cNvSpPr>
          <p:nvPr>
            <p:ph sz="quarter" idx="29"/>
          </p:nvPr>
        </p:nvSpPr>
        <p:spPr>
          <a:xfrm>
            <a:off x="2268538" y="4437063"/>
            <a:ext cx="1295400" cy="67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Picture Placeholder 41">
            <a:extLst>
              <a:ext uri="{FF2B5EF4-FFF2-40B4-BE49-F238E27FC236}">
                <a16:creationId xmlns:a16="http://schemas.microsoft.com/office/drawing/2014/main" id="{7D307D5D-6564-4A14-9605-D945EAEB26C4}"/>
              </a:ext>
            </a:extLst>
          </p:cNvPr>
          <p:cNvSpPr>
            <a:spLocks noGrp="1"/>
          </p:cNvSpPr>
          <p:nvPr>
            <p:ph type="pic" sz="quarter" idx="30"/>
          </p:nvPr>
        </p:nvSpPr>
        <p:spPr>
          <a:xfrm>
            <a:off x="3924300" y="4652963"/>
            <a:ext cx="1368425" cy="460375"/>
          </a:xfrm>
        </p:spPr>
        <p:txBody>
          <a:bodyPr/>
          <a:lstStyle/>
          <a:p>
            <a:endParaRPr lang="en-US"/>
          </a:p>
        </p:txBody>
      </p:sp>
      <p:sp>
        <p:nvSpPr>
          <p:cNvPr id="44" name="Picture Placeholder 43">
            <a:extLst>
              <a:ext uri="{FF2B5EF4-FFF2-40B4-BE49-F238E27FC236}">
                <a16:creationId xmlns:a16="http://schemas.microsoft.com/office/drawing/2014/main" id="{A5355258-4F4E-4030-9FFA-2D603A8F7C0C}"/>
              </a:ext>
            </a:extLst>
          </p:cNvPr>
          <p:cNvSpPr>
            <a:spLocks noGrp="1"/>
          </p:cNvSpPr>
          <p:nvPr>
            <p:ph type="pic" sz="quarter" idx="31"/>
          </p:nvPr>
        </p:nvSpPr>
        <p:spPr>
          <a:xfrm>
            <a:off x="5580063" y="4797425"/>
            <a:ext cx="1079500" cy="411163"/>
          </a:xfrm>
        </p:spPr>
        <p:txBody>
          <a:bodyPr/>
          <a:lstStyle/>
          <a:p>
            <a:endParaRPr lang="en-US"/>
          </a:p>
        </p:txBody>
      </p:sp>
      <p:sp>
        <p:nvSpPr>
          <p:cNvPr id="46" name="Picture Placeholder 45">
            <a:extLst>
              <a:ext uri="{FF2B5EF4-FFF2-40B4-BE49-F238E27FC236}">
                <a16:creationId xmlns:a16="http://schemas.microsoft.com/office/drawing/2014/main" id="{B0363641-3460-4012-A273-F08B5C0482B5}"/>
              </a:ext>
            </a:extLst>
          </p:cNvPr>
          <p:cNvSpPr>
            <a:spLocks noGrp="1"/>
          </p:cNvSpPr>
          <p:nvPr>
            <p:ph type="pic" sz="quarter" idx="32"/>
          </p:nvPr>
        </p:nvSpPr>
        <p:spPr>
          <a:xfrm>
            <a:off x="4356100" y="5516563"/>
            <a:ext cx="1077913" cy="287337"/>
          </a:xfrm>
        </p:spPr>
        <p:txBody>
          <a:bodyPr/>
          <a:lstStyle/>
          <a:p>
            <a:endParaRPr lang="en-US"/>
          </a:p>
        </p:txBody>
      </p:sp>
      <p:sp>
        <p:nvSpPr>
          <p:cNvPr id="48" name="Picture Placeholder 47">
            <a:extLst>
              <a:ext uri="{FF2B5EF4-FFF2-40B4-BE49-F238E27FC236}">
                <a16:creationId xmlns:a16="http://schemas.microsoft.com/office/drawing/2014/main" id="{90B152CE-3AF3-4BD6-8956-A4576FFC2849}"/>
              </a:ext>
            </a:extLst>
          </p:cNvPr>
          <p:cNvSpPr>
            <a:spLocks noGrp="1"/>
          </p:cNvSpPr>
          <p:nvPr>
            <p:ph type="pic" sz="quarter" idx="33"/>
          </p:nvPr>
        </p:nvSpPr>
        <p:spPr>
          <a:xfrm>
            <a:off x="5795963" y="5589588"/>
            <a:ext cx="720725" cy="411162"/>
          </a:xfrm>
        </p:spPr>
        <p:txBody>
          <a:bodyPr/>
          <a:lstStyle/>
          <a:p>
            <a:endParaRPr lang="en-US"/>
          </a:p>
        </p:txBody>
      </p:sp>
    </p:spTree>
    <p:extLst>
      <p:ext uri="{BB962C8B-B14F-4D97-AF65-F5344CB8AC3E}">
        <p14:creationId xmlns:p14="http://schemas.microsoft.com/office/powerpoint/2010/main" val="12449183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3746944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Title and Three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
        <p:nvSpPr>
          <p:cNvPr id="4" name="Content Placeholder 3">
            <a:extLst>
              <a:ext uri="{FF2B5EF4-FFF2-40B4-BE49-F238E27FC236}">
                <a16:creationId xmlns:a16="http://schemas.microsoft.com/office/drawing/2014/main" id="{A9D871EB-676C-4A54-A697-3D527302F154}"/>
              </a:ext>
            </a:extLst>
          </p:cNvPr>
          <p:cNvSpPr>
            <a:spLocks noGrp="1"/>
          </p:cNvSpPr>
          <p:nvPr>
            <p:ph sz="quarter" idx="17"/>
          </p:nvPr>
        </p:nvSpPr>
        <p:spPr>
          <a:xfrm>
            <a:off x="1403350" y="5589588"/>
            <a:ext cx="3384550" cy="6588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31688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a:xfrm>
            <a:off x="457200" y="215372"/>
            <a:ext cx="4484688" cy="994304"/>
          </a:xfrm>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14" name="Content Placeholder 13"/>
          <p:cNvSpPr>
            <a:spLocks noGrp="1"/>
          </p:cNvSpPr>
          <p:nvPr>
            <p:ph sz="quarter" idx="16"/>
          </p:nvPr>
        </p:nvSpPr>
        <p:spPr>
          <a:xfrm>
            <a:off x="5192713" y="295275"/>
            <a:ext cx="3684587" cy="83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7"/>
          </p:nvPr>
        </p:nvSpPr>
        <p:spPr>
          <a:xfrm>
            <a:off x="5192713" y="5324475"/>
            <a:ext cx="3592512" cy="565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79875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6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latin typeface="+mj-lt"/>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p:nvPr>
        </p:nvSpPr>
        <p:spPr>
          <a:xfrm>
            <a:off x="5029200" y="1600201"/>
            <a:ext cx="3260725" cy="715961"/>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endParaRPr lang="en-US" dirty="0"/>
          </a:p>
        </p:txBody>
      </p:sp>
      <p:sp>
        <p:nvSpPr>
          <p:cNvPr id="10" name="Text Placeholder 8"/>
          <p:cNvSpPr>
            <a:spLocks noGrp="1"/>
          </p:cNvSpPr>
          <p:nvPr>
            <p:ph type="body" sz="quarter" idx="15"/>
          </p:nvPr>
        </p:nvSpPr>
        <p:spPr>
          <a:xfrm>
            <a:off x="4926651" y="2552700"/>
            <a:ext cx="3456774" cy="593724"/>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endParaRPr lang="en-US" dirty="0"/>
          </a:p>
        </p:txBody>
      </p:sp>
      <p:sp>
        <p:nvSpPr>
          <p:cNvPr id="8" name="Text Placeholder 22"/>
          <p:cNvSpPr>
            <a:spLocks noGrp="1"/>
          </p:cNvSpPr>
          <p:nvPr>
            <p:ph type="body" sz="quarter" idx="16" hasCustomPrompt="1"/>
          </p:nvPr>
        </p:nvSpPr>
        <p:spPr>
          <a:xfrm>
            <a:off x="2834640" y="6400800"/>
            <a:ext cx="60807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
        <p:nvSpPr>
          <p:cNvPr id="3" name="Picture Placeholder 2">
            <a:extLst>
              <a:ext uri="{FF2B5EF4-FFF2-40B4-BE49-F238E27FC236}">
                <a16:creationId xmlns:a16="http://schemas.microsoft.com/office/drawing/2014/main" id="{23FD2E48-136F-40C9-9ADA-7A7217D010A2}"/>
              </a:ext>
            </a:extLst>
          </p:cNvPr>
          <p:cNvSpPr>
            <a:spLocks noGrp="1"/>
          </p:cNvSpPr>
          <p:nvPr>
            <p:ph type="pic" sz="quarter" idx="17"/>
          </p:nvPr>
        </p:nvSpPr>
        <p:spPr>
          <a:xfrm>
            <a:off x="457200" y="6400800"/>
            <a:ext cx="1162050" cy="274638"/>
          </a:xfrm>
        </p:spPr>
        <p:txBody>
          <a:bodyPr/>
          <a:lstStyle/>
          <a:p>
            <a:endParaRPr lang="en-US"/>
          </a:p>
        </p:txBody>
      </p:sp>
      <p:sp>
        <p:nvSpPr>
          <p:cNvPr id="5" name="Picture Placeholder 4">
            <a:extLst>
              <a:ext uri="{FF2B5EF4-FFF2-40B4-BE49-F238E27FC236}">
                <a16:creationId xmlns:a16="http://schemas.microsoft.com/office/drawing/2014/main" id="{8AB0C605-5BFC-421D-BD7D-97B95EA6190A}"/>
              </a:ext>
            </a:extLst>
          </p:cNvPr>
          <p:cNvSpPr>
            <a:spLocks noGrp="1"/>
          </p:cNvSpPr>
          <p:nvPr>
            <p:ph type="pic" sz="quarter" idx="18"/>
          </p:nvPr>
        </p:nvSpPr>
        <p:spPr>
          <a:xfrm>
            <a:off x="584200" y="1685925"/>
            <a:ext cx="3260725" cy="4440238"/>
          </a:xfrm>
        </p:spPr>
        <p:txBody>
          <a:bodyPr/>
          <a:lstStyle/>
          <a:p>
            <a:endParaRPr lang="en-US"/>
          </a:p>
        </p:txBody>
      </p:sp>
    </p:spTree>
    <p:extLst>
      <p:ext uri="{BB962C8B-B14F-4D97-AF65-F5344CB8AC3E}">
        <p14:creationId xmlns:p14="http://schemas.microsoft.com/office/powerpoint/2010/main" val="3128396396"/>
      </p:ext>
    </p:extLst>
  </p:cSld>
  <p:clrMapOvr>
    <a:masterClrMapping/>
  </p:clrMapOvr>
  <p:hf sldNum="0"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031527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9" name="Text Placeholder 1">
            <a:extLst>
              <a:ext uri="{FF2B5EF4-FFF2-40B4-BE49-F238E27FC236}">
                <a16:creationId xmlns:a16="http://schemas.microsoft.com/office/drawing/2014/main" id="{B90BF7CC-C13E-4975-9A72-17609AD86A49}"/>
              </a:ext>
            </a:extLst>
          </p:cNvPr>
          <p:cNvSpPr txBox="1">
            <a:spLocks/>
          </p:cNvSpPr>
          <p:nvPr userDrawn="1"/>
        </p:nvSpPr>
        <p:spPr>
          <a:xfrm>
            <a:off x="2660400" y="6519600"/>
            <a:ext cx="6094800" cy="221018"/>
          </a:xfrm>
          <a:prstGeom prst="rect">
            <a:avLst/>
          </a:prstGeom>
        </p:spPr>
        <p:txBody>
          <a:bodyPr wrap="square" lIns="0" tIns="18000" rIns="0" bIns="18000">
            <a:sp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spcBef>
                <a:spcPts val="0"/>
              </a:spcBef>
              <a:buFont typeface="Arial" panose="020B0604020202020204" pitchFamily="34" charset="0"/>
              <a:buNone/>
            </a:pPr>
            <a:r>
              <a:rPr lang="en-US" altLang="en-US" sz="1200" dirty="0">
                <a:latin typeface="Verdana"/>
                <a:ea typeface="Verdana" panose="020B0604030504040204" pitchFamily="34" charset="0"/>
                <a:cs typeface="Verdana" panose="020B0604030504040204" pitchFamily="34" charset="0"/>
              </a:rPr>
              <a:t>Copyright © 2020, </a:t>
            </a:r>
            <a:r>
              <a:rPr lang="en-US" altLang="en-US" sz="1200" dirty="0">
                <a:solidFill>
                  <a:schemeClr val="tx1"/>
                </a:solidFill>
                <a:latin typeface="Verdana"/>
                <a:ea typeface="Verdana" panose="020B0604030504040204" pitchFamily="34" charset="0"/>
                <a:cs typeface="Verdana" panose="020B0604030504040204" pitchFamily="34" charset="0"/>
              </a:rPr>
              <a:t>2017, 2015 </a:t>
            </a:r>
            <a:r>
              <a:rPr lang="en-US" altLang="en-US" sz="1200" dirty="0">
                <a:latin typeface="Verdana"/>
                <a:ea typeface="Verdana" panose="020B0604030504040204" pitchFamily="34" charset="0"/>
                <a:cs typeface="Verdana" panose="020B0604030504040204" pitchFamily="34" charset="0"/>
              </a:rPr>
              <a:t>Pearson Education, Inc. All Rights Reserved</a:t>
            </a:r>
          </a:p>
        </p:txBody>
      </p:sp>
      <p:pic>
        <p:nvPicPr>
          <p:cNvPr id="8" name="Picture Placeholder 29" descr="Pearson Logo">
            <a:extLst>
              <a:ext uri="{FF2B5EF4-FFF2-40B4-BE49-F238E27FC236}">
                <a16:creationId xmlns:a16="http://schemas.microsoft.com/office/drawing/2014/main" id="{3B53D571-B0D7-4230-90A0-8686794C215B}"/>
              </a:ext>
            </a:extLst>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323528" y="6477000"/>
            <a:ext cx="1152144" cy="292608"/>
          </a:xfrm>
          <a:prstGeom prst="rect">
            <a:avLst/>
          </a:prstGeom>
        </p:spPr>
      </p:pic>
    </p:spTree>
    <p:extLst>
      <p:ext uri="{BB962C8B-B14F-4D97-AF65-F5344CB8AC3E}">
        <p14:creationId xmlns:p14="http://schemas.microsoft.com/office/powerpoint/2010/main" val="28485671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5" r:id="rId5"/>
    <p:sldLayoutId id="2147483666" r:id="rId6"/>
    <p:sldLayoutId id="2147483667" r:id="rId7"/>
    <p:sldLayoutId id="2147483668" r:id="rId8"/>
    <p:sldLayoutId id="2147483669" r:id="rId9"/>
    <p:sldLayoutId id="2147483670" r:id="rId10"/>
    <p:sldLayoutId id="2147483671" r:id="rId11"/>
    <p:sldLayoutId id="2147483657" r:id="rId12"/>
    <p:sldLayoutId id="2147483656" r:id="rId13"/>
    <p:sldLayoutId id="2147483650" r:id="rId14"/>
    <p:sldLayoutId id="2147483659" r:id="rId15"/>
    <p:sldLayoutId id="2147483672" r:id="rId16"/>
    <p:sldLayoutId id="2147483673" r:id="rId17"/>
    <p:sldLayoutId id="2147483674" r:id="rId18"/>
    <p:sldLayoutId id="2147483658" r:id="rId19"/>
    <p:sldLayoutId id="2147483660" r:id="rId20"/>
    <p:sldLayoutId id="2147483654" r:id="rId21"/>
    <p:sldLayoutId id="2147483655" r:id="rId22"/>
    <p:sldLayoutId id="2147483681" r:id="rId23"/>
    <p:sldLayoutId id="2147483682" r:id="rId24"/>
    <p:sldLayoutId id="2147483683" r:id="rId25"/>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064876860"/>
      </p:ext>
    </p:extLst>
  </p:cSld>
  <p:clrMap bg1="lt1" tx1="dk1" bg2="dk2" tx2="lt2" accent1="accent1" accent2="accent2" accent3="accent3" accent4="accent4" accent5="accent5" accent6="accent6" hlink="hlink" folHlink="folHlink"/>
  <p:sldLayoutIdLst>
    <p:sldLayoutId id="2147483677" r:id="rId1"/>
    <p:sldLayoutId id="2147483680" r:id="rId2"/>
    <p:sldLayoutId id="214748367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74250" cy="590349"/>
          </a:xfrm>
        </p:spPr>
        <p:txBody>
          <a:bodyPr wrap="square" lIns="0" tIns="18000" rIns="0" bIns="18000">
            <a:spAutoFit/>
          </a:bodyPr>
          <a:lstStyle/>
          <a:p>
            <a:r>
              <a:rPr lang="en-US" sz="3600" dirty="0">
                <a:latin typeface="+mj-lt"/>
              </a:rPr>
              <a:t>Fundamentals of Management</a:t>
            </a:r>
            <a:endParaRPr lang="en-US" sz="2800" dirty="0"/>
          </a:p>
        </p:txBody>
      </p:sp>
      <p:sp>
        <p:nvSpPr>
          <p:cNvPr id="3" name="Text Placeholder 2"/>
          <p:cNvSpPr>
            <a:spLocks noGrp="1"/>
          </p:cNvSpPr>
          <p:nvPr>
            <p:ph type="body" sz="quarter" idx="13"/>
          </p:nvPr>
        </p:nvSpPr>
        <p:spPr>
          <a:xfrm>
            <a:off x="468000" y="1008979"/>
            <a:ext cx="8274250" cy="344128"/>
          </a:xfrm>
        </p:spPr>
        <p:txBody>
          <a:bodyPr wrap="square" lIns="0" tIns="18000" rIns="0" bIns="18000" anchor="ctr">
            <a:spAutoFit/>
          </a:bodyPr>
          <a:lstStyle/>
          <a:p>
            <a:r>
              <a:rPr lang="en-US" dirty="0">
                <a:latin typeface="Arial" panose="020B0604020202020204" pitchFamily="34" charset="0"/>
                <a:cs typeface="Arial" panose="020B0604020202020204" pitchFamily="34" charset="0"/>
              </a:rPr>
              <a:t>Eleventh Edition</a:t>
            </a:r>
          </a:p>
        </p:txBody>
      </p:sp>
      <p:pic>
        <p:nvPicPr>
          <p:cNvPr id="9" name="Picture Placeholder 8" descr="Front Cover: Fundamentals of Management Eleventh Edition by Robbins, Coulter and DeCenzo.">
            <a:extLst>
              <a:ext uri="{FF2B5EF4-FFF2-40B4-BE49-F238E27FC236}">
                <a16:creationId xmlns:a16="http://schemas.microsoft.com/office/drawing/2014/main" id="{AC243915-3F84-4C0C-BAAC-E22CD4EC1B80}"/>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3083" r="3083"/>
          <a:stretch>
            <a:fillRect/>
          </a:stretch>
        </p:blipFill>
        <p:spPr>
          <a:xfrm>
            <a:off x="467544" y="1685925"/>
            <a:ext cx="3260725" cy="4440238"/>
          </a:xfrm>
        </p:spPr>
      </p:pic>
      <p:sp>
        <p:nvSpPr>
          <p:cNvPr id="4" name="Text Placeholder 3"/>
          <p:cNvSpPr>
            <a:spLocks noGrp="1"/>
          </p:cNvSpPr>
          <p:nvPr>
            <p:ph type="body" sz="quarter" idx="14"/>
          </p:nvPr>
        </p:nvSpPr>
        <p:spPr>
          <a:xfrm>
            <a:off x="4576812" y="2888099"/>
            <a:ext cx="4171901" cy="498016"/>
          </a:xfrm>
        </p:spPr>
        <p:txBody>
          <a:bodyPr wrap="square" lIns="0" tIns="18000" rIns="0" bIns="18000">
            <a:spAutoFit/>
          </a:bodyPr>
          <a:lstStyle/>
          <a:p>
            <a:r>
              <a:rPr lang="en-US">
                <a:latin typeface="Arial" panose="020B0604020202020204" pitchFamily="34" charset="0"/>
                <a:cs typeface="Arial" panose="020B0604020202020204" pitchFamily="34" charset="0"/>
              </a:rPr>
              <a:t>Chapter 5</a:t>
            </a:r>
            <a:endParaRPr lang="en-US" dirty="0">
              <a:latin typeface="Arial" panose="020B0604020202020204" pitchFamily="34" charset="0"/>
              <a:cs typeface="Arial" panose="020B0604020202020204" pitchFamily="34" charset="0"/>
            </a:endParaRPr>
          </a:p>
        </p:txBody>
      </p:sp>
      <p:sp>
        <p:nvSpPr>
          <p:cNvPr id="5" name="Text Placeholder 4"/>
          <p:cNvSpPr>
            <a:spLocks noGrp="1"/>
          </p:cNvSpPr>
          <p:nvPr>
            <p:ph type="body" sz="quarter" idx="15"/>
          </p:nvPr>
        </p:nvSpPr>
        <p:spPr>
          <a:xfrm>
            <a:off x="4580142" y="3528119"/>
            <a:ext cx="4168571" cy="374906"/>
          </a:xfrm>
        </p:spPr>
        <p:txBody>
          <a:bodyPr wrap="square" lIns="0" tIns="18000" rIns="0" bIns="18000">
            <a:spAutoFit/>
          </a:bodyPr>
          <a:lstStyle/>
          <a:p>
            <a:r>
              <a:rPr lang="en-US" altLang="en-US" dirty="0">
                <a:latin typeface="Arial" panose="020B0604020202020204" pitchFamily="34" charset="0"/>
                <a:ea typeface="Malgun Gothic" pitchFamily="34" charset="-127"/>
                <a:cs typeface="Arial" panose="020B0604020202020204" pitchFamily="34" charset="0"/>
              </a:rPr>
              <a:t>Planning and Goal Setting</a:t>
            </a:r>
            <a:endParaRPr lang="en-US" dirty="0">
              <a:latin typeface="Arial" panose="020B0604020202020204" pitchFamily="34" charset="0"/>
              <a:cs typeface="Arial" panose="020B0604020202020204" pitchFamily="34" charset="0"/>
            </a:endParaRPr>
          </a:p>
        </p:txBody>
      </p:sp>
      <p:pic>
        <p:nvPicPr>
          <p:cNvPr id="30" name="Picture Placeholder 29" descr="Pearson Logo">
            <a:extLst>
              <a:ext uri="{FF2B5EF4-FFF2-40B4-BE49-F238E27FC236}">
                <a16:creationId xmlns:a16="http://schemas.microsoft.com/office/drawing/2014/main" id="{55E920AB-A07A-4031-92B0-F06A28CEC914}"/>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tretch>
            <a:fillRect/>
          </a:stretch>
        </p:blipFill>
        <p:spPr>
          <a:xfrm>
            <a:off x="323528" y="6477000"/>
            <a:ext cx="1152144" cy="292608"/>
          </a:xfrm>
          <a:prstGeom prst="rect">
            <a:avLst/>
          </a:prstGeom>
        </p:spPr>
      </p:pic>
      <p:sp>
        <p:nvSpPr>
          <p:cNvPr id="11" name="Text Placeholder 6"/>
          <p:cNvSpPr>
            <a:spLocks noGrp="1"/>
          </p:cNvSpPr>
          <p:nvPr>
            <p:ph type="body" sz="quarter" idx="16"/>
          </p:nvPr>
        </p:nvSpPr>
        <p:spPr>
          <a:xfrm>
            <a:off x="2668200" y="6519600"/>
            <a:ext cx="6094800" cy="221018"/>
          </a:xfrm>
        </p:spPr>
        <p:txBody>
          <a:bodyPr lIns="0" tIns="18000" rIns="0" bIns="18000" anchor="t" anchorCtr="0">
            <a:spAutoFit/>
          </a:bodyPr>
          <a:lstStyle/>
          <a:p>
            <a:pPr marL="0" indent="0" algn="r">
              <a:buClrTx/>
              <a:buNone/>
              <a:defRPr/>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258680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Learning Objectives</a:t>
            </a:r>
          </a:p>
        </p:txBody>
      </p:sp>
      <p:sp>
        <p:nvSpPr>
          <p:cNvPr id="3" name="Content Placeholder 2"/>
          <p:cNvSpPr>
            <a:spLocks noGrp="1"/>
          </p:cNvSpPr>
          <p:nvPr>
            <p:ph idx="1"/>
          </p:nvPr>
        </p:nvSpPr>
        <p:spPr>
          <a:xfrm>
            <a:off x="467999" y="1274400"/>
            <a:ext cx="8280713" cy="2829424"/>
          </a:xfrm>
        </p:spPr>
        <p:txBody>
          <a:bodyPr wrap="square" tIns="18000" bIns="18000">
            <a:spAutoFit/>
          </a:bodyPr>
          <a:lstStyle/>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5.1	</a:t>
            </a:r>
            <a:r>
              <a:rPr lang="en-US" altLang="en-US" sz="2400" b="1" dirty="0">
                <a:latin typeface="Arial" panose="020B0604020202020204" pitchFamily="34" charset="0"/>
                <a:ea typeface="ＭＳ Ｐゴシック" pitchFamily="34" charset="-128"/>
                <a:cs typeface="Arial" panose="020B0604020202020204" pitchFamily="34" charset="0"/>
              </a:rPr>
              <a:t>Discuss </a:t>
            </a:r>
            <a:r>
              <a:rPr lang="en-US" altLang="en-US" sz="2400" dirty="0">
                <a:latin typeface="Arial" panose="020B0604020202020204" pitchFamily="34" charset="0"/>
                <a:ea typeface="ＭＳ Ｐゴシック" pitchFamily="34" charset="-128"/>
                <a:cs typeface="Arial" panose="020B0604020202020204" pitchFamily="34" charset="0"/>
              </a:rPr>
              <a:t>the nature and purposes of planning. </a:t>
            </a:r>
          </a:p>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5.2	</a:t>
            </a:r>
            <a:r>
              <a:rPr lang="en-US" altLang="en-US" sz="2400" b="1" dirty="0">
                <a:latin typeface="Arial" panose="020B0604020202020204" pitchFamily="34" charset="0"/>
                <a:ea typeface="ＭＳ Ｐゴシック" pitchFamily="34" charset="-128"/>
                <a:cs typeface="Arial" panose="020B0604020202020204" pitchFamily="34" charset="0"/>
              </a:rPr>
              <a:t>Explain </a:t>
            </a:r>
            <a:r>
              <a:rPr lang="en-US" altLang="en-US" sz="2400" dirty="0">
                <a:latin typeface="Arial" panose="020B0604020202020204" pitchFamily="34" charset="0"/>
                <a:ea typeface="ＭＳ Ｐゴシック" pitchFamily="34" charset="-128"/>
                <a:cs typeface="Arial" panose="020B0604020202020204" pitchFamily="34" charset="0"/>
              </a:rPr>
              <a:t>what managers do in the strategic management 	process.</a:t>
            </a:r>
          </a:p>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5.3	</a:t>
            </a:r>
            <a:r>
              <a:rPr lang="en-US" altLang="en-US" sz="2400" b="1" dirty="0">
                <a:latin typeface="Arial" panose="020B0604020202020204" pitchFamily="34" charset="0"/>
                <a:ea typeface="ＭＳ Ｐゴシック" pitchFamily="34" charset="-128"/>
                <a:cs typeface="Arial" panose="020B0604020202020204" pitchFamily="34" charset="0"/>
              </a:rPr>
              <a:t>Compare </a:t>
            </a:r>
            <a:r>
              <a:rPr lang="en-US" altLang="en-US" sz="2400" dirty="0">
                <a:latin typeface="Arial" panose="020B0604020202020204" pitchFamily="34" charset="0"/>
                <a:ea typeface="ＭＳ Ｐゴシック" pitchFamily="34" charset="-128"/>
                <a:cs typeface="Arial" panose="020B0604020202020204" pitchFamily="34" charset="0"/>
              </a:rPr>
              <a:t>and contrast approaches to goal setting and planning.</a:t>
            </a:r>
          </a:p>
          <a:p>
            <a:pPr marL="720000" indent="-720000">
              <a:buClr>
                <a:schemeClr val="bg2"/>
              </a:buClr>
              <a:buSzPct val="100000"/>
              <a:buNone/>
              <a:defRPr/>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5.4	</a:t>
            </a:r>
            <a:r>
              <a:rPr lang="en-US" altLang="en-US" sz="2400" b="1" dirty="0">
                <a:latin typeface="Arial" panose="020B0604020202020204" pitchFamily="34" charset="0"/>
                <a:ea typeface="ＭＳ Ｐゴシック" pitchFamily="34" charset="-128"/>
                <a:cs typeface="Arial" panose="020B0604020202020204" pitchFamily="34" charset="0"/>
              </a:rPr>
              <a:t>Discuss </a:t>
            </a:r>
            <a:r>
              <a:rPr lang="en-US" altLang="en-US" sz="2400" dirty="0">
                <a:latin typeface="Arial" panose="020B0604020202020204" pitchFamily="34" charset="0"/>
                <a:ea typeface="ＭＳ Ｐゴシック" pitchFamily="34" charset="-128"/>
                <a:cs typeface="Arial" panose="020B0604020202020204" pitchFamily="34" charset="0"/>
              </a:rPr>
              <a:t>contemporary issues in planning.</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2360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pPr>
              <a:defRPr/>
            </a:pPr>
            <a:r>
              <a:rPr lang="en-US" altLang="en-US" sz="3600" dirty="0">
                <a:solidFill>
                  <a:schemeClr val="bg2"/>
                </a:solidFill>
                <a:latin typeface="+mj-lt"/>
                <a:cs typeface="Arial" pitchFamily="34" charset="0"/>
              </a:rPr>
              <a:t>Learning Objective 5.1</a:t>
            </a: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255600" indent="-255600">
              <a:buSzPct val="100000"/>
            </a:pPr>
            <a:r>
              <a:rPr lang="en-US" sz="2400" dirty="0">
                <a:latin typeface="Arial" panose="020B0604020202020204" pitchFamily="34" charset="0"/>
                <a:cs typeface="Arial" panose="020B0604020202020204" pitchFamily="34" charset="0"/>
              </a:rPr>
              <a:t>Discuss the nature and purposes of planning.</a:t>
            </a:r>
          </a:p>
        </p:txBody>
      </p:sp>
    </p:spTree>
    <p:extLst>
      <p:ext uri="{BB962C8B-B14F-4D97-AF65-F5344CB8AC3E}">
        <p14:creationId xmlns:p14="http://schemas.microsoft.com/office/powerpoint/2010/main" val="3747036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pPr>
              <a:defRPr/>
            </a:pPr>
            <a:r>
              <a:rPr lang="en-US" altLang="en-US" sz="3600" dirty="0">
                <a:solidFill>
                  <a:schemeClr val="bg2"/>
                </a:solidFill>
                <a:latin typeface="+mj-lt"/>
                <a:cs typeface="Arial" pitchFamily="34" charset="0"/>
              </a:rPr>
              <a:t>What Is Planning?</a:t>
            </a:r>
          </a:p>
        </p:txBody>
      </p:sp>
      <p:sp>
        <p:nvSpPr>
          <p:cNvPr id="3" name="Content Placeholder 2"/>
          <p:cNvSpPr>
            <a:spLocks noGrp="1"/>
          </p:cNvSpPr>
          <p:nvPr>
            <p:ph idx="1"/>
          </p:nvPr>
        </p:nvSpPr>
        <p:spPr>
          <a:xfrm>
            <a:off x="468000" y="1274400"/>
            <a:ext cx="8280712" cy="967376"/>
          </a:xfrm>
        </p:spPr>
        <p:txBody>
          <a:bodyPr wrap="square" tIns="18000" bIns="18000">
            <a:spAutoFit/>
          </a:bodyPr>
          <a:lstStyle/>
          <a:p>
            <a:pPr marL="0" indent="0">
              <a:buSzPct val="100000"/>
              <a:buNone/>
            </a:pPr>
            <a:r>
              <a:rPr lang="en-US" sz="2400" b="1" dirty="0">
                <a:latin typeface="Arial" panose="020B0604020202020204" pitchFamily="34" charset="0"/>
                <a:cs typeface="Arial" panose="020B0604020202020204" pitchFamily="34" charset="0"/>
              </a:rPr>
              <a:t>Planning:</a:t>
            </a:r>
          </a:p>
          <a:p>
            <a:pPr marL="255600" indent="-255600">
              <a:buSzPct val="100000"/>
            </a:pPr>
            <a:r>
              <a:rPr lang="en-US" sz="2400" dirty="0">
                <a:latin typeface="Arial" panose="020B0604020202020204" pitchFamily="34" charset="0"/>
                <a:cs typeface="Arial" panose="020B0604020202020204" pitchFamily="34" charset="0"/>
              </a:rPr>
              <a:t>The primary management function.</a:t>
            </a:r>
          </a:p>
        </p:txBody>
      </p:sp>
    </p:spTree>
    <p:extLst>
      <p:ext uri="{BB962C8B-B14F-4D97-AF65-F5344CB8AC3E}">
        <p14:creationId xmlns:p14="http://schemas.microsoft.com/office/powerpoint/2010/main" val="1408264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ea typeface="ＭＳ Ｐゴシック" charset="0"/>
                <a:cs typeface="ＭＳ Ｐゴシック" charset="0"/>
              </a:rPr>
              <a:t>Reasons for Planning</a:t>
            </a:r>
            <a:endParaRPr lang="en-US" sz="2800" dirty="0">
              <a:latin typeface="+mj-lt"/>
            </a:endParaRP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8000" y="1274400"/>
            <a:ext cx="8280712" cy="282573"/>
          </a:xfrm>
        </p:spPr>
        <p:txBody>
          <a:bodyPr wrap="square" tIns="18000" bIns="18000">
            <a:spAutoFit/>
          </a:bodyPr>
          <a:lstStyle/>
          <a:p>
            <a:pPr marL="0" indent="0">
              <a:buNone/>
            </a:pPr>
            <a:r>
              <a:rPr lang="en-US" sz="1600" b="1" dirty="0">
                <a:latin typeface="Arial" panose="020B0604020202020204" pitchFamily="34" charset="0"/>
                <a:cs typeface="Arial" panose="020B0604020202020204" pitchFamily="34" charset="0"/>
              </a:rPr>
              <a:t>Exhibit 5.1</a:t>
            </a:r>
            <a:r>
              <a:rPr lang="en-US" sz="1600" dirty="0">
                <a:latin typeface="Arial" panose="020B0604020202020204" pitchFamily="34" charset="0"/>
                <a:cs typeface="Arial" panose="020B0604020202020204" pitchFamily="34" charset="0"/>
              </a:rPr>
              <a:t> Reasons for Planning</a:t>
            </a:r>
            <a:endParaRPr lang="en-US" dirty="0">
              <a:latin typeface="Arial" panose="020B0604020202020204" pitchFamily="34" charset="0"/>
              <a:cs typeface="Arial" panose="020B0604020202020204" pitchFamily="34" charset="0"/>
            </a:endParaRPr>
          </a:p>
        </p:txBody>
      </p:sp>
      <p:pic>
        <p:nvPicPr>
          <p:cNvPr id="7" name="Picture Placeholder 6" descr="An illustration shows that managers engage in planning to set the standards to facilitate control, provide direction, minimize waste and redundancy, and reduce the impact of change because of changes in the environment.">
            <a:extLst>
              <a:ext uri="{FF2B5EF4-FFF2-40B4-BE49-F238E27FC236}">
                <a16:creationId xmlns:a16="http://schemas.microsoft.com/office/drawing/2014/main" id="{6703A047-27EF-4D1C-907F-D5C7F4089AFE}"/>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378746" y="1844824"/>
            <a:ext cx="4425502" cy="4431303"/>
          </a:xfrm>
          <a:prstGeom prst="rect">
            <a:avLst/>
          </a:prstGeom>
        </p:spPr>
      </p:pic>
    </p:spTree>
    <p:extLst>
      <p:ext uri="{BB962C8B-B14F-4D97-AF65-F5344CB8AC3E}">
        <p14:creationId xmlns:p14="http://schemas.microsoft.com/office/powerpoint/2010/main" val="338447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pPr>
              <a:defRPr/>
            </a:pPr>
            <a:r>
              <a:rPr lang="en-US" altLang="en-US" sz="3600">
                <a:solidFill>
                  <a:schemeClr val="bg2"/>
                </a:solidFill>
                <a:latin typeface="+mj-lt"/>
                <a:cs typeface="Arial" pitchFamily="34" charset="0"/>
              </a:rPr>
              <a:t>Criticisms of Formal Planning</a:t>
            </a:r>
          </a:p>
        </p:txBody>
      </p:sp>
      <p:sp>
        <p:nvSpPr>
          <p:cNvPr id="3" name="Content Placeholder 2"/>
          <p:cNvSpPr>
            <a:spLocks noGrp="1"/>
          </p:cNvSpPr>
          <p:nvPr>
            <p:ph idx="1"/>
          </p:nvPr>
        </p:nvSpPr>
        <p:spPr>
          <a:xfrm>
            <a:off x="467999" y="1274400"/>
            <a:ext cx="8280713" cy="2460092"/>
          </a:xfrm>
        </p:spPr>
        <p:txBody>
          <a:bodyPr wrap="square" tIns="18000" bIns="18000">
            <a:spAutoFit/>
          </a:bodyPr>
          <a:lstStyle/>
          <a:p>
            <a:pPr marL="255600" indent="-255600">
              <a:buSzPct val="100000"/>
            </a:pPr>
            <a:r>
              <a:rPr lang="en-US" sz="2400" dirty="0">
                <a:latin typeface="Arial" panose="020B0604020202020204" pitchFamily="34" charset="0"/>
                <a:cs typeface="Arial" panose="020B0604020202020204" pitchFamily="34" charset="0"/>
              </a:rPr>
              <a:t>May create rigidity</a:t>
            </a:r>
          </a:p>
          <a:p>
            <a:pPr marL="255600" indent="-255600">
              <a:buSzPct val="100000"/>
            </a:pPr>
            <a:r>
              <a:rPr lang="en-US" sz="2400" dirty="0">
                <a:latin typeface="Arial" panose="020B0604020202020204" pitchFamily="34" charset="0"/>
                <a:cs typeface="Arial" panose="020B0604020202020204" pitchFamily="34" charset="0"/>
              </a:rPr>
              <a:t>Can’t replace intuition and creativity</a:t>
            </a:r>
          </a:p>
          <a:p>
            <a:pPr marL="255600" indent="-255600">
              <a:buSzPct val="100000"/>
            </a:pPr>
            <a:r>
              <a:rPr lang="en-US" sz="2400" dirty="0">
                <a:latin typeface="Arial" panose="020B0604020202020204" pitchFamily="34" charset="0"/>
                <a:cs typeface="Arial" panose="020B0604020202020204" pitchFamily="34" charset="0"/>
              </a:rPr>
              <a:t>Focuses attention on today’s success, not tomorrow’s survival</a:t>
            </a:r>
          </a:p>
          <a:p>
            <a:pPr marL="255600" indent="-255600">
              <a:buSzPct val="100000"/>
            </a:pPr>
            <a:r>
              <a:rPr lang="en-US" sz="2400" dirty="0">
                <a:latin typeface="Arial" panose="020B0604020202020204" pitchFamily="34" charset="0"/>
                <a:cs typeface="Arial" panose="020B0604020202020204" pitchFamily="34" charset="0"/>
              </a:rPr>
              <a:t>Reinforces success, which may lead to failure</a:t>
            </a:r>
          </a:p>
        </p:txBody>
      </p:sp>
    </p:spTree>
    <p:extLst>
      <p:ext uri="{BB962C8B-B14F-4D97-AF65-F5344CB8AC3E}">
        <p14:creationId xmlns:p14="http://schemas.microsoft.com/office/powerpoint/2010/main" val="258293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sz="3600" dirty="0">
                <a:latin typeface="+mj-lt"/>
                <a:ea typeface="ＭＳ Ｐゴシック" charset="0"/>
                <a:cs typeface="ＭＳ Ｐゴシック" charset="0"/>
              </a:rPr>
              <a:t>Formal Planning and Organizational Performance</a:t>
            </a:r>
            <a:endParaRPr lang="en-US" sz="3600" dirty="0">
              <a:latin typeface="+mj-lt"/>
            </a:endParaRPr>
          </a:p>
        </p:txBody>
      </p:sp>
      <p:sp>
        <p:nvSpPr>
          <p:cNvPr id="3" name="Content Placeholder 2"/>
          <p:cNvSpPr>
            <a:spLocks noGrp="1"/>
          </p:cNvSpPr>
          <p:nvPr>
            <p:ph idx="1"/>
          </p:nvPr>
        </p:nvSpPr>
        <p:spPr>
          <a:xfrm>
            <a:off x="467999" y="1602000"/>
            <a:ext cx="8280713" cy="2652452"/>
          </a:xfrm>
        </p:spPr>
        <p:txBody>
          <a:bodyPr wrap="square" tIns="18000" bIns="18000">
            <a:spAutoFit/>
          </a:bodyPr>
          <a:lstStyle/>
          <a:p>
            <a:pPr marL="0" indent="0">
              <a:buNone/>
              <a:defRPr/>
            </a:pPr>
            <a:r>
              <a:rPr lang="en-US" altLang="en-US" sz="2400" b="1" dirty="0">
                <a:latin typeface="Arial" panose="020B0604020202020204" pitchFamily="34" charset="0"/>
                <a:ea typeface="ＭＳ Ｐゴシック" pitchFamily="34" charset="-128"/>
                <a:cs typeface="Arial" panose="020B0604020202020204" pitchFamily="34" charset="0"/>
              </a:rPr>
              <a:t>Does it pay to plan?</a:t>
            </a:r>
          </a:p>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Higher profits</a:t>
            </a:r>
          </a:p>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Higher return on assets</a:t>
            </a:r>
          </a:p>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Improved quality of planning</a:t>
            </a:r>
          </a:p>
          <a:p>
            <a:pPr marL="271463" indent="-271463">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Appropriate implementation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2236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solidFill>
                  <a:schemeClr val="bg2"/>
                </a:solidFill>
                <a:latin typeface="+mj-lt"/>
                <a:cs typeface="Arial" pitchFamily="34" charset="0"/>
              </a:rPr>
              <a:t>Learning Objective 5.2</a:t>
            </a:r>
            <a:endParaRPr lang="en-US" dirty="0">
              <a:solidFill>
                <a:schemeClr val="bg2"/>
              </a:solidFill>
              <a:latin typeface="+mj-lt"/>
            </a:endParaRPr>
          </a:p>
        </p:txBody>
      </p:sp>
      <p:sp>
        <p:nvSpPr>
          <p:cNvPr id="3" name="Content Placeholder 2"/>
          <p:cNvSpPr>
            <a:spLocks noGrp="1"/>
          </p:cNvSpPr>
          <p:nvPr>
            <p:ph idx="1"/>
          </p:nvPr>
        </p:nvSpPr>
        <p:spPr>
          <a:xfrm>
            <a:off x="467999" y="1274400"/>
            <a:ext cx="8280713" cy="775015"/>
          </a:xfrm>
        </p:spPr>
        <p:txBody>
          <a:bodyPr wrap="square" tIns="18000" bIns="18000">
            <a:spAutoFit/>
          </a:bodyPr>
          <a:lstStyle/>
          <a:p>
            <a:pPr marL="255600" indent="-255600">
              <a:buSzPct val="100000"/>
            </a:pPr>
            <a:r>
              <a:rPr lang="en-US" sz="2400" dirty="0">
                <a:latin typeface="Arial" panose="020B0604020202020204" pitchFamily="34" charset="0"/>
                <a:cs typeface="Arial" panose="020B0604020202020204" pitchFamily="34" charset="0"/>
              </a:rPr>
              <a:t>Explain what managers do in the strategic management process.</a:t>
            </a:r>
          </a:p>
        </p:txBody>
      </p:sp>
    </p:spTree>
    <p:extLst>
      <p:ext uri="{BB962C8B-B14F-4D97-AF65-F5344CB8AC3E}">
        <p14:creationId xmlns:p14="http://schemas.microsoft.com/office/powerpoint/2010/main" val="1552819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sz="3600" dirty="0">
                <a:latin typeface="+mj-lt"/>
                <a:ea typeface="ＭＳ Ｐゴシック" charset="0"/>
                <a:cs typeface="Arial" panose="020B0604020202020204" pitchFamily="34" charset="0"/>
              </a:rPr>
              <a:t>What Is Strategic Management?</a:t>
            </a:r>
            <a:endParaRPr lang="en-US" dirty="0">
              <a:latin typeface="+mj-lt"/>
              <a:cs typeface="Arial" panose="020B0604020202020204" pitchFamily="34" charset="0"/>
            </a:endParaRPr>
          </a:p>
        </p:txBody>
      </p:sp>
      <p:sp>
        <p:nvSpPr>
          <p:cNvPr id="3" name="Content Placeholder 2"/>
          <p:cNvSpPr>
            <a:spLocks noGrp="1"/>
          </p:cNvSpPr>
          <p:nvPr>
            <p:ph idx="1"/>
          </p:nvPr>
        </p:nvSpPr>
        <p:spPr>
          <a:xfrm>
            <a:off x="468000" y="1274400"/>
            <a:ext cx="8280712" cy="967376"/>
          </a:xfrm>
        </p:spPr>
        <p:txBody>
          <a:bodyPr wrap="square" tIns="18000" bIns="18000">
            <a:spAutoFit/>
          </a:bodyPr>
          <a:lstStyle/>
          <a:p>
            <a:pPr marL="0" indent="0">
              <a:buSzPct val="100000"/>
              <a:buNone/>
            </a:pPr>
            <a:r>
              <a:rPr lang="en-US" sz="2400" b="1" dirty="0">
                <a:solidFill>
                  <a:srgbClr val="000000"/>
                </a:solidFill>
                <a:latin typeface="Arial" panose="020B0604020202020204" pitchFamily="34" charset="0"/>
                <a:ea typeface="ＭＳ Ｐゴシック" charset="0"/>
                <a:cs typeface="Arial" panose="020B0604020202020204" pitchFamily="34" charset="0"/>
              </a:rPr>
              <a:t>Strategic management:</a:t>
            </a:r>
          </a:p>
          <a:p>
            <a:pPr marL="271463" indent="-271463">
              <a:buSzPct val="100000"/>
            </a:pPr>
            <a:r>
              <a:rPr lang="en-US" sz="2400" dirty="0">
                <a:latin typeface="Arial" panose="020B0604020202020204" pitchFamily="34" charset="0"/>
                <a:ea typeface="ＭＳ Ｐゴシック" pitchFamily="34" charset="-128"/>
                <a:cs typeface="Arial" panose="020B0604020202020204" pitchFamily="34" charset="0"/>
              </a:rPr>
              <a:t>what managers </a:t>
            </a:r>
            <a:r>
              <a:rPr lang="en-US" sz="2400" dirty="0">
                <a:solidFill>
                  <a:srgbClr val="000000"/>
                </a:solidFill>
                <a:latin typeface="Arial" panose="020B0604020202020204" pitchFamily="34" charset="0"/>
                <a:ea typeface="ＭＳ Ｐゴシック" charset="0"/>
                <a:cs typeface="Arial" panose="020B0604020202020204" pitchFamily="34" charset="0"/>
              </a:rPr>
              <a:t>do to develop an organization’s strategies</a:t>
            </a:r>
          </a:p>
        </p:txBody>
      </p:sp>
      <p:sp>
        <p:nvSpPr>
          <p:cNvPr id="4" name="Content Placeholder 3"/>
          <p:cNvSpPr>
            <a:spLocks noGrp="1"/>
          </p:cNvSpPr>
          <p:nvPr>
            <p:ph idx="13"/>
          </p:nvPr>
        </p:nvSpPr>
        <p:spPr>
          <a:xfrm>
            <a:off x="467999" y="2348880"/>
            <a:ext cx="8280713" cy="1706039"/>
          </a:xfrm>
        </p:spPr>
        <p:txBody>
          <a:bodyPr wrap="square" tIns="18000" bIns="18000">
            <a:spAutoFit/>
          </a:bodyPr>
          <a:lstStyle/>
          <a:p>
            <a:pPr marL="0" indent="0">
              <a:buNone/>
            </a:pPr>
            <a:r>
              <a:rPr lang="en-US" sz="2400" b="1" dirty="0">
                <a:solidFill>
                  <a:srgbClr val="000000"/>
                </a:solidFill>
                <a:latin typeface="Arial" panose="020B0604020202020204" pitchFamily="34" charset="0"/>
                <a:ea typeface="ＭＳ Ｐゴシック" charset="0"/>
                <a:cs typeface="Arial" panose="020B0604020202020204" pitchFamily="34" charset="0"/>
              </a:rPr>
              <a:t>Strategies:</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plans for how the organization will do what it’s in business to do, how it will compete successfully, and how it will attract its customers in order to achieve its goals</a:t>
            </a:r>
          </a:p>
        </p:txBody>
      </p:sp>
    </p:spTree>
    <p:extLst>
      <p:ext uri="{BB962C8B-B14F-4D97-AF65-F5344CB8AC3E}">
        <p14:creationId xmlns:p14="http://schemas.microsoft.com/office/powerpoint/2010/main" val="957188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sz="3600" dirty="0">
                <a:latin typeface="+mj-lt"/>
                <a:ea typeface="ＭＳ Ｐゴシック" charset="0"/>
                <a:cs typeface="ＭＳ Ｐゴシック" charset="0"/>
              </a:rPr>
              <a:t>The Importance of Strategic Management</a:t>
            </a:r>
            <a:endParaRPr lang="en-US" dirty="0">
              <a:latin typeface="+mj-lt"/>
            </a:endParaRPr>
          </a:p>
        </p:txBody>
      </p:sp>
      <p:sp>
        <p:nvSpPr>
          <p:cNvPr id="3" name="Content Placeholder 2"/>
          <p:cNvSpPr>
            <a:spLocks noGrp="1"/>
          </p:cNvSpPr>
          <p:nvPr>
            <p:ph idx="1"/>
          </p:nvPr>
        </p:nvSpPr>
        <p:spPr>
          <a:xfrm>
            <a:off x="467999" y="1602000"/>
            <a:ext cx="8280713" cy="1898400"/>
          </a:xfrm>
        </p:spPr>
        <p:txBody>
          <a:bodyPr wrap="square" tIns="18000" bIns="18000">
            <a:spAutoFit/>
          </a:bodyPr>
          <a:lstStyle/>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It has a positive impact on organizational performance</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It prepares managers to cope with changing situations</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It guides managers to examine relevant factors in planning future action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4179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vert="horz" wrap="square" lIns="0" tIns="18000" rIns="0" bIns="18000" rtlCol="0" anchor="b">
            <a:spAutoFit/>
          </a:bodyPr>
          <a:lstStyle/>
          <a:p>
            <a:r>
              <a:rPr lang="en-US" sz="3600" dirty="0">
                <a:latin typeface="+mj-lt"/>
                <a:ea typeface="ＭＳ Ｐゴシック" charset="0"/>
                <a:cs typeface="ＭＳ Ｐゴシック" charset="0"/>
              </a:rPr>
              <a:t>Steps in the Strategic Management Process</a:t>
            </a:r>
            <a:endParaRPr lang="en-US" sz="2800" dirty="0">
              <a:latin typeface="+mj-lt"/>
            </a:endParaRP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8000" y="1602000"/>
            <a:ext cx="8280712" cy="282573"/>
          </a:xfrm>
        </p:spPr>
        <p:txBody>
          <a:bodyPr wrap="square" tIns="18000" bIns="18000">
            <a:spAutoFit/>
          </a:bodyPr>
          <a:lstStyle/>
          <a:p>
            <a:pPr marL="0" indent="0">
              <a:buNone/>
            </a:pPr>
            <a:r>
              <a:rPr lang="en-US" sz="1600" b="1" dirty="0">
                <a:latin typeface="Arial" panose="020B0604020202020204" pitchFamily="34" charset="0"/>
                <a:cs typeface="Arial" panose="020B0604020202020204" pitchFamily="34" charset="0"/>
              </a:rPr>
              <a:t>Exhibit 5.2</a:t>
            </a:r>
            <a:r>
              <a:rPr lang="en-US" sz="1600" dirty="0">
                <a:latin typeface="Arial" panose="020B0604020202020204" pitchFamily="34" charset="0"/>
                <a:cs typeface="Arial" panose="020B0604020202020204" pitchFamily="34" charset="0"/>
              </a:rPr>
              <a:t> The Strategic Management Process</a:t>
            </a:r>
            <a:endParaRPr lang="en-US" dirty="0">
              <a:latin typeface="Arial" panose="020B0604020202020204" pitchFamily="34" charset="0"/>
              <a:cs typeface="Arial" panose="020B0604020202020204" pitchFamily="34" charset="0"/>
            </a:endParaRPr>
          </a:p>
        </p:txBody>
      </p:sp>
      <p:pic>
        <p:nvPicPr>
          <p:cNvPr id="8" name="Picture Placeholder 7" descr="A flow diagram shows the steps in the strategic management process.&#10;Long description is available in notes, press F6.">
            <a:extLst>
              <a:ext uri="{FF2B5EF4-FFF2-40B4-BE49-F238E27FC236}">
                <a16:creationId xmlns:a16="http://schemas.microsoft.com/office/drawing/2014/main" id="{ABCC3BAB-0F59-451A-AAB8-D6BCF075224F}"/>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813608" y="2361616"/>
            <a:ext cx="7574816" cy="2134769"/>
          </a:xfrm>
          <a:prstGeom prst="rect">
            <a:avLst/>
          </a:prstGeom>
        </p:spPr>
      </p:pic>
    </p:spTree>
    <p:extLst>
      <p:ext uri="{BB962C8B-B14F-4D97-AF65-F5344CB8AC3E}">
        <p14:creationId xmlns:p14="http://schemas.microsoft.com/office/powerpoint/2010/main" val="3192956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B28DFF31-374B-4646-AB34-E6247120B341}"/>
              </a:ext>
            </a:extLst>
          </p:cNvPr>
          <p:cNvSpPr>
            <a:spLocks noGrp="1"/>
          </p:cNvSpPr>
          <p:nvPr>
            <p:ph type="title"/>
          </p:nvPr>
        </p:nvSpPr>
        <p:spPr>
          <a:xfrm>
            <a:off x="466344" y="283464"/>
            <a:ext cx="8229600" cy="1144929"/>
          </a:xfrm>
        </p:spPr>
        <p:txBody>
          <a:bodyPr tIns="18288" bIns="18288">
            <a:spAutoFit/>
          </a:bodyPr>
          <a:lstStyle/>
          <a:p>
            <a:r>
              <a:rPr lang="en-US" sz="3600" dirty="0">
                <a:latin typeface="+mj-lt"/>
                <a:ea typeface="ＭＳ Ｐゴシック" charset="0"/>
                <a:cs typeface="ＭＳ Ｐゴシック" charset="0"/>
              </a:rPr>
              <a:t>Identify Mission, Goals, and Strategies</a:t>
            </a:r>
            <a:endParaRPr lang="en-US" dirty="0"/>
          </a:p>
        </p:txBody>
      </p:sp>
      <p:sp>
        <p:nvSpPr>
          <p:cNvPr id="36" name="Content Placeholder 35">
            <a:extLst>
              <a:ext uri="{FF2B5EF4-FFF2-40B4-BE49-F238E27FC236}">
                <a16:creationId xmlns:a16="http://schemas.microsoft.com/office/drawing/2014/main" id="{865C03B3-A899-4B29-9660-6B877EF75096}"/>
              </a:ext>
            </a:extLst>
          </p:cNvPr>
          <p:cNvSpPr>
            <a:spLocks noGrp="1"/>
          </p:cNvSpPr>
          <p:nvPr>
            <p:ph idx="1"/>
          </p:nvPr>
        </p:nvSpPr>
        <p:spPr>
          <a:xfrm>
            <a:off x="457200" y="1600200"/>
            <a:ext cx="8229600" cy="283154"/>
          </a:xfrm>
        </p:spPr>
        <p:txBody>
          <a:bodyPr tIns="18288" bIns="18288">
            <a:spAutoFit/>
          </a:bodyPr>
          <a:lstStyle/>
          <a:p>
            <a:pPr marL="0" indent="0">
              <a:buNone/>
            </a:pPr>
            <a:r>
              <a:rPr lang="en-US" sz="1600" b="1" dirty="0">
                <a:latin typeface="Arial" panose="020B0604020202020204" pitchFamily="34" charset="0"/>
                <a:cs typeface="Arial" panose="020B0604020202020204" pitchFamily="34" charset="0"/>
              </a:rPr>
              <a:t>Exhibit 5.3</a:t>
            </a:r>
            <a:r>
              <a:rPr lang="en-US" sz="1600" dirty="0">
                <a:latin typeface="Arial" panose="020B0604020202020204" pitchFamily="34" charset="0"/>
                <a:cs typeface="Arial" panose="020B0604020202020204" pitchFamily="34" charset="0"/>
              </a:rPr>
              <a:t> Components of a Mission Statement</a:t>
            </a:r>
            <a:endParaRPr lang="en-US" dirty="0">
              <a:latin typeface="Arial" panose="020B0604020202020204" pitchFamily="34" charset="0"/>
              <a:cs typeface="Arial" panose="020B0604020202020204" pitchFamily="34" charset="0"/>
            </a:endParaRPr>
          </a:p>
        </p:txBody>
      </p:sp>
      <p:pic>
        <p:nvPicPr>
          <p:cNvPr id="41" name="Picture Placeholder 40" descr="A flow diagram shows the components of a mission statement.&#10;Long description is available in notes, press F6.">
            <a:extLst>
              <a:ext uri="{FF2B5EF4-FFF2-40B4-BE49-F238E27FC236}">
                <a16:creationId xmlns:a16="http://schemas.microsoft.com/office/drawing/2014/main" id="{BCFBEC7F-745F-4863-BC41-A8528A28B27F}"/>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1680179" y="2060848"/>
            <a:ext cx="5783643" cy="3360357"/>
          </a:xfrm>
        </p:spPr>
      </p:pic>
      <p:sp>
        <p:nvSpPr>
          <p:cNvPr id="37" name="Content Placeholder 36">
            <a:extLst>
              <a:ext uri="{FF2B5EF4-FFF2-40B4-BE49-F238E27FC236}">
                <a16:creationId xmlns:a16="http://schemas.microsoft.com/office/drawing/2014/main" id="{A450E041-B726-4809-9F56-A08A527B5040}"/>
              </a:ext>
            </a:extLst>
          </p:cNvPr>
          <p:cNvSpPr>
            <a:spLocks noGrp="1"/>
          </p:cNvSpPr>
          <p:nvPr>
            <p:ph idx="13"/>
          </p:nvPr>
        </p:nvSpPr>
        <p:spPr>
          <a:xfrm>
            <a:off x="457200" y="5687031"/>
            <a:ext cx="8229600" cy="406265"/>
          </a:xfrm>
        </p:spPr>
        <p:txBody>
          <a:bodyPr tIns="18288" bIns="18288">
            <a:spAutoFit/>
          </a:bodyPr>
          <a:lstStyle/>
          <a:p>
            <a:pPr marL="0" marR="0" lvl="0" indent="0" algn="l" defTabSz="914400" rtl="0" eaLnBrk="1" fontAlgn="auto" latinLnBrk="0" hangingPunct="1">
              <a:lnSpc>
                <a:spcPct val="100000"/>
              </a:lnSpc>
              <a:spcBef>
                <a:spcPts val="1500"/>
              </a:spcBef>
              <a:spcAft>
                <a:spcPts val="0"/>
              </a:spcAft>
              <a:buClr>
                <a:srgbClr val="007FA3"/>
              </a:buClr>
              <a:buSzTx/>
              <a:buFont typeface="Arial" panose="020B0604020202020204" pitchFamily="34" charset="0"/>
              <a:buNone/>
              <a:tabLst/>
              <a:defRPr/>
            </a:pPr>
            <a:r>
              <a:rPr kumimoji="0" lang="en-US" sz="1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Source: </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Robbins, Stephen P., Coulter, Mary, </a:t>
            </a:r>
            <a:r>
              <a:rPr kumimoji="0" lang="en-US" sz="1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Management</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13th E</a:t>
            </a:r>
            <a:r>
              <a:rPr kumimoji="0" lang="en-US" sz="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 © 2016, p. 238. Reprinted and electronically reproduced by permission of Pearson Education, Inc., New York, </a:t>
            </a:r>
            <a:r>
              <a:rPr kumimoji="0" lang="en-US" sz="1200" b="0" i="0" u="none" strike="noStrike" kern="1200" cap="none" spc="-20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 </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a:t>
            </a:r>
          </a:p>
        </p:txBody>
      </p:sp>
    </p:spTree>
    <p:extLst>
      <p:ext uri="{BB962C8B-B14F-4D97-AF65-F5344CB8AC3E}">
        <p14:creationId xmlns:p14="http://schemas.microsoft.com/office/powerpoint/2010/main" val="3978057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sz="3600" dirty="0">
                <a:latin typeface="+mj-lt"/>
                <a:ea typeface="ＭＳ Ｐゴシック" charset="0"/>
                <a:cs typeface="ＭＳ Ｐゴシック" charset="0"/>
              </a:rPr>
              <a:t>External and Internal Analyses</a:t>
            </a:r>
            <a:endParaRPr lang="en-IN" sz="3600" dirty="0">
              <a:latin typeface="+mj-lt"/>
            </a:endParaRPr>
          </a:p>
        </p:txBody>
      </p:sp>
      <p:sp>
        <p:nvSpPr>
          <p:cNvPr id="3" name="Content Placeholder 2"/>
          <p:cNvSpPr>
            <a:spLocks noGrp="1"/>
          </p:cNvSpPr>
          <p:nvPr>
            <p:ph idx="1"/>
          </p:nvPr>
        </p:nvSpPr>
        <p:spPr>
          <a:xfrm>
            <a:off x="468000" y="1274400"/>
            <a:ext cx="3575703" cy="3198756"/>
          </a:xfrm>
        </p:spPr>
        <p:txBody>
          <a:bodyPr tIns="18000" bIns="18000">
            <a:spAutoFit/>
          </a:bodyPr>
          <a:lstStyle/>
          <a:p>
            <a:pPr marL="0" indent="0">
              <a:buNone/>
              <a:defRPr/>
            </a:pPr>
            <a:r>
              <a:rPr lang="en-US" altLang="en-US" sz="2400" b="1" dirty="0">
                <a:latin typeface="Arial" panose="020B0604020202020204" pitchFamily="34" charset="0"/>
                <a:ea typeface="ＭＳ Ｐゴシック" pitchFamily="34" charset="-128"/>
                <a:cs typeface="Arial" panose="020B0604020202020204" pitchFamily="34" charset="0"/>
              </a:rPr>
              <a:t>Step 2: External Analysis</a:t>
            </a:r>
          </a:p>
          <a:p>
            <a:pPr>
              <a:buClr>
                <a:schemeClr val="bg2"/>
              </a:buClr>
              <a:defRPr/>
            </a:pPr>
            <a:r>
              <a:rPr lang="en-US" altLang="en-US" sz="2400" dirty="0">
                <a:latin typeface="Arial" panose="020B0604020202020204" pitchFamily="34" charset="0"/>
                <a:ea typeface="ＭＳ Ｐゴシック" pitchFamily="34" charset="-128"/>
                <a:cs typeface="Arial" panose="020B0604020202020204" pitchFamily="34" charset="0"/>
              </a:rPr>
              <a:t>Competition</a:t>
            </a:r>
          </a:p>
          <a:p>
            <a:pPr>
              <a:buClr>
                <a:schemeClr val="bg2"/>
              </a:buClr>
              <a:defRPr/>
            </a:pPr>
            <a:r>
              <a:rPr lang="en-US" altLang="en-US" sz="2400" dirty="0">
                <a:latin typeface="Arial" panose="020B0604020202020204" pitchFamily="34" charset="0"/>
                <a:ea typeface="ＭＳ Ｐゴシック" pitchFamily="34" charset="-128"/>
                <a:cs typeface="Arial" panose="020B0604020202020204" pitchFamily="34" charset="0"/>
              </a:rPr>
              <a:t>Components of environment</a:t>
            </a:r>
          </a:p>
          <a:p>
            <a:pPr>
              <a:buClr>
                <a:schemeClr val="bg2"/>
              </a:buClr>
              <a:defRPr/>
            </a:pPr>
            <a:r>
              <a:rPr lang="en-US" altLang="en-US" sz="2400" dirty="0">
                <a:latin typeface="Arial" panose="020B0604020202020204" pitchFamily="34" charset="0"/>
                <a:ea typeface="ＭＳ Ｐゴシック" pitchFamily="34" charset="-128"/>
                <a:cs typeface="Arial" panose="020B0604020202020204" pitchFamily="34" charset="0"/>
              </a:rPr>
              <a:t>Threats and opportunities</a:t>
            </a:r>
            <a:endParaRPr lang="en-US" sz="2400" dirty="0">
              <a:latin typeface="Arial" panose="020B0604020202020204" pitchFamily="34" charset="0"/>
              <a:cs typeface="Arial" panose="020B0604020202020204" pitchFamily="34" charset="0"/>
            </a:endParaRPr>
          </a:p>
        </p:txBody>
      </p:sp>
      <p:sp>
        <p:nvSpPr>
          <p:cNvPr id="4" name="Content Placeholder 3"/>
          <p:cNvSpPr>
            <a:spLocks noGrp="1"/>
          </p:cNvSpPr>
          <p:nvPr>
            <p:ph idx="13"/>
          </p:nvPr>
        </p:nvSpPr>
        <p:spPr>
          <a:xfrm>
            <a:off x="4343399" y="1268760"/>
            <a:ext cx="4405313" cy="3047999"/>
          </a:xfrm>
        </p:spPr>
        <p:txBody>
          <a:bodyPr wrap="square" tIns="18000" bIns="18000">
            <a:spAutoFit/>
          </a:bodyPr>
          <a:lstStyle/>
          <a:p>
            <a:pPr marL="0" indent="0">
              <a:buClr>
                <a:schemeClr val="bg2"/>
              </a:buClr>
              <a:buNone/>
              <a:defRPr/>
            </a:pPr>
            <a:r>
              <a:rPr lang="en-US" altLang="en-US" sz="2400" b="1" dirty="0">
                <a:latin typeface="Arial" panose="020B0604020202020204" pitchFamily="34" charset="0"/>
                <a:ea typeface="ＭＳ Ｐゴシック" pitchFamily="34" charset="-128"/>
                <a:cs typeface="Arial" panose="020B0604020202020204" pitchFamily="34" charset="0"/>
              </a:rPr>
              <a:t>Step 3: Internal Analysis</a:t>
            </a:r>
          </a:p>
          <a:p>
            <a:pPr>
              <a:buClr>
                <a:schemeClr val="bg2"/>
              </a:buClr>
              <a:defRPr/>
            </a:pPr>
            <a:r>
              <a:rPr lang="en-US" altLang="en-US" sz="2400" dirty="0">
                <a:latin typeface="Arial" panose="020B0604020202020204" pitchFamily="34" charset="0"/>
                <a:ea typeface="ＭＳ Ｐゴシック" pitchFamily="34" charset="-128"/>
                <a:cs typeface="Arial" panose="020B0604020202020204" pitchFamily="34" charset="0"/>
              </a:rPr>
              <a:t>Resources</a:t>
            </a:r>
          </a:p>
          <a:p>
            <a:pPr>
              <a:buClr>
                <a:schemeClr val="bg2"/>
              </a:buClr>
              <a:defRPr/>
            </a:pPr>
            <a:r>
              <a:rPr lang="en-US" altLang="en-US" sz="2400" dirty="0">
                <a:latin typeface="Arial" panose="020B0604020202020204" pitchFamily="34" charset="0"/>
                <a:ea typeface="ＭＳ Ｐゴシック" pitchFamily="34" charset="-128"/>
                <a:cs typeface="Arial" panose="020B0604020202020204" pitchFamily="34" charset="0"/>
              </a:rPr>
              <a:t>Capabilities</a:t>
            </a:r>
          </a:p>
          <a:p>
            <a:pPr>
              <a:buClr>
                <a:schemeClr val="bg2"/>
              </a:buClr>
              <a:defRPr/>
            </a:pPr>
            <a:r>
              <a:rPr lang="en-US" altLang="en-US" sz="2400" dirty="0">
                <a:latin typeface="Arial" panose="020B0604020202020204" pitchFamily="34" charset="0"/>
                <a:ea typeface="ＭＳ Ｐゴシック" pitchFamily="34" charset="-128"/>
                <a:cs typeface="Arial" panose="020B0604020202020204" pitchFamily="34" charset="0"/>
              </a:rPr>
              <a:t>Core competencies</a:t>
            </a:r>
          </a:p>
          <a:p>
            <a:pPr>
              <a:buClr>
                <a:schemeClr val="bg2"/>
              </a:buClr>
              <a:defRPr/>
            </a:pPr>
            <a:r>
              <a:rPr lang="en-US" altLang="en-US" sz="2400" dirty="0">
                <a:latin typeface="Arial" panose="020B0604020202020204" pitchFamily="34" charset="0"/>
                <a:ea typeface="ＭＳ Ｐゴシック" pitchFamily="34" charset="-128"/>
                <a:cs typeface="Arial" panose="020B0604020202020204" pitchFamily="34" charset="0"/>
              </a:rPr>
              <a:t>Organizational strengths and weaknesses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4994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sz="3600" dirty="0">
                <a:latin typeface="+mj-lt"/>
                <a:ea typeface="ＭＳ Ｐゴシック" charset="0"/>
                <a:cs typeface="ＭＳ Ｐゴシック" charset="0"/>
              </a:rPr>
              <a:t>Formulating, Implementing, and Evaluating Results</a:t>
            </a:r>
            <a:endParaRPr lang="en-IN" sz="3600" dirty="0">
              <a:latin typeface="+mj-lt"/>
            </a:endParaRPr>
          </a:p>
        </p:txBody>
      </p:sp>
      <p:sp>
        <p:nvSpPr>
          <p:cNvPr id="3" name="Content Placeholder 2"/>
          <p:cNvSpPr>
            <a:spLocks noGrp="1"/>
          </p:cNvSpPr>
          <p:nvPr>
            <p:ph idx="1"/>
          </p:nvPr>
        </p:nvSpPr>
        <p:spPr>
          <a:xfrm>
            <a:off x="468000" y="1602000"/>
            <a:ext cx="3599944" cy="2460092"/>
          </a:xfrm>
        </p:spPr>
        <p:txBody>
          <a:bodyPr wrap="square" tIns="18000" bIns="18000">
            <a:spAutoFit/>
          </a:bodyPr>
          <a:lstStyle/>
          <a:p>
            <a:pPr marL="0" indent="0">
              <a:buNone/>
              <a:defRPr/>
            </a:pPr>
            <a:r>
              <a:rPr lang="en-US" altLang="en-US" sz="2400" b="1" dirty="0">
                <a:latin typeface="Arial" panose="020B0604020202020204" pitchFamily="34" charset="0"/>
                <a:ea typeface="ＭＳ Ｐゴシック" pitchFamily="34" charset="-128"/>
                <a:cs typeface="Arial" panose="020B0604020202020204" pitchFamily="34" charset="0"/>
              </a:rPr>
              <a:t>Step 4: Formulate Strategies</a:t>
            </a:r>
          </a:p>
          <a:p>
            <a:pPr marL="342900" indent="-342900">
              <a:buClr>
                <a:schemeClr val="bg2"/>
              </a:buClr>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Corporate </a:t>
            </a:r>
          </a:p>
          <a:p>
            <a:pPr marL="342900" indent="-342900">
              <a:buClr>
                <a:schemeClr val="bg2"/>
              </a:buClr>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Business</a:t>
            </a:r>
          </a:p>
          <a:p>
            <a:pPr marL="342900" indent="-342900">
              <a:buClr>
                <a:schemeClr val="bg2"/>
              </a:buClr>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Functional</a:t>
            </a:r>
          </a:p>
        </p:txBody>
      </p:sp>
      <p:sp>
        <p:nvSpPr>
          <p:cNvPr id="4" name="Content Placeholder 3"/>
          <p:cNvSpPr>
            <a:spLocks noGrp="1"/>
          </p:cNvSpPr>
          <p:nvPr>
            <p:ph sz="quarter" idx="13"/>
          </p:nvPr>
        </p:nvSpPr>
        <p:spPr>
          <a:xfrm>
            <a:off x="468313" y="4247453"/>
            <a:ext cx="3599631" cy="775015"/>
          </a:xfrm>
        </p:spPr>
        <p:txBody>
          <a:bodyPr wrap="square" tIns="18000" bIns="18000">
            <a:spAutoFit/>
          </a:bodyPr>
          <a:lstStyle/>
          <a:p>
            <a:pPr>
              <a:buClr>
                <a:schemeClr val="bg2"/>
              </a:buClr>
              <a:defRPr/>
            </a:pPr>
            <a:r>
              <a:rPr lang="en-US" altLang="en-US" b="1" dirty="0">
                <a:latin typeface="Arial" panose="020B0604020202020204" pitchFamily="34" charset="0"/>
                <a:ea typeface="ＭＳ Ｐゴシック" pitchFamily="34" charset="-128"/>
                <a:cs typeface="Arial" panose="020B0604020202020204" pitchFamily="34" charset="0"/>
              </a:rPr>
              <a:t>Step 5: Implement Strategies</a:t>
            </a:r>
          </a:p>
        </p:txBody>
      </p:sp>
      <p:sp>
        <p:nvSpPr>
          <p:cNvPr id="5" name="Content Placeholder 4"/>
          <p:cNvSpPr>
            <a:spLocks noGrp="1"/>
          </p:cNvSpPr>
          <p:nvPr>
            <p:ph sz="quarter" idx="14"/>
          </p:nvPr>
        </p:nvSpPr>
        <p:spPr>
          <a:xfrm>
            <a:off x="4211960" y="1628800"/>
            <a:ext cx="4536753" cy="2267732"/>
          </a:xfrm>
        </p:spPr>
        <p:txBody>
          <a:bodyPr wrap="square" tIns="18000" bIns="18000">
            <a:spAutoFit/>
          </a:bodyPr>
          <a:lstStyle/>
          <a:p>
            <a:pPr>
              <a:buClr>
                <a:schemeClr val="bg2"/>
              </a:buClr>
              <a:defRPr/>
            </a:pPr>
            <a:r>
              <a:rPr lang="en-US" altLang="en-US" b="1" dirty="0">
                <a:latin typeface="Arial" panose="020B0604020202020204" pitchFamily="34" charset="0"/>
                <a:ea typeface="ＭＳ Ｐゴシック" pitchFamily="34" charset="-128"/>
                <a:cs typeface="Arial" panose="020B0604020202020204" pitchFamily="34" charset="0"/>
              </a:rPr>
              <a:t>Step 6: Evaluate Results</a:t>
            </a:r>
            <a:r>
              <a:rPr lang="en-US" altLang="en-US" dirty="0">
                <a:latin typeface="Arial" panose="020B0604020202020204" pitchFamily="34" charset="0"/>
                <a:ea typeface="ＭＳ Ｐゴシック" pitchFamily="34" charset="-128"/>
                <a:cs typeface="Arial" panose="020B0604020202020204" pitchFamily="34" charset="0"/>
              </a:rPr>
              <a:t> </a:t>
            </a:r>
          </a:p>
          <a:p>
            <a:pPr marL="342900" indent="-342900">
              <a:buClr>
                <a:schemeClr val="bg2"/>
              </a:buClr>
              <a:buFont typeface="Arial" panose="020B0604020202020204" pitchFamily="34" charset="0"/>
              <a:buChar char="•"/>
              <a:defRPr/>
            </a:pPr>
            <a:r>
              <a:rPr lang="en-US" altLang="en-US" dirty="0">
                <a:latin typeface="Arial" panose="020B0604020202020204" pitchFamily="34" charset="0"/>
                <a:ea typeface="ＭＳ Ｐゴシック" pitchFamily="34" charset="-128"/>
                <a:cs typeface="Arial" panose="020B0604020202020204" pitchFamily="34" charset="0"/>
              </a:rPr>
              <a:t>How effective have strategies been?</a:t>
            </a:r>
          </a:p>
          <a:p>
            <a:pPr marL="342900" indent="-342900">
              <a:buClr>
                <a:schemeClr val="bg2"/>
              </a:buClr>
              <a:buFont typeface="Arial" panose="020B0604020202020204" pitchFamily="34" charset="0"/>
              <a:buChar char="•"/>
              <a:defRPr/>
            </a:pPr>
            <a:r>
              <a:rPr lang="en-US" altLang="en-US" dirty="0">
                <a:latin typeface="Arial" panose="020B0604020202020204" pitchFamily="34" charset="0"/>
                <a:ea typeface="ＭＳ Ｐゴシック" pitchFamily="34" charset="-128"/>
                <a:cs typeface="Arial" panose="020B0604020202020204" pitchFamily="34" charset="0"/>
              </a:rPr>
              <a:t>What adjustments are necessary?</a:t>
            </a:r>
          </a:p>
        </p:txBody>
      </p:sp>
    </p:spTree>
    <p:extLst>
      <p:ext uri="{BB962C8B-B14F-4D97-AF65-F5344CB8AC3E}">
        <p14:creationId xmlns:p14="http://schemas.microsoft.com/office/powerpoint/2010/main" val="2112228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a:latin typeface="+mj-lt"/>
                <a:ea typeface="ＭＳ Ｐゴシック" charset="0"/>
                <a:cs typeface="ＭＳ Ｐゴシック" charset="0"/>
              </a:rPr>
              <a:t>Strategies Managers Use</a:t>
            </a:r>
            <a:endParaRPr lang="en-US" sz="2800">
              <a:latin typeface="+mj-lt"/>
            </a:endParaRP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8000" y="1274400"/>
            <a:ext cx="8280712" cy="282573"/>
          </a:xfrm>
        </p:spPr>
        <p:txBody>
          <a:bodyPr wrap="square" tIns="18000" bIns="18000">
            <a:spAutoFit/>
          </a:bodyPr>
          <a:lstStyle/>
          <a:p>
            <a:pPr marL="0" indent="0">
              <a:buNone/>
            </a:pPr>
            <a:r>
              <a:rPr lang="en-US" sz="1600" b="1" dirty="0">
                <a:latin typeface="Arial" panose="020B0604020202020204" pitchFamily="34" charset="0"/>
                <a:cs typeface="Arial" panose="020B0604020202020204" pitchFamily="34" charset="0"/>
              </a:rPr>
              <a:t>Exhibit 5.4 </a:t>
            </a:r>
            <a:r>
              <a:rPr lang="en-US" sz="1600" dirty="0">
                <a:latin typeface="Arial" panose="020B0604020202020204" pitchFamily="34" charset="0"/>
                <a:cs typeface="Arial" panose="020B0604020202020204" pitchFamily="34" charset="0"/>
              </a:rPr>
              <a:t>Organizational Strategies</a:t>
            </a:r>
            <a:endParaRPr lang="en-US" dirty="0">
              <a:latin typeface="Arial" panose="020B0604020202020204" pitchFamily="34" charset="0"/>
              <a:cs typeface="Arial" panose="020B0604020202020204" pitchFamily="34" charset="0"/>
            </a:endParaRPr>
          </a:p>
        </p:txBody>
      </p:sp>
      <p:pic>
        <p:nvPicPr>
          <p:cNvPr id="7" name="Picture Placeholder 6" descr="An organization chart shows different organizational strategies.&#10;Long description is available in notes, press F6.">
            <a:extLst>
              <a:ext uri="{FF2B5EF4-FFF2-40B4-BE49-F238E27FC236}">
                <a16:creationId xmlns:a16="http://schemas.microsoft.com/office/drawing/2014/main" id="{D8FB4421-D924-48A7-8BBA-D063EE914C38}"/>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611560" y="2132856"/>
            <a:ext cx="7993850" cy="1866380"/>
          </a:xfrm>
          <a:prstGeom prst="rect">
            <a:avLst/>
          </a:prstGeom>
        </p:spPr>
      </p:pic>
    </p:spTree>
    <p:extLst>
      <p:ext uri="{BB962C8B-B14F-4D97-AF65-F5344CB8AC3E}">
        <p14:creationId xmlns:p14="http://schemas.microsoft.com/office/powerpoint/2010/main" val="3422298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sz="3600" dirty="0">
                <a:latin typeface="+mj-lt"/>
                <a:ea typeface="ＭＳ Ｐゴシック" charset="0"/>
                <a:cs typeface="ＭＳ Ｐゴシック" charset="0"/>
              </a:rPr>
              <a:t>Growth Strategy</a:t>
            </a:r>
            <a:endParaRPr lang="en-US" dirty="0">
              <a:latin typeface="+mj-lt"/>
            </a:endParaRPr>
          </a:p>
        </p:txBody>
      </p:sp>
      <p:sp>
        <p:nvSpPr>
          <p:cNvPr id="3" name="Content Placeholder 2"/>
          <p:cNvSpPr>
            <a:spLocks noGrp="1"/>
          </p:cNvSpPr>
          <p:nvPr>
            <p:ph idx="1"/>
          </p:nvPr>
        </p:nvSpPr>
        <p:spPr>
          <a:xfrm>
            <a:off x="467999" y="1274400"/>
            <a:ext cx="8280713" cy="2560119"/>
          </a:xfrm>
        </p:spPr>
        <p:txBody>
          <a:bodyPr wrap="square" tIns="18000" bIns="18000">
            <a:spAutoFit/>
          </a:bodyPr>
          <a:lstStyle/>
          <a:p>
            <a:pPr marL="256032" indent="-256032">
              <a:buSzPct val="100000"/>
            </a:pPr>
            <a:r>
              <a:rPr lang="en-US" sz="2400" dirty="0">
                <a:latin typeface="Arial" panose="020B0604020202020204" pitchFamily="34" charset="0"/>
                <a:ea typeface="ＭＳ Ｐゴシック" charset="0"/>
                <a:cs typeface="Arial" panose="020B0604020202020204" pitchFamily="34" charset="0"/>
              </a:rPr>
              <a:t>An organization expands the number of markets served or products offered</a:t>
            </a:r>
          </a:p>
          <a:p>
            <a:pPr marL="740664" lvl="1" indent="-283464">
              <a:buSzPct val="100000"/>
            </a:pPr>
            <a:r>
              <a:rPr lang="en-US" sz="2400" dirty="0">
                <a:latin typeface="Arial" panose="020B0604020202020204" pitchFamily="34" charset="0"/>
                <a:ea typeface="ＭＳ Ｐゴシック" charset="0"/>
                <a:cs typeface="Arial" panose="020B0604020202020204" pitchFamily="34" charset="0"/>
              </a:rPr>
              <a:t>Concentration</a:t>
            </a:r>
          </a:p>
          <a:p>
            <a:pPr marL="740664" lvl="1" indent="-283464">
              <a:buSzPct val="100000"/>
            </a:pPr>
            <a:r>
              <a:rPr lang="en-US" sz="2400" dirty="0">
                <a:latin typeface="Arial" panose="020B0604020202020204" pitchFamily="34" charset="0"/>
                <a:ea typeface="ＭＳ Ｐゴシック" charset="0"/>
                <a:cs typeface="Arial" panose="020B0604020202020204" pitchFamily="34" charset="0"/>
              </a:rPr>
              <a:t>Vertical integration</a:t>
            </a:r>
          </a:p>
          <a:p>
            <a:pPr marL="740664" lvl="1" indent="-283464">
              <a:buSzPct val="100000"/>
            </a:pPr>
            <a:r>
              <a:rPr lang="en-US" sz="2400" dirty="0">
                <a:latin typeface="Arial" panose="020B0604020202020204" pitchFamily="34" charset="0"/>
                <a:ea typeface="ＭＳ Ｐゴシック" charset="0"/>
                <a:cs typeface="Arial" panose="020B0604020202020204" pitchFamily="34" charset="0"/>
              </a:rPr>
              <a:t>Horizontal integration</a:t>
            </a:r>
          </a:p>
          <a:p>
            <a:pPr marL="740664" lvl="1" indent="-283464">
              <a:buSzPct val="100000"/>
            </a:pPr>
            <a:r>
              <a:rPr lang="en-US" sz="2400" dirty="0">
                <a:latin typeface="Arial" panose="020B0604020202020204" pitchFamily="34" charset="0"/>
                <a:ea typeface="ＭＳ Ｐゴシック" charset="0"/>
                <a:cs typeface="Arial" panose="020B0604020202020204" pitchFamily="34" charset="0"/>
              </a:rPr>
              <a:t>Diversification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1303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sz="3600" dirty="0">
                <a:latin typeface="+mj-lt"/>
                <a:ea typeface="ＭＳ Ｐゴシック" charset="0"/>
                <a:cs typeface="ＭＳ Ｐゴシック" charset="0"/>
              </a:rPr>
              <a:t>Stability and Renewal Strategies</a:t>
            </a:r>
            <a:endParaRPr lang="en-IN" sz="3600" dirty="0">
              <a:latin typeface="+mj-lt"/>
            </a:endParaRPr>
          </a:p>
        </p:txBody>
      </p:sp>
      <p:sp>
        <p:nvSpPr>
          <p:cNvPr id="3" name="Content Placeholder 2"/>
          <p:cNvSpPr>
            <a:spLocks noGrp="1"/>
          </p:cNvSpPr>
          <p:nvPr>
            <p:ph idx="1"/>
          </p:nvPr>
        </p:nvSpPr>
        <p:spPr>
          <a:xfrm>
            <a:off x="468000" y="1274400"/>
            <a:ext cx="3048000" cy="1706039"/>
          </a:xfrm>
        </p:spPr>
        <p:txBody>
          <a:bodyPr tIns="18000" bIns="18000">
            <a:spAutoFit/>
          </a:bodyPr>
          <a:lstStyle/>
          <a:p>
            <a:pPr marL="0" indent="0">
              <a:buNone/>
            </a:pPr>
            <a:r>
              <a:rPr lang="en-US" sz="2400" b="1" dirty="0">
                <a:latin typeface="Arial" panose="020B0604020202020204" pitchFamily="34" charset="0"/>
                <a:ea typeface="ＭＳ Ｐゴシック" charset="0"/>
                <a:cs typeface="Arial" panose="020B0604020202020204" pitchFamily="34" charset="0"/>
              </a:rPr>
              <a:t>Stability strategy</a:t>
            </a:r>
          </a:p>
          <a:p>
            <a:r>
              <a:rPr lang="en-US" sz="2400" dirty="0">
                <a:latin typeface="Arial" panose="020B0604020202020204" pitchFamily="34" charset="0"/>
                <a:ea typeface="ＭＳ Ｐゴシック" charset="0"/>
                <a:cs typeface="Arial" panose="020B0604020202020204" pitchFamily="34" charset="0"/>
              </a:rPr>
              <a:t>Organization continues to do what it’s doing</a:t>
            </a:r>
            <a:endParaRPr lang="en-US" sz="2400" dirty="0">
              <a:latin typeface="Arial" panose="020B0604020202020204" pitchFamily="34" charset="0"/>
              <a:cs typeface="Arial" panose="020B0604020202020204" pitchFamily="34" charset="0"/>
            </a:endParaRPr>
          </a:p>
        </p:txBody>
      </p:sp>
      <p:sp>
        <p:nvSpPr>
          <p:cNvPr id="4" name="Content Placeholder 3"/>
          <p:cNvSpPr>
            <a:spLocks noGrp="1"/>
          </p:cNvSpPr>
          <p:nvPr>
            <p:ph idx="13"/>
          </p:nvPr>
        </p:nvSpPr>
        <p:spPr>
          <a:xfrm>
            <a:off x="4107600" y="1274400"/>
            <a:ext cx="4641112" cy="2598591"/>
          </a:xfrm>
        </p:spPr>
        <p:txBody>
          <a:bodyPr wrap="square" tIns="18000" bIns="18000">
            <a:spAutoFit/>
          </a:bodyPr>
          <a:lstStyle/>
          <a:p>
            <a:pPr marL="0" indent="0">
              <a:buNone/>
            </a:pPr>
            <a:r>
              <a:rPr lang="en-US" sz="2400" b="1" dirty="0">
                <a:latin typeface="Arial" panose="020B0604020202020204" pitchFamily="34" charset="0"/>
                <a:ea typeface="ＭＳ Ｐゴシック" charset="0"/>
                <a:cs typeface="Arial" panose="020B0604020202020204" pitchFamily="34" charset="0"/>
              </a:rPr>
              <a:t>Renewal strategy</a:t>
            </a:r>
          </a:p>
          <a:p>
            <a:r>
              <a:rPr lang="en-US" sz="2400" dirty="0">
                <a:latin typeface="Arial" panose="020B0604020202020204" pitchFamily="34" charset="0"/>
                <a:ea typeface="ＭＳ Ｐゴシック" charset="0"/>
                <a:cs typeface="Arial" panose="020B0604020202020204" pitchFamily="34" charset="0"/>
              </a:rPr>
              <a:t>Organization addresses declining organizational performance</a:t>
            </a:r>
          </a:p>
          <a:p>
            <a:pPr lvl="1"/>
            <a:r>
              <a:rPr lang="en-US" sz="2400" dirty="0">
                <a:latin typeface="Arial" panose="020B0604020202020204" pitchFamily="34" charset="0"/>
                <a:ea typeface="ＭＳ Ｐゴシック" charset="0"/>
                <a:cs typeface="Arial" panose="020B0604020202020204" pitchFamily="34" charset="0"/>
              </a:rPr>
              <a:t>Retrenchment</a:t>
            </a:r>
          </a:p>
          <a:p>
            <a:pPr lvl="1"/>
            <a:r>
              <a:rPr lang="en-US" sz="2400" dirty="0">
                <a:latin typeface="Arial" panose="020B0604020202020204" pitchFamily="34" charset="0"/>
                <a:ea typeface="ＭＳ Ｐゴシック" charset="0"/>
                <a:cs typeface="Arial" panose="020B0604020202020204" pitchFamily="34" charset="0"/>
              </a:rPr>
              <a:t>Turnaround</a:t>
            </a:r>
          </a:p>
        </p:txBody>
      </p:sp>
    </p:spTree>
    <p:extLst>
      <p:ext uri="{BB962C8B-B14F-4D97-AF65-F5344CB8AC3E}">
        <p14:creationId xmlns:p14="http://schemas.microsoft.com/office/powerpoint/2010/main" val="172399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sz="3600" dirty="0">
                <a:latin typeface="+mj-lt"/>
                <a:ea typeface="ＭＳ Ｐゴシック" charset="0"/>
                <a:cs typeface="ＭＳ Ｐゴシック" charset="0"/>
              </a:rPr>
              <a:t>Competitive Strategy</a:t>
            </a:r>
            <a:endParaRPr lang="en-US" sz="3600" dirty="0">
              <a:latin typeface="+mj-lt"/>
            </a:endParaRPr>
          </a:p>
        </p:txBody>
      </p:sp>
      <p:sp>
        <p:nvSpPr>
          <p:cNvPr id="3" name="Content Placeholder 2"/>
          <p:cNvSpPr>
            <a:spLocks noGrp="1"/>
          </p:cNvSpPr>
          <p:nvPr>
            <p:ph idx="1"/>
          </p:nvPr>
        </p:nvSpPr>
        <p:spPr>
          <a:xfrm>
            <a:off x="467999" y="1274400"/>
            <a:ext cx="8280713" cy="1336708"/>
          </a:xfrm>
        </p:spPr>
        <p:txBody>
          <a:bodyPr wrap="square" tIns="18000" bIns="18000">
            <a:spAutoFit/>
          </a:bodyPr>
          <a:lstStyle/>
          <a:p>
            <a:pPr marL="0" indent="0">
              <a:buNone/>
              <a:defRPr/>
            </a:pPr>
            <a:r>
              <a:rPr lang="en-US" altLang="en-US" sz="2400" b="1" dirty="0">
                <a:latin typeface="Arial" panose="020B0604020202020204" pitchFamily="34" charset="0"/>
                <a:ea typeface="ＭＳ Ｐゴシック" pitchFamily="34" charset="-128"/>
                <a:cs typeface="Arial" panose="020B0604020202020204" pitchFamily="34" charset="0"/>
              </a:rPr>
              <a:t>Competitive strategy: </a:t>
            </a:r>
            <a:endParaRPr lang="en-US" altLang="en-US" sz="2400" dirty="0">
              <a:latin typeface="Arial" panose="020B0604020202020204" pitchFamily="34" charset="0"/>
              <a:ea typeface="ＭＳ Ｐゴシック" pitchFamily="34" charset="-128"/>
              <a:cs typeface="Arial" panose="020B0604020202020204" pitchFamily="34" charset="0"/>
            </a:endParaRPr>
          </a:p>
          <a:p>
            <a:pPr marL="256032" indent="-256032">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a</a:t>
            </a:r>
            <a:r>
              <a:rPr lang="en-US" altLang="en-US" sz="2400" b="1" dirty="0">
                <a:latin typeface="Arial" panose="020B0604020202020204" pitchFamily="34" charset="0"/>
                <a:ea typeface="ＭＳ Ｐゴシック" pitchFamily="34" charset="-128"/>
                <a:cs typeface="Arial" panose="020B0604020202020204" pitchFamily="34" charset="0"/>
              </a:rPr>
              <a:t> </a:t>
            </a:r>
            <a:r>
              <a:rPr lang="en-US" altLang="en-US" sz="2400" dirty="0">
                <a:latin typeface="Arial" panose="020B0604020202020204" pitchFamily="34" charset="0"/>
                <a:ea typeface="ＭＳ Ｐゴシック" pitchFamily="34" charset="-128"/>
                <a:cs typeface="Arial" panose="020B0604020202020204" pitchFamily="34" charset="0"/>
              </a:rPr>
              <a:t>strategy for how an organization will compete in its business.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0500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sz="3600">
                <a:latin typeface="+mj-lt"/>
                <a:ea typeface="ＭＳ Ｐゴシック" charset="0"/>
                <a:cs typeface="ＭＳ Ｐゴシック" charset="0"/>
              </a:rPr>
              <a:t>Competitive Advantage</a:t>
            </a:r>
            <a:endParaRPr lang="en-US" sz="3600">
              <a:latin typeface="+mj-lt"/>
            </a:endParaRPr>
          </a:p>
        </p:txBody>
      </p:sp>
      <p:sp>
        <p:nvSpPr>
          <p:cNvPr id="52" name="Content Placeholder 51">
            <a:extLst>
              <a:ext uri="{FF2B5EF4-FFF2-40B4-BE49-F238E27FC236}">
                <a16:creationId xmlns:a16="http://schemas.microsoft.com/office/drawing/2014/main" id="{37909E69-4757-498A-BDBA-A99E3ACC58C9}"/>
              </a:ext>
            </a:extLst>
          </p:cNvPr>
          <p:cNvSpPr>
            <a:spLocks noGrp="1"/>
          </p:cNvSpPr>
          <p:nvPr>
            <p:ph sz="quarter" idx="13"/>
          </p:nvPr>
        </p:nvSpPr>
        <p:spPr>
          <a:xfrm>
            <a:off x="467999" y="1274400"/>
            <a:ext cx="8280713" cy="544183"/>
          </a:xfrm>
        </p:spPr>
        <p:txBody>
          <a:bodyPr wrap="square" tIns="18000" bIns="18000">
            <a:spAutoFit/>
          </a:bodyPr>
          <a:lstStyle/>
          <a:p>
            <a:pPr>
              <a:defRPr/>
            </a:pPr>
            <a:r>
              <a:rPr lang="en-US" altLang="en-US" sz="1400" dirty="0">
                <a:latin typeface="Arial" panose="020B0604020202020204" pitchFamily="34" charset="0"/>
                <a:ea typeface="ＭＳ Ｐゴシック" pitchFamily="34" charset="-128"/>
                <a:cs typeface="Arial" panose="020B0604020202020204" pitchFamily="34" charset="0"/>
              </a:rPr>
              <a:t>What sets an organization apart; its distinctive edge that comes from its: </a:t>
            </a:r>
          </a:p>
          <a:p>
            <a:pPr lvl="1">
              <a:defRPr/>
            </a:pPr>
            <a:r>
              <a:rPr lang="en-US" altLang="en-US" sz="1400" b="1" dirty="0">
                <a:latin typeface="Arial" panose="020B0604020202020204" pitchFamily="34" charset="0"/>
                <a:ea typeface="ＭＳ Ｐゴシック" pitchFamily="34" charset="-128"/>
                <a:cs typeface="Arial" panose="020B0604020202020204" pitchFamily="34" charset="0"/>
              </a:rPr>
              <a:t>core competencies </a:t>
            </a:r>
            <a:r>
              <a:rPr lang="en-US" altLang="en-US" sz="1400" dirty="0">
                <a:latin typeface="Arial" panose="020B0604020202020204" pitchFamily="34" charset="0"/>
                <a:ea typeface="ＭＳ Ｐゴシック" pitchFamily="34" charset="-128"/>
                <a:cs typeface="Arial" panose="020B0604020202020204" pitchFamily="34" charset="0"/>
              </a:rPr>
              <a:t>and</a:t>
            </a:r>
            <a:r>
              <a:rPr lang="en-US" altLang="en-US" sz="1400" b="1" dirty="0">
                <a:latin typeface="Arial" panose="020B0604020202020204" pitchFamily="34" charset="0"/>
                <a:ea typeface="ＭＳ Ｐゴシック" pitchFamily="34" charset="-128"/>
                <a:cs typeface="Arial" panose="020B0604020202020204" pitchFamily="34" charset="0"/>
              </a:rPr>
              <a:t> resources</a:t>
            </a:r>
            <a:endParaRPr lang="en-US" sz="1400" dirty="0">
              <a:latin typeface="Arial" panose="020B0604020202020204" pitchFamily="34" charset="0"/>
              <a:cs typeface="Arial" panose="020B0604020202020204" pitchFamily="34" charset="0"/>
            </a:endParaRPr>
          </a:p>
        </p:txBody>
      </p:sp>
      <p:sp>
        <p:nvSpPr>
          <p:cNvPr id="53" name="Content Placeholder 52">
            <a:extLst>
              <a:ext uri="{FF2B5EF4-FFF2-40B4-BE49-F238E27FC236}">
                <a16:creationId xmlns:a16="http://schemas.microsoft.com/office/drawing/2014/main" id="{3594179C-D3EE-4055-91A7-8A932F9BEB8B}"/>
              </a:ext>
            </a:extLst>
          </p:cNvPr>
          <p:cNvSpPr>
            <a:spLocks noGrp="1"/>
          </p:cNvSpPr>
          <p:nvPr>
            <p:ph sz="quarter" idx="14"/>
          </p:nvPr>
        </p:nvSpPr>
        <p:spPr>
          <a:xfrm>
            <a:off x="468000" y="1953069"/>
            <a:ext cx="8280712" cy="251795"/>
          </a:xfrm>
        </p:spPr>
        <p:txBody>
          <a:bodyPr wrap="square" tIns="18000" bIns="18000">
            <a:spAutoFit/>
          </a:bodyPr>
          <a:lstStyle/>
          <a:p>
            <a:pPr marL="0" indent="0">
              <a:buNone/>
            </a:pPr>
            <a:r>
              <a:rPr lang="en-US" sz="1400" dirty="0">
                <a:latin typeface="Arial" panose="020B0604020202020204" pitchFamily="34" charset="0"/>
                <a:cs typeface="Arial" panose="020B0604020202020204" pitchFamily="34" charset="0"/>
              </a:rPr>
              <a:t>Porter’s </a:t>
            </a:r>
            <a:r>
              <a:rPr lang="en-US" sz="1400" b="1" dirty="0">
                <a:latin typeface="Arial" panose="020B0604020202020204" pitchFamily="34" charset="0"/>
                <a:cs typeface="Arial" panose="020B0604020202020204" pitchFamily="34" charset="0"/>
              </a:rPr>
              <a:t>competitive strategies </a:t>
            </a:r>
            <a:r>
              <a:rPr lang="en-US" sz="1400" dirty="0">
                <a:latin typeface="Arial" panose="020B0604020202020204" pitchFamily="34" charset="0"/>
                <a:cs typeface="Arial" panose="020B0604020202020204" pitchFamily="34" charset="0"/>
              </a:rPr>
              <a:t>framework:</a:t>
            </a:r>
          </a:p>
        </p:txBody>
      </p:sp>
      <p:graphicFrame>
        <p:nvGraphicFramePr>
          <p:cNvPr id="74" name="Table 1">
            <a:extLst>
              <a:ext uri="{FF2B5EF4-FFF2-40B4-BE49-F238E27FC236}">
                <a16:creationId xmlns:a16="http://schemas.microsoft.com/office/drawing/2014/main" id="{C7AC4A8F-46B7-44F0-AFE8-ED5358508CB9}"/>
              </a:ext>
            </a:extLst>
          </p:cNvPr>
          <p:cNvGraphicFramePr>
            <a:graphicFrameLocks/>
          </p:cNvGraphicFramePr>
          <p:nvPr>
            <p:extLst>
              <p:ext uri="{D42A27DB-BD31-4B8C-83A1-F6EECF244321}">
                <p14:modId xmlns:p14="http://schemas.microsoft.com/office/powerpoint/2010/main" val="3214792364"/>
              </p:ext>
            </p:extLst>
          </p:nvPr>
        </p:nvGraphicFramePr>
        <p:xfrm>
          <a:off x="468000" y="2348880"/>
          <a:ext cx="8280713" cy="4058023"/>
        </p:xfrm>
        <a:graphic>
          <a:graphicData uri="http://schemas.openxmlformats.org/drawingml/2006/table">
            <a:tbl>
              <a:tblPr firstRow="1">
                <a:tableStyleId>{0E3FDE45-AF77-4B5C-9715-49D594BDF05E}</a:tableStyleId>
              </a:tblPr>
              <a:tblGrid>
                <a:gridCol w="2315793">
                  <a:extLst>
                    <a:ext uri="{9D8B030D-6E8A-4147-A177-3AD203B41FA5}">
                      <a16:colId xmlns:a16="http://schemas.microsoft.com/office/drawing/2014/main" val="20000"/>
                    </a:ext>
                  </a:extLst>
                </a:gridCol>
                <a:gridCol w="1894739">
                  <a:extLst>
                    <a:ext uri="{9D8B030D-6E8A-4147-A177-3AD203B41FA5}">
                      <a16:colId xmlns:a16="http://schemas.microsoft.com/office/drawing/2014/main" val="20001"/>
                    </a:ext>
                  </a:extLst>
                </a:gridCol>
                <a:gridCol w="2385968">
                  <a:extLst>
                    <a:ext uri="{9D8B030D-6E8A-4147-A177-3AD203B41FA5}">
                      <a16:colId xmlns:a16="http://schemas.microsoft.com/office/drawing/2014/main" val="20002"/>
                    </a:ext>
                  </a:extLst>
                </a:gridCol>
                <a:gridCol w="1684213">
                  <a:extLst>
                    <a:ext uri="{9D8B030D-6E8A-4147-A177-3AD203B41FA5}">
                      <a16:colId xmlns:a16="http://schemas.microsoft.com/office/drawing/2014/main" val="20003"/>
                    </a:ext>
                  </a:extLst>
                </a:gridCol>
              </a:tblGrid>
              <a:tr h="550663">
                <a:tc>
                  <a:txBody>
                    <a:bodyPr/>
                    <a:lstStyle/>
                    <a:p>
                      <a:pPr algn="l" fontAlgn="b"/>
                      <a:r>
                        <a:rPr lang="en-US" sz="1400" b="1" i="0" u="none" strike="noStrike" noProof="0">
                          <a:solidFill>
                            <a:schemeClr val="bg1"/>
                          </a:solidFill>
                          <a:effectLst/>
                          <a:latin typeface="Arial" panose="020B0604020202020204" pitchFamily="34" charset="0"/>
                          <a:cs typeface="Arial" panose="020B0604020202020204" pitchFamily="34" charset="0"/>
                        </a:rPr>
                        <a:t>1 Cost leadership strategy</a:t>
                      </a:r>
                    </a:p>
                  </a:txBody>
                  <a:tcPr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r>
                        <a:rPr lang="en-US" sz="1400" b="1" i="0" u="none" strike="noStrike" noProof="0" dirty="0">
                          <a:solidFill>
                            <a:schemeClr val="bg1"/>
                          </a:solidFill>
                          <a:effectLst/>
                          <a:latin typeface="Arial" panose="020B0604020202020204" pitchFamily="34" charset="0"/>
                          <a:cs typeface="Arial" panose="020B0604020202020204" pitchFamily="34" charset="0"/>
                        </a:rPr>
                        <a:t>2 Differentiation strategy</a:t>
                      </a:r>
                    </a:p>
                  </a:txBody>
                  <a:tcPr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r>
                        <a:rPr lang="en-US" sz="1400" b="1" i="0" u="none" strike="noStrike" noProof="0">
                          <a:solidFill>
                            <a:schemeClr val="bg1"/>
                          </a:solidFill>
                          <a:effectLst/>
                          <a:latin typeface="Arial" panose="020B0604020202020204" pitchFamily="34" charset="0"/>
                          <a:cs typeface="Arial" panose="020B0604020202020204" pitchFamily="34" charset="0"/>
                        </a:rPr>
                        <a:t>3 Focus strategy</a:t>
                      </a:r>
                    </a:p>
                  </a:txBody>
                  <a:tcPr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r>
                        <a:rPr lang="en-US" sz="1400" b="1" i="0" u="none" strike="noStrike" noProof="0">
                          <a:solidFill>
                            <a:schemeClr val="bg1"/>
                          </a:solidFill>
                          <a:effectLst/>
                          <a:latin typeface="Arial" panose="020B0604020202020204" pitchFamily="34" charset="0"/>
                          <a:cs typeface="Arial" panose="020B0604020202020204" pitchFamily="34" charset="0"/>
                        </a:rPr>
                        <a:t>4 Stuck in the middle</a:t>
                      </a:r>
                    </a:p>
                  </a:txBody>
                  <a:tcPr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3002677">
                <a:tc>
                  <a:txBody>
                    <a:bodyPr/>
                    <a:lstStyle/>
                    <a:p>
                      <a:pPr algn="l" fontAlgn="b"/>
                      <a:r>
                        <a:rPr lang="en-US" sz="1400" b="0" i="0" u="none" strike="noStrike" noProof="0" dirty="0">
                          <a:solidFill>
                            <a:srgbClr val="000000"/>
                          </a:solidFill>
                          <a:effectLst/>
                          <a:latin typeface="Arial" panose="020B0604020202020204" pitchFamily="34" charset="0"/>
                          <a:cs typeface="Arial" panose="020B0604020202020204" pitchFamily="34" charset="0"/>
                        </a:rPr>
                        <a:t>Having the lowest costs in its industry and aimed at broad market.</a:t>
                      </a:r>
                    </a:p>
                    <a:p>
                      <a:pPr marL="285750" indent="-285750" algn="l" fontAlgn="b">
                        <a:buFont typeface="Arial" panose="020B0604020202020204" pitchFamily="34" charset="0"/>
                        <a:buChar char="•"/>
                      </a:pPr>
                      <a:r>
                        <a:rPr lang="en-US" sz="1400" b="0" i="0" u="none" strike="noStrike" noProof="0" dirty="0">
                          <a:solidFill>
                            <a:srgbClr val="000000"/>
                          </a:solidFill>
                          <a:effectLst/>
                          <a:latin typeface="Arial" panose="020B0604020202020204" pitchFamily="34" charset="0"/>
                          <a:cs typeface="Arial" panose="020B0604020202020204" pitchFamily="34" charset="0"/>
                        </a:rPr>
                        <a:t>Highly efficient.</a:t>
                      </a:r>
                    </a:p>
                    <a:p>
                      <a:pPr marL="285750" indent="-285750" algn="l" fontAlgn="b">
                        <a:buFont typeface="Arial" panose="020B0604020202020204" pitchFamily="34" charset="0"/>
                        <a:buChar char="•"/>
                      </a:pPr>
                      <a:r>
                        <a:rPr lang="en-US" sz="1400" b="0" i="0" u="none" strike="noStrike" noProof="0" dirty="0">
                          <a:solidFill>
                            <a:srgbClr val="000000"/>
                          </a:solidFill>
                          <a:effectLst/>
                          <a:latin typeface="Arial" panose="020B0604020202020204" pitchFamily="34" charset="0"/>
                          <a:cs typeface="Arial" panose="020B0604020202020204" pitchFamily="34" charset="0"/>
                        </a:rPr>
                        <a:t>Overhead kept to a minimum.</a:t>
                      </a:r>
                    </a:p>
                    <a:p>
                      <a:pPr marL="285750" indent="-285750" algn="l" fontAlgn="b">
                        <a:buFont typeface="Arial" panose="020B0604020202020204" pitchFamily="34" charset="0"/>
                        <a:buChar char="•"/>
                      </a:pPr>
                      <a:r>
                        <a:rPr lang="en-US" sz="1400" b="0" i="0" u="none" strike="noStrike" noProof="0" dirty="0">
                          <a:solidFill>
                            <a:srgbClr val="000000"/>
                          </a:solidFill>
                          <a:effectLst/>
                          <a:latin typeface="Arial" panose="020B0604020202020204" pitchFamily="34" charset="0"/>
                          <a:cs typeface="Arial" panose="020B0604020202020204" pitchFamily="34" charset="0"/>
                        </a:rPr>
                        <a:t>Does everything it can to cut costs.</a:t>
                      </a:r>
                    </a:p>
                    <a:p>
                      <a:pPr marL="285750" indent="-285750" algn="l" fontAlgn="b">
                        <a:buFont typeface="Arial" panose="020B0604020202020204" pitchFamily="34" charset="0"/>
                        <a:buChar char="•"/>
                      </a:pPr>
                      <a:r>
                        <a:rPr lang="en-US" sz="1400" b="0" i="0" u="none" strike="noStrike" noProof="0" dirty="0">
                          <a:solidFill>
                            <a:srgbClr val="000000"/>
                          </a:solidFill>
                          <a:effectLst/>
                          <a:latin typeface="Arial" panose="020B0604020202020204" pitchFamily="34" charset="0"/>
                          <a:cs typeface="Arial" panose="020B0604020202020204" pitchFamily="34" charset="0"/>
                        </a:rPr>
                        <a:t>Product must be perceived as comparable in quality to that offered by rivals or at least acceptable to buyers.</a:t>
                      </a:r>
                    </a:p>
                  </a:txBody>
                  <a:tcPr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fontAlgn="b"/>
                      <a:r>
                        <a:rPr lang="en-US" sz="1400" b="0" i="0" u="none" strike="noStrike" noProof="0" dirty="0">
                          <a:solidFill>
                            <a:srgbClr val="000000"/>
                          </a:solidFill>
                          <a:effectLst/>
                          <a:latin typeface="Arial" panose="020B0604020202020204" pitchFamily="34" charset="0"/>
                          <a:cs typeface="Arial" panose="020B0604020202020204" pitchFamily="34" charset="0"/>
                        </a:rPr>
                        <a:t>Offering unique products that are widely valued by customers and aimed at broad market.</a:t>
                      </a:r>
                    </a:p>
                    <a:p>
                      <a:pPr marL="285750" indent="-285750" algn="l" fontAlgn="b">
                        <a:buFont typeface="Arial" panose="020B0604020202020204" pitchFamily="34" charset="0"/>
                        <a:buChar char="•"/>
                      </a:pPr>
                      <a:r>
                        <a:rPr lang="en-US" sz="1400" b="0" i="0" u="none" strike="noStrike" noProof="0" dirty="0">
                          <a:solidFill>
                            <a:srgbClr val="000000"/>
                          </a:solidFill>
                          <a:effectLst/>
                          <a:latin typeface="Arial" panose="020B0604020202020204" pitchFamily="34" charset="0"/>
                          <a:cs typeface="Arial" panose="020B0604020202020204" pitchFamily="34" charset="0"/>
                        </a:rPr>
                        <a:t>Product differences: exceptionally high quality, extraordinary service, innovative design, technological capability, or an unusually positive brand image.</a:t>
                      </a:r>
                    </a:p>
                  </a:txBody>
                  <a:tcPr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fontAlgn="b"/>
                      <a:r>
                        <a:rPr lang="en-US" sz="1400" b="0" i="0" u="none" strike="noStrike" noProof="0" dirty="0">
                          <a:solidFill>
                            <a:srgbClr val="000000"/>
                          </a:solidFill>
                          <a:effectLst/>
                          <a:latin typeface="Arial" panose="020B0604020202020204" pitchFamily="34" charset="0"/>
                          <a:cs typeface="Arial" panose="020B0604020202020204" pitchFamily="34" charset="0"/>
                        </a:rPr>
                        <a:t>A cost advantage (cost focus) or a differentiation advantage (differentiation focus) in a narrow segment or niche (which can be based on product variety, customer type, distribution channel, or geographical location).</a:t>
                      </a:r>
                    </a:p>
                    <a:p>
                      <a:pPr algn="l" fontAlgn="b"/>
                      <a:r>
                        <a:rPr lang="en-US" sz="500" b="0" i="0" u="none" strike="noStrike" noProof="0" dirty="0">
                          <a:solidFill>
                            <a:srgbClr val="000000"/>
                          </a:solidFill>
                          <a:effectLst/>
                          <a:latin typeface="Arial" panose="020B0604020202020204" pitchFamily="34" charset="0"/>
                          <a:cs typeface="Arial" panose="020B0604020202020204" pitchFamily="34" charset="0"/>
                        </a:rPr>
                        <a:t>A photo shows a pair of binoculars.</a:t>
                      </a:r>
                    </a:p>
                  </a:txBody>
                  <a:tcPr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fontAlgn="b"/>
                      <a:r>
                        <a:rPr lang="en-US" sz="1400" b="0" i="0" u="none" strike="noStrike" noProof="0" dirty="0">
                          <a:solidFill>
                            <a:srgbClr val="000000"/>
                          </a:solidFill>
                          <a:effectLst/>
                          <a:latin typeface="Arial" panose="020B0604020202020204" pitchFamily="34" charset="0"/>
                          <a:cs typeface="Arial" panose="020B0604020202020204" pitchFamily="34" charset="0"/>
                        </a:rPr>
                        <a:t>What happens if an organization can’t develop a cost or</a:t>
                      </a:r>
                    </a:p>
                    <a:p>
                      <a:pPr algn="l" fontAlgn="b"/>
                      <a:r>
                        <a:rPr lang="en-US" sz="1400" b="0" i="0" u="none" strike="noStrike" noProof="0" dirty="0">
                          <a:solidFill>
                            <a:srgbClr val="000000"/>
                          </a:solidFill>
                          <a:effectLst/>
                          <a:latin typeface="Arial" panose="020B0604020202020204" pitchFamily="34" charset="0"/>
                          <a:cs typeface="Arial" panose="020B0604020202020204" pitchFamily="34" charset="0"/>
                        </a:rPr>
                        <a:t>differentiation advantage—bad place to be.</a:t>
                      </a:r>
                    </a:p>
                  </a:txBody>
                  <a:tcPr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308142358"/>
                  </a:ext>
                </a:extLst>
              </a:tr>
            </a:tbl>
          </a:graphicData>
        </a:graphic>
      </p:graphicFrame>
      <p:pic>
        <p:nvPicPr>
          <p:cNvPr id="14" name="Picture Placeholder 13">
            <a:extLst>
              <a:ext uri="{FF2B5EF4-FFF2-40B4-BE49-F238E27FC236}">
                <a16:creationId xmlns:a16="http://schemas.microsoft.com/office/drawing/2014/main" id="{DD5C2843-77B5-4C03-A40B-04A60D4A21D6}"/>
              </a:ext>
              <a:ext uri="{C183D7F6-B498-43B3-948B-1728B52AA6E4}">
                <adec:decorative xmlns:adec="http://schemas.microsoft.com/office/drawing/2017/decorative" val="1"/>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783040" y="4869160"/>
            <a:ext cx="2237232" cy="865632"/>
          </a:xfrm>
          <a:prstGeom prst="rect">
            <a:avLst/>
          </a:prstGeom>
          <a:solidFill>
            <a:srgbClr val="D4EAE4"/>
          </a:solidFill>
        </p:spPr>
      </p:pic>
    </p:spTree>
    <p:extLst>
      <p:ext uri="{BB962C8B-B14F-4D97-AF65-F5344CB8AC3E}">
        <p14:creationId xmlns:p14="http://schemas.microsoft.com/office/powerpoint/2010/main" val="3393063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91512" cy="590349"/>
          </a:xfrm>
        </p:spPr>
        <p:txBody>
          <a:bodyPr wrap="square" tIns="18000" bIns="18000">
            <a:spAutoFit/>
          </a:bodyPr>
          <a:lstStyle/>
          <a:p>
            <a:r>
              <a:rPr lang="en-US" sz="3600" dirty="0">
                <a:latin typeface="+mj-lt"/>
                <a:ea typeface="ＭＳ Ｐゴシック" charset="0"/>
                <a:cs typeface="ＭＳ Ｐゴシック" charset="0"/>
              </a:rPr>
              <a:t>Functional Strategy</a:t>
            </a:r>
            <a:endParaRPr lang="en-US" sz="3600" dirty="0">
              <a:latin typeface="+mj-lt"/>
            </a:endParaRPr>
          </a:p>
        </p:txBody>
      </p:sp>
      <p:sp>
        <p:nvSpPr>
          <p:cNvPr id="6" name="Content Placeholder 5">
            <a:extLst>
              <a:ext uri="{FF2B5EF4-FFF2-40B4-BE49-F238E27FC236}">
                <a16:creationId xmlns:a16="http://schemas.microsoft.com/office/drawing/2014/main" id="{A7EE07C0-3DA9-4FC4-B8B6-721FCD6DCBB8}"/>
              </a:ext>
            </a:extLst>
          </p:cNvPr>
          <p:cNvSpPr>
            <a:spLocks noGrp="1"/>
          </p:cNvSpPr>
          <p:nvPr>
            <p:ph sz="quarter" idx="13"/>
          </p:nvPr>
        </p:nvSpPr>
        <p:spPr>
          <a:xfrm>
            <a:off x="468000" y="1274400"/>
            <a:ext cx="8291513" cy="651905"/>
          </a:xfrm>
        </p:spPr>
        <p:txBody>
          <a:bodyPr wrap="square" tIns="18000" bIns="18000">
            <a:spAutoFit/>
          </a:bodyPr>
          <a:lstStyle/>
          <a:p>
            <a:pPr marL="0" indent="0">
              <a:buNone/>
            </a:pPr>
            <a:r>
              <a:rPr lang="en-US" sz="2000" dirty="0">
                <a:latin typeface="Arial" panose="020B0604020202020204" pitchFamily="34" charset="0"/>
                <a:ea typeface="ＭＳ Ｐゴシック" charset="0"/>
                <a:cs typeface="Arial" panose="020B0604020202020204" pitchFamily="34" charset="0"/>
              </a:rPr>
              <a:t>Those strategies used by an organization’s various functional departments to support the competitive strategy</a:t>
            </a:r>
            <a:endParaRPr lang="en-US" sz="2000" dirty="0">
              <a:latin typeface="Arial" panose="020B0604020202020204" pitchFamily="34" charset="0"/>
              <a:cs typeface="Arial" panose="020B0604020202020204" pitchFamily="34" charset="0"/>
            </a:endParaRPr>
          </a:p>
        </p:txBody>
      </p:sp>
      <p:sp>
        <p:nvSpPr>
          <p:cNvPr id="7" name="Content Placeholder 6">
            <a:extLst>
              <a:ext uri="{FF2B5EF4-FFF2-40B4-BE49-F238E27FC236}">
                <a16:creationId xmlns:a16="http://schemas.microsoft.com/office/drawing/2014/main" id="{0B8F74B3-BA01-4D03-AF88-DCA21175ED21}"/>
              </a:ext>
            </a:extLst>
          </p:cNvPr>
          <p:cNvSpPr>
            <a:spLocks noGrp="1"/>
          </p:cNvSpPr>
          <p:nvPr>
            <p:ph sz="quarter" idx="14"/>
          </p:nvPr>
        </p:nvSpPr>
        <p:spPr>
          <a:xfrm>
            <a:off x="540008" y="2705087"/>
            <a:ext cx="1583720" cy="651905"/>
          </a:xfrm>
        </p:spPr>
        <p:txBody>
          <a:bodyPr wrap="square" tIns="18000" bIns="18000">
            <a:spAutoFit/>
          </a:bodyPr>
          <a:lstStyle/>
          <a:p>
            <a:pPr marL="0" indent="0">
              <a:buNone/>
            </a:pPr>
            <a:r>
              <a:rPr lang="en-US" sz="2000" dirty="0">
                <a:latin typeface="Arial" panose="020B0604020202020204" pitchFamily="34" charset="0"/>
                <a:cs typeface="Arial" panose="020B0604020202020204" pitchFamily="34" charset="0"/>
              </a:rPr>
              <a:t>Research and Development</a:t>
            </a:r>
          </a:p>
        </p:txBody>
      </p:sp>
      <p:sp>
        <p:nvSpPr>
          <p:cNvPr id="8" name="Content Placeholder 7">
            <a:extLst>
              <a:ext uri="{FF2B5EF4-FFF2-40B4-BE49-F238E27FC236}">
                <a16:creationId xmlns:a16="http://schemas.microsoft.com/office/drawing/2014/main" id="{04A66EB7-CA68-4A8D-B8FD-457CC78E2A48}"/>
              </a:ext>
            </a:extLst>
          </p:cNvPr>
          <p:cNvSpPr>
            <a:spLocks noGrp="1"/>
          </p:cNvSpPr>
          <p:nvPr>
            <p:ph sz="quarter" idx="15"/>
          </p:nvPr>
        </p:nvSpPr>
        <p:spPr>
          <a:xfrm>
            <a:off x="2267744" y="2704791"/>
            <a:ext cx="1656234" cy="344128"/>
          </a:xfrm>
        </p:spPr>
        <p:txBody>
          <a:bodyPr wrap="square" tIns="18000" bIns="18000">
            <a:spAutoFit/>
          </a:bodyPr>
          <a:lstStyle/>
          <a:p>
            <a:pPr marL="0" indent="0">
              <a:buNone/>
            </a:pPr>
            <a:r>
              <a:rPr lang="en-US" sz="2000" dirty="0">
                <a:latin typeface="Arial" panose="020B0604020202020204" pitchFamily="34" charset="0"/>
                <a:cs typeface="Arial" panose="020B0604020202020204" pitchFamily="34" charset="0"/>
              </a:rPr>
              <a:t>Manufacturing</a:t>
            </a:r>
          </a:p>
        </p:txBody>
      </p:sp>
      <p:sp>
        <p:nvSpPr>
          <p:cNvPr id="9" name="Content Placeholder 8">
            <a:extLst>
              <a:ext uri="{FF2B5EF4-FFF2-40B4-BE49-F238E27FC236}">
                <a16:creationId xmlns:a16="http://schemas.microsoft.com/office/drawing/2014/main" id="{1DF5789A-B2DF-4A82-9CAA-C68BA4DB50FE}"/>
              </a:ext>
            </a:extLst>
          </p:cNvPr>
          <p:cNvSpPr>
            <a:spLocks noGrp="1"/>
          </p:cNvSpPr>
          <p:nvPr>
            <p:ph sz="quarter" idx="16"/>
          </p:nvPr>
        </p:nvSpPr>
        <p:spPr>
          <a:xfrm>
            <a:off x="4068400" y="2704791"/>
            <a:ext cx="1151672" cy="344128"/>
          </a:xfrm>
        </p:spPr>
        <p:txBody>
          <a:bodyPr wrap="square" tIns="18000" bIns="18000">
            <a:spAutoFit/>
          </a:bodyPr>
          <a:lstStyle/>
          <a:p>
            <a:pPr marL="0" indent="0">
              <a:buNone/>
            </a:pPr>
            <a:r>
              <a:rPr lang="en-US" sz="2000" dirty="0">
                <a:latin typeface="Arial" panose="020B0604020202020204" pitchFamily="34" charset="0"/>
                <a:cs typeface="Arial" panose="020B0604020202020204" pitchFamily="34" charset="0"/>
              </a:rPr>
              <a:t>Marketing</a:t>
            </a:r>
          </a:p>
        </p:txBody>
      </p:sp>
      <p:sp>
        <p:nvSpPr>
          <p:cNvPr id="10" name="Content Placeholder 9">
            <a:extLst>
              <a:ext uri="{FF2B5EF4-FFF2-40B4-BE49-F238E27FC236}">
                <a16:creationId xmlns:a16="http://schemas.microsoft.com/office/drawing/2014/main" id="{FC5E6499-4C53-4365-AB7E-AD5C3DDCF324}"/>
              </a:ext>
            </a:extLst>
          </p:cNvPr>
          <p:cNvSpPr>
            <a:spLocks noGrp="1"/>
          </p:cNvSpPr>
          <p:nvPr>
            <p:ph sz="quarter" idx="17"/>
          </p:nvPr>
        </p:nvSpPr>
        <p:spPr>
          <a:xfrm>
            <a:off x="5364088" y="2704791"/>
            <a:ext cx="2232297" cy="344128"/>
          </a:xfrm>
        </p:spPr>
        <p:txBody>
          <a:bodyPr wrap="square" tIns="18000" bIns="18000">
            <a:spAutoFit/>
          </a:bodyPr>
          <a:lstStyle/>
          <a:p>
            <a:pPr marL="0" indent="0">
              <a:buNone/>
            </a:pPr>
            <a:r>
              <a:rPr lang="en-US" sz="2000" dirty="0">
                <a:latin typeface="Arial" panose="020B0604020202020204" pitchFamily="34" charset="0"/>
                <a:cs typeface="Arial" panose="020B0604020202020204" pitchFamily="34" charset="0"/>
              </a:rPr>
              <a:t>Human Resources</a:t>
            </a:r>
          </a:p>
        </p:txBody>
      </p:sp>
      <p:sp>
        <p:nvSpPr>
          <p:cNvPr id="11" name="Content Placeholder 10">
            <a:extLst>
              <a:ext uri="{FF2B5EF4-FFF2-40B4-BE49-F238E27FC236}">
                <a16:creationId xmlns:a16="http://schemas.microsoft.com/office/drawing/2014/main" id="{BF8AD1A1-E46A-4BF2-B679-CED39DF52D55}"/>
              </a:ext>
            </a:extLst>
          </p:cNvPr>
          <p:cNvSpPr>
            <a:spLocks noGrp="1"/>
          </p:cNvSpPr>
          <p:nvPr>
            <p:ph sz="quarter" idx="18"/>
          </p:nvPr>
        </p:nvSpPr>
        <p:spPr>
          <a:xfrm>
            <a:off x="7740401" y="2705087"/>
            <a:ext cx="1008063" cy="344128"/>
          </a:xfrm>
        </p:spPr>
        <p:txBody>
          <a:bodyPr tIns="18000" bIns="18000">
            <a:spAutoFit/>
          </a:bodyPr>
          <a:lstStyle/>
          <a:p>
            <a:pPr marL="0" indent="0">
              <a:buNone/>
            </a:pPr>
            <a:r>
              <a:rPr lang="en-US" sz="2000" dirty="0">
                <a:latin typeface="Arial" panose="020B0604020202020204" pitchFamily="34" charset="0"/>
                <a:cs typeface="Arial" panose="020B0604020202020204" pitchFamily="34" charset="0"/>
              </a:rPr>
              <a:t>Finance</a:t>
            </a:r>
          </a:p>
        </p:txBody>
      </p:sp>
    </p:spTree>
    <p:extLst>
      <p:ext uri="{BB962C8B-B14F-4D97-AF65-F5344CB8AC3E}">
        <p14:creationId xmlns:p14="http://schemas.microsoft.com/office/powerpoint/2010/main" val="1487643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altLang="en-US" sz="3600">
                <a:solidFill>
                  <a:schemeClr val="bg2"/>
                </a:solidFill>
                <a:latin typeface="+mj-lt"/>
                <a:cs typeface="Arial" pitchFamily="34" charset="0"/>
              </a:rPr>
              <a:t>Strategic Weapons</a:t>
            </a:r>
            <a:endParaRPr lang="en-US" sz="2800">
              <a:latin typeface="+mj-lt"/>
            </a:endParaRP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8000" y="1274400"/>
            <a:ext cx="3671952" cy="3214145"/>
          </a:xfrm>
        </p:spPr>
        <p:txBody>
          <a:bodyPr wrap="square" tIns="18000" bIns="18000">
            <a:spAutoFit/>
          </a:bodyPr>
          <a:lstStyle/>
          <a:p>
            <a:pPr marL="255600" indent="-255600">
              <a:buSzPct val="100000"/>
            </a:pPr>
            <a:r>
              <a:rPr lang="en-US" sz="2400" dirty="0">
                <a:latin typeface="Arial" panose="020B0604020202020204" pitchFamily="34" charset="0"/>
                <a:cs typeface="Arial" panose="020B0604020202020204" pitchFamily="34" charset="0"/>
              </a:rPr>
              <a:t>Customer service</a:t>
            </a:r>
          </a:p>
          <a:p>
            <a:pPr marL="255600" indent="-255600">
              <a:buSzPct val="100000"/>
            </a:pPr>
            <a:r>
              <a:rPr lang="en-US" sz="2400" dirty="0">
                <a:latin typeface="Arial" panose="020B0604020202020204" pitchFamily="34" charset="0"/>
                <a:cs typeface="Arial" panose="020B0604020202020204" pitchFamily="34" charset="0"/>
              </a:rPr>
              <a:t>Employee skills &amp; loyalty</a:t>
            </a:r>
          </a:p>
          <a:p>
            <a:pPr marL="255600" indent="-255600">
              <a:buSzPct val="100000"/>
            </a:pPr>
            <a:r>
              <a:rPr lang="en-US" sz="2400" dirty="0">
                <a:latin typeface="Arial" panose="020B0604020202020204" pitchFamily="34" charset="0"/>
                <a:cs typeface="Arial" panose="020B0604020202020204" pitchFamily="34" charset="0"/>
              </a:rPr>
              <a:t>Innovation</a:t>
            </a:r>
          </a:p>
          <a:p>
            <a:pPr marL="255600" indent="-255600">
              <a:buSzPct val="100000"/>
            </a:pPr>
            <a:r>
              <a:rPr lang="en-US" sz="2400" dirty="0">
                <a:latin typeface="Arial" panose="020B0604020202020204" pitchFamily="34" charset="0"/>
                <a:cs typeface="Arial" panose="020B0604020202020204" pitchFamily="34" charset="0"/>
              </a:rPr>
              <a:t>Quality</a:t>
            </a:r>
          </a:p>
          <a:p>
            <a:pPr marL="255600" indent="-255600">
              <a:buSzPct val="100000"/>
            </a:pPr>
            <a:r>
              <a:rPr lang="en-US" sz="2400" dirty="0">
                <a:latin typeface="Arial" panose="020B0604020202020204" pitchFamily="34" charset="0"/>
                <a:cs typeface="Arial" panose="020B0604020202020204" pitchFamily="34" charset="0"/>
              </a:rPr>
              <a:t>Social media</a:t>
            </a:r>
          </a:p>
          <a:p>
            <a:pPr marL="255600" indent="-255600">
              <a:buSzPct val="100000"/>
            </a:pPr>
            <a:r>
              <a:rPr lang="en-US" sz="2400" dirty="0">
                <a:latin typeface="Arial" panose="020B0604020202020204" pitchFamily="34" charset="0"/>
                <a:cs typeface="Arial" panose="020B0604020202020204" pitchFamily="34" charset="0"/>
              </a:rPr>
              <a:t>Big data/digital tools</a:t>
            </a:r>
          </a:p>
        </p:txBody>
      </p:sp>
      <p:pic>
        <p:nvPicPr>
          <p:cNvPr id="8" name="Picture Placeholder 7" descr="A photo shows a man in a suit speaking to an airline customer care executive behind a desk. ">
            <a:extLst>
              <a:ext uri="{FF2B5EF4-FFF2-40B4-BE49-F238E27FC236}">
                <a16:creationId xmlns:a16="http://schemas.microsoft.com/office/drawing/2014/main" id="{FBBFD31F-11EF-444C-8793-D4B911408237}"/>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420992" y="1556369"/>
            <a:ext cx="4255008" cy="2932176"/>
          </a:xfrm>
          <a:prstGeom prst="rect">
            <a:avLst/>
          </a:prstGeom>
        </p:spPr>
      </p:pic>
    </p:spTree>
    <p:extLst>
      <p:ext uri="{BB962C8B-B14F-4D97-AF65-F5344CB8AC3E}">
        <p14:creationId xmlns:p14="http://schemas.microsoft.com/office/powerpoint/2010/main" val="4197595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solidFill>
                  <a:schemeClr val="bg2"/>
                </a:solidFill>
                <a:latin typeface="+mj-lt"/>
                <a:cs typeface="Arial" pitchFamily="34" charset="0"/>
              </a:rPr>
              <a:t>Learning Objective 5.3</a:t>
            </a:r>
            <a:endParaRPr lang="en-US" dirty="0">
              <a:solidFill>
                <a:schemeClr val="bg2"/>
              </a:solidFill>
              <a:latin typeface="+mj-lt"/>
            </a:endParaRPr>
          </a:p>
        </p:txBody>
      </p:sp>
      <p:sp>
        <p:nvSpPr>
          <p:cNvPr id="3" name="Content Placeholder 2"/>
          <p:cNvSpPr>
            <a:spLocks noGrp="1"/>
          </p:cNvSpPr>
          <p:nvPr>
            <p:ph idx="1"/>
          </p:nvPr>
        </p:nvSpPr>
        <p:spPr>
          <a:xfrm>
            <a:off x="467999" y="1274400"/>
            <a:ext cx="8280713" cy="775015"/>
          </a:xfrm>
        </p:spPr>
        <p:txBody>
          <a:bodyPr wrap="square" tIns="18000" bIns="18000">
            <a:spAutoFit/>
          </a:bodyPr>
          <a:lstStyle/>
          <a:p>
            <a:pPr marL="255600" indent="-255600">
              <a:buSzPct val="100000"/>
            </a:pPr>
            <a:r>
              <a:rPr lang="en-US" sz="2400" dirty="0">
                <a:latin typeface="Arial" panose="020B0604020202020204" pitchFamily="34" charset="0"/>
                <a:cs typeface="Arial" panose="020B0604020202020204" pitchFamily="34" charset="0"/>
              </a:rPr>
              <a:t>Compare and contrast approaches to goal setting and planning.</a:t>
            </a:r>
          </a:p>
        </p:txBody>
      </p:sp>
    </p:spTree>
    <p:extLst>
      <p:ext uri="{BB962C8B-B14F-4D97-AF65-F5344CB8AC3E}">
        <p14:creationId xmlns:p14="http://schemas.microsoft.com/office/powerpoint/2010/main" val="2570401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sz="3600" dirty="0">
                <a:latin typeface="+mj-lt"/>
                <a:ea typeface="ＭＳ Ｐゴシック" charset="0"/>
                <a:cs typeface="ＭＳ Ｐゴシック" charset="0"/>
              </a:rPr>
              <a:t>Setting Goals and Developing Plans </a:t>
            </a:r>
            <a:endParaRPr lang="en-US" dirty="0">
              <a:latin typeface="+mj-lt"/>
            </a:endParaRPr>
          </a:p>
        </p:txBody>
      </p:sp>
      <p:sp>
        <p:nvSpPr>
          <p:cNvPr id="3" name="Content Placeholder 2"/>
          <p:cNvSpPr>
            <a:spLocks noGrp="1"/>
          </p:cNvSpPr>
          <p:nvPr>
            <p:ph idx="1"/>
          </p:nvPr>
        </p:nvSpPr>
        <p:spPr>
          <a:xfrm>
            <a:off x="467999" y="1274400"/>
            <a:ext cx="8280713" cy="1529068"/>
          </a:xfrm>
        </p:spPr>
        <p:txBody>
          <a:bodyPr wrap="square" tIns="18000" bIns="18000">
            <a:spAutoFit/>
          </a:bodyPr>
          <a:lstStyle/>
          <a:p>
            <a:pPr marL="0" indent="0">
              <a:buClr>
                <a:schemeClr val="accent6">
                  <a:lumMod val="75000"/>
                </a:schemeClr>
              </a:buClr>
              <a:buNone/>
              <a:defRPr/>
            </a:pPr>
            <a:r>
              <a:rPr lang="en-US" altLang="en-US" sz="2400" dirty="0">
                <a:latin typeface="Arial" panose="020B0604020202020204" pitchFamily="34" charset="0"/>
                <a:ea typeface="ＭＳ Ｐゴシック" pitchFamily="34" charset="-128"/>
                <a:cs typeface="Arial" panose="020B0604020202020204" pitchFamily="34" charset="0"/>
              </a:rPr>
              <a:t>Types of goals</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Financial versus strategic</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Stated versus real</a:t>
            </a:r>
            <a:endParaRPr lang="en-US" sz="2400" dirty="0">
              <a:latin typeface="Arial" panose="020B0604020202020204" pitchFamily="34" charset="0"/>
              <a:cs typeface="Arial" panose="020B0604020202020204" pitchFamily="34" charset="0"/>
            </a:endParaRPr>
          </a:p>
        </p:txBody>
      </p:sp>
      <p:sp>
        <p:nvSpPr>
          <p:cNvPr id="5" name="Content Placeholder 4"/>
          <p:cNvSpPr>
            <a:spLocks noGrp="1"/>
          </p:cNvSpPr>
          <p:nvPr>
            <p:ph idx="13"/>
          </p:nvPr>
        </p:nvSpPr>
        <p:spPr>
          <a:xfrm>
            <a:off x="468000" y="3068960"/>
            <a:ext cx="8229600" cy="405683"/>
          </a:xfrm>
        </p:spPr>
        <p:txBody>
          <a:bodyPr tIns="18000" bIns="18000">
            <a:spAutoFit/>
          </a:bodyPr>
          <a:lstStyle/>
          <a:p>
            <a:pPr marL="0" indent="0">
              <a:buNone/>
            </a:pPr>
            <a:r>
              <a:rPr lang="en-US" sz="2400" dirty="0">
                <a:latin typeface="Arial" panose="020B0604020202020204" pitchFamily="34" charset="0"/>
                <a:cs typeface="Arial" panose="020B0604020202020204" pitchFamily="34" charset="0"/>
              </a:rPr>
              <a:t>Planning = goals + plans</a:t>
            </a:r>
          </a:p>
        </p:txBody>
      </p:sp>
    </p:spTree>
    <p:extLst>
      <p:ext uri="{BB962C8B-B14F-4D97-AF65-F5344CB8AC3E}">
        <p14:creationId xmlns:p14="http://schemas.microsoft.com/office/powerpoint/2010/main" val="885714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a:latin typeface="+mj-lt"/>
                <a:ea typeface="ＭＳ Ｐゴシック" charset="0"/>
                <a:cs typeface="ＭＳ Ｐゴシック" charset="0"/>
              </a:rPr>
              <a:t>Traditional Goal Setting</a:t>
            </a:r>
            <a:endParaRPr lang="en-US" sz="2800">
              <a:latin typeface="+mj-lt"/>
            </a:endParaRP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7999" y="1274400"/>
            <a:ext cx="8280713" cy="282573"/>
          </a:xfrm>
        </p:spPr>
        <p:txBody>
          <a:bodyPr wrap="square" tIns="18000" bIns="18000">
            <a:spAutoFit/>
          </a:bodyPr>
          <a:lstStyle/>
          <a:p>
            <a:pPr marL="0" indent="0">
              <a:buSzPct val="100000"/>
              <a:buNone/>
            </a:pPr>
            <a:r>
              <a:rPr lang="en-US" b="1" dirty="0">
                <a:latin typeface="Arial" panose="020B0604020202020204" pitchFamily="34" charset="0"/>
                <a:cs typeface="Arial" panose="020B0604020202020204" pitchFamily="34" charset="0"/>
              </a:rPr>
              <a:t>Exhibit 5.5</a:t>
            </a:r>
            <a:r>
              <a:rPr lang="en-US" dirty="0">
                <a:latin typeface="Arial" panose="020B0604020202020204" pitchFamily="34" charset="0"/>
                <a:cs typeface="Arial" panose="020B0604020202020204" pitchFamily="34" charset="0"/>
              </a:rPr>
              <a:t> Traditional Goal Setting</a:t>
            </a:r>
          </a:p>
        </p:txBody>
      </p:sp>
      <p:pic>
        <p:nvPicPr>
          <p:cNvPr id="7" name="Picture Placeholder 6" descr="An illustration of a pyramid shows the objectives at different managerial levels.&#10;Long description is available in notes, press F6.">
            <a:extLst>
              <a:ext uri="{FF2B5EF4-FFF2-40B4-BE49-F238E27FC236}">
                <a16:creationId xmlns:a16="http://schemas.microsoft.com/office/drawing/2014/main" id="{607A66C0-CC43-40D3-9399-9653459D8567}"/>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762328" y="1976440"/>
            <a:ext cx="7626096" cy="3779520"/>
          </a:xfrm>
          <a:prstGeom prst="rect">
            <a:avLst/>
          </a:prstGeom>
        </p:spPr>
      </p:pic>
    </p:spTree>
    <p:extLst>
      <p:ext uri="{BB962C8B-B14F-4D97-AF65-F5344CB8AC3E}">
        <p14:creationId xmlns:p14="http://schemas.microsoft.com/office/powerpoint/2010/main" val="4061640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solidFill>
                  <a:schemeClr val="bg2"/>
                </a:solidFill>
                <a:latin typeface="+mj-lt"/>
                <a:cs typeface="Arial" pitchFamily="34" charset="0"/>
              </a:rPr>
              <a:t>Management by Objectives</a:t>
            </a:r>
            <a:endParaRPr lang="en-US">
              <a:solidFill>
                <a:schemeClr val="bg2"/>
              </a:solidFill>
              <a:latin typeface="+mj-lt"/>
            </a:endParaRPr>
          </a:p>
        </p:txBody>
      </p:sp>
      <p:sp>
        <p:nvSpPr>
          <p:cNvPr id="3" name="Content Placeholder 2"/>
          <p:cNvSpPr>
            <a:spLocks noGrp="1"/>
          </p:cNvSpPr>
          <p:nvPr>
            <p:ph idx="1"/>
          </p:nvPr>
        </p:nvSpPr>
        <p:spPr>
          <a:xfrm>
            <a:off x="467999" y="1274400"/>
            <a:ext cx="8280713" cy="2090760"/>
          </a:xfrm>
        </p:spPr>
        <p:txBody>
          <a:bodyPr wrap="square" tIns="18000" bIns="18000">
            <a:spAutoFit/>
          </a:bodyPr>
          <a:lstStyle/>
          <a:p>
            <a:pPr marL="255600" indent="-255600">
              <a:buSzPct val="100000"/>
            </a:pPr>
            <a:r>
              <a:rPr lang="en-US" sz="2400" dirty="0">
                <a:latin typeface="Arial" panose="020B0604020202020204" pitchFamily="34" charset="0"/>
                <a:cs typeface="Arial" panose="020B0604020202020204" pitchFamily="34" charset="0"/>
              </a:rPr>
              <a:t>Goal specificity</a:t>
            </a:r>
          </a:p>
          <a:p>
            <a:pPr marL="255600" indent="-255600">
              <a:buSzPct val="100000"/>
            </a:pPr>
            <a:r>
              <a:rPr lang="en-US" sz="2400" dirty="0">
                <a:latin typeface="Arial" panose="020B0604020202020204" pitchFamily="34" charset="0"/>
                <a:cs typeface="Arial" panose="020B0604020202020204" pitchFamily="34" charset="0"/>
              </a:rPr>
              <a:t>Participative decision making</a:t>
            </a:r>
          </a:p>
          <a:p>
            <a:pPr marL="255600" indent="-255600">
              <a:buSzPct val="100000"/>
            </a:pPr>
            <a:r>
              <a:rPr lang="en-US" sz="2400" dirty="0">
                <a:latin typeface="Arial" panose="020B0604020202020204" pitchFamily="34" charset="0"/>
                <a:cs typeface="Arial" panose="020B0604020202020204" pitchFamily="34" charset="0"/>
              </a:rPr>
              <a:t>Explicit time period</a:t>
            </a:r>
          </a:p>
          <a:p>
            <a:pPr marL="255600" indent="-255600">
              <a:buSzPct val="100000"/>
            </a:pPr>
            <a:r>
              <a:rPr lang="en-US" sz="2400" dirty="0">
                <a:latin typeface="Arial" panose="020B0604020202020204" pitchFamily="34" charset="0"/>
                <a:cs typeface="Arial" panose="020B0604020202020204" pitchFamily="34" charset="0"/>
              </a:rPr>
              <a:t>Performance feedback</a:t>
            </a:r>
          </a:p>
        </p:txBody>
      </p:sp>
    </p:spTree>
    <p:extLst>
      <p:ext uri="{BB962C8B-B14F-4D97-AF65-F5344CB8AC3E}">
        <p14:creationId xmlns:p14="http://schemas.microsoft.com/office/powerpoint/2010/main" val="11274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590349"/>
          </a:xfrm>
        </p:spPr>
        <p:txBody>
          <a:bodyPr wrap="square" tIns="18000" bIns="18000">
            <a:spAutoFit/>
          </a:bodyPr>
          <a:lstStyle/>
          <a:p>
            <a:r>
              <a:rPr lang="en-US" sz="3600">
                <a:latin typeface="+mj-lt"/>
                <a:ea typeface="ＭＳ Ｐゴシック" charset="0"/>
                <a:cs typeface="ＭＳ Ｐゴシック" charset="0"/>
              </a:rPr>
              <a:t>Well-Written Goals</a:t>
            </a:r>
            <a:endParaRPr lang="en-US">
              <a:latin typeface="+mj-lt"/>
            </a:endParaRPr>
          </a:p>
        </p:txBody>
      </p:sp>
      <p:sp>
        <p:nvSpPr>
          <p:cNvPr id="7" name="Content Placeholder 6"/>
          <p:cNvSpPr>
            <a:spLocks noGrp="1"/>
          </p:cNvSpPr>
          <p:nvPr>
            <p:ph idx="1"/>
          </p:nvPr>
        </p:nvSpPr>
        <p:spPr>
          <a:xfrm>
            <a:off x="467999" y="1274400"/>
            <a:ext cx="8280713" cy="3214145"/>
          </a:xfrm>
        </p:spPr>
        <p:txBody>
          <a:bodyPr wrap="square" tIns="18000" bIns="18000">
            <a:spAutoFit/>
          </a:bodyPr>
          <a:lstStyle/>
          <a:p>
            <a:pPr marL="256032" indent="-256032">
              <a:buSzPct val="100000"/>
            </a:pPr>
            <a:r>
              <a:rPr lang="en-US" sz="2400" dirty="0">
                <a:latin typeface="Arial" panose="020B0604020202020204" pitchFamily="34" charset="0"/>
                <a:cs typeface="Arial" panose="020B0604020202020204" pitchFamily="34" charset="0"/>
              </a:rPr>
              <a:t>Written in terms of outcomes rather than actions</a:t>
            </a:r>
          </a:p>
          <a:p>
            <a:pPr marL="256032" indent="-256032">
              <a:buSzPct val="100000"/>
            </a:pPr>
            <a:r>
              <a:rPr lang="en-US" sz="2400" dirty="0">
                <a:latin typeface="Arial" panose="020B0604020202020204" pitchFamily="34" charset="0"/>
                <a:cs typeface="Arial" panose="020B0604020202020204" pitchFamily="34" charset="0"/>
              </a:rPr>
              <a:t>Measurable and quantifiable</a:t>
            </a:r>
          </a:p>
          <a:p>
            <a:pPr marL="256032" indent="-256032">
              <a:buSzPct val="100000"/>
            </a:pPr>
            <a:r>
              <a:rPr lang="en-US" sz="2400" dirty="0">
                <a:latin typeface="Arial" panose="020B0604020202020204" pitchFamily="34" charset="0"/>
                <a:cs typeface="Arial" panose="020B0604020202020204" pitchFamily="34" charset="0"/>
              </a:rPr>
              <a:t>Clear as to a time frame</a:t>
            </a:r>
          </a:p>
          <a:p>
            <a:pPr marL="256032" indent="-256032">
              <a:buSzPct val="100000"/>
            </a:pPr>
            <a:r>
              <a:rPr lang="en-US" sz="2400" dirty="0">
                <a:latin typeface="Arial" panose="020B0604020202020204" pitchFamily="34" charset="0"/>
                <a:cs typeface="Arial" panose="020B0604020202020204" pitchFamily="34" charset="0"/>
              </a:rPr>
              <a:t>Challenging yet attainable</a:t>
            </a:r>
          </a:p>
          <a:p>
            <a:pPr marL="256032" indent="-256032">
              <a:buSzPct val="100000"/>
            </a:pPr>
            <a:r>
              <a:rPr lang="en-US" sz="2400" dirty="0">
                <a:latin typeface="Arial" panose="020B0604020202020204" pitchFamily="34" charset="0"/>
                <a:cs typeface="Arial" panose="020B0604020202020204" pitchFamily="34" charset="0"/>
              </a:rPr>
              <a:t>Written down</a:t>
            </a:r>
          </a:p>
          <a:p>
            <a:pPr marL="256032" indent="-256032">
              <a:buSzPct val="100000"/>
            </a:pPr>
            <a:r>
              <a:rPr lang="en-US" sz="2400" dirty="0">
                <a:latin typeface="Arial" panose="020B0604020202020204" pitchFamily="34" charset="0"/>
                <a:cs typeface="Arial" panose="020B0604020202020204" pitchFamily="34" charset="0"/>
              </a:rPr>
              <a:t>Communicated to all necessary organizational members</a:t>
            </a:r>
          </a:p>
        </p:txBody>
      </p:sp>
    </p:spTree>
    <p:extLst>
      <p:ext uri="{BB962C8B-B14F-4D97-AF65-F5344CB8AC3E}">
        <p14:creationId xmlns:p14="http://schemas.microsoft.com/office/powerpoint/2010/main" val="1735896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solidFill>
                  <a:schemeClr val="bg2"/>
                </a:solidFill>
                <a:latin typeface="+mj-lt"/>
                <a:cs typeface="Arial" pitchFamily="34" charset="0"/>
              </a:rPr>
              <a:t>Steps in Goal Setting</a:t>
            </a:r>
            <a:endParaRPr lang="en-US">
              <a:solidFill>
                <a:schemeClr val="bg2"/>
              </a:solidFill>
              <a:latin typeface="+mj-lt"/>
            </a:endParaRPr>
          </a:p>
        </p:txBody>
      </p:sp>
      <p:sp>
        <p:nvSpPr>
          <p:cNvPr id="3" name="Content Placeholder 2"/>
          <p:cNvSpPr>
            <a:spLocks noGrp="1"/>
          </p:cNvSpPr>
          <p:nvPr>
            <p:ph idx="1"/>
          </p:nvPr>
        </p:nvSpPr>
        <p:spPr>
          <a:xfrm>
            <a:off x="467999" y="1274400"/>
            <a:ext cx="8280713" cy="3916457"/>
          </a:xfrm>
        </p:spPr>
        <p:txBody>
          <a:bodyPr wrap="square" tIns="18000" bIns="18000">
            <a:spAutoFit/>
          </a:bodyPr>
          <a:lstStyle/>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Review the organization’s mission and employees’ key job tasks.</a:t>
            </a:r>
          </a:p>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Evaluate available resources.</a:t>
            </a:r>
          </a:p>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Determine the goals individually or with input from others.</a:t>
            </a:r>
          </a:p>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Make sure goals are well written and communicate to all who need to know.</a:t>
            </a:r>
          </a:p>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Build in feedback mechanisms to assess goal progress.</a:t>
            </a:r>
          </a:p>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Link rewards to goal attainment.</a:t>
            </a:r>
          </a:p>
        </p:txBody>
      </p:sp>
    </p:spTree>
    <p:extLst>
      <p:ext uri="{BB962C8B-B14F-4D97-AF65-F5344CB8AC3E}">
        <p14:creationId xmlns:p14="http://schemas.microsoft.com/office/powerpoint/2010/main" val="3153327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91512" cy="590349"/>
          </a:xfrm>
        </p:spPr>
        <p:txBody>
          <a:bodyPr wrap="square" tIns="18000" bIns="18000">
            <a:spAutoFit/>
          </a:bodyPr>
          <a:lstStyle/>
          <a:p>
            <a:r>
              <a:rPr lang="en-US" sz="3600">
                <a:latin typeface="+mj-lt"/>
                <a:ea typeface="ＭＳ Ｐゴシック" charset="0"/>
                <a:cs typeface="ＭＳ Ｐゴシック" charset="0"/>
              </a:rPr>
              <a:t>Types of Plans</a:t>
            </a:r>
            <a:endParaRPr lang="en-US">
              <a:latin typeface="+mj-lt"/>
            </a:endParaRPr>
          </a:p>
        </p:txBody>
      </p:sp>
      <p:sp>
        <p:nvSpPr>
          <p:cNvPr id="8" name="Content Placeholder 7">
            <a:extLst>
              <a:ext uri="{FF2B5EF4-FFF2-40B4-BE49-F238E27FC236}">
                <a16:creationId xmlns:a16="http://schemas.microsoft.com/office/drawing/2014/main" id="{AED0D62B-70FF-4D07-B3B1-BE93C9BA7249}"/>
              </a:ext>
            </a:extLst>
          </p:cNvPr>
          <p:cNvSpPr>
            <a:spLocks noGrp="1"/>
          </p:cNvSpPr>
          <p:nvPr>
            <p:ph sz="quarter" idx="13"/>
          </p:nvPr>
        </p:nvSpPr>
        <p:spPr>
          <a:xfrm>
            <a:off x="468000" y="1274400"/>
            <a:ext cx="8291513" cy="282573"/>
          </a:xfrm>
        </p:spPr>
        <p:txBody>
          <a:bodyPr wrap="square" tIns="18000" bIns="18000">
            <a:spAutoFit/>
          </a:bodyPr>
          <a:lstStyle/>
          <a:p>
            <a:pPr marL="0" indent="0">
              <a:buNone/>
            </a:pPr>
            <a:r>
              <a:rPr lang="en-US" sz="1600" b="1" dirty="0">
                <a:latin typeface="Arial" panose="020B0604020202020204" pitchFamily="34" charset="0"/>
                <a:cs typeface="Arial" panose="020B0604020202020204" pitchFamily="34" charset="0"/>
              </a:rPr>
              <a:t>Exhibit 5.7</a:t>
            </a:r>
            <a:r>
              <a:rPr lang="en-US" sz="1600" dirty="0">
                <a:latin typeface="Arial" panose="020B0604020202020204" pitchFamily="34" charset="0"/>
                <a:cs typeface="Arial" panose="020B0604020202020204" pitchFamily="34" charset="0"/>
              </a:rPr>
              <a:t> Types of Plans</a:t>
            </a:r>
            <a:endParaRPr lang="en-US" dirty="0">
              <a:latin typeface="Arial" panose="020B0604020202020204" pitchFamily="34" charset="0"/>
              <a:cs typeface="Arial" panose="020B0604020202020204" pitchFamily="34" charset="0"/>
            </a:endParaRPr>
          </a:p>
        </p:txBody>
      </p:sp>
      <p:graphicFrame>
        <p:nvGraphicFramePr>
          <p:cNvPr id="30" name="Table 1">
            <a:extLst>
              <a:ext uri="{FF2B5EF4-FFF2-40B4-BE49-F238E27FC236}">
                <a16:creationId xmlns:a16="http://schemas.microsoft.com/office/drawing/2014/main" id="{6B3EB4EC-DD0A-48D9-A3E7-156637B59CB4}"/>
              </a:ext>
            </a:extLst>
          </p:cNvPr>
          <p:cNvGraphicFramePr>
            <a:graphicFrameLocks/>
          </p:cNvGraphicFramePr>
          <p:nvPr>
            <p:extLst>
              <p:ext uri="{D42A27DB-BD31-4B8C-83A1-F6EECF244321}">
                <p14:modId xmlns:p14="http://schemas.microsoft.com/office/powerpoint/2010/main" val="1473912547"/>
              </p:ext>
            </p:extLst>
          </p:nvPr>
        </p:nvGraphicFramePr>
        <p:xfrm>
          <a:off x="539552" y="1772816"/>
          <a:ext cx="8158048" cy="1346504"/>
        </p:xfrm>
        <a:graphic>
          <a:graphicData uri="http://schemas.openxmlformats.org/drawingml/2006/table">
            <a:tbl>
              <a:tblPr firstRow="1">
                <a:tableStyleId>{0E3FDE45-AF77-4B5C-9715-49D594BDF05E}</a:tableStyleId>
              </a:tblPr>
              <a:tblGrid>
                <a:gridCol w="2287303">
                  <a:extLst>
                    <a:ext uri="{9D8B030D-6E8A-4147-A177-3AD203B41FA5}">
                      <a16:colId xmlns:a16="http://schemas.microsoft.com/office/drawing/2014/main" val="20000"/>
                    </a:ext>
                  </a:extLst>
                </a:gridCol>
                <a:gridCol w="1735669">
                  <a:extLst>
                    <a:ext uri="{9D8B030D-6E8A-4147-A177-3AD203B41FA5}">
                      <a16:colId xmlns:a16="http://schemas.microsoft.com/office/drawing/2014/main" val="20001"/>
                    </a:ext>
                  </a:extLst>
                </a:gridCol>
                <a:gridCol w="1524869">
                  <a:extLst>
                    <a:ext uri="{9D8B030D-6E8A-4147-A177-3AD203B41FA5}">
                      <a16:colId xmlns:a16="http://schemas.microsoft.com/office/drawing/2014/main" val="20002"/>
                    </a:ext>
                  </a:extLst>
                </a:gridCol>
                <a:gridCol w="2610207">
                  <a:extLst>
                    <a:ext uri="{9D8B030D-6E8A-4147-A177-3AD203B41FA5}">
                      <a16:colId xmlns:a16="http://schemas.microsoft.com/office/drawing/2014/main" val="20003"/>
                    </a:ext>
                  </a:extLst>
                </a:gridCol>
              </a:tblGrid>
              <a:tr h="550663">
                <a:tc>
                  <a:txBody>
                    <a:bodyPr/>
                    <a:lstStyle/>
                    <a:p>
                      <a:pPr marL="0" algn="l" defTabSz="914400" rtl="0" eaLnBrk="1" fontAlgn="b" latinLnBrk="0" hangingPunct="1"/>
                      <a:r>
                        <a:rPr lang="en-US" sz="1600" b="1" i="0" u="none" strike="noStrike" kern="1200" dirty="0">
                          <a:solidFill>
                            <a:schemeClr val="bg1"/>
                          </a:solidFill>
                          <a:effectLst/>
                          <a:latin typeface="Arial" panose="020B0604020202020204" pitchFamily="34" charset="0"/>
                          <a:ea typeface="+mn-ea"/>
                          <a:cs typeface="Arial" panose="020B0604020202020204" pitchFamily="34" charset="0"/>
                        </a:rPr>
                        <a:t>BREADTH OF USE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l" defTabSz="914400" rtl="0" eaLnBrk="1" fontAlgn="b" latinLnBrk="0" hangingPunct="1"/>
                      <a:r>
                        <a:rPr lang="en-US" sz="1600" b="1" i="0" u="none" strike="noStrike" kern="1200" dirty="0">
                          <a:solidFill>
                            <a:schemeClr val="bg1"/>
                          </a:solidFill>
                          <a:effectLst/>
                          <a:latin typeface="Arial" panose="020B0604020202020204" pitchFamily="34" charset="0"/>
                          <a:ea typeface="+mn-ea"/>
                          <a:cs typeface="Arial" panose="020B0604020202020204" pitchFamily="34" charset="0"/>
                        </a:rPr>
                        <a:t>TIME FRAME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l" defTabSz="914400" rtl="0" eaLnBrk="1" fontAlgn="b" latinLnBrk="0" hangingPunct="1"/>
                      <a:r>
                        <a:rPr lang="en-US" sz="1600" b="1" i="0" u="none" strike="noStrike" kern="1200" dirty="0">
                          <a:solidFill>
                            <a:schemeClr val="bg1"/>
                          </a:solidFill>
                          <a:effectLst/>
                          <a:latin typeface="Arial" panose="020B0604020202020204" pitchFamily="34" charset="0"/>
                          <a:ea typeface="+mn-ea"/>
                          <a:cs typeface="Arial" panose="020B0604020202020204" pitchFamily="34" charset="0"/>
                        </a:rPr>
                        <a:t>SPECIFICITY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l" defTabSz="914400" rtl="0" eaLnBrk="1" fontAlgn="b" latinLnBrk="0" hangingPunct="1"/>
                      <a:r>
                        <a:rPr lang="en-US" sz="1600" b="1" i="0" u="none" strike="noStrike" kern="1200" dirty="0">
                          <a:solidFill>
                            <a:schemeClr val="bg1"/>
                          </a:solidFill>
                          <a:effectLst/>
                          <a:latin typeface="Arial" panose="020B0604020202020204" pitchFamily="34" charset="0"/>
                          <a:ea typeface="+mn-ea"/>
                          <a:cs typeface="Arial" panose="020B0604020202020204" pitchFamily="34" charset="0"/>
                        </a:rPr>
                        <a:t>FREQUENCY OF USE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460561">
                <a:tc>
                  <a:txBody>
                    <a:bodyPr/>
                    <a:lstStyle/>
                    <a:p>
                      <a:r>
                        <a:rPr lang="en-US" sz="1600" dirty="0">
                          <a:latin typeface="Arial" panose="020B0604020202020204" pitchFamily="34" charset="0"/>
                          <a:cs typeface="Arial" panose="020B0604020202020204" pitchFamily="34" charset="0"/>
                        </a:rPr>
                        <a:t>Strategic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kern="1200" baseline="0" dirty="0">
                          <a:latin typeface="Arial" panose="020B0604020202020204" pitchFamily="34" charset="0"/>
                          <a:cs typeface="Arial" panose="020B0604020202020204" pitchFamily="34" charset="0"/>
                        </a:rPr>
                        <a:t>Long term</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dirty="0">
                          <a:latin typeface="Arial" panose="020B0604020202020204" pitchFamily="34" charset="0"/>
                          <a:cs typeface="Arial" panose="020B0604020202020204" pitchFamily="34" charset="0"/>
                        </a:rPr>
                        <a:t>Directional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dirty="0">
                          <a:latin typeface="Arial" panose="020B0604020202020204" pitchFamily="34" charset="0"/>
                          <a:cs typeface="Arial" panose="020B0604020202020204" pitchFamily="34" charset="0"/>
                        </a:rPr>
                        <a:t>Single use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308142358"/>
                  </a:ext>
                </a:extLst>
              </a:tr>
              <a:tr h="331527">
                <a:tc>
                  <a:txBody>
                    <a:bodyPr/>
                    <a:lstStyle/>
                    <a:p>
                      <a:r>
                        <a:rPr lang="en-US" sz="1600" kern="1200" baseline="0" dirty="0">
                          <a:latin typeface="Arial" panose="020B0604020202020204" pitchFamily="34" charset="0"/>
                          <a:cs typeface="Arial" panose="020B0604020202020204" pitchFamily="34" charset="0"/>
                        </a:rPr>
                        <a:t>Tactical</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kern="1200" baseline="0" dirty="0">
                          <a:latin typeface="Arial" panose="020B0604020202020204" pitchFamily="34" charset="0"/>
                          <a:cs typeface="Arial" panose="020B0604020202020204" pitchFamily="34" charset="0"/>
                        </a:rPr>
                        <a:t>Short term</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dirty="0">
                          <a:latin typeface="Arial" panose="020B0604020202020204" pitchFamily="34" charset="0"/>
                          <a:cs typeface="Arial" panose="020B0604020202020204" pitchFamily="34" charset="0"/>
                        </a:rPr>
                        <a:t>Specific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dirty="0">
                          <a:latin typeface="Arial" panose="020B0604020202020204" pitchFamily="34" charset="0"/>
                          <a:cs typeface="Arial" panose="020B0604020202020204" pitchFamily="34" charset="0"/>
                        </a:rPr>
                        <a:t>Standing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63855909"/>
                  </a:ext>
                </a:extLst>
              </a:tr>
            </a:tbl>
          </a:graphicData>
        </a:graphic>
      </p:graphicFrame>
      <p:sp>
        <p:nvSpPr>
          <p:cNvPr id="9" name="Content Placeholder 8">
            <a:extLst>
              <a:ext uri="{FF2B5EF4-FFF2-40B4-BE49-F238E27FC236}">
                <a16:creationId xmlns:a16="http://schemas.microsoft.com/office/drawing/2014/main" id="{93A8D374-461C-4E68-846A-B8D1229FDDDC}"/>
              </a:ext>
            </a:extLst>
          </p:cNvPr>
          <p:cNvSpPr>
            <a:spLocks noGrp="1"/>
          </p:cNvSpPr>
          <p:nvPr>
            <p:ph sz="quarter" idx="14"/>
          </p:nvPr>
        </p:nvSpPr>
        <p:spPr>
          <a:xfrm>
            <a:off x="468313" y="4139440"/>
            <a:ext cx="2880419" cy="405683"/>
          </a:xfrm>
        </p:spPr>
        <p:txBody>
          <a:bodyPr wrap="square" tIns="18000" bIns="18000">
            <a:spAutoFit/>
          </a:bodyPr>
          <a:lstStyle/>
          <a:p>
            <a:pPr marL="0" indent="0">
              <a:buNone/>
            </a:pPr>
            <a:r>
              <a:rPr lang="en-US" sz="2400" b="1" dirty="0">
                <a:latin typeface="Arial" panose="020B0604020202020204" pitchFamily="34" charset="0"/>
                <a:cs typeface="Arial" panose="020B0604020202020204" pitchFamily="34" charset="0"/>
              </a:rPr>
              <a:t>Flexibility ↔ </a:t>
            </a:r>
            <a:r>
              <a:rPr lang="en-US" sz="2400" b="1" dirty="0">
                <a:latin typeface="Arial" panose="020B0604020202020204" pitchFamily="34" charset="0"/>
                <a:cs typeface="Arial" panose="020B0604020202020204" pitchFamily="34" charset="0"/>
                <a:sym typeface="Symbol" panose="05050102010706020507" pitchFamily="18" charset="2"/>
              </a:rPr>
              <a:t>Clarity</a:t>
            </a:r>
            <a:endParaRPr lang="en-US" sz="2400" dirty="0">
              <a:latin typeface="Arial" panose="020B0604020202020204" pitchFamily="34" charset="0"/>
              <a:cs typeface="Arial" panose="020B0604020202020204" pitchFamily="34" charset="0"/>
            </a:endParaRPr>
          </a:p>
        </p:txBody>
      </p:sp>
      <p:pic>
        <p:nvPicPr>
          <p:cNvPr id="31" name="Picture Placeholder 30" descr="A photo shows a man smiling for the camera. Paintings are on the wall behind him.">
            <a:extLst>
              <a:ext uri="{FF2B5EF4-FFF2-40B4-BE49-F238E27FC236}">
                <a16:creationId xmlns:a16="http://schemas.microsoft.com/office/drawing/2014/main" id="{E5AD1D81-8BC6-413A-8C09-1BF76735894F}"/>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3924300" y="3284984"/>
            <a:ext cx="4614672" cy="3072384"/>
          </a:xfrm>
          <a:prstGeom prst="rect">
            <a:avLst/>
          </a:prstGeom>
        </p:spPr>
      </p:pic>
    </p:spTree>
    <p:extLst>
      <p:ext uri="{BB962C8B-B14F-4D97-AF65-F5344CB8AC3E}">
        <p14:creationId xmlns:p14="http://schemas.microsoft.com/office/powerpoint/2010/main" val="3784376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a:latin typeface="+mj-lt"/>
                <a:ea typeface="ＭＳ Ｐゴシック" charset="0"/>
                <a:cs typeface="ＭＳ Ｐゴシック" charset="0"/>
              </a:rPr>
              <a:t>Developing Plans</a:t>
            </a:r>
            <a:endParaRPr lang="en-US" sz="2800">
              <a:latin typeface="+mj-lt"/>
            </a:endParaRP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7999" y="1274400"/>
            <a:ext cx="8280713" cy="282573"/>
          </a:xfrm>
        </p:spPr>
        <p:txBody>
          <a:bodyPr wrap="square" tIns="18000" bIns="18000">
            <a:spAutoFit/>
          </a:bodyPr>
          <a:lstStyle/>
          <a:p>
            <a:pPr marL="0" indent="0">
              <a:buSzPct val="100000"/>
              <a:buNone/>
            </a:pPr>
            <a:r>
              <a:rPr lang="en-US" sz="1600" b="1" dirty="0">
                <a:latin typeface="Arial" panose="020B0604020202020204" pitchFamily="34" charset="0"/>
                <a:cs typeface="Arial" panose="020B0604020202020204" pitchFamily="34" charset="0"/>
              </a:rPr>
              <a:t>Exhibit 5.8</a:t>
            </a:r>
            <a:r>
              <a:rPr lang="en-US" sz="1600" dirty="0">
                <a:latin typeface="Arial" panose="020B0604020202020204" pitchFamily="34" charset="0"/>
                <a:cs typeface="Arial" panose="020B0604020202020204" pitchFamily="34" charset="0"/>
              </a:rPr>
              <a:t> Planning and Organizational Level</a:t>
            </a:r>
            <a:endParaRPr lang="en-US" dirty="0">
              <a:latin typeface="Arial" panose="020B0604020202020204" pitchFamily="34" charset="0"/>
              <a:cs typeface="Arial" panose="020B0604020202020204" pitchFamily="34" charset="0"/>
            </a:endParaRPr>
          </a:p>
        </p:txBody>
      </p:sp>
      <p:pic>
        <p:nvPicPr>
          <p:cNvPr id="8" name="Picture Placeholder 7" descr="An illustration shows that the top executives are mostly involved in strategic planning, middle-level managers are involved in both strategic planning and operational planning, and first-level managers are mostly involved in operational planning.">
            <a:extLst>
              <a:ext uri="{FF2B5EF4-FFF2-40B4-BE49-F238E27FC236}">
                <a16:creationId xmlns:a16="http://schemas.microsoft.com/office/drawing/2014/main" id="{18FCCB02-256C-4722-B28F-2F0EEDF75C10}"/>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829384" y="1779992"/>
            <a:ext cx="7559040" cy="4529328"/>
          </a:xfrm>
          <a:prstGeom prst="rect">
            <a:avLst/>
          </a:prstGeom>
        </p:spPr>
      </p:pic>
    </p:spTree>
    <p:extLst>
      <p:ext uri="{BB962C8B-B14F-4D97-AF65-F5344CB8AC3E}">
        <p14:creationId xmlns:p14="http://schemas.microsoft.com/office/powerpoint/2010/main" val="1561649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ea typeface="ＭＳ Ｐゴシック" charset="0"/>
                <a:cs typeface="ＭＳ Ｐゴシック" charset="0"/>
              </a:rPr>
              <a:t>Approaches to Planning</a:t>
            </a:r>
            <a:endParaRPr lang="en-US" sz="2800" dirty="0">
              <a:latin typeface="+mj-lt"/>
            </a:endParaRP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7999" y="1274400"/>
            <a:ext cx="4104001" cy="1706039"/>
          </a:xfrm>
        </p:spPr>
        <p:txBody>
          <a:bodyPr wrap="square" tIns="18000" bIns="18000">
            <a:spAutoFit/>
          </a:bodyPr>
          <a:lstStyle/>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Top-down traditional approach</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Development by organizational members</a:t>
            </a:r>
            <a:endParaRPr lang="en-US" sz="2400" dirty="0">
              <a:latin typeface="Arial" panose="020B0604020202020204" pitchFamily="34" charset="0"/>
              <a:cs typeface="Arial" panose="020B0604020202020204" pitchFamily="34" charset="0"/>
            </a:endParaRPr>
          </a:p>
        </p:txBody>
      </p:sp>
      <p:pic>
        <p:nvPicPr>
          <p:cNvPr id="7" name="Picture Placeholder 6" descr="A photo shows a woman in a suit standing with her arms crossed across her chest.">
            <a:extLst>
              <a:ext uri="{FF2B5EF4-FFF2-40B4-BE49-F238E27FC236}">
                <a16:creationId xmlns:a16="http://schemas.microsoft.com/office/drawing/2014/main" id="{20245C73-1F41-4DBF-B768-7C649C558D7D}"/>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627192" y="1255736"/>
            <a:ext cx="3761232" cy="5053584"/>
          </a:xfrm>
          <a:prstGeom prst="rect">
            <a:avLst/>
          </a:prstGeom>
        </p:spPr>
      </p:pic>
    </p:spTree>
    <p:extLst>
      <p:ext uri="{BB962C8B-B14F-4D97-AF65-F5344CB8AC3E}">
        <p14:creationId xmlns:p14="http://schemas.microsoft.com/office/powerpoint/2010/main" val="3517042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solidFill>
                  <a:schemeClr val="bg2"/>
                </a:solidFill>
                <a:latin typeface="+mj-lt"/>
                <a:cs typeface="Arial" pitchFamily="34" charset="0"/>
              </a:rPr>
              <a:t>Learning Objective 5.4</a:t>
            </a:r>
            <a:endParaRPr lang="en-US" dirty="0">
              <a:solidFill>
                <a:schemeClr val="bg2"/>
              </a:solidFill>
              <a:latin typeface="+mj-lt"/>
            </a:endParaRP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255600" indent="-255600">
              <a:buSzPct val="100000"/>
            </a:pPr>
            <a:r>
              <a:rPr lang="en-US" sz="2400" dirty="0">
                <a:latin typeface="Arial" panose="020B0604020202020204" pitchFamily="34" charset="0"/>
                <a:cs typeface="Arial" panose="020B0604020202020204" pitchFamily="34" charset="0"/>
              </a:rPr>
              <a:t>Discuss contemporary issues in planning.</a:t>
            </a:r>
          </a:p>
        </p:txBody>
      </p:sp>
    </p:spTree>
    <p:extLst>
      <p:ext uri="{BB962C8B-B14F-4D97-AF65-F5344CB8AC3E}">
        <p14:creationId xmlns:p14="http://schemas.microsoft.com/office/powerpoint/2010/main" val="1087177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sz="3600" dirty="0">
                <a:latin typeface="+mj-lt"/>
                <a:ea typeface="ＭＳ Ｐゴシック" charset="0"/>
                <a:cs typeface="ＭＳ Ｐゴシック" charset="0"/>
              </a:rPr>
              <a:t>Contemporary Issues</a:t>
            </a:r>
            <a:endParaRPr lang="en-US" dirty="0">
              <a:latin typeface="+mj-lt"/>
            </a:endParaRPr>
          </a:p>
        </p:txBody>
      </p:sp>
      <p:sp>
        <p:nvSpPr>
          <p:cNvPr id="3" name="Content Placeholder 2"/>
          <p:cNvSpPr>
            <a:spLocks noGrp="1"/>
          </p:cNvSpPr>
          <p:nvPr>
            <p:ph idx="1"/>
          </p:nvPr>
        </p:nvSpPr>
        <p:spPr>
          <a:xfrm>
            <a:off x="467999" y="1274400"/>
            <a:ext cx="8280713" cy="1529068"/>
          </a:xfrm>
        </p:spPr>
        <p:txBody>
          <a:bodyPr wrap="square" tIns="18000" bIns="18000">
            <a:spAutoFit/>
          </a:bodyPr>
          <a:lstStyle/>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Planning in dynamic environments</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Crisis situations </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Environmental scanning</a:t>
            </a:r>
            <a:endParaRPr lang="en-US" sz="2400" dirty="0">
              <a:latin typeface="Arial" panose="020B0604020202020204" pitchFamily="34" charset="0"/>
              <a:cs typeface="Arial" panose="020B0604020202020204" pitchFamily="34" charset="0"/>
            </a:endParaRPr>
          </a:p>
        </p:txBody>
      </p:sp>
      <p:sp>
        <p:nvSpPr>
          <p:cNvPr id="6" name="Content Placeholder 3"/>
          <p:cNvSpPr>
            <a:spLocks noGrp="1"/>
          </p:cNvSpPr>
          <p:nvPr>
            <p:ph idx="13"/>
          </p:nvPr>
        </p:nvSpPr>
        <p:spPr>
          <a:xfrm>
            <a:off x="1763688" y="3203118"/>
            <a:ext cx="5616624" cy="967376"/>
          </a:xfrm>
        </p:spPr>
        <p:txBody>
          <a:bodyPr wrap="square" tIns="18000" bIns="18000">
            <a:spAutoFit/>
          </a:bodyPr>
          <a:lstStyle/>
          <a:p>
            <a:pPr marL="0" indent="0">
              <a:buNone/>
            </a:pPr>
            <a:r>
              <a:rPr lang="en-US" sz="2400" b="1" dirty="0">
                <a:solidFill>
                  <a:srgbClr val="007FA3"/>
                </a:solidFill>
                <a:latin typeface="Arial" panose="020B0604020202020204" pitchFamily="34" charset="0"/>
                <a:cs typeface="Arial" panose="020B0604020202020204" pitchFamily="34" charset="0"/>
              </a:rPr>
              <a:t>Dynamic</a:t>
            </a:r>
            <a:r>
              <a:rPr lang="en-US" sz="2400" dirty="0">
                <a:solidFill>
                  <a:srgbClr val="007FA3"/>
                </a:solidFill>
                <a:latin typeface="Arial" panose="020B0604020202020204" pitchFamily="34" charset="0"/>
                <a:cs typeface="Arial" panose="020B0604020202020204" pitchFamily="34" charset="0"/>
              </a:rPr>
              <a:t> Environments and</a:t>
            </a:r>
          </a:p>
          <a:p>
            <a:pPr marL="0" indent="0">
              <a:buNone/>
            </a:pPr>
            <a:r>
              <a:rPr lang="en-US" sz="2400" b="1" dirty="0">
                <a:solidFill>
                  <a:srgbClr val="007FA3"/>
                </a:solidFill>
                <a:latin typeface="Arial" panose="020B0604020202020204" pitchFamily="34" charset="0"/>
                <a:cs typeface="Arial" panose="020B0604020202020204" pitchFamily="34" charset="0"/>
              </a:rPr>
              <a:t>Crisis</a:t>
            </a:r>
            <a:r>
              <a:rPr lang="en-US" sz="2400" dirty="0">
                <a:solidFill>
                  <a:srgbClr val="007FA3"/>
                </a:solidFill>
                <a:latin typeface="Arial" panose="020B0604020202020204" pitchFamily="34" charset="0"/>
                <a:cs typeface="Arial" panose="020B0604020202020204" pitchFamily="34" charset="0"/>
              </a:rPr>
              <a:t> Situations </a:t>
            </a:r>
            <a:r>
              <a:rPr lang="en-US" sz="2400" b="1" dirty="0">
                <a:solidFill>
                  <a:srgbClr val="007FA3"/>
                </a:solidFill>
                <a:latin typeface="Arial" panose="020B0604020202020204" pitchFamily="34" charset="0"/>
                <a:cs typeface="Arial" panose="020B0604020202020204" pitchFamily="34" charset="0"/>
              </a:rPr>
              <a:t>= Planning </a:t>
            </a:r>
            <a:r>
              <a:rPr lang="en-US" sz="2400" dirty="0">
                <a:solidFill>
                  <a:srgbClr val="007FA3"/>
                </a:solidFill>
                <a:latin typeface="Arial" panose="020B0604020202020204" pitchFamily="34" charset="0"/>
                <a:cs typeface="Arial" panose="020B0604020202020204" pitchFamily="34" charset="0"/>
              </a:rPr>
              <a:t>Challenges</a:t>
            </a:r>
            <a:endParaRPr lang="en-IN" sz="2400" dirty="0">
              <a:solidFill>
                <a:srgbClr val="007FA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0052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68000" y="284400"/>
            <a:ext cx="8280712" cy="590931"/>
          </a:xfrm>
        </p:spPr>
        <p:txBody>
          <a:bodyPr wrap="square" lIns="0" tIns="18288" rIns="0" bIns="18288" rtlCol="0" anchor="ctr">
            <a:spAutoFit/>
          </a:bodyPr>
          <a:lstStyle/>
          <a:p>
            <a:pPr eaLnBrk="1" fontAlgn="auto" hangingPunct="1">
              <a:spcAft>
                <a:spcPts val="0"/>
              </a:spcAft>
              <a:defRPr/>
            </a:pPr>
            <a:r>
              <a:rPr lang="en-US" sz="3600" dirty="0">
                <a:latin typeface="+mj-lt"/>
              </a:rPr>
              <a:t>Copyright</a:t>
            </a:r>
            <a:endParaRPr lang="en-US" sz="3600" b="0" dirty="0">
              <a:latin typeface="+mj-lt"/>
            </a:endParaRPr>
          </a:p>
        </p:txBody>
      </p:sp>
      <p:pic>
        <p:nvPicPr>
          <p:cNvPr id="47107" name="Picture Placeholder 9" descr="Warning">
            <a:extLst>
              <a:ext uri="{FF2B5EF4-FFF2-40B4-BE49-F238E27FC236}">
                <a16:creationId xmlns:a16="http://schemas.microsoft.com/office/drawing/2014/main"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82923" y="2788200"/>
            <a:ext cx="1269677" cy="1269677"/>
          </a:xfr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2057399" y="1828800"/>
            <a:ext cx="6691313" cy="3260978"/>
          </a:xfrm>
          <a:ln w="28575">
            <a:solidFill>
              <a:schemeClr val="tx1"/>
            </a:solidFill>
            <a:miter lim="800000"/>
            <a:headEnd/>
            <a:tailEnd/>
          </a:ln>
        </p:spPr>
        <p:txBody>
          <a:bodyPr wrap="square" lIns="273600" tIns="273600" rIns="273600" bIns="273600" numCol="1" anchor="t" anchorCtr="0" compatLnSpc="1">
            <a:prstTxWarp prst="textNoShape">
              <a:avLst/>
            </a:prstTxWarp>
            <a:spAutoFit/>
          </a:bodyPr>
          <a:lstStyle/>
          <a:p>
            <a:pPr marL="0" indent="0" eaLnBrk="1" hangingPunct="1">
              <a:buFont typeface="Arial" panose="020B0604020202020204" pitchFamily="34" charset="0"/>
              <a:buNone/>
            </a:pPr>
            <a:r>
              <a:rPr lang="en-US" altLang="en-US" b="1" dirty="0">
                <a:latin typeface="Arial" panose="020B0604020202020204" pitchFamily="34" charset="0"/>
                <a:cs typeface="Arial" panose="020B0604020202020204" pitchFamily="34" charset="0"/>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heme/theme1.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2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c1bd8dc-4e40-424f-a15f-9ffcd522197f" xsi:nil="true"/>
    <lcf76f155ced4ddcb4097134ff3c332f xmlns="6125ffc9-2c56-435e-8267-1393444907b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FC395C-D9BE-4522-BCB0-6F58A2017F04}">
  <ds:schemaRefs>
    <ds:schemaRef ds:uri="http://schemas.microsoft.com/office/2006/metadata/properties"/>
    <ds:schemaRef ds:uri="http://schemas.microsoft.com/office/infopath/2007/PartnerControls"/>
    <ds:schemaRef ds:uri="7c1bd8dc-4e40-424f-a15f-9ffcd522197f"/>
    <ds:schemaRef ds:uri="6125ffc9-2c56-435e-8267-1393444907b2"/>
  </ds:schemaRefs>
</ds:datastoreItem>
</file>

<file path=customXml/itemProps2.xml><?xml version="1.0" encoding="utf-8"?>
<ds:datastoreItem xmlns:ds="http://schemas.openxmlformats.org/officeDocument/2006/customXml" ds:itemID="{555B483A-6092-45A3-B1DB-93F16F13D3FC}">
  <ds:schemaRefs>
    <ds:schemaRef ds:uri="http://schemas.microsoft.com/sharepoint/v3/contenttype/forms"/>
  </ds:schemaRefs>
</ds:datastoreItem>
</file>

<file path=customXml/itemProps3.xml><?xml version="1.0" encoding="utf-8"?>
<ds:datastoreItem xmlns:ds="http://schemas.openxmlformats.org/officeDocument/2006/customXml" ds:itemID="{97622952-B860-4648-A4EA-0E649E61D1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3706</TotalTime>
  <Words>1044</Words>
  <Application>Microsoft Office PowerPoint</Application>
  <PresentationFormat>On-screen Show (4:3)</PresentationFormat>
  <Paragraphs>204</Paragraphs>
  <Slides>33</Slides>
  <Notes>32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Arial</vt:lpstr>
      <vt:lpstr>Noto Sans Symbols</vt:lpstr>
      <vt:lpstr>Times New Roman</vt:lpstr>
      <vt:lpstr>Verdana</vt:lpstr>
      <vt:lpstr>Wingdings</vt:lpstr>
      <vt:lpstr>1_508 Lecture</vt:lpstr>
      <vt:lpstr>2_508 Lecture</vt:lpstr>
      <vt:lpstr>Fundamentals of Management</vt:lpstr>
      <vt:lpstr>Learning Objectives</vt:lpstr>
      <vt:lpstr>Learning Objective 5.1</vt:lpstr>
      <vt:lpstr>What Is Planning?</vt:lpstr>
      <vt:lpstr>Reasons for Planning</vt:lpstr>
      <vt:lpstr>Criticisms of Formal Planning</vt:lpstr>
      <vt:lpstr>Formal Planning and Organizational Performance</vt:lpstr>
      <vt:lpstr>Learning Objective 5.2</vt:lpstr>
      <vt:lpstr>What Is Strategic Management?</vt:lpstr>
      <vt:lpstr>The Importance of Strategic Management</vt:lpstr>
      <vt:lpstr>Steps in the Strategic Management Process</vt:lpstr>
      <vt:lpstr>Identify Mission, Goals, and Strategies</vt:lpstr>
      <vt:lpstr>External and Internal Analyses</vt:lpstr>
      <vt:lpstr>Formulating, Implementing, and Evaluating Results</vt:lpstr>
      <vt:lpstr>Strategies Managers Use</vt:lpstr>
      <vt:lpstr>Growth Strategy</vt:lpstr>
      <vt:lpstr>Stability and Renewal Strategies</vt:lpstr>
      <vt:lpstr>Competitive Strategy</vt:lpstr>
      <vt:lpstr>Competitive Advantage</vt:lpstr>
      <vt:lpstr>Functional Strategy</vt:lpstr>
      <vt:lpstr>Strategic Weapons</vt:lpstr>
      <vt:lpstr>Learning Objective 5.3</vt:lpstr>
      <vt:lpstr>Setting Goals and Developing Plans </vt:lpstr>
      <vt:lpstr>Traditional Goal Setting</vt:lpstr>
      <vt:lpstr>Management by Objectives</vt:lpstr>
      <vt:lpstr>Well-Written Goals</vt:lpstr>
      <vt:lpstr>Steps in Goal Setting</vt:lpstr>
      <vt:lpstr>Types of Plans</vt:lpstr>
      <vt:lpstr>Developing Plans</vt:lpstr>
      <vt:lpstr>Approaches to Planning</vt:lpstr>
      <vt:lpstr>Learning Objective 5.4</vt:lpstr>
      <vt:lpstr>Contemporary Issues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Management, Eleventh Edition, Chapter 5</dc:title>
  <dc:subject>Fundamentals of Management</dc:subject>
  <dc:creator>Robbins, Coulter and DeCenzo</dc:creator>
  <cp:keywords>Fundamentals of Management</cp:keywords>
  <dc:description>Additional information may be found in the Notes Pane of each slide by pressing F6._x000d_
Alt text for images/equations within table cells have been placed behind the object intentionally to provide a better screen reader user experience.</dc:description>
  <cp:lastModifiedBy>John Frazier</cp:lastModifiedBy>
  <cp:revision>1328</cp:revision>
  <dcterms:created xsi:type="dcterms:W3CDTF">2014-07-14T20:04:21Z</dcterms:created>
  <dcterms:modified xsi:type="dcterms:W3CDTF">2023-08-08T14:06:53Z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