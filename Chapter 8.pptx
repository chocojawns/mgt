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 id="2147483678" r:id="rId5"/>
  </p:sldMasterIdLst>
  <p:notesMasterIdLst>
    <p:notesMasterId r:id="rId41"/>
  </p:notesMasterIdLst>
  <p:handoutMasterIdLst>
    <p:handoutMasterId r:id="rId42"/>
  </p:handoutMasterIdLst>
  <p:sldIdLst>
    <p:sldId id="697" r:id="rId6"/>
    <p:sldId id="426" r:id="rId7"/>
    <p:sldId id="427" r:id="rId8"/>
    <p:sldId id="460" r:id="rId9"/>
    <p:sldId id="700" r:id="rId10"/>
    <p:sldId id="701" r:id="rId11"/>
    <p:sldId id="702" r:id="rId12"/>
    <p:sldId id="703" r:id="rId13"/>
    <p:sldId id="433" r:id="rId14"/>
    <p:sldId id="704" r:id="rId15"/>
    <p:sldId id="705" r:id="rId16"/>
    <p:sldId id="706" r:id="rId17"/>
    <p:sldId id="437" r:id="rId18"/>
    <p:sldId id="459" r:id="rId19"/>
    <p:sldId id="439" r:id="rId20"/>
    <p:sldId id="440" r:id="rId21"/>
    <p:sldId id="707" r:id="rId22"/>
    <p:sldId id="708" r:id="rId23"/>
    <p:sldId id="709" r:id="rId24"/>
    <p:sldId id="710" r:id="rId25"/>
    <p:sldId id="711" r:id="rId26"/>
    <p:sldId id="446" r:id="rId27"/>
    <p:sldId id="712" r:id="rId28"/>
    <p:sldId id="448" r:id="rId29"/>
    <p:sldId id="449" r:id="rId30"/>
    <p:sldId id="713" r:id="rId31"/>
    <p:sldId id="714" r:id="rId32"/>
    <p:sldId id="715" r:id="rId33"/>
    <p:sldId id="453" r:id="rId34"/>
    <p:sldId id="454" r:id="rId35"/>
    <p:sldId id="455" r:id="rId36"/>
    <p:sldId id="456" r:id="rId37"/>
    <p:sldId id="716" r:id="rId38"/>
    <p:sldId id="717" r:id="rId39"/>
    <p:sldId id="687"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482" userDrawn="1">
          <p15:clr>
            <a:srgbClr val="A4A3A4"/>
          </p15:clr>
        </p15:guide>
        <p15:guide id="4" orient="horz" pos="799" userDrawn="1">
          <p15:clr>
            <a:srgbClr val="A4A3A4"/>
          </p15:clr>
        </p15:guide>
        <p15:guide id="6" orient="horz" pos="4110" userDrawn="1">
          <p15:clr>
            <a:srgbClr val="A4A3A4"/>
          </p15:clr>
        </p15:guide>
        <p15:guide id="8" pos="295">
          <p15:clr>
            <a:srgbClr val="A4A3A4"/>
          </p15:clr>
        </p15:guide>
        <p15:guide id="9" pos="551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laser" initials="l" lastIdx="1" clrIdx="1"/>
  <p:cmAuthor id="3" name="Darathie Renganathan, Integra-PDY, IN" initials="DRII" lastIdx="3" clrIdx="2"/>
  <p:cmAuthor id="4" name="veronica bashian" initials="vb" lastIdx="4"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DB940"/>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9" autoAdjust="0"/>
    <p:restoredTop sz="40147" autoAdjust="0"/>
  </p:normalViewPr>
  <p:slideViewPr>
    <p:cSldViewPr>
      <p:cViewPr varScale="1">
        <p:scale>
          <a:sx n="34" d="100"/>
          <a:sy n="34" d="100"/>
        </p:scale>
        <p:origin x="2923" y="48"/>
      </p:cViewPr>
      <p:guideLst>
        <p:guide orient="horz" pos="2160"/>
        <p:guide pos="2880"/>
        <p:guide orient="horz" pos="482"/>
        <p:guide orient="horz" pos="799"/>
        <p:guide orient="horz" pos="4110"/>
        <p:guide pos="295"/>
        <p:guide pos="5511"/>
      </p:guideLst>
    </p:cSldViewPr>
  </p:slideViewPr>
  <p:outlineViewPr>
    <p:cViewPr>
      <p:scale>
        <a:sx n="33" d="100"/>
        <a:sy n="33" d="100"/>
      </p:scale>
      <p:origin x="0" y="-16704"/>
    </p:cViewPr>
  </p:outlineViewPr>
  <p:notesTextViewPr>
    <p:cViewPr>
      <p:scale>
        <a:sx n="1" d="1"/>
        <a:sy n="1" d="1"/>
      </p:scale>
      <p:origin x="0" y="0"/>
    </p:cViewPr>
  </p:notesTextViewPr>
  <p:sorterViewPr>
    <p:cViewPr>
      <p:scale>
        <a:sx n="100" d="100"/>
        <a:sy n="100" d="100"/>
      </p:scale>
      <p:origin x="0" y="-4854"/>
    </p:cViewPr>
  </p:sorterViewPr>
  <p:notesViewPr>
    <p:cSldViewPr>
      <p:cViewPr varScale="1">
        <p:scale>
          <a:sx n="54" d="100"/>
          <a:sy n="54" d="100"/>
        </p:scale>
        <p:origin x="179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commentAuthors" Target="commen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8/8/2023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8/8/2023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53873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200" dirty="0">
              <a:solidFill>
                <a:schemeClr val="tx1">
                  <a:lumMod val="75000"/>
                  <a:lumOff val="25000"/>
                </a:schemeClr>
              </a:solidFill>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105763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617188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1487709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2164932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spcBef>
                <a:spcPct val="0"/>
              </a:spcBef>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82443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lnSpc>
                <a:spcPct val="80000"/>
              </a:lnSpc>
            </a:pPr>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2919168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4232006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6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6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6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502097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anose="020B0604020202020204" pitchFamily="34" charset="0"/>
              <a:buNone/>
            </a:pP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18902577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7364107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defRPr/>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13131059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28777899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lnSpc>
                <a:spcPct val="90000"/>
              </a:lnSpc>
            </a:pP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5517962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9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ltLang="en-US" noProof="0" dirty="0">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6995177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ltLang="en-US" noProof="0" dirty="0">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12841621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25485046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9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lnSpc>
                <a:spcPct val="90000"/>
              </a:lnSpc>
              <a:spcBef>
                <a:spcPct val="0"/>
              </a:spcBef>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7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70000"/>
              </a:lnSpc>
            </a:pP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17371372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defRPr/>
            </a:pP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9455496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35</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9" name="TextBox 8"/>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178399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18" name="Text Placeholder 17"/>
          <p:cNvSpPr>
            <a:spLocks noGrp="1"/>
          </p:cNvSpPr>
          <p:nvPr>
            <p:ph type="body" sz="quarter" idx="16" hasCustomPrompt="1"/>
          </p:nvPr>
        </p:nvSpPr>
        <p:spPr>
          <a:xfrm>
            <a:off x="1752600" y="6529254"/>
            <a:ext cx="5867400" cy="187537"/>
          </a:xfrm>
        </p:spPr>
        <p:txBody>
          <a:bodyPr/>
          <a:lstStyle>
            <a:lvl1pPr marL="0" indent="0">
              <a:buNone/>
              <a:defRPr sz="1200" baseline="0"/>
            </a:lvl1pPr>
          </a:lstStyle>
          <a:p>
            <a:pPr lvl="0"/>
            <a:r>
              <a:rPr lang="en-US" dirty="0"/>
              <a:t>Click to add copyright line</a:t>
            </a:r>
            <a:endParaRPr lang="en-IN" dirty="0"/>
          </a:p>
        </p:txBody>
      </p:sp>
      <p:pic>
        <p:nvPicPr>
          <p:cNvPr id="14" name="Picture 13"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8600" y="6429119"/>
            <a:ext cx="918000" cy="279915"/>
          </a:xfrm>
          <a:prstGeom prst="rect">
            <a:avLst/>
          </a:prstGeom>
        </p:spPr>
      </p:pic>
    </p:spTree>
    <p:extLst>
      <p:ext uri="{BB962C8B-B14F-4D97-AF65-F5344CB8AC3E}">
        <p14:creationId xmlns:p14="http://schemas.microsoft.com/office/powerpoint/2010/main" val="2236038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020555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82554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828800"/>
          </a:xfrm>
        </p:spPr>
        <p:txBody>
          <a:bodyPr/>
          <a:lstStyle>
            <a:lvl1pPr marL="0" indent="0">
              <a:buClr>
                <a:srgbClr val="007FA3"/>
              </a:buClr>
              <a:buSzPct val="100000"/>
              <a:buNone/>
              <a:defRPr sz="2400"/>
            </a:lvl1pPr>
            <a:lvl2pPr>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endParaRPr lang="en-US" dirty="0"/>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Content Placeholder 3"/>
          <p:cNvSpPr>
            <a:spLocks noGrp="1"/>
          </p:cNvSpPr>
          <p:nvPr>
            <p:ph sz="quarter" idx="13"/>
          </p:nvPr>
        </p:nvSpPr>
        <p:spPr>
          <a:xfrm>
            <a:off x="468313" y="4292600"/>
            <a:ext cx="8064500" cy="1728788"/>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Tree>
    <p:extLst>
      <p:ext uri="{BB962C8B-B14F-4D97-AF65-F5344CB8AC3E}">
        <p14:creationId xmlns:p14="http://schemas.microsoft.com/office/powerpoint/2010/main" val="55175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55825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962682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782467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138932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23139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951073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grpSp>
        <p:nvGrpSpPr>
          <p:cNvPr id="2" name="Group 4"/>
          <p:cNvGrpSpPr>
            <a:grpSpLocks noChangeAspect="1"/>
          </p:cNvGrpSpPr>
          <p:nvPr userDrawn="1"/>
        </p:nvGrpSpPr>
        <p:grpSpPr bwMode="auto">
          <a:xfrm>
            <a:off x="57755" y="6407126"/>
            <a:ext cx="1611690" cy="417560"/>
            <a:chOff x="21" y="4059"/>
            <a:chExt cx="1046" cy="271"/>
          </a:xfrm>
        </p:grpSpPr>
        <p:sp>
          <p:nvSpPr>
            <p:cNvPr id="3" name="AutoShape 3"/>
            <p:cNvSpPr>
              <a:spLocks noChangeAspect="1" noChangeArrowheads="1" noTextEdit="1"/>
            </p:cNvSpPr>
            <p:nvPr userDrawn="1"/>
          </p:nvSpPr>
          <p:spPr bwMode="auto">
            <a:xfrm>
              <a:off x="21" y="4059"/>
              <a:ext cx="1046"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dirty="0">
                <a:solidFill>
                  <a:schemeClr val="tx1">
                    <a:alpha val="0"/>
                  </a:schemeClr>
                </a:solidFill>
              </a:endParaRPr>
            </a:p>
          </p:txBody>
        </p:sp>
        <p:sp>
          <p:nvSpPr>
            <p:cNvPr id="6" name="Freeform 5"/>
            <p:cNvSpPr>
              <a:spLocks noEditPoints="1"/>
            </p:cNvSpPr>
            <p:nvPr userDrawn="1"/>
          </p:nvSpPr>
          <p:spPr bwMode="auto">
            <a:xfrm>
              <a:off x="125" y="4168"/>
              <a:ext cx="838" cy="51"/>
            </a:xfrm>
            <a:custGeom>
              <a:avLst/>
              <a:gdLst>
                <a:gd name="T0" fmla="*/ 1055 w 21137"/>
                <a:gd name="T1" fmla="*/ 1285 h 1300"/>
                <a:gd name="T2" fmla="*/ 0 w 21137"/>
                <a:gd name="T3" fmla="*/ 1285 h 1300"/>
                <a:gd name="T4" fmla="*/ 417 w 21137"/>
                <a:gd name="T5" fmla="*/ 748 h 1300"/>
                <a:gd name="T6" fmla="*/ 1860 w 21137"/>
                <a:gd name="T7" fmla="*/ 1119 h 1300"/>
                <a:gd name="T8" fmla="*/ 1678 w 21137"/>
                <a:gd name="T9" fmla="*/ 16 h 1300"/>
                <a:gd name="T10" fmla="*/ 4021 w 21137"/>
                <a:gd name="T11" fmla="*/ 1290 h 1300"/>
                <a:gd name="T12" fmla="*/ 2636 w 21137"/>
                <a:gd name="T13" fmla="*/ 16 h 1300"/>
                <a:gd name="T14" fmla="*/ 3693 w 21137"/>
                <a:gd name="T15" fmla="*/ 16 h 1300"/>
                <a:gd name="T16" fmla="*/ 5470 w 21137"/>
                <a:gd name="T17" fmla="*/ 9 h 1300"/>
                <a:gd name="T18" fmla="*/ 5143 w 21137"/>
                <a:gd name="T19" fmla="*/ 909 h 1300"/>
                <a:gd name="T20" fmla="*/ 5610 w 21137"/>
                <a:gd name="T21" fmla="*/ 748 h 1300"/>
                <a:gd name="T22" fmla="*/ 7109 w 21137"/>
                <a:gd name="T23" fmla="*/ 16 h 1300"/>
                <a:gd name="T24" fmla="*/ 6675 w 21137"/>
                <a:gd name="T25" fmla="*/ 1285 h 1300"/>
                <a:gd name="T26" fmla="*/ 6765 w 21137"/>
                <a:gd name="T27" fmla="*/ 453 h 1300"/>
                <a:gd name="T28" fmla="*/ 7796 w 21137"/>
                <a:gd name="T29" fmla="*/ 514 h 1300"/>
                <a:gd name="T30" fmla="*/ 8407 w 21137"/>
                <a:gd name="T31" fmla="*/ 89 h 1300"/>
                <a:gd name="T32" fmla="*/ 7908 w 21137"/>
                <a:gd name="T33" fmla="*/ 309 h 1300"/>
                <a:gd name="T34" fmla="*/ 8457 w 21137"/>
                <a:gd name="T35" fmla="*/ 956 h 1300"/>
                <a:gd name="T36" fmla="*/ 7746 w 21137"/>
                <a:gd name="T37" fmla="*/ 953 h 1300"/>
                <a:gd name="T38" fmla="*/ 8119 w 21137"/>
                <a:gd name="T39" fmla="*/ 754 h 1300"/>
                <a:gd name="T40" fmla="*/ 10671 w 21137"/>
                <a:gd name="T41" fmla="*/ 1119 h 1300"/>
                <a:gd name="T42" fmla="*/ 11202 w 21137"/>
                <a:gd name="T43" fmla="*/ 16 h 1300"/>
                <a:gd name="T44" fmla="*/ 11383 w 21137"/>
                <a:gd name="T45" fmla="*/ 565 h 1300"/>
                <a:gd name="T46" fmla="*/ 11383 w 21137"/>
                <a:gd name="T47" fmla="*/ 1122 h 1300"/>
                <a:gd name="T48" fmla="*/ 11202 w 21137"/>
                <a:gd name="T49" fmla="*/ 16 h 1300"/>
                <a:gd name="T50" fmla="*/ 13458 w 21137"/>
                <a:gd name="T51" fmla="*/ 1285 h 1300"/>
                <a:gd name="T52" fmla="*/ 12402 w 21137"/>
                <a:gd name="T53" fmla="*/ 1285 h 1300"/>
                <a:gd name="T54" fmla="*/ 12819 w 21137"/>
                <a:gd name="T55" fmla="*/ 748 h 1300"/>
                <a:gd name="T56" fmla="*/ 14478 w 21137"/>
                <a:gd name="T57" fmla="*/ 16 h 1300"/>
                <a:gd name="T58" fmla="*/ 14682 w 21137"/>
                <a:gd name="T59" fmla="*/ 682 h 1300"/>
                <a:gd name="T60" fmla="*/ 15138 w 21137"/>
                <a:gd name="T61" fmla="*/ 1285 h 1300"/>
                <a:gd name="T62" fmla="*/ 14820 w 21137"/>
                <a:gd name="T63" fmla="*/ 1136 h 1300"/>
                <a:gd name="T64" fmla="*/ 14516 w 21137"/>
                <a:gd name="T65" fmla="*/ 754 h 1300"/>
                <a:gd name="T66" fmla="*/ 14160 w 21137"/>
                <a:gd name="T67" fmla="*/ 1285 h 1300"/>
                <a:gd name="T68" fmla="*/ 14411 w 21137"/>
                <a:gd name="T69" fmla="*/ 572 h 1300"/>
                <a:gd name="T70" fmla="*/ 14677 w 21137"/>
                <a:gd name="T71" fmla="*/ 260 h 1300"/>
                <a:gd name="T72" fmla="*/ 16830 w 21137"/>
                <a:gd name="T73" fmla="*/ 16 h 1300"/>
                <a:gd name="T74" fmla="*/ 15827 w 21137"/>
                <a:gd name="T75" fmla="*/ 1285 h 1300"/>
                <a:gd name="T76" fmla="*/ 16658 w 21137"/>
                <a:gd name="T77" fmla="*/ 1002 h 1300"/>
                <a:gd name="T78" fmla="*/ 17658 w 21137"/>
                <a:gd name="T79" fmla="*/ 1285 h 1300"/>
                <a:gd name="T80" fmla="*/ 19493 w 21137"/>
                <a:gd name="T81" fmla="*/ 16 h 1300"/>
                <a:gd name="T82" fmla="*/ 18488 w 21137"/>
                <a:gd name="T83" fmla="*/ 1285 h 1300"/>
                <a:gd name="T84" fmla="*/ 19320 w 21137"/>
                <a:gd name="T85" fmla="*/ 1002 h 1300"/>
                <a:gd name="T86" fmla="*/ 21137 w 21137"/>
                <a:gd name="T87" fmla="*/ 1198 h 1300"/>
                <a:gd name="T88" fmla="*/ 20176 w 21137"/>
                <a:gd name="T89" fmla="*/ 189 h 1300"/>
                <a:gd name="T90" fmla="*/ 21112 w 21137"/>
                <a:gd name="T91" fmla="*/ 293 h 1300"/>
                <a:gd name="T92" fmla="*/ 20311 w 21137"/>
                <a:gd name="T93" fmla="*/ 1004 h 1300"/>
                <a:gd name="T94" fmla="*/ 20956 w 21137"/>
                <a:gd name="T95" fmla="*/ 821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137" h="1300">
                  <a:moveTo>
                    <a:pt x="545" y="9"/>
                  </a:moveTo>
                  <a:cubicBezTo>
                    <a:pt x="672" y="9"/>
                    <a:pt x="672" y="9"/>
                    <a:pt x="672" y="9"/>
                  </a:cubicBezTo>
                  <a:cubicBezTo>
                    <a:pt x="1241" y="1285"/>
                    <a:pt x="1241" y="1285"/>
                    <a:pt x="1241" y="1285"/>
                  </a:cubicBezTo>
                  <a:cubicBezTo>
                    <a:pt x="1055" y="1285"/>
                    <a:pt x="1055" y="1285"/>
                    <a:pt x="1055" y="1285"/>
                  </a:cubicBezTo>
                  <a:cubicBezTo>
                    <a:pt x="886" y="909"/>
                    <a:pt x="886" y="909"/>
                    <a:pt x="886" y="909"/>
                  </a:cubicBezTo>
                  <a:cubicBezTo>
                    <a:pt x="345" y="909"/>
                    <a:pt x="345" y="909"/>
                    <a:pt x="345" y="909"/>
                  </a:cubicBezTo>
                  <a:cubicBezTo>
                    <a:pt x="186" y="1285"/>
                    <a:pt x="186" y="1285"/>
                    <a:pt x="186" y="1285"/>
                  </a:cubicBezTo>
                  <a:cubicBezTo>
                    <a:pt x="0" y="1285"/>
                    <a:pt x="0" y="1285"/>
                    <a:pt x="0" y="1285"/>
                  </a:cubicBezTo>
                  <a:lnTo>
                    <a:pt x="545" y="9"/>
                  </a:lnTo>
                  <a:close/>
                  <a:moveTo>
                    <a:pt x="812" y="748"/>
                  </a:moveTo>
                  <a:cubicBezTo>
                    <a:pt x="607" y="287"/>
                    <a:pt x="607" y="287"/>
                    <a:pt x="607" y="287"/>
                  </a:cubicBezTo>
                  <a:cubicBezTo>
                    <a:pt x="417" y="748"/>
                    <a:pt x="417" y="748"/>
                    <a:pt x="417" y="748"/>
                  </a:cubicBezTo>
                  <a:lnTo>
                    <a:pt x="812" y="748"/>
                  </a:lnTo>
                  <a:close/>
                  <a:moveTo>
                    <a:pt x="1678" y="16"/>
                  </a:moveTo>
                  <a:cubicBezTo>
                    <a:pt x="1860" y="16"/>
                    <a:pt x="1860" y="16"/>
                    <a:pt x="1860" y="16"/>
                  </a:cubicBezTo>
                  <a:cubicBezTo>
                    <a:pt x="1860" y="1119"/>
                    <a:pt x="1860" y="1119"/>
                    <a:pt x="1860" y="1119"/>
                  </a:cubicBezTo>
                  <a:cubicBezTo>
                    <a:pt x="2431" y="1119"/>
                    <a:pt x="2431" y="1119"/>
                    <a:pt x="2431" y="1119"/>
                  </a:cubicBezTo>
                  <a:cubicBezTo>
                    <a:pt x="2431" y="1285"/>
                    <a:pt x="2431" y="1285"/>
                    <a:pt x="2431" y="1285"/>
                  </a:cubicBezTo>
                  <a:cubicBezTo>
                    <a:pt x="1678" y="1285"/>
                    <a:pt x="1678" y="1285"/>
                    <a:pt x="1678" y="1285"/>
                  </a:cubicBezTo>
                  <a:lnTo>
                    <a:pt x="1678" y="16"/>
                  </a:lnTo>
                  <a:close/>
                  <a:moveTo>
                    <a:pt x="4392" y="16"/>
                  </a:moveTo>
                  <a:cubicBezTo>
                    <a:pt x="4573" y="16"/>
                    <a:pt x="4573" y="16"/>
                    <a:pt x="4573" y="16"/>
                  </a:cubicBezTo>
                  <a:cubicBezTo>
                    <a:pt x="4061" y="1290"/>
                    <a:pt x="4061" y="1290"/>
                    <a:pt x="4061" y="1290"/>
                  </a:cubicBezTo>
                  <a:cubicBezTo>
                    <a:pt x="4021" y="1290"/>
                    <a:pt x="4021" y="1290"/>
                    <a:pt x="4021" y="1290"/>
                  </a:cubicBezTo>
                  <a:cubicBezTo>
                    <a:pt x="3606" y="258"/>
                    <a:pt x="3606" y="258"/>
                    <a:pt x="3606" y="258"/>
                  </a:cubicBezTo>
                  <a:cubicBezTo>
                    <a:pt x="3187" y="1290"/>
                    <a:pt x="3187" y="1290"/>
                    <a:pt x="3187" y="1290"/>
                  </a:cubicBezTo>
                  <a:cubicBezTo>
                    <a:pt x="3147" y="1290"/>
                    <a:pt x="3147" y="1290"/>
                    <a:pt x="3147" y="1290"/>
                  </a:cubicBezTo>
                  <a:cubicBezTo>
                    <a:pt x="2636" y="16"/>
                    <a:pt x="2636" y="16"/>
                    <a:pt x="2636" y="16"/>
                  </a:cubicBezTo>
                  <a:cubicBezTo>
                    <a:pt x="2819" y="16"/>
                    <a:pt x="2819" y="16"/>
                    <a:pt x="2819" y="16"/>
                  </a:cubicBezTo>
                  <a:cubicBezTo>
                    <a:pt x="3168" y="891"/>
                    <a:pt x="3168" y="891"/>
                    <a:pt x="3168" y="891"/>
                  </a:cubicBezTo>
                  <a:cubicBezTo>
                    <a:pt x="3521" y="16"/>
                    <a:pt x="3521" y="16"/>
                    <a:pt x="3521" y="16"/>
                  </a:cubicBezTo>
                  <a:cubicBezTo>
                    <a:pt x="3693" y="16"/>
                    <a:pt x="3693" y="16"/>
                    <a:pt x="3693" y="16"/>
                  </a:cubicBezTo>
                  <a:cubicBezTo>
                    <a:pt x="4047" y="891"/>
                    <a:pt x="4047" y="891"/>
                    <a:pt x="4047" y="891"/>
                  </a:cubicBezTo>
                  <a:lnTo>
                    <a:pt x="4392" y="16"/>
                  </a:lnTo>
                  <a:close/>
                  <a:moveTo>
                    <a:pt x="5343" y="9"/>
                  </a:moveTo>
                  <a:cubicBezTo>
                    <a:pt x="5470" y="9"/>
                    <a:pt x="5470" y="9"/>
                    <a:pt x="5470" y="9"/>
                  </a:cubicBezTo>
                  <a:cubicBezTo>
                    <a:pt x="6039" y="1285"/>
                    <a:pt x="6039" y="1285"/>
                    <a:pt x="6039" y="1285"/>
                  </a:cubicBezTo>
                  <a:cubicBezTo>
                    <a:pt x="5853" y="1285"/>
                    <a:pt x="5853" y="1285"/>
                    <a:pt x="5853" y="1285"/>
                  </a:cubicBezTo>
                  <a:cubicBezTo>
                    <a:pt x="5685" y="909"/>
                    <a:pt x="5685" y="909"/>
                    <a:pt x="5685" y="909"/>
                  </a:cubicBezTo>
                  <a:cubicBezTo>
                    <a:pt x="5143" y="909"/>
                    <a:pt x="5143" y="909"/>
                    <a:pt x="5143" y="909"/>
                  </a:cubicBezTo>
                  <a:cubicBezTo>
                    <a:pt x="4984" y="1285"/>
                    <a:pt x="4984" y="1285"/>
                    <a:pt x="4984" y="1285"/>
                  </a:cubicBezTo>
                  <a:cubicBezTo>
                    <a:pt x="4798" y="1285"/>
                    <a:pt x="4798" y="1285"/>
                    <a:pt x="4798" y="1285"/>
                  </a:cubicBezTo>
                  <a:lnTo>
                    <a:pt x="5343" y="9"/>
                  </a:lnTo>
                  <a:close/>
                  <a:moveTo>
                    <a:pt x="5610" y="748"/>
                  </a:moveTo>
                  <a:cubicBezTo>
                    <a:pt x="5405" y="287"/>
                    <a:pt x="5405" y="287"/>
                    <a:pt x="5405" y="287"/>
                  </a:cubicBezTo>
                  <a:cubicBezTo>
                    <a:pt x="5215" y="748"/>
                    <a:pt x="5215" y="748"/>
                    <a:pt x="5215" y="748"/>
                  </a:cubicBezTo>
                  <a:lnTo>
                    <a:pt x="5610" y="748"/>
                  </a:lnTo>
                  <a:close/>
                  <a:moveTo>
                    <a:pt x="7109" y="16"/>
                  </a:moveTo>
                  <a:cubicBezTo>
                    <a:pt x="7330" y="16"/>
                    <a:pt x="7330" y="16"/>
                    <a:pt x="7330" y="16"/>
                  </a:cubicBezTo>
                  <a:cubicBezTo>
                    <a:pt x="6861" y="614"/>
                    <a:pt x="6861" y="614"/>
                    <a:pt x="6861" y="614"/>
                  </a:cubicBezTo>
                  <a:cubicBezTo>
                    <a:pt x="6861" y="1285"/>
                    <a:pt x="6861" y="1285"/>
                    <a:pt x="6861" y="1285"/>
                  </a:cubicBezTo>
                  <a:cubicBezTo>
                    <a:pt x="6675" y="1285"/>
                    <a:pt x="6675" y="1285"/>
                    <a:pt x="6675" y="1285"/>
                  </a:cubicBezTo>
                  <a:cubicBezTo>
                    <a:pt x="6675" y="614"/>
                    <a:pt x="6675" y="614"/>
                    <a:pt x="6675" y="614"/>
                  </a:cubicBezTo>
                  <a:cubicBezTo>
                    <a:pt x="6206" y="16"/>
                    <a:pt x="6206" y="16"/>
                    <a:pt x="6206" y="16"/>
                  </a:cubicBezTo>
                  <a:cubicBezTo>
                    <a:pt x="6426" y="16"/>
                    <a:pt x="6426" y="16"/>
                    <a:pt x="6426" y="16"/>
                  </a:cubicBezTo>
                  <a:cubicBezTo>
                    <a:pt x="6765" y="453"/>
                    <a:pt x="6765" y="453"/>
                    <a:pt x="6765" y="453"/>
                  </a:cubicBezTo>
                  <a:lnTo>
                    <a:pt x="7109" y="16"/>
                  </a:lnTo>
                  <a:close/>
                  <a:moveTo>
                    <a:pt x="8119" y="754"/>
                  </a:moveTo>
                  <a:cubicBezTo>
                    <a:pt x="7981" y="670"/>
                    <a:pt x="7981" y="670"/>
                    <a:pt x="7981" y="670"/>
                  </a:cubicBezTo>
                  <a:cubicBezTo>
                    <a:pt x="7894" y="617"/>
                    <a:pt x="7833" y="565"/>
                    <a:pt x="7796" y="514"/>
                  </a:cubicBezTo>
                  <a:cubicBezTo>
                    <a:pt x="7759" y="463"/>
                    <a:pt x="7741" y="404"/>
                    <a:pt x="7741" y="337"/>
                  </a:cubicBezTo>
                  <a:cubicBezTo>
                    <a:pt x="7741" y="236"/>
                    <a:pt x="7776" y="157"/>
                    <a:pt x="7845" y="93"/>
                  </a:cubicBezTo>
                  <a:cubicBezTo>
                    <a:pt x="7914" y="31"/>
                    <a:pt x="8005" y="0"/>
                    <a:pt x="8115" y="0"/>
                  </a:cubicBezTo>
                  <a:cubicBezTo>
                    <a:pt x="8221" y="0"/>
                    <a:pt x="8318" y="30"/>
                    <a:pt x="8407" y="89"/>
                  </a:cubicBezTo>
                  <a:cubicBezTo>
                    <a:pt x="8407" y="295"/>
                    <a:pt x="8407" y="295"/>
                    <a:pt x="8407" y="295"/>
                  </a:cubicBezTo>
                  <a:cubicBezTo>
                    <a:pt x="8315" y="208"/>
                    <a:pt x="8217" y="164"/>
                    <a:pt x="8112" y="164"/>
                  </a:cubicBezTo>
                  <a:cubicBezTo>
                    <a:pt x="8052" y="164"/>
                    <a:pt x="8004" y="177"/>
                    <a:pt x="7965" y="204"/>
                  </a:cubicBezTo>
                  <a:cubicBezTo>
                    <a:pt x="7927" y="232"/>
                    <a:pt x="7908" y="267"/>
                    <a:pt x="7908" y="309"/>
                  </a:cubicBezTo>
                  <a:cubicBezTo>
                    <a:pt x="7908" y="348"/>
                    <a:pt x="7922" y="384"/>
                    <a:pt x="7950" y="416"/>
                  </a:cubicBezTo>
                  <a:cubicBezTo>
                    <a:pt x="7979" y="450"/>
                    <a:pt x="8023" y="485"/>
                    <a:pt x="8086" y="521"/>
                  </a:cubicBezTo>
                  <a:cubicBezTo>
                    <a:pt x="8224" y="603"/>
                    <a:pt x="8224" y="603"/>
                    <a:pt x="8224" y="603"/>
                  </a:cubicBezTo>
                  <a:cubicBezTo>
                    <a:pt x="8379" y="696"/>
                    <a:pt x="8457" y="813"/>
                    <a:pt x="8457" y="956"/>
                  </a:cubicBezTo>
                  <a:cubicBezTo>
                    <a:pt x="8457" y="1057"/>
                    <a:pt x="8423" y="1141"/>
                    <a:pt x="8355" y="1204"/>
                  </a:cubicBezTo>
                  <a:cubicBezTo>
                    <a:pt x="8287" y="1268"/>
                    <a:pt x="8198" y="1300"/>
                    <a:pt x="8089" y="1300"/>
                  </a:cubicBezTo>
                  <a:cubicBezTo>
                    <a:pt x="7964" y="1300"/>
                    <a:pt x="7849" y="1261"/>
                    <a:pt x="7746" y="1185"/>
                  </a:cubicBezTo>
                  <a:cubicBezTo>
                    <a:pt x="7746" y="953"/>
                    <a:pt x="7746" y="953"/>
                    <a:pt x="7746" y="953"/>
                  </a:cubicBezTo>
                  <a:cubicBezTo>
                    <a:pt x="7845" y="1077"/>
                    <a:pt x="7958" y="1140"/>
                    <a:pt x="8087" y="1140"/>
                  </a:cubicBezTo>
                  <a:cubicBezTo>
                    <a:pt x="8144" y="1140"/>
                    <a:pt x="8192" y="1124"/>
                    <a:pt x="8229" y="1092"/>
                  </a:cubicBezTo>
                  <a:cubicBezTo>
                    <a:pt x="8267" y="1061"/>
                    <a:pt x="8286" y="1021"/>
                    <a:pt x="8286" y="973"/>
                  </a:cubicBezTo>
                  <a:cubicBezTo>
                    <a:pt x="8286" y="896"/>
                    <a:pt x="8230" y="823"/>
                    <a:pt x="8119" y="754"/>
                  </a:cubicBezTo>
                  <a:moveTo>
                    <a:pt x="9917" y="16"/>
                  </a:moveTo>
                  <a:cubicBezTo>
                    <a:pt x="10099" y="16"/>
                    <a:pt x="10099" y="16"/>
                    <a:pt x="10099" y="16"/>
                  </a:cubicBezTo>
                  <a:cubicBezTo>
                    <a:pt x="10099" y="1119"/>
                    <a:pt x="10099" y="1119"/>
                    <a:pt x="10099" y="1119"/>
                  </a:cubicBezTo>
                  <a:cubicBezTo>
                    <a:pt x="10671" y="1119"/>
                    <a:pt x="10671" y="1119"/>
                    <a:pt x="10671" y="1119"/>
                  </a:cubicBezTo>
                  <a:cubicBezTo>
                    <a:pt x="10671" y="1285"/>
                    <a:pt x="10671" y="1285"/>
                    <a:pt x="10671" y="1285"/>
                  </a:cubicBezTo>
                  <a:cubicBezTo>
                    <a:pt x="9917" y="1285"/>
                    <a:pt x="9917" y="1285"/>
                    <a:pt x="9917" y="1285"/>
                  </a:cubicBezTo>
                  <a:lnTo>
                    <a:pt x="9917" y="16"/>
                  </a:lnTo>
                  <a:close/>
                  <a:moveTo>
                    <a:pt x="11202" y="16"/>
                  </a:moveTo>
                  <a:cubicBezTo>
                    <a:pt x="11921" y="16"/>
                    <a:pt x="11921" y="16"/>
                    <a:pt x="11921" y="16"/>
                  </a:cubicBezTo>
                  <a:cubicBezTo>
                    <a:pt x="11921" y="177"/>
                    <a:pt x="11921" y="177"/>
                    <a:pt x="11921" y="177"/>
                  </a:cubicBezTo>
                  <a:cubicBezTo>
                    <a:pt x="11383" y="177"/>
                    <a:pt x="11383" y="177"/>
                    <a:pt x="11383" y="177"/>
                  </a:cubicBezTo>
                  <a:cubicBezTo>
                    <a:pt x="11383" y="565"/>
                    <a:pt x="11383" y="565"/>
                    <a:pt x="11383" y="565"/>
                  </a:cubicBezTo>
                  <a:cubicBezTo>
                    <a:pt x="11903" y="565"/>
                    <a:pt x="11903" y="565"/>
                    <a:pt x="11903" y="565"/>
                  </a:cubicBezTo>
                  <a:cubicBezTo>
                    <a:pt x="11903" y="727"/>
                    <a:pt x="11903" y="727"/>
                    <a:pt x="11903" y="727"/>
                  </a:cubicBezTo>
                  <a:cubicBezTo>
                    <a:pt x="11383" y="727"/>
                    <a:pt x="11383" y="727"/>
                    <a:pt x="11383" y="727"/>
                  </a:cubicBezTo>
                  <a:cubicBezTo>
                    <a:pt x="11383" y="1122"/>
                    <a:pt x="11383" y="1122"/>
                    <a:pt x="11383" y="1122"/>
                  </a:cubicBezTo>
                  <a:cubicBezTo>
                    <a:pt x="11939" y="1122"/>
                    <a:pt x="11939" y="1122"/>
                    <a:pt x="11939" y="1122"/>
                  </a:cubicBezTo>
                  <a:cubicBezTo>
                    <a:pt x="11939" y="1283"/>
                    <a:pt x="11939" y="1283"/>
                    <a:pt x="11939" y="1283"/>
                  </a:cubicBezTo>
                  <a:cubicBezTo>
                    <a:pt x="11202" y="1283"/>
                    <a:pt x="11202" y="1283"/>
                    <a:pt x="11202" y="1283"/>
                  </a:cubicBezTo>
                  <a:lnTo>
                    <a:pt x="11202" y="16"/>
                  </a:lnTo>
                  <a:close/>
                  <a:moveTo>
                    <a:pt x="12946" y="9"/>
                  </a:moveTo>
                  <a:cubicBezTo>
                    <a:pt x="13075" y="9"/>
                    <a:pt x="13075" y="9"/>
                    <a:pt x="13075" y="9"/>
                  </a:cubicBezTo>
                  <a:cubicBezTo>
                    <a:pt x="13643" y="1285"/>
                    <a:pt x="13643" y="1285"/>
                    <a:pt x="13643" y="1285"/>
                  </a:cubicBezTo>
                  <a:cubicBezTo>
                    <a:pt x="13458" y="1285"/>
                    <a:pt x="13458" y="1285"/>
                    <a:pt x="13458" y="1285"/>
                  </a:cubicBezTo>
                  <a:cubicBezTo>
                    <a:pt x="13288" y="909"/>
                    <a:pt x="13288" y="909"/>
                    <a:pt x="13288" y="909"/>
                  </a:cubicBezTo>
                  <a:cubicBezTo>
                    <a:pt x="12746" y="909"/>
                    <a:pt x="12746" y="909"/>
                    <a:pt x="12746" y="909"/>
                  </a:cubicBezTo>
                  <a:cubicBezTo>
                    <a:pt x="12588" y="1285"/>
                    <a:pt x="12588" y="1285"/>
                    <a:pt x="12588" y="1285"/>
                  </a:cubicBezTo>
                  <a:cubicBezTo>
                    <a:pt x="12402" y="1285"/>
                    <a:pt x="12402" y="1285"/>
                    <a:pt x="12402" y="1285"/>
                  </a:cubicBezTo>
                  <a:lnTo>
                    <a:pt x="12946" y="9"/>
                  </a:lnTo>
                  <a:close/>
                  <a:moveTo>
                    <a:pt x="13214" y="748"/>
                  </a:moveTo>
                  <a:cubicBezTo>
                    <a:pt x="13009" y="287"/>
                    <a:pt x="13009" y="287"/>
                    <a:pt x="13009" y="287"/>
                  </a:cubicBezTo>
                  <a:cubicBezTo>
                    <a:pt x="12819" y="748"/>
                    <a:pt x="12819" y="748"/>
                    <a:pt x="12819" y="748"/>
                  </a:cubicBezTo>
                  <a:lnTo>
                    <a:pt x="13214" y="748"/>
                  </a:lnTo>
                  <a:close/>
                  <a:moveTo>
                    <a:pt x="14160" y="1285"/>
                  </a:moveTo>
                  <a:cubicBezTo>
                    <a:pt x="14160" y="16"/>
                    <a:pt x="14160" y="16"/>
                    <a:pt x="14160" y="16"/>
                  </a:cubicBezTo>
                  <a:cubicBezTo>
                    <a:pt x="14478" y="16"/>
                    <a:pt x="14478" y="16"/>
                    <a:pt x="14478" y="16"/>
                  </a:cubicBezTo>
                  <a:cubicBezTo>
                    <a:pt x="14606" y="16"/>
                    <a:pt x="14708" y="48"/>
                    <a:pt x="14784" y="112"/>
                  </a:cubicBezTo>
                  <a:cubicBezTo>
                    <a:pt x="14859" y="175"/>
                    <a:pt x="14896" y="261"/>
                    <a:pt x="14896" y="369"/>
                  </a:cubicBezTo>
                  <a:cubicBezTo>
                    <a:pt x="14896" y="444"/>
                    <a:pt x="14878" y="507"/>
                    <a:pt x="14841" y="560"/>
                  </a:cubicBezTo>
                  <a:cubicBezTo>
                    <a:pt x="14804" y="616"/>
                    <a:pt x="14751" y="655"/>
                    <a:pt x="14682" y="682"/>
                  </a:cubicBezTo>
                  <a:cubicBezTo>
                    <a:pt x="14723" y="708"/>
                    <a:pt x="14762" y="745"/>
                    <a:pt x="14801" y="791"/>
                  </a:cubicBezTo>
                  <a:cubicBezTo>
                    <a:pt x="14840" y="837"/>
                    <a:pt x="14895" y="917"/>
                    <a:pt x="14964" y="1031"/>
                  </a:cubicBezTo>
                  <a:cubicBezTo>
                    <a:pt x="15008" y="1103"/>
                    <a:pt x="15045" y="1158"/>
                    <a:pt x="15071" y="1195"/>
                  </a:cubicBezTo>
                  <a:cubicBezTo>
                    <a:pt x="15138" y="1285"/>
                    <a:pt x="15138" y="1285"/>
                    <a:pt x="15138" y="1285"/>
                  </a:cubicBezTo>
                  <a:cubicBezTo>
                    <a:pt x="14922" y="1285"/>
                    <a:pt x="14922" y="1285"/>
                    <a:pt x="14922" y="1285"/>
                  </a:cubicBezTo>
                  <a:cubicBezTo>
                    <a:pt x="14867" y="1201"/>
                    <a:pt x="14867" y="1201"/>
                    <a:pt x="14867" y="1201"/>
                  </a:cubicBezTo>
                  <a:cubicBezTo>
                    <a:pt x="14865" y="1199"/>
                    <a:pt x="14861" y="1193"/>
                    <a:pt x="14856" y="1186"/>
                  </a:cubicBezTo>
                  <a:cubicBezTo>
                    <a:pt x="14820" y="1136"/>
                    <a:pt x="14820" y="1136"/>
                    <a:pt x="14820" y="1136"/>
                  </a:cubicBezTo>
                  <a:cubicBezTo>
                    <a:pt x="14764" y="1043"/>
                    <a:pt x="14764" y="1043"/>
                    <a:pt x="14764" y="1043"/>
                  </a:cubicBezTo>
                  <a:cubicBezTo>
                    <a:pt x="14704" y="944"/>
                    <a:pt x="14704" y="944"/>
                    <a:pt x="14704" y="944"/>
                  </a:cubicBezTo>
                  <a:cubicBezTo>
                    <a:pt x="14666" y="893"/>
                    <a:pt x="14631" y="851"/>
                    <a:pt x="14600" y="820"/>
                  </a:cubicBezTo>
                  <a:cubicBezTo>
                    <a:pt x="14569" y="788"/>
                    <a:pt x="14541" y="767"/>
                    <a:pt x="14516" y="754"/>
                  </a:cubicBezTo>
                  <a:cubicBezTo>
                    <a:pt x="14490" y="740"/>
                    <a:pt x="14449" y="733"/>
                    <a:pt x="14389" y="733"/>
                  </a:cubicBezTo>
                  <a:cubicBezTo>
                    <a:pt x="14342" y="733"/>
                    <a:pt x="14342" y="733"/>
                    <a:pt x="14342" y="733"/>
                  </a:cubicBezTo>
                  <a:cubicBezTo>
                    <a:pt x="14342" y="1285"/>
                    <a:pt x="14342" y="1285"/>
                    <a:pt x="14342" y="1285"/>
                  </a:cubicBezTo>
                  <a:lnTo>
                    <a:pt x="14160" y="1285"/>
                  </a:lnTo>
                  <a:close/>
                  <a:moveTo>
                    <a:pt x="14396" y="170"/>
                  </a:moveTo>
                  <a:cubicBezTo>
                    <a:pt x="14342" y="170"/>
                    <a:pt x="14342" y="170"/>
                    <a:pt x="14342" y="170"/>
                  </a:cubicBezTo>
                  <a:cubicBezTo>
                    <a:pt x="14342" y="572"/>
                    <a:pt x="14342" y="572"/>
                    <a:pt x="14342" y="572"/>
                  </a:cubicBezTo>
                  <a:cubicBezTo>
                    <a:pt x="14411" y="572"/>
                    <a:pt x="14411" y="572"/>
                    <a:pt x="14411" y="572"/>
                  </a:cubicBezTo>
                  <a:cubicBezTo>
                    <a:pt x="14503" y="572"/>
                    <a:pt x="14566" y="564"/>
                    <a:pt x="14600" y="548"/>
                  </a:cubicBezTo>
                  <a:cubicBezTo>
                    <a:pt x="14634" y="531"/>
                    <a:pt x="14661" y="508"/>
                    <a:pt x="14680" y="476"/>
                  </a:cubicBezTo>
                  <a:cubicBezTo>
                    <a:pt x="14699" y="445"/>
                    <a:pt x="14709" y="408"/>
                    <a:pt x="14709" y="368"/>
                  </a:cubicBezTo>
                  <a:cubicBezTo>
                    <a:pt x="14709" y="327"/>
                    <a:pt x="14698" y="292"/>
                    <a:pt x="14677" y="260"/>
                  </a:cubicBezTo>
                  <a:cubicBezTo>
                    <a:pt x="14655" y="227"/>
                    <a:pt x="14626" y="204"/>
                    <a:pt x="14587" y="191"/>
                  </a:cubicBezTo>
                  <a:cubicBezTo>
                    <a:pt x="14548" y="177"/>
                    <a:pt x="14485" y="170"/>
                    <a:pt x="14396" y="170"/>
                  </a:cubicBezTo>
                  <a:moveTo>
                    <a:pt x="16658" y="16"/>
                  </a:moveTo>
                  <a:cubicBezTo>
                    <a:pt x="16830" y="16"/>
                    <a:pt x="16830" y="16"/>
                    <a:pt x="16830" y="16"/>
                  </a:cubicBezTo>
                  <a:cubicBezTo>
                    <a:pt x="16830" y="1285"/>
                    <a:pt x="16830" y="1285"/>
                    <a:pt x="16830" y="1285"/>
                  </a:cubicBezTo>
                  <a:cubicBezTo>
                    <a:pt x="16675" y="1285"/>
                    <a:pt x="16675" y="1285"/>
                    <a:pt x="16675" y="1285"/>
                  </a:cubicBezTo>
                  <a:cubicBezTo>
                    <a:pt x="15827" y="308"/>
                    <a:pt x="15827" y="308"/>
                    <a:pt x="15827" y="308"/>
                  </a:cubicBezTo>
                  <a:cubicBezTo>
                    <a:pt x="15827" y="1285"/>
                    <a:pt x="15827" y="1285"/>
                    <a:pt x="15827" y="1285"/>
                  </a:cubicBezTo>
                  <a:cubicBezTo>
                    <a:pt x="15656" y="1285"/>
                    <a:pt x="15656" y="1285"/>
                    <a:pt x="15656" y="1285"/>
                  </a:cubicBezTo>
                  <a:cubicBezTo>
                    <a:pt x="15656" y="16"/>
                    <a:pt x="15656" y="16"/>
                    <a:pt x="15656" y="16"/>
                  </a:cubicBezTo>
                  <a:cubicBezTo>
                    <a:pt x="15803" y="16"/>
                    <a:pt x="15803" y="16"/>
                    <a:pt x="15803" y="16"/>
                  </a:cubicBezTo>
                  <a:cubicBezTo>
                    <a:pt x="16658" y="1002"/>
                    <a:pt x="16658" y="1002"/>
                    <a:pt x="16658" y="1002"/>
                  </a:cubicBezTo>
                  <a:lnTo>
                    <a:pt x="16658" y="16"/>
                  </a:lnTo>
                  <a:close/>
                  <a:moveTo>
                    <a:pt x="17477" y="16"/>
                  </a:moveTo>
                  <a:cubicBezTo>
                    <a:pt x="17658" y="16"/>
                    <a:pt x="17658" y="16"/>
                    <a:pt x="17658" y="16"/>
                  </a:cubicBezTo>
                  <a:cubicBezTo>
                    <a:pt x="17658" y="1285"/>
                    <a:pt x="17658" y="1285"/>
                    <a:pt x="17658" y="1285"/>
                  </a:cubicBezTo>
                  <a:cubicBezTo>
                    <a:pt x="17477" y="1285"/>
                    <a:pt x="17477" y="1285"/>
                    <a:pt x="17477" y="1285"/>
                  </a:cubicBezTo>
                  <a:lnTo>
                    <a:pt x="17477" y="16"/>
                  </a:lnTo>
                  <a:close/>
                  <a:moveTo>
                    <a:pt x="19320" y="16"/>
                  </a:moveTo>
                  <a:cubicBezTo>
                    <a:pt x="19493" y="16"/>
                    <a:pt x="19493" y="16"/>
                    <a:pt x="19493" y="16"/>
                  </a:cubicBezTo>
                  <a:cubicBezTo>
                    <a:pt x="19493" y="1285"/>
                    <a:pt x="19493" y="1285"/>
                    <a:pt x="19493" y="1285"/>
                  </a:cubicBezTo>
                  <a:cubicBezTo>
                    <a:pt x="19337" y="1285"/>
                    <a:pt x="19337" y="1285"/>
                    <a:pt x="19337" y="1285"/>
                  </a:cubicBezTo>
                  <a:cubicBezTo>
                    <a:pt x="18488" y="308"/>
                    <a:pt x="18488" y="308"/>
                    <a:pt x="18488" y="308"/>
                  </a:cubicBezTo>
                  <a:cubicBezTo>
                    <a:pt x="18488" y="1285"/>
                    <a:pt x="18488" y="1285"/>
                    <a:pt x="18488" y="1285"/>
                  </a:cubicBezTo>
                  <a:cubicBezTo>
                    <a:pt x="18317" y="1285"/>
                    <a:pt x="18317" y="1285"/>
                    <a:pt x="18317" y="1285"/>
                  </a:cubicBezTo>
                  <a:cubicBezTo>
                    <a:pt x="18317" y="16"/>
                    <a:pt x="18317" y="16"/>
                    <a:pt x="18317" y="16"/>
                  </a:cubicBezTo>
                  <a:cubicBezTo>
                    <a:pt x="18464" y="16"/>
                    <a:pt x="18464" y="16"/>
                    <a:pt x="18464" y="16"/>
                  </a:cubicBezTo>
                  <a:cubicBezTo>
                    <a:pt x="19320" y="1002"/>
                    <a:pt x="19320" y="1002"/>
                    <a:pt x="19320" y="1002"/>
                  </a:cubicBezTo>
                  <a:lnTo>
                    <a:pt x="19320" y="16"/>
                  </a:lnTo>
                  <a:close/>
                  <a:moveTo>
                    <a:pt x="20712" y="659"/>
                  </a:moveTo>
                  <a:cubicBezTo>
                    <a:pt x="21137" y="659"/>
                    <a:pt x="21137" y="659"/>
                    <a:pt x="21137" y="659"/>
                  </a:cubicBezTo>
                  <a:cubicBezTo>
                    <a:pt x="21137" y="1198"/>
                    <a:pt x="21137" y="1198"/>
                    <a:pt x="21137" y="1198"/>
                  </a:cubicBezTo>
                  <a:cubicBezTo>
                    <a:pt x="20981" y="1266"/>
                    <a:pt x="20826" y="1300"/>
                    <a:pt x="20673" y="1300"/>
                  </a:cubicBezTo>
                  <a:cubicBezTo>
                    <a:pt x="20463" y="1300"/>
                    <a:pt x="20294" y="1239"/>
                    <a:pt x="20169" y="1115"/>
                  </a:cubicBezTo>
                  <a:cubicBezTo>
                    <a:pt x="20043" y="994"/>
                    <a:pt x="19980" y="842"/>
                    <a:pt x="19980" y="662"/>
                  </a:cubicBezTo>
                  <a:cubicBezTo>
                    <a:pt x="19980" y="473"/>
                    <a:pt x="20045" y="314"/>
                    <a:pt x="20176" y="189"/>
                  </a:cubicBezTo>
                  <a:cubicBezTo>
                    <a:pt x="20306" y="63"/>
                    <a:pt x="20469" y="0"/>
                    <a:pt x="20666" y="0"/>
                  </a:cubicBezTo>
                  <a:cubicBezTo>
                    <a:pt x="20736" y="0"/>
                    <a:pt x="20804" y="8"/>
                    <a:pt x="20869" y="22"/>
                  </a:cubicBezTo>
                  <a:cubicBezTo>
                    <a:pt x="20933" y="39"/>
                    <a:pt x="21014" y="66"/>
                    <a:pt x="21112" y="109"/>
                  </a:cubicBezTo>
                  <a:cubicBezTo>
                    <a:pt x="21112" y="293"/>
                    <a:pt x="21112" y="293"/>
                    <a:pt x="21112" y="293"/>
                  </a:cubicBezTo>
                  <a:cubicBezTo>
                    <a:pt x="20961" y="205"/>
                    <a:pt x="20811" y="161"/>
                    <a:pt x="20661" y="161"/>
                  </a:cubicBezTo>
                  <a:cubicBezTo>
                    <a:pt x="20523" y="161"/>
                    <a:pt x="20407" y="209"/>
                    <a:pt x="20311" y="303"/>
                  </a:cubicBezTo>
                  <a:cubicBezTo>
                    <a:pt x="20215" y="397"/>
                    <a:pt x="20169" y="514"/>
                    <a:pt x="20169" y="651"/>
                  </a:cubicBezTo>
                  <a:cubicBezTo>
                    <a:pt x="20169" y="795"/>
                    <a:pt x="20215" y="913"/>
                    <a:pt x="20311" y="1004"/>
                  </a:cubicBezTo>
                  <a:cubicBezTo>
                    <a:pt x="20407" y="1096"/>
                    <a:pt x="20528" y="1142"/>
                    <a:pt x="20678" y="1142"/>
                  </a:cubicBezTo>
                  <a:cubicBezTo>
                    <a:pt x="20750" y="1142"/>
                    <a:pt x="20838" y="1125"/>
                    <a:pt x="20939" y="1092"/>
                  </a:cubicBezTo>
                  <a:cubicBezTo>
                    <a:pt x="20956" y="1087"/>
                    <a:pt x="20956" y="1087"/>
                    <a:pt x="20956" y="1087"/>
                  </a:cubicBezTo>
                  <a:cubicBezTo>
                    <a:pt x="20956" y="821"/>
                    <a:pt x="20956" y="821"/>
                    <a:pt x="20956" y="821"/>
                  </a:cubicBezTo>
                  <a:cubicBezTo>
                    <a:pt x="20712" y="821"/>
                    <a:pt x="20712" y="821"/>
                    <a:pt x="20712" y="821"/>
                  </a:cubicBezTo>
                  <a:lnTo>
                    <a:pt x="20712" y="65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solidFill>
                  <a:schemeClr val="tx1">
                    <a:alpha val="0"/>
                  </a:schemeClr>
                </a:solidFill>
              </a:endParaRPr>
            </a:p>
          </p:txBody>
        </p:sp>
      </p:grpSp>
      <p:sp>
        <p:nvSpPr>
          <p:cNvPr id="18" name="Text Placeholder 17"/>
          <p:cNvSpPr>
            <a:spLocks noGrp="1"/>
          </p:cNvSpPr>
          <p:nvPr>
            <p:ph type="body" sz="quarter" idx="16" hasCustomPrompt="1"/>
          </p:nvPr>
        </p:nvSpPr>
        <p:spPr>
          <a:xfrm>
            <a:off x="1752600" y="6529254"/>
            <a:ext cx="5867400" cy="187537"/>
          </a:xfrm>
        </p:spPr>
        <p:txBody>
          <a:bodyPr/>
          <a:lstStyle>
            <a:lvl1pPr marL="0" indent="0">
              <a:buNone/>
              <a:defRPr sz="1200" baseline="0"/>
            </a:lvl1pPr>
          </a:lstStyle>
          <a:p>
            <a:pPr lvl="0"/>
            <a:r>
              <a:rPr lang="en-US" dirty="0"/>
              <a:t>Click to add copyright line</a:t>
            </a:r>
            <a:endParaRPr lang="en-IN" dirty="0"/>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755" y="6211761"/>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397340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4"/>
          </p:nvPr>
        </p:nvSpPr>
        <p:spPr>
          <a:xfrm>
            <a:off x="468313" y="5013175"/>
            <a:ext cx="8280400" cy="1295549"/>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endParaRPr lang="en-IN" dirty="0"/>
          </a:p>
        </p:txBody>
      </p:sp>
    </p:spTree>
    <p:extLst>
      <p:ext uri="{BB962C8B-B14F-4D97-AF65-F5344CB8AC3E}">
        <p14:creationId xmlns:p14="http://schemas.microsoft.com/office/powerpoint/2010/main" val="3526922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0" indent="0">
              <a:buClr>
                <a:srgbClr val="007FA3"/>
              </a:buClr>
              <a:buSzPct val="100000"/>
              <a:buNone/>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endParaRPr lang="en-US" dirty="0"/>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
        <p:nvSpPr>
          <p:cNvPr id="9" name="Content Placeholder 8"/>
          <p:cNvSpPr>
            <a:spLocks noGrp="1"/>
          </p:cNvSpPr>
          <p:nvPr>
            <p:ph sz="quarter" idx="14"/>
          </p:nvPr>
        </p:nvSpPr>
        <p:spPr>
          <a:xfrm>
            <a:off x="468313" y="5013175"/>
            <a:ext cx="8280400" cy="1295549"/>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Tree>
    <p:extLst>
      <p:ext uri="{BB962C8B-B14F-4D97-AF65-F5344CB8AC3E}">
        <p14:creationId xmlns:p14="http://schemas.microsoft.com/office/powerpoint/2010/main" val="15386228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8/8/2023</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38721164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5_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a:extLst>
              <a:ext uri="{FF2B5EF4-FFF2-40B4-BE49-F238E27FC236}">
                <a16:creationId xmlns:a16="http://schemas.microsoft.com/office/drawing/2014/main" id="{14D1C52B-A1AE-4E39-8413-0438C9A2C781}"/>
              </a:ext>
            </a:extLst>
          </p:cNvPr>
          <p:cNvSpPr>
            <a:spLocks noGrp="1"/>
          </p:cNvSpPr>
          <p:nvPr>
            <p:ph sz="quarter" idx="13"/>
          </p:nvPr>
        </p:nvSpPr>
        <p:spPr>
          <a:xfrm>
            <a:off x="684213" y="1773238"/>
            <a:ext cx="1655762"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403E7B12-6FF8-46EF-A606-573F7C609430}"/>
              </a:ext>
            </a:extLst>
          </p:cNvPr>
          <p:cNvSpPr>
            <a:spLocks noGrp="1"/>
          </p:cNvSpPr>
          <p:nvPr>
            <p:ph sz="quarter" idx="14"/>
          </p:nvPr>
        </p:nvSpPr>
        <p:spPr>
          <a:xfrm>
            <a:off x="2627313" y="1916113"/>
            <a:ext cx="1728787"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6685D1B3-9E53-487C-8DA8-3E7D258214CA}"/>
              </a:ext>
            </a:extLst>
          </p:cNvPr>
          <p:cNvSpPr>
            <a:spLocks noGrp="1"/>
          </p:cNvSpPr>
          <p:nvPr>
            <p:ph sz="quarter" idx="15"/>
          </p:nvPr>
        </p:nvSpPr>
        <p:spPr>
          <a:xfrm>
            <a:off x="4572000" y="1989138"/>
            <a:ext cx="936625" cy="234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0CDDCC6C-0040-4A49-B0D0-1968CA9C23DA}"/>
              </a:ext>
            </a:extLst>
          </p:cNvPr>
          <p:cNvSpPr>
            <a:spLocks noGrp="1"/>
          </p:cNvSpPr>
          <p:nvPr>
            <p:ph sz="quarter" idx="16"/>
          </p:nvPr>
        </p:nvSpPr>
        <p:spPr>
          <a:xfrm>
            <a:off x="5724525" y="1989138"/>
            <a:ext cx="1223963"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A3F8CC94-4C8C-4D98-8781-76AC29DD7498}"/>
              </a:ext>
            </a:extLst>
          </p:cNvPr>
          <p:cNvSpPr>
            <a:spLocks noGrp="1"/>
          </p:cNvSpPr>
          <p:nvPr>
            <p:ph sz="quarter" idx="17"/>
          </p:nvPr>
        </p:nvSpPr>
        <p:spPr>
          <a:xfrm>
            <a:off x="827088" y="2708275"/>
            <a:ext cx="1081087" cy="360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EA121518-8B6E-440C-A695-4E8C7E98E8FD}"/>
              </a:ext>
            </a:extLst>
          </p:cNvPr>
          <p:cNvSpPr>
            <a:spLocks noGrp="1"/>
          </p:cNvSpPr>
          <p:nvPr>
            <p:ph type="pic" sz="quarter" idx="18"/>
          </p:nvPr>
        </p:nvSpPr>
        <p:spPr>
          <a:xfrm>
            <a:off x="827088" y="3429000"/>
            <a:ext cx="1008062" cy="360363"/>
          </a:xfrm>
        </p:spPr>
        <p:txBody>
          <a:bodyPr/>
          <a:lstStyle/>
          <a:p>
            <a:endParaRPr lang="en-US"/>
          </a:p>
        </p:txBody>
      </p:sp>
      <p:sp>
        <p:nvSpPr>
          <p:cNvPr id="20" name="Picture Placeholder 19">
            <a:extLst>
              <a:ext uri="{FF2B5EF4-FFF2-40B4-BE49-F238E27FC236}">
                <a16:creationId xmlns:a16="http://schemas.microsoft.com/office/drawing/2014/main" id="{72D7B386-189F-477D-B27C-1F05C4C34BDC}"/>
              </a:ext>
            </a:extLst>
          </p:cNvPr>
          <p:cNvSpPr>
            <a:spLocks noGrp="1"/>
          </p:cNvSpPr>
          <p:nvPr>
            <p:ph type="pic" sz="quarter" idx="19"/>
          </p:nvPr>
        </p:nvSpPr>
        <p:spPr>
          <a:xfrm>
            <a:off x="2124075" y="3429000"/>
            <a:ext cx="1008063" cy="360363"/>
          </a:xfrm>
        </p:spPr>
        <p:txBody>
          <a:bodyPr/>
          <a:lstStyle/>
          <a:p>
            <a:endParaRPr lang="en-US"/>
          </a:p>
        </p:txBody>
      </p:sp>
      <p:sp>
        <p:nvSpPr>
          <p:cNvPr id="22" name="Picture Placeholder 21">
            <a:extLst>
              <a:ext uri="{FF2B5EF4-FFF2-40B4-BE49-F238E27FC236}">
                <a16:creationId xmlns:a16="http://schemas.microsoft.com/office/drawing/2014/main" id="{4EA174D5-A535-44B9-8526-71E14D6D77A3}"/>
              </a:ext>
            </a:extLst>
          </p:cNvPr>
          <p:cNvSpPr>
            <a:spLocks noGrp="1"/>
          </p:cNvSpPr>
          <p:nvPr>
            <p:ph type="pic" sz="quarter" idx="20"/>
          </p:nvPr>
        </p:nvSpPr>
        <p:spPr>
          <a:xfrm>
            <a:off x="3348038" y="3429000"/>
            <a:ext cx="1223962" cy="360363"/>
          </a:xfrm>
        </p:spPr>
        <p:txBody>
          <a:bodyPr/>
          <a:lstStyle/>
          <a:p>
            <a:endParaRPr lang="en-US"/>
          </a:p>
        </p:txBody>
      </p:sp>
      <p:sp>
        <p:nvSpPr>
          <p:cNvPr id="24" name="Picture Placeholder 23">
            <a:extLst>
              <a:ext uri="{FF2B5EF4-FFF2-40B4-BE49-F238E27FC236}">
                <a16:creationId xmlns:a16="http://schemas.microsoft.com/office/drawing/2014/main" id="{47159C74-6BB9-4C20-AB3C-986559E286DD}"/>
              </a:ext>
            </a:extLst>
          </p:cNvPr>
          <p:cNvSpPr>
            <a:spLocks noGrp="1"/>
          </p:cNvSpPr>
          <p:nvPr>
            <p:ph type="pic" sz="quarter" idx="21"/>
          </p:nvPr>
        </p:nvSpPr>
        <p:spPr>
          <a:xfrm>
            <a:off x="4859338" y="3429000"/>
            <a:ext cx="649287" cy="360363"/>
          </a:xfrm>
        </p:spPr>
        <p:txBody>
          <a:bodyPr/>
          <a:lstStyle/>
          <a:p>
            <a:endParaRPr lang="en-US"/>
          </a:p>
        </p:txBody>
      </p:sp>
      <p:sp>
        <p:nvSpPr>
          <p:cNvPr id="26" name="Picture Placeholder 25">
            <a:extLst>
              <a:ext uri="{FF2B5EF4-FFF2-40B4-BE49-F238E27FC236}">
                <a16:creationId xmlns:a16="http://schemas.microsoft.com/office/drawing/2014/main" id="{DC5AC073-D2B1-42B1-AD51-8DD7FE8E0A48}"/>
              </a:ext>
            </a:extLst>
          </p:cNvPr>
          <p:cNvSpPr>
            <a:spLocks noGrp="1"/>
          </p:cNvSpPr>
          <p:nvPr>
            <p:ph type="pic" sz="quarter" idx="22"/>
          </p:nvPr>
        </p:nvSpPr>
        <p:spPr>
          <a:xfrm>
            <a:off x="5724525" y="3500438"/>
            <a:ext cx="1295400" cy="360362"/>
          </a:xfrm>
        </p:spPr>
        <p:txBody>
          <a:bodyPr/>
          <a:lstStyle/>
          <a:p>
            <a:endParaRPr lang="en-US"/>
          </a:p>
        </p:txBody>
      </p:sp>
      <p:sp>
        <p:nvSpPr>
          <p:cNvPr id="28" name="Picture Placeholder 27">
            <a:extLst>
              <a:ext uri="{FF2B5EF4-FFF2-40B4-BE49-F238E27FC236}">
                <a16:creationId xmlns:a16="http://schemas.microsoft.com/office/drawing/2014/main" id="{F07C0AE7-2D75-4F3E-ABB4-1D0143A71A98}"/>
              </a:ext>
            </a:extLst>
          </p:cNvPr>
          <p:cNvSpPr>
            <a:spLocks noGrp="1"/>
          </p:cNvSpPr>
          <p:nvPr>
            <p:ph type="pic" sz="quarter" idx="23"/>
          </p:nvPr>
        </p:nvSpPr>
        <p:spPr>
          <a:xfrm>
            <a:off x="827088" y="4076700"/>
            <a:ext cx="792162" cy="236538"/>
          </a:xfrm>
        </p:spPr>
        <p:txBody>
          <a:bodyPr/>
          <a:lstStyle/>
          <a:p>
            <a:endParaRPr lang="en-US"/>
          </a:p>
        </p:txBody>
      </p:sp>
      <p:sp>
        <p:nvSpPr>
          <p:cNvPr id="30" name="Picture Placeholder 29">
            <a:extLst>
              <a:ext uri="{FF2B5EF4-FFF2-40B4-BE49-F238E27FC236}">
                <a16:creationId xmlns:a16="http://schemas.microsoft.com/office/drawing/2014/main" id="{871B93B0-EF51-45C4-BB96-894CF81389AB}"/>
              </a:ext>
            </a:extLst>
          </p:cNvPr>
          <p:cNvSpPr>
            <a:spLocks noGrp="1"/>
          </p:cNvSpPr>
          <p:nvPr>
            <p:ph type="pic" sz="quarter" idx="24"/>
          </p:nvPr>
        </p:nvSpPr>
        <p:spPr>
          <a:xfrm>
            <a:off x="1908175" y="4149725"/>
            <a:ext cx="1008063" cy="360363"/>
          </a:xfrm>
        </p:spPr>
        <p:txBody>
          <a:bodyPr/>
          <a:lstStyle/>
          <a:p>
            <a:endParaRPr lang="en-US"/>
          </a:p>
        </p:txBody>
      </p:sp>
      <p:sp>
        <p:nvSpPr>
          <p:cNvPr id="32" name="Picture Placeholder 31">
            <a:extLst>
              <a:ext uri="{FF2B5EF4-FFF2-40B4-BE49-F238E27FC236}">
                <a16:creationId xmlns:a16="http://schemas.microsoft.com/office/drawing/2014/main" id="{2BF80DD9-CEE2-4B46-9EF4-45674EFD5355}"/>
              </a:ext>
            </a:extLst>
          </p:cNvPr>
          <p:cNvSpPr>
            <a:spLocks noGrp="1"/>
          </p:cNvSpPr>
          <p:nvPr>
            <p:ph type="pic" sz="quarter" idx="25"/>
          </p:nvPr>
        </p:nvSpPr>
        <p:spPr>
          <a:xfrm>
            <a:off x="3132138" y="4149725"/>
            <a:ext cx="792162" cy="360363"/>
          </a:xfrm>
        </p:spPr>
        <p:txBody>
          <a:bodyPr/>
          <a:lstStyle/>
          <a:p>
            <a:endParaRPr lang="en-US"/>
          </a:p>
        </p:txBody>
      </p:sp>
      <p:sp>
        <p:nvSpPr>
          <p:cNvPr id="34" name="Picture Placeholder 33">
            <a:extLst>
              <a:ext uri="{FF2B5EF4-FFF2-40B4-BE49-F238E27FC236}">
                <a16:creationId xmlns:a16="http://schemas.microsoft.com/office/drawing/2014/main" id="{717DBA72-4D69-4091-A464-5E2222D3D7B4}"/>
              </a:ext>
            </a:extLst>
          </p:cNvPr>
          <p:cNvSpPr>
            <a:spLocks noGrp="1"/>
          </p:cNvSpPr>
          <p:nvPr>
            <p:ph type="pic" sz="quarter" idx="26"/>
          </p:nvPr>
        </p:nvSpPr>
        <p:spPr>
          <a:xfrm>
            <a:off x="4140200" y="4313238"/>
            <a:ext cx="1223963" cy="293687"/>
          </a:xfrm>
        </p:spPr>
        <p:txBody>
          <a:bodyPr/>
          <a:lstStyle/>
          <a:p>
            <a:endParaRPr lang="en-US"/>
          </a:p>
        </p:txBody>
      </p:sp>
    </p:spTree>
    <p:extLst>
      <p:ext uri="{BB962C8B-B14F-4D97-AF65-F5344CB8AC3E}">
        <p14:creationId xmlns:p14="http://schemas.microsoft.com/office/powerpoint/2010/main" val="31300424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a:xfrm>
            <a:off x="457200" y="215372"/>
            <a:ext cx="4484688" cy="994304"/>
          </a:xfrm>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8">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p>
        </p:txBody>
      </p:sp>
      <p:sp>
        <p:nvSpPr>
          <p:cNvPr id="14" name="Content Placeholder 13"/>
          <p:cNvSpPr>
            <a:spLocks noGrp="1"/>
          </p:cNvSpPr>
          <p:nvPr>
            <p:ph sz="quarter" idx="16"/>
          </p:nvPr>
        </p:nvSpPr>
        <p:spPr>
          <a:xfrm>
            <a:off x="5192713" y="295275"/>
            <a:ext cx="3684587" cy="830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ntent Placeholder 7"/>
          <p:cNvSpPr>
            <a:spLocks noGrp="1"/>
          </p:cNvSpPr>
          <p:nvPr>
            <p:ph sz="quarter" idx="17"/>
          </p:nvPr>
        </p:nvSpPr>
        <p:spPr>
          <a:xfrm>
            <a:off x="5192713" y="5324475"/>
            <a:ext cx="3592512" cy="565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683121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7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lvl1pPr>
              <a:defRPr>
                <a:latin typeface="+mj-lt"/>
              </a:defRPr>
            </a:lvl1pPr>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latin typeface="+mj-lt"/>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p:nvPr>
        </p:nvSpPr>
        <p:spPr>
          <a:xfrm>
            <a:off x="5029200" y="1600201"/>
            <a:ext cx="3260725" cy="715961"/>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endParaRPr lang="en-US" dirty="0"/>
          </a:p>
        </p:txBody>
      </p:sp>
      <p:sp>
        <p:nvSpPr>
          <p:cNvPr id="10" name="Text Placeholder 8"/>
          <p:cNvSpPr>
            <a:spLocks noGrp="1"/>
          </p:cNvSpPr>
          <p:nvPr>
            <p:ph type="body" sz="quarter" idx="15"/>
          </p:nvPr>
        </p:nvSpPr>
        <p:spPr>
          <a:xfrm>
            <a:off x="4926651" y="2552700"/>
            <a:ext cx="3456774" cy="593724"/>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endParaRPr lang="en-US" dirty="0"/>
          </a:p>
        </p:txBody>
      </p:sp>
      <p:sp>
        <p:nvSpPr>
          <p:cNvPr id="8" name="Text Placeholder 22"/>
          <p:cNvSpPr>
            <a:spLocks noGrp="1"/>
          </p:cNvSpPr>
          <p:nvPr>
            <p:ph type="body" sz="quarter" idx="16" hasCustomPrompt="1"/>
          </p:nvPr>
        </p:nvSpPr>
        <p:spPr>
          <a:xfrm>
            <a:off x="2834640" y="6400800"/>
            <a:ext cx="6080760" cy="27432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
        <p:nvSpPr>
          <p:cNvPr id="3" name="Picture Placeholder 2">
            <a:extLst>
              <a:ext uri="{FF2B5EF4-FFF2-40B4-BE49-F238E27FC236}">
                <a16:creationId xmlns:a16="http://schemas.microsoft.com/office/drawing/2014/main" id="{23FD2E48-136F-40C9-9ADA-7A7217D010A2}"/>
              </a:ext>
            </a:extLst>
          </p:cNvPr>
          <p:cNvSpPr>
            <a:spLocks noGrp="1"/>
          </p:cNvSpPr>
          <p:nvPr>
            <p:ph type="pic" sz="quarter" idx="17"/>
          </p:nvPr>
        </p:nvSpPr>
        <p:spPr>
          <a:xfrm>
            <a:off x="457200" y="6400800"/>
            <a:ext cx="1162050" cy="274638"/>
          </a:xfrm>
        </p:spPr>
        <p:txBody>
          <a:bodyPr/>
          <a:lstStyle/>
          <a:p>
            <a:endParaRPr lang="en-US"/>
          </a:p>
        </p:txBody>
      </p:sp>
      <p:sp>
        <p:nvSpPr>
          <p:cNvPr id="5" name="Picture Placeholder 4">
            <a:extLst>
              <a:ext uri="{FF2B5EF4-FFF2-40B4-BE49-F238E27FC236}">
                <a16:creationId xmlns:a16="http://schemas.microsoft.com/office/drawing/2014/main" id="{8AB0C605-5BFC-421D-BD7D-97B95EA6190A}"/>
              </a:ext>
            </a:extLst>
          </p:cNvPr>
          <p:cNvSpPr>
            <a:spLocks noGrp="1"/>
          </p:cNvSpPr>
          <p:nvPr>
            <p:ph type="pic" sz="quarter" idx="18"/>
          </p:nvPr>
        </p:nvSpPr>
        <p:spPr>
          <a:xfrm>
            <a:off x="584200" y="1685925"/>
            <a:ext cx="3260725" cy="4440238"/>
          </a:xfrm>
        </p:spPr>
        <p:txBody>
          <a:bodyPr/>
          <a:lstStyle/>
          <a:p>
            <a:endParaRPr lang="en-US"/>
          </a:p>
        </p:txBody>
      </p:sp>
    </p:spTree>
    <p:extLst>
      <p:ext uri="{BB962C8B-B14F-4D97-AF65-F5344CB8AC3E}">
        <p14:creationId xmlns:p14="http://schemas.microsoft.com/office/powerpoint/2010/main" val="694612658"/>
      </p:ext>
    </p:extLst>
  </p:cSld>
  <p:clrMapOvr>
    <a:masterClrMapping/>
  </p:clrMapOvr>
  <p:hf sldNum="0"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536641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9" name="Text Placeholder 1">
            <a:extLst>
              <a:ext uri="{FF2B5EF4-FFF2-40B4-BE49-F238E27FC236}">
                <a16:creationId xmlns:a16="http://schemas.microsoft.com/office/drawing/2014/main" id="{B90BF7CC-C13E-4975-9A72-17609AD86A49}"/>
              </a:ext>
            </a:extLst>
          </p:cNvPr>
          <p:cNvSpPr txBox="1">
            <a:spLocks/>
          </p:cNvSpPr>
          <p:nvPr userDrawn="1"/>
        </p:nvSpPr>
        <p:spPr>
          <a:xfrm>
            <a:off x="2660400" y="6519600"/>
            <a:ext cx="6094800" cy="221018"/>
          </a:xfrm>
          <a:prstGeom prst="rect">
            <a:avLst/>
          </a:prstGeom>
        </p:spPr>
        <p:txBody>
          <a:bodyPr wrap="square" lIns="0" tIns="18000" rIns="0" bIns="18000">
            <a:sp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101600" indent="0" algn="r">
              <a:buFont typeface="Arial" panose="020B0604020202020204" pitchFamily="34" charset="0"/>
              <a:buNone/>
            </a:pPr>
            <a:r>
              <a:rPr lang="en-US" altLang="en-US" sz="1200" dirty="0">
                <a:latin typeface="Verdana"/>
                <a:ea typeface="Verdana" panose="020B0604030504040204" pitchFamily="34" charset="0"/>
                <a:cs typeface="Verdana" panose="020B0604030504040204" pitchFamily="34" charset="0"/>
              </a:rPr>
              <a:t>Copyright © 2020, </a:t>
            </a:r>
            <a:r>
              <a:rPr lang="en-US" altLang="en-US" sz="1200" dirty="0">
                <a:solidFill>
                  <a:schemeClr val="tx1"/>
                </a:solidFill>
                <a:latin typeface="Verdana"/>
                <a:ea typeface="Verdana" panose="020B0604030504040204" pitchFamily="34" charset="0"/>
                <a:cs typeface="Verdana" panose="020B0604030504040204" pitchFamily="34" charset="0"/>
              </a:rPr>
              <a:t>2017, 2015 </a:t>
            </a:r>
            <a:r>
              <a:rPr lang="en-US" altLang="en-US" sz="1200" dirty="0">
                <a:latin typeface="Verdana"/>
                <a:ea typeface="Verdana" panose="020B0604030504040204" pitchFamily="34" charset="0"/>
                <a:cs typeface="Verdana" panose="020B0604030504040204" pitchFamily="34" charset="0"/>
              </a:rPr>
              <a:t>Pearson Education, Inc. All Rights Reserved</a:t>
            </a:r>
          </a:p>
        </p:txBody>
      </p:sp>
      <p:pic>
        <p:nvPicPr>
          <p:cNvPr id="8" name="Picture Placeholder 29" descr="Pearson Logo">
            <a:extLst>
              <a:ext uri="{FF2B5EF4-FFF2-40B4-BE49-F238E27FC236}">
                <a16:creationId xmlns:a16="http://schemas.microsoft.com/office/drawing/2014/main" id="{09E7B90A-BD11-4393-B12B-DB848EE3285F}"/>
              </a:ext>
            </a:extLst>
          </p:cNvPr>
          <p:cNvPicPr>
            <a:picLocks noChangeAspect="1"/>
          </p:cNvPicPr>
          <p:nvPr userDrawn="1"/>
        </p:nvPicPr>
        <p:blipFill>
          <a:blip r:embed="rId26">
            <a:extLst>
              <a:ext uri="{28A0092B-C50C-407E-A947-70E740481C1C}">
                <a14:useLocalDpi xmlns:a14="http://schemas.microsoft.com/office/drawing/2010/main" val="0"/>
              </a:ext>
            </a:extLst>
          </a:blip>
          <a:stretch>
            <a:fillRect/>
          </a:stretch>
        </p:blipFill>
        <p:spPr>
          <a:xfrm>
            <a:off x="323528" y="6477000"/>
            <a:ext cx="1152144" cy="292608"/>
          </a:xfrm>
          <a:prstGeom prst="rect">
            <a:avLst/>
          </a:prstGeom>
        </p:spPr>
      </p:pic>
    </p:spTree>
    <p:extLst>
      <p:ext uri="{BB962C8B-B14F-4D97-AF65-F5344CB8AC3E}">
        <p14:creationId xmlns:p14="http://schemas.microsoft.com/office/powerpoint/2010/main" val="28485671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75" r:id="rId5"/>
    <p:sldLayoutId id="2147483666" r:id="rId6"/>
    <p:sldLayoutId id="2147483667" r:id="rId7"/>
    <p:sldLayoutId id="2147483668" r:id="rId8"/>
    <p:sldLayoutId id="2147483669" r:id="rId9"/>
    <p:sldLayoutId id="2147483670" r:id="rId10"/>
    <p:sldLayoutId id="2147483671" r:id="rId11"/>
    <p:sldLayoutId id="2147483657" r:id="rId12"/>
    <p:sldLayoutId id="2147483656" r:id="rId13"/>
    <p:sldLayoutId id="2147483650" r:id="rId14"/>
    <p:sldLayoutId id="2147483659" r:id="rId15"/>
    <p:sldLayoutId id="2147483672" r:id="rId16"/>
    <p:sldLayoutId id="2147483673" r:id="rId17"/>
    <p:sldLayoutId id="2147483674" r:id="rId18"/>
    <p:sldLayoutId id="2147483658" r:id="rId19"/>
    <p:sldLayoutId id="2147483660" r:id="rId20"/>
    <p:sldLayoutId id="2147483654" r:id="rId21"/>
    <p:sldLayoutId id="2147483655" r:id="rId22"/>
    <p:sldLayoutId id="2147483683" r:id="rId23"/>
    <p:sldLayoutId id="2147483684" r:id="rId24"/>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059724178"/>
      </p:ext>
    </p:extLst>
  </p:cSld>
  <p:clrMap bg1="lt1" tx1="dk1" bg2="dk2" tx2="lt2" accent1="accent1" accent2="accent2" accent3="accent3" accent4="accent4" accent5="accent5" accent6="accent6" hlink="hlink" folHlink="folHlink"/>
  <p:sldLayoutIdLst>
    <p:sldLayoutId id="2147483679" r:id="rId1"/>
    <p:sldLayoutId id="2147483682" r:id="rId2"/>
    <p:sldLayoutId id="214748368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24.xml"/><Relationship Id="rId4" Type="http://schemas.openxmlformats.org/officeDocument/2006/relationships/image" Target="../media/image10.jpg"/></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6.xml"/><Relationship Id="rId1" Type="http://schemas.openxmlformats.org/officeDocument/2006/relationships/slideLayout" Target="../slideLayouts/slideLayout24.xml"/><Relationship Id="rId4" Type="http://schemas.openxmlformats.org/officeDocument/2006/relationships/image" Target="../media/image12.jpg"/></Relationships>
</file>

<file path=ppt/slides/_rels/slide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24.xml"/><Relationship Id="rId4" Type="http://schemas.openxmlformats.org/officeDocument/2006/relationships/image" Target="../media/image14.jpg"/></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8.xml"/><Relationship Id="rId1" Type="http://schemas.openxmlformats.org/officeDocument/2006/relationships/slideLayout" Target="../slideLayouts/slideLayout24.xml"/><Relationship Id="rId5" Type="http://schemas.openxmlformats.org/officeDocument/2006/relationships/image" Target="../media/image17.jpg"/><Relationship Id="rId4" Type="http://schemas.openxmlformats.org/officeDocument/2006/relationships/image" Target="../media/image16.jpg"/></Relationships>
</file>

<file path=ppt/slides/_rels/slide2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24.xml"/><Relationship Id="rId4"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9.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74250" cy="590349"/>
          </a:xfrm>
        </p:spPr>
        <p:txBody>
          <a:bodyPr wrap="square" lIns="0" tIns="18000" rIns="0" bIns="18000">
            <a:spAutoFit/>
          </a:bodyPr>
          <a:lstStyle/>
          <a:p>
            <a:r>
              <a:rPr lang="en-US" sz="3600" dirty="0">
                <a:latin typeface="+mj-lt"/>
              </a:rPr>
              <a:t>Fundamentals of Management</a:t>
            </a:r>
            <a:endParaRPr lang="en-US" sz="2800" dirty="0"/>
          </a:p>
        </p:txBody>
      </p:sp>
      <p:sp>
        <p:nvSpPr>
          <p:cNvPr id="3" name="Text Placeholder 2"/>
          <p:cNvSpPr>
            <a:spLocks noGrp="1"/>
          </p:cNvSpPr>
          <p:nvPr>
            <p:ph type="body" sz="quarter" idx="13"/>
          </p:nvPr>
        </p:nvSpPr>
        <p:spPr>
          <a:xfrm>
            <a:off x="468000" y="1008979"/>
            <a:ext cx="8274250" cy="344128"/>
          </a:xfrm>
        </p:spPr>
        <p:txBody>
          <a:bodyPr wrap="square" lIns="0" tIns="18000" rIns="0" bIns="18000" anchor="ctr">
            <a:spAutoFit/>
          </a:bodyPr>
          <a:lstStyle/>
          <a:p>
            <a:r>
              <a:rPr lang="en-US">
                <a:latin typeface="Arial" panose="020B0604020202020204" pitchFamily="34" charset="0"/>
                <a:cs typeface="Arial" panose="020B0604020202020204" pitchFamily="34" charset="0"/>
              </a:rPr>
              <a:t>Eleventh Edition</a:t>
            </a:r>
          </a:p>
        </p:txBody>
      </p:sp>
      <p:pic>
        <p:nvPicPr>
          <p:cNvPr id="9" name="Picture Placeholder 8" descr="Front Cover: Fundamentals of Management Eleventh Edition by Robbins, Coulter and DeCenzo.">
            <a:extLst>
              <a:ext uri="{FF2B5EF4-FFF2-40B4-BE49-F238E27FC236}">
                <a16:creationId xmlns:a16="http://schemas.microsoft.com/office/drawing/2014/main" id="{AC243915-3F84-4C0C-BAAC-E22CD4EC1B80}"/>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3083" r="3083"/>
          <a:stretch>
            <a:fillRect/>
          </a:stretch>
        </p:blipFill>
        <p:spPr>
          <a:xfrm>
            <a:off x="467544" y="1685925"/>
            <a:ext cx="3260725" cy="4440238"/>
          </a:xfrm>
        </p:spPr>
      </p:pic>
      <p:sp>
        <p:nvSpPr>
          <p:cNvPr id="4" name="Text Placeholder 3"/>
          <p:cNvSpPr>
            <a:spLocks noGrp="1"/>
          </p:cNvSpPr>
          <p:nvPr>
            <p:ph type="body" sz="quarter" idx="14"/>
          </p:nvPr>
        </p:nvSpPr>
        <p:spPr>
          <a:xfrm>
            <a:off x="4576812" y="2888099"/>
            <a:ext cx="4171901" cy="498016"/>
          </a:xfrm>
        </p:spPr>
        <p:txBody>
          <a:bodyPr wrap="square" lIns="0" tIns="18000" rIns="0" bIns="18000">
            <a:spAutoFit/>
          </a:bodyPr>
          <a:lstStyle/>
          <a:p>
            <a:r>
              <a:rPr lang="en-US" dirty="0">
                <a:latin typeface="Arial" panose="020B0604020202020204" pitchFamily="34" charset="0"/>
                <a:cs typeface="Arial" panose="020B0604020202020204" pitchFamily="34" charset="0"/>
              </a:rPr>
              <a:t>Chapter 8</a:t>
            </a:r>
          </a:p>
        </p:txBody>
      </p:sp>
      <p:sp>
        <p:nvSpPr>
          <p:cNvPr id="5" name="Text Placeholder 4"/>
          <p:cNvSpPr>
            <a:spLocks noGrp="1"/>
          </p:cNvSpPr>
          <p:nvPr>
            <p:ph type="body" sz="quarter" idx="15"/>
          </p:nvPr>
        </p:nvSpPr>
        <p:spPr>
          <a:xfrm>
            <a:off x="4580142" y="3651644"/>
            <a:ext cx="4168571" cy="713460"/>
          </a:xfrm>
        </p:spPr>
        <p:txBody>
          <a:bodyPr wrap="square" lIns="0" tIns="18000" rIns="0" bIns="18000">
            <a:spAutoFit/>
          </a:bodyPr>
          <a:lstStyle/>
          <a:p>
            <a:r>
              <a:rPr lang="en-US" altLang="en-US" dirty="0">
                <a:latin typeface="Arial" panose="020B0604020202020204" pitchFamily="34" charset="0"/>
                <a:ea typeface="Malgun Gothic" pitchFamily="34" charset="-127"/>
                <a:cs typeface="Arial" panose="020B0604020202020204" pitchFamily="34" charset="0"/>
              </a:rPr>
              <a:t>Organizational Structure and Design</a:t>
            </a:r>
            <a:endParaRPr lang="en-US" dirty="0">
              <a:latin typeface="Arial" panose="020B0604020202020204" pitchFamily="34" charset="0"/>
              <a:cs typeface="Arial" panose="020B0604020202020204" pitchFamily="34" charset="0"/>
            </a:endParaRPr>
          </a:p>
        </p:txBody>
      </p:sp>
      <p:pic>
        <p:nvPicPr>
          <p:cNvPr id="30" name="Picture Placeholder 29" descr="Pearson Logo">
            <a:extLst>
              <a:ext uri="{FF2B5EF4-FFF2-40B4-BE49-F238E27FC236}">
                <a16:creationId xmlns:a16="http://schemas.microsoft.com/office/drawing/2014/main" id="{55E920AB-A07A-4031-92B0-F06A28CEC914}"/>
              </a:ext>
            </a:extLst>
          </p:cNvPr>
          <p:cNvPicPr>
            <a:picLocks noGrp="1" noChangeAspect="1"/>
          </p:cNvPicPr>
          <p:nvPr>
            <p:ph type="pic" sz="quarter" idx="17"/>
          </p:nvPr>
        </p:nvPicPr>
        <p:blipFill>
          <a:blip r:embed="rId4">
            <a:extLst>
              <a:ext uri="{28A0092B-C50C-407E-A947-70E740481C1C}">
                <a14:useLocalDpi xmlns:a14="http://schemas.microsoft.com/office/drawing/2010/main" val="0"/>
              </a:ext>
            </a:extLst>
          </a:blip>
          <a:stretch>
            <a:fillRect/>
          </a:stretch>
        </p:blipFill>
        <p:spPr>
          <a:xfrm>
            <a:off x="323528" y="6477000"/>
            <a:ext cx="1152144" cy="292608"/>
          </a:xfrm>
          <a:prstGeom prst="rect">
            <a:avLst/>
          </a:prstGeom>
        </p:spPr>
      </p:pic>
      <p:sp>
        <p:nvSpPr>
          <p:cNvPr id="11" name="Text Placeholder 6"/>
          <p:cNvSpPr>
            <a:spLocks noGrp="1"/>
          </p:cNvSpPr>
          <p:nvPr>
            <p:ph type="body" sz="quarter" idx="16"/>
          </p:nvPr>
        </p:nvSpPr>
        <p:spPr>
          <a:xfrm>
            <a:off x="2668200" y="6519600"/>
            <a:ext cx="6094800" cy="221018"/>
          </a:xfrm>
        </p:spPr>
        <p:txBody>
          <a:bodyPr lIns="0" tIns="18000" rIns="0" bIns="18000" anchor="t" anchorCtr="0">
            <a:spAutoFit/>
          </a:bodyPr>
          <a:lstStyle/>
          <a:p>
            <a:pPr marL="0" indent="0" algn="r">
              <a:buClrTx/>
              <a:buNone/>
              <a:defRPr/>
            </a:pPr>
            <a:r>
              <a:rPr lang="en-US" altLang="en-US" sz="1200" dirty="0">
                <a:latin typeface="Verdana"/>
                <a:ea typeface="Verdana" panose="020B0604030504040204" pitchFamily="34" charset="0"/>
                <a:cs typeface="Verdana" panose="020B0604030504040204" pitchFamily="34" charset="0"/>
              </a:rPr>
              <a:t>Copyright © 2020, 2017, 2015 Pearson Education, Inc. All Rights Reserved</a:t>
            </a:r>
            <a:endParaRPr lang="en-US" altLang="en-US" sz="12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528272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8000" y="284400"/>
            <a:ext cx="8229600" cy="590349"/>
          </a:xfrm>
        </p:spPr>
        <p:txBody>
          <a:bodyPr vert="horz" lIns="0" tIns="18000" rIns="0" bIns="18000" rtlCol="0" anchor="b">
            <a:spAutoFit/>
          </a:bodyPr>
          <a:lstStyle/>
          <a:p>
            <a:r>
              <a:rPr lang="en-US" altLang="en-US" sz="3600" dirty="0">
                <a:latin typeface="+mj-lt"/>
              </a:rPr>
              <a:t>Learning Objectives</a:t>
            </a:r>
            <a:endParaRPr lang="en-US" sz="3600" dirty="0">
              <a:latin typeface="+mj-lt"/>
            </a:endParaRPr>
          </a:p>
        </p:txBody>
      </p:sp>
      <p:sp>
        <p:nvSpPr>
          <p:cNvPr id="5" name="Content Placeholder 4"/>
          <p:cNvSpPr>
            <a:spLocks noGrp="1"/>
          </p:cNvSpPr>
          <p:nvPr>
            <p:ph idx="1"/>
          </p:nvPr>
        </p:nvSpPr>
        <p:spPr>
          <a:xfrm>
            <a:off x="468000" y="1274400"/>
            <a:ext cx="8229600" cy="3568088"/>
          </a:xfrm>
        </p:spPr>
        <p:txBody>
          <a:bodyPr tIns="18000" bIns="18000">
            <a:spAutoFit/>
          </a:bodyPr>
          <a:lstStyle/>
          <a:p>
            <a:pPr marL="720000" indent="-720000">
              <a:buClr>
                <a:schemeClr val="bg2"/>
              </a:buClr>
              <a:buSzPct val="100000"/>
              <a:buNone/>
            </a:pPr>
            <a:r>
              <a:rPr lang="en-US" altLang="en-US" sz="2400" b="1" dirty="0">
                <a:solidFill>
                  <a:schemeClr val="bg2"/>
                </a:solidFill>
                <a:latin typeface="Arial" panose="020B0604020202020204" pitchFamily="34" charset="0"/>
                <a:ea typeface="ＭＳ Ｐゴシック" panose="020B0600070205080204" pitchFamily="34" charset="-128"/>
                <a:cs typeface="Arial" panose="020B0604020202020204" pitchFamily="34" charset="0"/>
              </a:rPr>
              <a:t>8.1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Describe </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six</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 </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key elements in organizational design.</a:t>
            </a:r>
          </a:p>
          <a:p>
            <a:pPr marL="720000" indent="-720000">
              <a:buClr>
                <a:schemeClr val="bg2"/>
              </a:buClr>
              <a:buSzPct val="100000"/>
              <a:buNone/>
            </a:pPr>
            <a:r>
              <a:rPr lang="en-US" altLang="en-US" sz="2400" b="1" dirty="0">
                <a:solidFill>
                  <a:schemeClr val="bg2"/>
                </a:solidFill>
                <a:latin typeface="Arial" panose="020B0604020202020204" pitchFamily="34" charset="0"/>
                <a:ea typeface="ＭＳ Ｐゴシック" panose="020B0600070205080204" pitchFamily="34" charset="-128"/>
                <a:cs typeface="Arial" panose="020B0604020202020204" pitchFamily="34" charset="0"/>
              </a:rPr>
              <a:t>8.2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Identify </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the contingency factors that favor either the mechanistic model or the organic model of organizational design.</a:t>
            </a:r>
          </a:p>
          <a:p>
            <a:pPr marL="720000" indent="-720000">
              <a:buClr>
                <a:schemeClr val="bg2"/>
              </a:buClr>
              <a:buSzPct val="100000"/>
              <a:buNone/>
            </a:pPr>
            <a:r>
              <a:rPr lang="en-US" altLang="en-US" sz="2400" b="1" dirty="0">
                <a:solidFill>
                  <a:schemeClr val="bg2"/>
                </a:solidFill>
                <a:latin typeface="Arial" panose="020B0604020202020204" pitchFamily="34" charset="0"/>
                <a:ea typeface="ＭＳ Ｐゴシック" panose="020B0600070205080204" pitchFamily="34" charset="-128"/>
                <a:cs typeface="Arial" panose="020B0604020202020204" pitchFamily="34" charset="0"/>
              </a:rPr>
              <a:t>8.3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Compare </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and contrast traditional and contemporary organizational designs.</a:t>
            </a:r>
          </a:p>
          <a:p>
            <a:pPr marL="720000" indent="-720000">
              <a:buClr>
                <a:schemeClr val="bg2"/>
              </a:buClr>
              <a:buSzPct val="100000"/>
              <a:buNone/>
            </a:pPr>
            <a:r>
              <a:rPr lang="en-US" altLang="en-US" sz="2400" b="1" dirty="0">
                <a:solidFill>
                  <a:schemeClr val="bg2"/>
                </a:solidFill>
                <a:latin typeface="Arial" panose="020B0604020202020204" pitchFamily="34" charset="0"/>
                <a:ea typeface="ＭＳ Ｐゴシック" panose="020B0600070205080204" pitchFamily="34" charset="-128"/>
                <a:cs typeface="Arial" panose="020B0604020202020204" pitchFamily="34" charset="0"/>
              </a:rPr>
              <a:t>8.4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Discuss </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the design challenges faced by today’s organizations.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3103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dirty="0">
                <a:solidFill>
                  <a:schemeClr val="bg2"/>
                </a:solidFill>
                <a:latin typeface="+mj-lt"/>
                <a:cs typeface="Arial" pitchFamily="34" charset="0"/>
              </a:rPr>
              <a:t>Learning Objective 8.1</a:t>
            </a:r>
            <a:endParaRPr lang="en-US" sz="3600" dirty="0">
              <a:solidFill>
                <a:schemeClr val="bg2"/>
              </a:solidFill>
              <a:latin typeface="+mj-lt"/>
            </a:endParaRPr>
          </a:p>
        </p:txBody>
      </p:sp>
      <p:sp>
        <p:nvSpPr>
          <p:cNvPr id="3" name="Content Placeholder 2"/>
          <p:cNvSpPr>
            <a:spLocks noGrp="1"/>
          </p:cNvSpPr>
          <p:nvPr>
            <p:ph idx="1"/>
          </p:nvPr>
        </p:nvSpPr>
        <p:spPr>
          <a:xfrm>
            <a:off x="468000" y="1274400"/>
            <a:ext cx="8229600" cy="405683"/>
          </a:xfrm>
        </p:spPr>
        <p:txBody>
          <a:bodyPr tIns="18000" bIns="18000">
            <a:spAutoFit/>
          </a:bodyPr>
          <a:lstStyle/>
          <a:p>
            <a:pPr>
              <a:buSzPct val="100000"/>
            </a:pPr>
            <a:r>
              <a:rPr lang="en-US" altLang="en-US" sz="2400" dirty="0">
                <a:latin typeface="Arial" panose="020B0604020202020204" pitchFamily="34" charset="0"/>
                <a:cs typeface="Arial" panose="020B0604020202020204" pitchFamily="34" charset="0"/>
              </a:rPr>
              <a:t>Describe six key elements in organizational design.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5207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66400"/>
            <a:ext cx="8218488" cy="590349"/>
          </a:xfrm>
        </p:spPr>
        <p:txBody>
          <a:bodyPr wrap="square" tIns="18000" bIns="18000">
            <a:spAutoFit/>
          </a:bodyPr>
          <a:lstStyle/>
          <a:p>
            <a:r>
              <a:rPr lang="en-US" altLang="en-US" sz="3600">
                <a:latin typeface="+mj-lt"/>
                <a:ea typeface="ＭＳ Ｐゴシック" panose="020B0600070205080204" pitchFamily="34" charset="-128"/>
                <a:cs typeface="Arial" panose="020B0604020202020204" pitchFamily="34" charset="0"/>
              </a:rPr>
              <a:t>Elements of Organizational Structure</a:t>
            </a:r>
            <a:endParaRPr lang="en-US" sz="3600">
              <a:latin typeface="+mj-lt"/>
            </a:endParaRPr>
          </a:p>
        </p:txBody>
      </p:sp>
      <p:sp>
        <p:nvSpPr>
          <p:cNvPr id="3" name="Content Placeholder 2"/>
          <p:cNvSpPr>
            <a:spLocks noGrp="1"/>
          </p:cNvSpPr>
          <p:nvPr>
            <p:ph idx="1"/>
          </p:nvPr>
        </p:nvSpPr>
        <p:spPr>
          <a:xfrm>
            <a:off x="468000" y="1274400"/>
            <a:ext cx="8218488" cy="3214145"/>
          </a:xfrm>
        </p:spPr>
        <p:txBody>
          <a:bodyPr wrap="square" tIns="18000" bIns="18000">
            <a:spAutoFit/>
          </a:bodyPr>
          <a:lstStyle/>
          <a:p>
            <a:pPr>
              <a:buClr>
                <a:schemeClr val="bg2"/>
              </a:buClr>
              <a:defRPr/>
            </a:pPr>
            <a:r>
              <a:rPr lang="en-US" altLang="en-US" sz="2400">
                <a:latin typeface="Arial" panose="020B0604020202020204" pitchFamily="34" charset="0"/>
                <a:ea typeface="ＭＳ Ｐゴシック" pitchFamily="34" charset="-128"/>
                <a:cs typeface="Arial" panose="020B0604020202020204" pitchFamily="34" charset="0"/>
              </a:rPr>
              <a:t>Work specialization</a:t>
            </a:r>
          </a:p>
          <a:p>
            <a:pPr>
              <a:buClr>
                <a:schemeClr val="bg2"/>
              </a:buClr>
              <a:defRPr/>
            </a:pPr>
            <a:r>
              <a:rPr lang="en-US" altLang="en-US" sz="2400">
                <a:latin typeface="Arial" panose="020B0604020202020204" pitchFamily="34" charset="0"/>
                <a:ea typeface="ＭＳ Ｐゴシック" pitchFamily="34" charset="-128"/>
                <a:cs typeface="Arial" panose="020B0604020202020204" pitchFamily="34" charset="0"/>
              </a:rPr>
              <a:t>Departmentalization</a:t>
            </a:r>
          </a:p>
          <a:p>
            <a:pPr>
              <a:buClr>
                <a:schemeClr val="bg2"/>
              </a:buClr>
              <a:defRPr/>
            </a:pPr>
            <a:r>
              <a:rPr lang="en-US" altLang="en-US" sz="2400">
                <a:latin typeface="Arial" panose="020B0604020202020204" pitchFamily="34" charset="0"/>
                <a:ea typeface="ＭＳ Ｐゴシック" pitchFamily="34" charset="-128"/>
                <a:cs typeface="Arial" panose="020B0604020202020204" pitchFamily="34" charset="0"/>
              </a:rPr>
              <a:t>Authority and responsibility</a:t>
            </a:r>
          </a:p>
          <a:p>
            <a:pPr>
              <a:buClr>
                <a:schemeClr val="bg2"/>
              </a:buClr>
              <a:defRPr/>
            </a:pPr>
            <a:r>
              <a:rPr lang="en-US" altLang="en-US" sz="2400">
                <a:latin typeface="Arial" panose="020B0604020202020204" pitchFamily="34" charset="0"/>
                <a:ea typeface="ＭＳ Ｐゴシック" pitchFamily="34" charset="-128"/>
                <a:cs typeface="Arial" panose="020B0604020202020204" pitchFamily="34" charset="0"/>
              </a:rPr>
              <a:t>Span of control</a:t>
            </a:r>
          </a:p>
          <a:p>
            <a:pPr>
              <a:buClr>
                <a:schemeClr val="bg2"/>
              </a:buClr>
              <a:defRPr/>
            </a:pPr>
            <a:r>
              <a:rPr lang="en-US" altLang="en-US" sz="2400">
                <a:latin typeface="Arial" panose="020B0604020202020204" pitchFamily="34" charset="0"/>
                <a:ea typeface="ＭＳ Ｐゴシック" pitchFamily="34" charset="-128"/>
                <a:cs typeface="Arial" panose="020B0604020202020204" pitchFamily="34" charset="0"/>
              </a:rPr>
              <a:t>Centralization versus decentralization</a:t>
            </a:r>
          </a:p>
          <a:p>
            <a:pPr>
              <a:buClr>
                <a:schemeClr val="bg2"/>
              </a:buClr>
              <a:defRPr/>
            </a:pPr>
            <a:r>
              <a:rPr lang="en-US" altLang="en-US" sz="2400">
                <a:latin typeface="Arial" panose="020B0604020202020204" pitchFamily="34" charset="0"/>
                <a:ea typeface="ＭＳ Ｐゴシック" pitchFamily="34" charset="-128"/>
                <a:cs typeface="Arial" panose="020B0604020202020204" pitchFamily="34" charset="0"/>
              </a:rPr>
              <a:t>Formalization</a:t>
            </a:r>
          </a:p>
        </p:txBody>
      </p:sp>
      <p:sp>
        <p:nvSpPr>
          <p:cNvPr id="5" name="Content Placeholder 4"/>
          <p:cNvSpPr>
            <a:spLocks noGrp="1"/>
          </p:cNvSpPr>
          <p:nvPr>
            <p:ph idx="13"/>
          </p:nvPr>
        </p:nvSpPr>
        <p:spPr>
          <a:xfrm>
            <a:off x="1583668" y="4725144"/>
            <a:ext cx="5976664" cy="405683"/>
          </a:xfrm>
        </p:spPr>
        <p:txBody>
          <a:bodyPr wrap="square" tIns="18000" bIns="18000">
            <a:spAutoFit/>
          </a:bodyPr>
          <a:lstStyle/>
          <a:p>
            <a:pPr marL="0" indent="0">
              <a:buNone/>
            </a:pPr>
            <a:r>
              <a:rPr lang="en-US" sz="2400" dirty="0">
                <a:solidFill>
                  <a:srgbClr val="007FA3"/>
                </a:solidFill>
                <a:latin typeface="Arial" panose="020B0604020202020204" pitchFamily="34" charset="0"/>
                <a:cs typeface="Arial" panose="020B0604020202020204" pitchFamily="34" charset="0"/>
              </a:rPr>
              <a:t>Getting work done </a:t>
            </a:r>
            <a:r>
              <a:rPr lang="en-US" sz="2400" b="1" dirty="0">
                <a:solidFill>
                  <a:srgbClr val="007FA3"/>
                </a:solidFill>
                <a:latin typeface="Arial" panose="020B0604020202020204" pitchFamily="34" charset="0"/>
                <a:cs typeface="Arial" panose="020B0604020202020204" pitchFamily="34" charset="0"/>
              </a:rPr>
              <a:t>efficiently &amp; effectively.</a:t>
            </a:r>
          </a:p>
        </p:txBody>
      </p:sp>
    </p:spTree>
    <p:extLst>
      <p:ext uri="{BB962C8B-B14F-4D97-AF65-F5344CB8AC3E}">
        <p14:creationId xmlns:p14="http://schemas.microsoft.com/office/powerpoint/2010/main" val="73695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a:latin typeface="+mj-lt"/>
                <a:ea typeface="ＭＳ Ｐゴシック" panose="020B0600070205080204" pitchFamily="34" charset="-128"/>
                <a:cs typeface="Arial" panose="020B0604020202020204" pitchFamily="34" charset="0"/>
              </a:rPr>
              <a:t>Work Specialization</a:t>
            </a:r>
            <a:endParaRPr lang="en-US" sz="3600">
              <a:latin typeface="+mj-lt"/>
            </a:endParaRPr>
          </a:p>
        </p:txBody>
      </p:sp>
      <p:sp>
        <p:nvSpPr>
          <p:cNvPr id="7" name="Content Placeholder 6">
            <a:extLst>
              <a:ext uri="{FF2B5EF4-FFF2-40B4-BE49-F238E27FC236}">
                <a16:creationId xmlns:a16="http://schemas.microsoft.com/office/drawing/2014/main" id="{F32D51EB-B430-46FD-B5B7-F45F65DDE39F}"/>
              </a:ext>
            </a:extLst>
          </p:cNvPr>
          <p:cNvSpPr>
            <a:spLocks noGrp="1"/>
          </p:cNvSpPr>
          <p:nvPr>
            <p:ph sz="quarter" idx="13"/>
          </p:nvPr>
        </p:nvSpPr>
        <p:spPr>
          <a:xfrm>
            <a:off x="468001" y="1274400"/>
            <a:ext cx="8280712" cy="282573"/>
          </a:xfrm>
        </p:spPr>
        <p:txBody>
          <a:bodyPr wrap="square" tIns="18000" bIns="18000">
            <a:spAutoFit/>
          </a:bodyPr>
          <a:lstStyle/>
          <a:p>
            <a:pPr marL="0" indent="0">
              <a:buNone/>
            </a:pPr>
            <a:r>
              <a:rPr lang="en-US" b="1">
                <a:latin typeface="Arial" panose="020B0604020202020204" pitchFamily="34" charset="0"/>
                <a:cs typeface="Arial" panose="020B0604020202020204" pitchFamily="34" charset="0"/>
              </a:rPr>
              <a:t>Exhibit 8.1</a:t>
            </a:r>
            <a:r>
              <a:rPr lang="en-US">
                <a:latin typeface="Arial" panose="020B0604020202020204" pitchFamily="34" charset="0"/>
                <a:cs typeface="Arial" panose="020B0604020202020204" pitchFamily="34" charset="0"/>
              </a:rPr>
              <a:t> Economies and Diseconomies of Work</a:t>
            </a:r>
          </a:p>
        </p:txBody>
      </p:sp>
      <p:pic>
        <p:nvPicPr>
          <p:cNvPr id="19" name="Picture Placeholder 18" descr="A line graph shows the relationship between productivity and work specialization.&#10;Long description is available in notes, press F6.">
            <a:extLst>
              <a:ext uri="{FF2B5EF4-FFF2-40B4-BE49-F238E27FC236}">
                <a16:creationId xmlns:a16="http://schemas.microsoft.com/office/drawing/2014/main" id="{38B880CC-88F9-4DAC-BFE4-B322680B15E3}"/>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1519591" y="1844824"/>
            <a:ext cx="6110242" cy="4335745"/>
          </a:xfrm>
          <a:prstGeom prst="rect">
            <a:avLst/>
          </a:prstGeom>
        </p:spPr>
      </p:pic>
    </p:spTree>
    <p:extLst>
      <p:ext uri="{BB962C8B-B14F-4D97-AF65-F5344CB8AC3E}">
        <p14:creationId xmlns:p14="http://schemas.microsoft.com/office/powerpoint/2010/main" val="1094480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4400"/>
            <a:ext cx="82296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Departmentalization</a:t>
            </a:r>
            <a:endParaRPr lang="en-US" sz="3600">
              <a:latin typeface="+mj-lt"/>
            </a:endParaRPr>
          </a:p>
        </p:txBody>
      </p:sp>
      <p:sp>
        <p:nvSpPr>
          <p:cNvPr id="7" name="Content Placeholder 6">
            <a:extLst>
              <a:ext uri="{FF2B5EF4-FFF2-40B4-BE49-F238E27FC236}">
                <a16:creationId xmlns:a16="http://schemas.microsoft.com/office/drawing/2014/main" id="{D58173EC-562B-4106-89C5-449B03422091}"/>
              </a:ext>
            </a:extLst>
          </p:cNvPr>
          <p:cNvSpPr>
            <a:spLocks noGrp="1"/>
          </p:cNvSpPr>
          <p:nvPr>
            <p:ph sz="quarter" idx="13"/>
          </p:nvPr>
        </p:nvSpPr>
        <p:spPr>
          <a:xfrm>
            <a:off x="467999" y="1052736"/>
            <a:ext cx="8280713" cy="282573"/>
          </a:xfrm>
        </p:spPr>
        <p:txBody>
          <a:bodyPr wrap="square" tIns="18000" bIns="18000">
            <a:spAutoFit/>
          </a:bodyPr>
          <a:lstStyle/>
          <a:p>
            <a:pPr marL="0" indent="0">
              <a:buNone/>
            </a:pPr>
            <a:r>
              <a:rPr lang="en-US" b="1">
                <a:latin typeface="Arial" panose="020B0604020202020204" pitchFamily="34" charset="0"/>
                <a:cs typeface="Arial" panose="020B0604020202020204" pitchFamily="34" charset="0"/>
              </a:rPr>
              <a:t>Exhibit 8.2</a:t>
            </a:r>
            <a:r>
              <a:rPr lang="en-US">
                <a:latin typeface="Arial" panose="020B0604020202020204" pitchFamily="34" charset="0"/>
                <a:cs typeface="Arial" panose="020B0604020202020204" pitchFamily="34" charset="0"/>
              </a:rPr>
              <a:t> Types of Departmentalization</a:t>
            </a:r>
          </a:p>
        </p:txBody>
      </p:sp>
      <p:sp>
        <p:nvSpPr>
          <p:cNvPr id="8" name="Content Placeholder 7">
            <a:extLst>
              <a:ext uri="{FF2B5EF4-FFF2-40B4-BE49-F238E27FC236}">
                <a16:creationId xmlns:a16="http://schemas.microsoft.com/office/drawing/2014/main" id="{515F252F-249F-4B9D-99C3-42DE8516473D}"/>
              </a:ext>
            </a:extLst>
          </p:cNvPr>
          <p:cNvSpPr>
            <a:spLocks noGrp="1"/>
          </p:cNvSpPr>
          <p:nvPr>
            <p:ph sz="quarter" idx="14"/>
          </p:nvPr>
        </p:nvSpPr>
        <p:spPr>
          <a:xfrm>
            <a:off x="468000" y="1484784"/>
            <a:ext cx="8280713" cy="4883832"/>
          </a:xfrm>
        </p:spPr>
        <p:txBody>
          <a:bodyPr wrap="square" tIns="18000" bIns="18000">
            <a:spAutoFit/>
          </a:bodyPr>
          <a:lstStyle/>
          <a:p>
            <a:pPr>
              <a:spcBef>
                <a:spcPts val="600"/>
              </a:spcBef>
            </a:pPr>
            <a:r>
              <a:rPr lang="en-US" sz="1800" b="1">
                <a:latin typeface="Arial" panose="020B0604020202020204" pitchFamily="34" charset="0"/>
                <a:cs typeface="Arial" panose="020B0604020202020204" pitchFamily="34" charset="0"/>
              </a:rPr>
              <a:t>Functional</a:t>
            </a:r>
            <a:endParaRPr lang="en-US" sz="1800">
              <a:latin typeface="Arial" panose="020B0604020202020204" pitchFamily="34" charset="0"/>
              <a:cs typeface="Arial" panose="020B0604020202020204" pitchFamily="34" charset="0"/>
            </a:endParaRPr>
          </a:p>
          <a:p>
            <a:pPr lvl="1"/>
            <a:r>
              <a:rPr lang="en-US" sz="1800">
                <a:latin typeface="Arial" panose="020B0604020202020204" pitchFamily="34" charset="0"/>
                <a:cs typeface="Arial" panose="020B0604020202020204" pitchFamily="34" charset="0"/>
              </a:rPr>
              <a:t>Groups employees based on work performed (e.g., engineering, accounting, information systems, human resources)</a:t>
            </a:r>
          </a:p>
          <a:p>
            <a:pPr>
              <a:spcBef>
                <a:spcPts val="600"/>
              </a:spcBef>
            </a:pPr>
            <a:r>
              <a:rPr lang="en-US" sz="1800" b="1">
                <a:latin typeface="Arial" panose="020B0604020202020204" pitchFamily="34" charset="0"/>
                <a:cs typeface="Arial" panose="020B0604020202020204" pitchFamily="34" charset="0"/>
              </a:rPr>
              <a:t>Product</a:t>
            </a:r>
          </a:p>
          <a:p>
            <a:pPr lvl="1"/>
            <a:r>
              <a:rPr lang="en-US" sz="1800">
                <a:latin typeface="Arial" panose="020B0604020202020204" pitchFamily="34" charset="0"/>
                <a:cs typeface="Arial" panose="020B0604020202020204" pitchFamily="34" charset="0"/>
              </a:rPr>
              <a:t>Groups employees based on major product areas in the corporation (e.g., women’s footwear, men’s footwear, and apparel and accessories)</a:t>
            </a:r>
          </a:p>
          <a:p>
            <a:pPr>
              <a:spcBef>
                <a:spcPts val="600"/>
              </a:spcBef>
            </a:pPr>
            <a:r>
              <a:rPr lang="en-US" sz="1800" b="1">
                <a:latin typeface="Arial" panose="020B0604020202020204" pitchFamily="34" charset="0"/>
                <a:cs typeface="Arial" panose="020B0604020202020204" pitchFamily="34" charset="0"/>
              </a:rPr>
              <a:t>Customer</a:t>
            </a:r>
          </a:p>
          <a:p>
            <a:pPr lvl="1"/>
            <a:r>
              <a:rPr lang="en-US" sz="1800"/>
              <a:t>Groups employees based on customers’ problems and needs (e.g., wholesale, retail, government)</a:t>
            </a:r>
          </a:p>
          <a:p>
            <a:pPr>
              <a:spcBef>
                <a:spcPts val="600"/>
              </a:spcBef>
            </a:pPr>
            <a:r>
              <a:rPr lang="en-US" sz="1800" b="1"/>
              <a:t>Geographic</a:t>
            </a:r>
          </a:p>
          <a:p>
            <a:pPr lvl="1"/>
            <a:r>
              <a:rPr lang="en-US" sz="1800"/>
              <a:t>Groups employees based on location served (e.g., North, South, Midwest, East)</a:t>
            </a:r>
          </a:p>
          <a:p>
            <a:pPr>
              <a:spcBef>
                <a:spcPts val="600"/>
              </a:spcBef>
            </a:pPr>
            <a:r>
              <a:rPr lang="en-US" sz="1800" b="1"/>
              <a:t>Process</a:t>
            </a:r>
          </a:p>
          <a:p>
            <a:pPr lvl="1"/>
            <a:r>
              <a:rPr lang="en-US" sz="1800"/>
              <a:t>Groups employees based on the basis of work or customer flow (e.g., testing, payment)</a:t>
            </a:r>
            <a:endParaRPr lang="en-US" sz="1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1816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a:latin typeface="+mj-lt"/>
                <a:ea typeface="ＭＳ Ｐゴシック" panose="020B0600070205080204" pitchFamily="34" charset="-128"/>
                <a:cs typeface="Arial" panose="020B0604020202020204" pitchFamily="34" charset="0"/>
              </a:rPr>
              <a:t>Types of Authority Relationships</a:t>
            </a:r>
            <a:endParaRPr lang="en-US" sz="3600">
              <a:latin typeface="+mj-lt"/>
            </a:endParaRPr>
          </a:p>
        </p:txBody>
      </p:sp>
      <p:sp>
        <p:nvSpPr>
          <p:cNvPr id="7" name="Content Placeholder 6">
            <a:extLst>
              <a:ext uri="{FF2B5EF4-FFF2-40B4-BE49-F238E27FC236}">
                <a16:creationId xmlns:a16="http://schemas.microsoft.com/office/drawing/2014/main" id="{F32D51EB-B430-46FD-B5B7-F45F65DDE39F}"/>
              </a:ext>
            </a:extLst>
          </p:cNvPr>
          <p:cNvSpPr>
            <a:spLocks noGrp="1"/>
          </p:cNvSpPr>
          <p:nvPr>
            <p:ph sz="quarter" idx="13"/>
          </p:nvPr>
        </p:nvSpPr>
        <p:spPr>
          <a:xfrm>
            <a:off x="468001" y="1274400"/>
            <a:ext cx="8280712" cy="282573"/>
          </a:xfrm>
        </p:spPr>
        <p:txBody>
          <a:bodyPr wrap="square" tIns="18000" bIns="18000">
            <a:spAutoFit/>
          </a:bodyPr>
          <a:lstStyle/>
          <a:p>
            <a:pPr marL="0" indent="0">
              <a:buNone/>
            </a:pPr>
            <a:r>
              <a:rPr lang="en-US" b="1">
                <a:latin typeface="Arial" panose="020B0604020202020204" pitchFamily="34" charset="0"/>
                <a:cs typeface="Arial" panose="020B0604020202020204" pitchFamily="34" charset="0"/>
              </a:rPr>
              <a:t>Exhibit 8.3</a:t>
            </a:r>
            <a:r>
              <a:rPr lang="en-US">
                <a:latin typeface="Arial" panose="020B0604020202020204" pitchFamily="34" charset="0"/>
                <a:cs typeface="Arial" panose="020B0604020202020204" pitchFamily="34" charset="0"/>
              </a:rPr>
              <a:t> Chain of Command and Line Authority</a:t>
            </a:r>
          </a:p>
        </p:txBody>
      </p:sp>
      <p:pic>
        <p:nvPicPr>
          <p:cNvPr id="6" name="Picture Placeholder 5" descr="An organization chart shows the chain of command.&#10;Long description is available in notes, press F6.">
            <a:extLst>
              <a:ext uri="{FF2B5EF4-FFF2-40B4-BE49-F238E27FC236}">
                <a16:creationId xmlns:a16="http://schemas.microsoft.com/office/drawing/2014/main" id="{C529EB9E-65B8-4153-9D5D-DA232224ECBD}"/>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1547664" y="1844824"/>
            <a:ext cx="6061665" cy="4300972"/>
          </a:xfrm>
          <a:prstGeom prst="rect">
            <a:avLst/>
          </a:prstGeom>
        </p:spPr>
      </p:pic>
    </p:spTree>
    <p:extLst>
      <p:ext uri="{BB962C8B-B14F-4D97-AF65-F5344CB8AC3E}">
        <p14:creationId xmlns:p14="http://schemas.microsoft.com/office/powerpoint/2010/main" val="1076471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a:latin typeface="+mj-lt"/>
                <a:ea typeface="ＭＳ Ｐゴシック" panose="020B0600070205080204" pitchFamily="34" charset="-128"/>
                <a:cs typeface="Arial" panose="020B0604020202020204" pitchFamily="34" charset="0"/>
              </a:rPr>
              <a:t>Line and Staff Authority</a:t>
            </a:r>
            <a:endParaRPr lang="en-US" sz="3600">
              <a:latin typeface="+mj-lt"/>
            </a:endParaRPr>
          </a:p>
        </p:txBody>
      </p:sp>
      <p:sp>
        <p:nvSpPr>
          <p:cNvPr id="7" name="Content Placeholder 6">
            <a:extLst>
              <a:ext uri="{FF2B5EF4-FFF2-40B4-BE49-F238E27FC236}">
                <a16:creationId xmlns:a16="http://schemas.microsoft.com/office/drawing/2014/main" id="{F32D51EB-B430-46FD-B5B7-F45F65DDE39F}"/>
              </a:ext>
            </a:extLst>
          </p:cNvPr>
          <p:cNvSpPr>
            <a:spLocks noGrp="1"/>
          </p:cNvSpPr>
          <p:nvPr>
            <p:ph sz="quarter" idx="13"/>
          </p:nvPr>
        </p:nvSpPr>
        <p:spPr>
          <a:xfrm>
            <a:off x="468001" y="1274400"/>
            <a:ext cx="8280712" cy="282573"/>
          </a:xfrm>
        </p:spPr>
        <p:txBody>
          <a:bodyPr wrap="square" tIns="18000" bIns="18000">
            <a:spAutoFit/>
          </a:bodyPr>
          <a:lstStyle/>
          <a:p>
            <a:pPr marL="0" indent="0">
              <a:buNone/>
            </a:pPr>
            <a:r>
              <a:rPr lang="en-US" b="1">
                <a:latin typeface="Arial" panose="020B0604020202020204" pitchFamily="34" charset="0"/>
                <a:cs typeface="Arial" panose="020B0604020202020204" pitchFamily="34" charset="0"/>
              </a:rPr>
              <a:t>Exhibit 8.4</a:t>
            </a:r>
            <a:r>
              <a:rPr lang="en-US">
                <a:latin typeface="Arial" panose="020B0604020202020204" pitchFamily="34" charset="0"/>
                <a:cs typeface="Arial" panose="020B0604020202020204" pitchFamily="34" charset="0"/>
              </a:rPr>
              <a:t> Line versus Staff Authority</a:t>
            </a:r>
          </a:p>
        </p:txBody>
      </p:sp>
      <p:pic>
        <p:nvPicPr>
          <p:cNvPr id="8" name="Picture Placeholder 7" descr="An organization chart shows the differences between line and staff authority.&#10;Long description is available in notes, press F6.">
            <a:extLst>
              <a:ext uri="{FF2B5EF4-FFF2-40B4-BE49-F238E27FC236}">
                <a16:creationId xmlns:a16="http://schemas.microsoft.com/office/drawing/2014/main" id="{0FFDF037-3653-4206-A957-079CE53D965F}"/>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698706" y="1988840"/>
            <a:ext cx="7833734" cy="3591448"/>
          </a:xfrm>
          <a:prstGeom prst="rect">
            <a:avLst/>
          </a:prstGeom>
        </p:spPr>
      </p:pic>
    </p:spTree>
    <p:extLst>
      <p:ext uri="{BB962C8B-B14F-4D97-AF65-F5344CB8AC3E}">
        <p14:creationId xmlns:p14="http://schemas.microsoft.com/office/powerpoint/2010/main" val="1749873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18488" cy="590349"/>
          </a:xfrm>
        </p:spPr>
        <p:txBody>
          <a:bodyPr wrap="square" tIns="18000" bIns="18000">
            <a:spAutoFit/>
          </a:bodyPr>
          <a:lstStyle/>
          <a:p>
            <a:r>
              <a:rPr lang="en-US" altLang="en-US" sz="3600" dirty="0">
                <a:latin typeface="+mj-lt"/>
                <a:ea typeface="ＭＳ Ｐゴシック" panose="020B0600070205080204" pitchFamily="34" charset="-128"/>
                <a:cs typeface="Arial" panose="020B0604020202020204" pitchFamily="34" charset="0"/>
              </a:rPr>
              <a:t>Unity of Command</a:t>
            </a:r>
            <a:endParaRPr lang="en-US" sz="3600" dirty="0">
              <a:latin typeface="+mj-lt"/>
            </a:endParaRPr>
          </a:p>
        </p:txBody>
      </p:sp>
      <p:sp>
        <p:nvSpPr>
          <p:cNvPr id="3" name="Content Placeholder 2"/>
          <p:cNvSpPr>
            <a:spLocks noGrp="1"/>
          </p:cNvSpPr>
          <p:nvPr>
            <p:ph idx="1"/>
          </p:nvPr>
        </p:nvSpPr>
        <p:spPr>
          <a:xfrm>
            <a:off x="468000" y="1274400"/>
            <a:ext cx="8218488" cy="775015"/>
          </a:xfrm>
        </p:spPr>
        <p:txBody>
          <a:bodyPr tIns="18000" bIns="18000">
            <a:spAutoFit/>
          </a:bodyPr>
          <a:lstStyle/>
          <a:p>
            <a:pPr marL="0" indent="0">
              <a:buSzPct val="100000"/>
              <a:buNone/>
              <a:defRPr/>
            </a:pPr>
            <a:r>
              <a:rPr lang="en-US" altLang="en-US" sz="2400" dirty="0">
                <a:solidFill>
                  <a:srgbClr val="000000"/>
                </a:solidFill>
                <a:latin typeface="Arial" panose="020B0604020202020204" pitchFamily="34" charset="0"/>
                <a:ea typeface="ＭＳ Ｐゴシック" pitchFamily="34" charset="-128"/>
                <a:cs typeface="Arial" panose="020B0604020202020204" pitchFamily="34" charset="0"/>
              </a:rPr>
              <a:t>A structure in which each employee reports to only one manager</a:t>
            </a:r>
          </a:p>
        </p:txBody>
      </p:sp>
      <p:sp>
        <p:nvSpPr>
          <p:cNvPr id="4" name="Content Placeholder 3"/>
          <p:cNvSpPr>
            <a:spLocks noGrp="1"/>
          </p:cNvSpPr>
          <p:nvPr>
            <p:ph idx="13"/>
          </p:nvPr>
        </p:nvSpPr>
        <p:spPr>
          <a:xfrm>
            <a:off x="3204232" y="2449066"/>
            <a:ext cx="2735536" cy="405683"/>
          </a:xfrm>
        </p:spPr>
        <p:txBody>
          <a:bodyPr wrap="square" tIns="18000" bIns="18000">
            <a:spAutoFit/>
          </a:bodyPr>
          <a:lstStyle/>
          <a:p>
            <a:pPr marL="0" indent="0">
              <a:buNone/>
            </a:pPr>
            <a:r>
              <a:rPr lang="en-US" sz="2400" dirty="0">
                <a:solidFill>
                  <a:srgbClr val="007FA3"/>
                </a:solidFill>
                <a:latin typeface="Arial" panose="020B0604020202020204" pitchFamily="34" charset="0"/>
                <a:cs typeface="Arial" panose="020B0604020202020204" pitchFamily="34" charset="0"/>
              </a:rPr>
              <a:t>One boss or more?</a:t>
            </a:r>
            <a:endParaRPr lang="en-IN" sz="2400" dirty="0">
              <a:solidFill>
                <a:srgbClr val="007FA3"/>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2873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How Do Authority and Power Differ?</a:t>
            </a:r>
            <a:endParaRPr lang="en-US">
              <a:latin typeface="+mj-lt"/>
            </a:endParaRPr>
          </a:p>
        </p:txBody>
      </p:sp>
      <p:sp>
        <p:nvSpPr>
          <p:cNvPr id="9" name="Content Placeholder 8">
            <a:extLst>
              <a:ext uri="{FF2B5EF4-FFF2-40B4-BE49-F238E27FC236}">
                <a16:creationId xmlns:a16="http://schemas.microsoft.com/office/drawing/2014/main" id="{FF955487-374D-4F9C-A541-A491C2F96120}"/>
              </a:ext>
            </a:extLst>
          </p:cNvPr>
          <p:cNvSpPr>
            <a:spLocks noGrp="1"/>
          </p:cNvSpPr>
          <p:nvPr>
            <p:ph sz="quarter" idx="13"/>
          </p:nvPr>
        </p:nvSpPr>
        <p:spPr>
          <a:xfrm>
            <a:off x="468001" y="1274400"/>
            <a:ext cx="4104000" cy="2075371"/>
          </a:xfrm>
        </p:spPr>
        <p:txBody>
          <a:bodyPr wrap="square" tIns="18000" bIns="18000">
            <a:spAutoFit/>
          </a:bodyPr>
          <a:lstStyle/>
          <a:p>
            <a:pPr marL="0" indent="0">
              <a:buNone/>
            </a:pPr>
            <a:r>
              <a:rPr lang="en-US" altLang="en-US" sz="2400" b="1">
                <a:latin typeface="Arial" panose="020B0604020202020204" pitchFamily="34" charset="0"/>
                <a:ea typeface="ＭＳ Ｐゴシック" panose="020B0600070205080204" pitchFamily="34" charset="-128"/>
                <a:cs typeface="Arial" panose="020B0604020202020204" pitchFamily="34" charset="0"/>
              </a:rPr>
              <a:t>Authority: </a:t>
            </a:r>
          </a:p>
          <a:p>
            <a:pPr marL="0" indent="0">
              <a:spcAft>
                <a:spcPts val="1200"/>
              </a:spcAft>
              <a:buSzPct val="100000"/>
              <a:buNone/>
            </a:pPr>
            <a:r>
              <a:rPr lang="en-US" altLang="en-US" sz="2400">
                <a:latin typeface="Arial" panose="020B0604020202020204" pitchFamily="34" charset="0"/>
                <a:ea typeface="ＭＳ Ｐゴシック" panose="020B0600070205080204" pitchFamily="34" charset="-128"/>
                <a:cs typeface="Arial" panose="020B0604020202020204" pitchFamily="34" charset="0"/>
              </a:rPr>
              <a:t>a right whose legitimacy is based on an authority figure’s position in the organization; it goes with the job.</a:t>
            </a:r>
            <a:endParaRPr lang="en-US" sz="2400">
              <a:latin typeface="Arial" panose="020B0604020202020204" pitchFamily="34" charset="0"/>
              <a:cs typeface="Arial" panose="020B0604020202020204" pitchFamily="34" charset="0"/>
            </a:endParaRPr>
          </a:p>
        </p:txBody>
      </p:sp>
      <p:sp>
        <p:nvSpPr>
          <p:cNvPr id="10" name="Content Placeholder 9">
            <a:extLst>
              <a:ext uri="{FF2B5EF4-FFF2-40B4-BE49-F238E27FC236}">
                <a16:creationId xmlns:a16="http://schemas.microsoft.com/office/drawing/2014/main" id="{626ED37F-1C77-42D4-A0EC-6FDE483FCEE8}"/>
              </a:ext>
            </a:extLst>
          </p:cNvPr>
          <p:cNvSpPr>
            <a:spLocks noGrp="1"/>
          </p:cNvSpPr>
          <p:nvPr>
            <p:ph sz="quarter" idx="14"/>
          </p:nvPr>
        </p:nvSpPr>
        <p:spPr>
          <a:xfrm>
            <a:off x="468000" y="3501008"/>
            <a:ext cx="4104000" cy="1336708"/>
          </a:xfrm>
        </p:spPr>
        <p:txBody>
          <a:bodyPr wrap="square" tIns="18000" bIns="18000">
            <a:spAutoFit/>
          </a:bodyPr>
          <a:lstStyle/>
          <a:p>
            <a:pPr marL="0" indent="0">
              <a:buNone/>
            </a:pPr>
            <a:r>
              <a:rPr lang="en-US" sz="2400" b="1">
                <a:latin typeface="Arial" panose="020B0604020202020204" pitchFamily="34" charset="0"/>
                <a:cs typeface="Arial" panose="020B0604020202020204" pitchFamily="34" charset="0"/>
              </a:rPr>
              <a:t>Power:</a:t>
            </a:r>
          </a:p>
          <a:p>
            <a:r>
              <a:rPr lang="en-US" sz="2400">
                <a:latin typeface="Arial" panose="020B0604020202020204" pitchFamily="34" charset="0"/>
                <a:cs typeface="Arial" panose="020B0604020202020204" pitchFamily="34" charset="0"/>
              </a:rPr>
              <a:t>an individual’s ability to influence decisions.</a:t>
            </a:r>
          </a:p>
        </p:txBody>
      </p:sp>
      <p:pic>
        <p:nvPicPr>
          <p:cNvPr id="24" name="Picture Placeholder 23" descr="A photo shows a woman sitting on a cushioned chair and speaking with hand gestures.">
            <a:extLst>
              <a:ext uri="{FF2B5EF4-FFF2-40B4-BE49-F238E27FC236}">
                <a16:creationId xmlns:a16="http://schemas.microsoft.com/office/drawing/2014/main" id="{BC4A4684-C865-4085-98F1-38F49F9F00EA}"/>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4788024" y="1268760"/>
            <a:ext cx="3925824" cy="3407664"/>
          </a:xfrm>
          <a:prstGeom prst="rect">
            <a:avLst/>
          </a:prstGeom>
        </p:spPr>
      </p:pic>
    </p:spTree>
    <p:extLst>
      <p:ext uri="{BB962C8B-B14F-4D97-AF65-F5344CB8AC3E}">
        <p14:creationId xmlns:p14="http://schemas.microsoft.com/office/powerpoint/2010/main" val="22900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wrap="square" tIns="18000" bIns="18000">
            <a:spAutoFit/>
          </a:bodyPr>
          <a:lstStyle/>
          <a:p>
            <a:r>
              <a:rPr lang="en-US" altLang="en-US" sz="3600">
                <a:latin typeface="+mj-lt"/>
                <a:ea typeface="ＭＳ Ｐゴシック" panose="020B0600070205080204" pitchFamily="34" charset="-128"/>
              </a:rPr>
              <a:t>Power versus Authority</a:t>
            </a:r>
            <a:endParaRPr lang="en-US" sz="3600">
              <a:latin typeface="+mj-lt"/>
            </a:endParaRPr>
          </a:p>
        </p:txBody>
      </p:sp>
      <p:sp>
        <p:nvSpPr>
          <p:cNvPr id="7" name="Content Placeholder 6">
            <a:extLst>
              <a:ext uri="{FF2B5EF4-FFF2-40B4-BE49-F238E27FC236}">
                <a16:creationId xmlns:a16="http://schemas.microsoft.com/office/drawing/2014/main" id="{F32D51EB-B430-46FD-B5B7-F45F65DDE39F}"/>
              </a:ext>
            </a:extLst>
          </p:cNvPr>
          <p:cNvSpPr>
            <a:spLocks noGrp="1"/>
          </p:cNvSpPr>
          <p:nvPr>
            <p:ph sz="quarter" idx="13"/>
          </p:nvPr>
        </p:nvSpPr>
        <p:spPr>
          <a:xfrm>
            <a:off x="468001" y="1274400"/>
            <a:ext cx="8280712" cy="282573"/>
          </a:xfrm>
        </p:spPr>
        <p:txBody>
          <a:bodyPr wrap="square" tIns="18000" bIns="18000">
            <a:spAutoFit/>
          </a:bodyPr>
          <a:lstStyle/>
          <a:p>
            <a:pPr marL="0" indent="0">
              <a:buNone/>
            </a:pPr>
            <a:r>
              <a:rPr lang="en-US" b="1">
                <a:latin typeface="Arial" panose="020B0604020202020204" pitchFamily="34" charset="0"/>
                <a:cs typeface="Arial" panose="020B0604020202020204" pitchFamily="34" charset="0"/>
              </a:rPr>
              <a:t>Exhibit 8.5</a:t>
            </a:r>
            <a:r>
              <a:rPr lang="en-US">
                <a:latin typeface="Arial" panose="020B0604020202020204" pitchFamily="34" charset="0"/>
                <a:cs typeface="Arial" panose="020B0604020202020204" pitchFamily="34" charset="0"/>
              </a:rPr>
              <a:t> Authority versus Power</a:t>
            </a:r>
          </a:p>
        </p:txBody>
      </p:sp>
      <p:pic>
        <p:nvPicPr>
          <p:cNvPr id="6" name="Picture Placeholder 5" descr="Two illustrations, A and B, show authority and power.&#10;Long description is available in notes, press F6.">
            <a:extLst>
              <a:ext uri="{FF2B5EF4-FFF2-40B4-BE49-F238E27FC236}">
                <a16:creationId xmlns:a16="http://schemas.microsoft.com/office/drawing/2014/main" id="{0C1C4D95-A922-40DD-9CF6-E95EE2644151}"/>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1691680" y="1842151"/>
            <a:ext cx="5776823" cy="4395161"/>
          </a:xfrm>
          <a:prstGeom prst="rect">
            <a:avLst/>
          </a:prstGeom>
        </p:spPr>
      </p:pic>
    </p:spTree>
    <p:extLst>
      <p:ext uri="{BB962C8B-B14F-4D97-AF65-F5344CB8AC3E}">
        <p14:creationId xmlns:p14="http://schemas.microsoft.com/office/powerpoint/2010/main" val="1496432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Types of Power</a:t>
            </a:r>
            <a:endParaRPr lang="en-US" sz="3600">
              <a:latin typeface="+mj-lt"/>
            </a:endParaRPr>
          </a:p>
        </p:txBody>
      </p:sp>
      <p:sp>
        <p:nvSpPr>
          <p:cNvPr id="7" name="Content Placeholder 6">
            <a:extLst>
              <a:ext uri="{FF2B5EF4-FFF2-40B4-BE49-F238E27FC236}">
                <a16:creationId xmlns:a16="http://schemas.microsoft.com/office/drawing/2014/main" id="{D58173EC-562B-4106-89C5-449B03422091}"/>
              </a:ext>
            </a:extLst>
          </p:cNvPr>
          <p:cNvSpPr>
            <a:spLocks noGrp="1"/>
          </p:cNvSpPr>
          <p:nvPr>
            <p:ph sz="quarter" idx="13"/>
          </p:nvPr>
        </p:nvSpPr>
        <p:spPr>
          <a:xfrm>
            <a:off x="467999" y="1274400"/>
            <a:ext cx="8280713" cy="282573"/>
          </a:xfrm>
        </p:spPr>
        <p:txBody>
          <a:bodyPr wrap="square" tIns="18000" bIns="18000">
            <a:spAutoFit/>
          </a:bodyPr>
          <a:lstStyle/>
          <a:p>
            <a:pPr marL="0" indent="0">
              <a:buNone/>
            </a:pPr>
            <a:r>
              <a:rPr lang="en-US" b="1">
                <a:latin typeface="Arial" panose="020B0604020202020204" pitchFamily="34" charset="0"/>
                <a:cs typeface="Arial" panose="020B0604020202020204" pitchFamily="34" charset="0"/>
              </a:rPr>
              <a:t>Exhibit 8.6</a:t>
            </a:r>
            <a:r>
              <a:rPr lang="en-US">
                <a:latin typeface="Arial" panose="020B0604020202020204" pitchFamily="34" charset="0"/>
                <a:cs typeface="Arial" panose="020B0604020202020204" pitchFamily="34" charset="0"/>
              </a:rPr>
              <a:t> Types of Power</a:t>
            </a:r>
          </a:p>
        </p:txBody>
      </p:sp>
      <p:sp>
        <p:nvSpPr>
          <p:cNvPr id="8" name="Content Placeholder 7">
            <a:extLst>
              <a:ext uri="{FF2B5EF4-FFF2-40B4-BE49-F238E27FC236}">
                <a16:creationId xmlns:a16="http://schemas.microsoft.com/office/drawing/2014/main" id="{515F252F-249F-4B9D-99C3-42DE8516473D}"/>
              </a:ext>
            </a:extLst>
          </p:cNvPr>
          <p:cNvSpPr>
            <a:spLocks noGrp="1"/>
          </p:cNvSpPr>
          <p:nvPr>
            <p:ph sz="quarter" idx="14"/>
          </p:nvPr>
        </p:nvSpPr>
        <p:spPr>
          <a:xfrm>
            <a:off x="468000" y="1844824"/>
            <a:ext cx="8280713" cy="4422168"/>
          </a:xfrm>
        </p:spPr>
        <p:txBody>
          <a:bodyPr wrap="square" tIns="18000" bIns="18000">
            <a:spAutoFit/>
          </a:bodyPr>
          <a:lstStyle/>
          <a:p>
            <a:pPr>
              <a:spcBef>
                <a:spcPts val="600"/>
              </a:spcBef>
            </a:pPr>
            <a:r>
              <a:rPr lang="en-US" sz="2000">
                <a:latin typeface="Arial" panose="020B0604020202020204" pitchFamily="34" charset="0"/>
                <a:cs typeface="Arial" panose="020B0604020202020204" pitchFamily="34" charset="0"/>
              </a:rPr>
              <a:t>Coercive power</a:t>
            </a:r>
          </a:p>
          <a:p>
            <a:pPr lvl="1"/>
            <a:r>
              <a:rPr lang="en-US" sz="2000">
                <a:latin typeface="Arial" panose="020B0604020202020204" pitchFamily="34" charset="0"/>
                <a:cs typeface="Arial" panose="020B0604020202020204" pitchFamily="34" charset="0"/>
              </a:rPr>
              <a:t>Power based on fear.</a:t>
            </a:r>
          </a:p>
          <a:p>
            <a:pPr>
              <a:spcBef>
                <a:spcPts val="600"/>
              </a:spcBef>
            </a:pPr>
            <a:r>
              <a:rPr lang="en-US" sz="2000">
                <a:latin typeface="Arial" panose="020B0604020202020204" pitchFamily="34" charset="0"/>
                <a:cs typeface="Arial" panose="020B0604020202020204" pitchFamily="34" charset="0"/>
              </a:rPr>
              <a:t>Reward power</a:t>
            </a:r>
          </a:p>
          <a:p>
            <a:pPr lvl="1"/>
            <a:r>
              <a:rPr lang="en-US" sz="2000">
                <a:latin typeface="Arial" panose="020B0604020202020204" pitchFamily="34" charset="0"/>
                <a:cs typeface="Arial" panose="020B0604020202020204" pitchFamily="34" charset="0"/>
              </a:rPr>
              <a:t>Power based on the ability to distribute something that others value.</a:t>
            </a:r>
          </a:p>
          <a:p>
            <a:pPr>
              <a:spcBef>
                <a:spcPts val="600"/>
              </a:spcBef>
            </a:pPr>
            <a:r>
              <a:rPr lang="en-US" sz="2000">
                <a:latin typeface="Arial" panose="020B0604020202020204" pitchFamily="34" charset="0"/>
                <a:cs typeface="Arial" panose="020B0604020202020204" pitchFamily="34" charset="0"/>
              </a:rPr>
              <a:t>Legitimate power</a:t>
            </a:r>
          </a:p>
          <a:p>
            <a:pPr lvl="1"/>
            <a:r>
              <a:rPr lang="en-US" sz="2000">
                <a:latin typeface="Arial" panose="020B0604020202020204" pitchFamily="34" charset="0"/>
                <a:cs typeface="Arial" panose="020B0604020202020204" pitchFamily="34" charset="0"/>
              </a:rPr>
              <a:t>Power based on one’s position in the formal hierarchy.</a:t>
            </a:r>
          </a:p>
          <a:p>
            <a:pPr>
              <a:spcBef>
                <a:spcPts val="600"/>
              </a:spcBef>
            </a:pPr>
            <a:r>
              <a:rPr lang="en-US" sz="2000">
                <a:latin typeface="Arial" panose="020B0604020202020204" pitchFamily="34" charset="0"/>
                <a:cs typeface="Arial" panose="020B0604020202020204" pitchFamily="34" charset="0"/>
              </a:rPr>
              <a:t>Expert power</a:t>
            </a:r>
          </a:p>
          <a:p>
            <a:pPr lvl="1"/>
            <a:r>
              <a:rPr lang="en-US" sz="2000">
                <a:latin typeface="Arial" panose="020B0604020202020204" pitchFamily="34" charset="0"/>
                <a:cs typeface="Arial" panose="020B0604020202020204" pitchFamily="34" charset="0"/>
              </a:rPr>
              <a:t>Power based on one’s expertise, special skill, or knowledge.</a:t>
            </a:r>
          </a:p>
          <a:p>
            <a:pPr>
              <a:spcBef>
                <a:spcPts val="600"/>
              </a:spcBef>
            </a:pPr>
            <a:r>
              <a:rPr lang="en-US" sz="2000">
                <a:latin typeface="Arial" panose="020B0604020202020204" pitchFamily="34" charset="0"/>
                <a:cs typeface="Arial" panose="020B0604020202020204" pitchFamily="34" charset="0"/>
              </a:rPr>
              <a:t>Referent power</a:t>
            </a:r>
          </a:p>
          <a:p>
            <a:pPr lvl="1"/>
            <a:r>
              <a:rPr lang="en-US" sz="2000">
                <a:latin typeface="Arial" panose="020B0604020202020204" pitchFamily="34" charset="0"/>
                <a:cs typeface="Arial" panose="020B0604020202020204" pitchFamily="34" charset="0"/>
              </a:rPr>
              <a:t>Power based on identification with a person who has desirable resources or personal traits.</a:t>
            </a:r>
          </a:p>
        </p:txBody>
      </p:sp>
    </p:spTree>
    <p:extLst>
      <p:ext uri="{BB962C8B-B14F-4D97-AF65-F5344CB8AC3E}">
        <p14:creationId xmlns:p14="http://schemas.microsoft.com/office/powerpoint/2010/main" val="451293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dirty="0">
                <a:latin typeface="+mj-lt"/>
                <a:ea typeface="ＭＳ Ｐゴシック" panose="020B0600070205080204" pitchFamily="34" charset="-128"/>
                <a:cs typeface="Arial" panose="020B0604020202020204" pitchFamily="34" charset="0"/>
              </a:rPr>
              <a:t>Span of Control</a:t>
            </a:r>
            <a:endParaRPr lang="en-US" sz="3600" dirty="0">
              <a:latin typeface="+mj-lt"/>
            </a:endParaRPr>
          </a:p>
        </p:txBody>
      </p:sp>
      <p:sp>
        <p:nvSpPr>
          <p:cNvPr id="3" name="Content Placeholder 2"/>
          <p:cNvSpPr>
            <a:spLocks noGrp="1"/>
          </p:cNvSpPr>
          <p:nvPr>
            <p:ph idx="1"/>
          </p:nvPr>
        </p:nvSpPr>
        <p:spPr>
          <a:xfrm>
            <a:off x="468000" y="1274400"/>
            <a:ext cx="8229600" cy="2460092"/>
          </a:xfrm>
        </p:spPr>
        <p:txBody>
          <a:bodyPr tIns="18000" bIns="18000">
            <a:spAutoFit/>
          </a:bodyPr>
          <a:lstStyle/>
          <a:p>
            <a:pPr marL="0" indent="0">
              <a:buClr>
                <a:schemeClr val="bg2"/>
              </a:buClr>
              <a:buSzPct val="100000"/>
              <a:buNone/>
              <a:defRPr/>
            </a:pPr>
            <a:r>
              <a:rPr lang="en-US" altLang="en-US" sz="2400" b="1" dirty="0">
                <a:latin typeface="Arial" panose="020B0604020202020204" pitchFamily="34" charset="0"/>
                <a:ea typeface="ＭＳ Ｐゴシック" pitchFamily="34" charset="-128"/>
                <a:cs typeface="Arial" panose="020B0604020202020204" pitchFamily="34" charset="0"/>
              </a:rPr>
              <a:t>Effective and efficient span depends on:</a:t>
            </a:r>
          </a:p>
          <a:p>
            <a:pPr marL="256032" indent="-256032">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Employee experience and training (more they have, larger span)</a:t>
            </a:r>
          </a:p>
          <a:p>
            <a:pPr marL="256032" indent="-256032">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Similarity of employee tasks (more similarity, larger span)</a:t>
            </a:r>
          </a:p>
          <a:p>
            <a:pPr marL="256032" indent="-256032">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Complexity of those tasks (more complex, smaller span)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1634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Centralization and Decentralization</a:t>
            </a:r>
            <a:endParaRPr lang="en-US">
              <a:latin typeface="+mj-lt"/>
            </a:endParaRPr>
          </a:p>
        </p:txBody>
      </p:sp>
      <p:sp>
        <p:nvSpPr>
          <p:cNvPr id="3" name="Content Placeholder 2"/>
          <p:cNvSpPr>
            <a:spLocks noGrp="1"/>
          </p:cNvSpPr>
          <p:nvPr>
            <p:ph idx="1"/>
          </p:nvPr>
        </p:nvSpPr>
        <p:spPr>
          <a:xfrm>
            <a:off x="468000" y="1274400"/>
            <a:ext cx="8229600" cy="1336708"/>
          </a:xfrm>
        </p:spPr>
        <p:txBody>
          <a:bodyPr tIns="18000" bIns="18000">
            <a:spAutoFit/>
          </a:bodyPr>
          <a:lstStyle/>
          <a:p>
            <a:pPr marL="0" indent="0">
              <a:buNone/>
              <a:defRPr/>
            </a:pPr>
            <a:r>
              <a:rPr lang="en-US" altLang="en-US" sz="2400" b="1">
                <a:latin typeface="Arial" panose="020B0604020202020204" pitchFamily="34" charset="0"/>
                <a:ea typeface="ＭＳ Ｐゴシック" pitchFamily="34" charset="-128"/>
                <a:cs typeface="Arial" panose="020B0604020202020204" pitchFamily="34" charset="0"/>
              </a:rPr>
              <a:t>Centralization:</a:t>
            </a:r>
          </a:p>
          <a:p>
            <a:pPr marL="255600" indent="-255600">
              <a:spcAft>
                <a:spcPts val="1200"/>
              </a:spcAft>
              <a:buSzPct val="100000"/>
              <a:defRPr/>
            </a:pPr>
            <a:r>
              <a:rPr lang="en-US" altLang="en-US" sz="2400">
                <a:latin typeface="Arial" panose="020B0604020202020204" pitchFamily="34" charset="0"/>
                <a:ea typeface="ＭＳ Ｐゴシック" pitchFamily="34" charset="-128"/>
                <a:cs typeface="Arial" panose="020B0604020202020204" pitchFamily="34" charset="0"/>
              </a:rPr>
              <a:t>decision making takes place at upper levels of the organization.</a:t>
            </a:r>
          </a:p>
        </p:txBody>
      </p:sp>
      <p:sp>
        <p:nvSpPr>
          <p:cNvPr id="4" name="Content Placeholder 3"/>
          <p:cNvSpPr>
            <a:spLocks noGrp="1"/>
          </p:cNvSpPr>
          <p:nvPr>
            <p:ph idx="13"/>
          </p:nvPr>
        </p:nvSpPr>
        <p:spPr>
          <a:xfrm>
            <a:off x="468000" y="2740364"/>
            <a:ext cx="8229600" cy="1336708"/>
          </a:xfrm>
        </p:spPr>
        <p:txBody>
          <a:bodyPr tIns="18000" bIns="18000">
            <a:spAutoFit/>
          </a:bodyPr>
          <a:lstStyle/>
          <a:p>
            <a:pPr marL="0" indent="0">
              <a:buNone/>
            </a:pPr>
            <a:r>
              <a:rPr lang="en-US" sz="2400" b="1">
                <a:latin typeface="Arial" panose="020B0604020202020204" pitchFamily="34" charset="0"/>
                <a:cs typeface="Arial" panose="020B0604020202020204" pitchFamily="34" charset="0"/>
              </a:rPr>
              <a:t>Decentralization:</a:t>
            </a:r>
          </a:p>
          <a:p>
            <a:r>
              <a:rPr lang="en-US" sz="2400">
                <a:latin typeface="Arial" panose="020B0604020202020204" pitchFamily="34" charset="0"/>
                <a:cs typeface="Arial" panose="020B0604020202020204" pitchFamily="34" charset="0"/>
              </a:rPr>
              <a:t>lower-level managers provide input or actually make decisions.</a:t>
            </a:r>
          </a:p>
        </p:txBody>
      </p:sp>
    </p:spTree>
    <p:extLst>
      <p:ext uri="{BB962C8B-B14F-4D97-AF65-F5344CB8AC3E}">
        <p14:creationId xmlns:p14="http://schemas.microsoft.com/office/powerpoint/2010/main" val="2676679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dirty="0">
                <a:latin typeface="+mj-lt"/>
                <a:ea typeface="ＭＳ Ｐゴシック" panose="020B0600070205080204" pitchFamily="34" charset="-128"/>
                <a:cs typeface="Arial" panose="020B0604020202020204" pitchFamily="34" charset="0"/>
              </a:rPr>
              <a:t>Formalization</a:t>
            </a:r>
            <a:endParaRPr lang="en-US" sz="3600" dirty="0">
              <a:latin typeface="+mj-lt"/>
            </a:endParaRPr>
          </a:p>
        </p:txBody>
      </p:sp>
      <p:sp>
        <p:nvSpPr>
          <p:cNvPr id="3" name="Content Placeholder 2"/>
          <p:cNvSpPr>
            <a:spLocks noGrp="1"/>
          </p:cNvSpPr>
          <p:nvPr>
            <p:ph idx="1"/>
          </p:nvPr>
        </p:nvSpPr>
        <p:spPr>
          <a:xfrm>
            <a:off x="468000" y="1274400"/>
            <a:ext cx="8229600" cy="1144347"/>
          </a:xfrm>
        </p:spPr>
        <p:txBody>
          <a:bodyPr tIns="18000" bIns="18000">
            <a:spAutoFit/>
          </a:bodyPr>
          <a:lstStyle/>
          <a:p>
            <a:pPr marL="0" indent="0">
              <a:buSzPct val="100000"/>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How standardized an organization’s jobs are and the extent to which employee behavior is guided by rules and procedures</a:t>
            </a:r>
          </a:p>
        </p:txBody>
      </p:sp>
    </p:spTree>
    <p:extLst>
      <p:ext uri="{BB962C8B-B14F-4D97-AF65-F5344CB8AC3E}">
        <p14:creationId xmlns:p14="http://schemas.microsoft.com/office/powerpoint/2010/main" val="3138036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dirty="0">
                <a:solidFill>
                  <a:schemeClr val="bg2"/>
                </a:solidFill>
                <a:latin typeface="+mj-lt"/>
                <a:cs typeface="Arial" pitchFamily="34" charset="0"/>
              </a:rPr>
              <a:t>Learning Objective 8.2</a:t>
            </a:r>
            <a:endParaRPr lang="en-US" sz="3600" dirty="0">
              <a:solidFill>
                <a:schemeClr val="bg2"/>
              </a:solidFill>
              <a:latin typeface="+mj-lt"/>
            </a:endParaRPr>
          </a:p>
        </p:txBody>
      </p:sp>
      <p:sp>
        <p:nvSpPr>
          <p:cNvPr id="3" name="Content Placeholder 2"/>
          <p:cNvSpPr>
            <a:spLocks noGrp="1"/>
          </p:cNvSpPr>
          <p:nvPr>
            <p:ph idx="1"/>
          </p:nvPr>
        </p:nvSpPr>
        <p:spPr>
          <a:xfrm>
            <a:off x="468000" y="1274400"/>
            <a:ext cx="8229600" cy="1144347"/>
          </a:xfrm>
        </p:spPr>
        <p:txBody>
          <a:bodyPr tIns="18000" bIns="18000">
            <a:spAutoFit/>
          </a:bodyPr>
          <a:lstStyle/>
          <a:p>
            <a:pPr>
              <a:buSzPct val="100000"/>
            </a:pPr>
            <a:r>
              <a:rPr lang="en-US" altLang="en-US" sz="2400" dirty="0">
                <a:latin typeface="Arial" panose="020B0604020202020204" pitchFamily="34" charset="0"/>
                <a:cs typeface="Arial" panose="020B0604020202020204" pitchFamily="34" charset="0"/>
              </a:rPr>
              <a:t>Identify the contingency factors that favor either the mechanistic model or the organic model of organizational design.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1062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Models of Organizational Design</a:t>
            </a:r>
            <a:endParaRPr lang="en-US" sz="3600">
              <a:latin typeface="+mj-lt"/>
            </a:endParaRPr>
          </a:p>
        </p:txBody>
      </p:sp>
      <p:sp>
        <p:nvSpPr>
          <p:cNvPr id="13" name="Content Placeholder 12">
            <a:extLst>
              <a:ext uri="{FF2B5EF4-FFF2-40B4-BE49-F238E27FC236}">
                <a16:creationId xmlns:a16="http://schemas.microsoft.com/office/drawing/2014/main" id="{0BBB90F3-FD39-42D0-A4DC-F8FC3A186DF9}"/>
              </a:ext>
            </a:extLst>
          </p:cNvPr>
          <p:cNvSpPr>
            <a:spLocks noGrp="1"/>
          </p:cNvSpPr>
          <p:nvPr>
            <p:ph sz="quarter" idx="13"/>
          </p:nvPr>
        </p:nvSpPr>
        <p:spPr>
          <a:xfrm>
            <a:off x="467999" y="1274400"/>
            <a:ext cx="8280713" cy="282573"/>
          </a:xfrm>
        </p:spPr>
        <p:txBody>
          <a:bodyPr wrap="square" tIns="18000" bIns="18000">
            <a:spAutoFit/>
          </a:bodyPr>
          <a:lstStyle/>
          <a:p>
            <a:pPr marL="0" indent="0">
              <a:buNone/>
            </a:pPr>
            <a:r>
              <a:rPr lang="en-US" altLang="en-US" b="1">
                <a:latin typeface="Arial" panose="020B0604020202020204" pitchFamily="34" charset="0"/>
                <a:ea typeface="ＭＳ Ｐゴシック" panose="020B0600070205080204" pitchFamily="34" charset="-128"/>
                <a:cs typeface="Arial" panose="020B0604020202020204" pitchFamily="34" charset="0"/>
              </a:rPr>
              <a:t>Exhibit 8.7</a:t>
            </a:r>
            <a:r>
              <a:rPr lang="en-US" altLang="en-US">
                <a:latin typeface="Arial" panose="020B0604020202020204" pitchFamily="34" charset="0"/>
                <a:ea typeface="ＭＳ Ｐゴシック" panose="020B0600070205080204" pitchFamily="34" charset="-128"/>
                <a:cs typeface="Arial" panose="020B0604020202020204" pitchFamily="34" charset="0"/>
              </a:rPr>
              <a:t> Mechanistic versus Organic Organizations</a:t>
            </a:r>
            <a:endParaRPr lang="en-US">
              <a:latin typeface="Arial" panose="020B0604020202020204" pitchFamily="34" charset="0"/>
              <a:cs typeface="Arial" panose="020B0604020202020204" pitchFamily="34" charset="0"/>
            </a:endParaRPr>
          </a:p>
        </p:txBody>
      </p:sp>
      <p:pic>
        <p:nvPicPr>
          <p:cNvPr id="28" name="Picture Placeholder 27" descr="An illustration of a triangle labeled, mechanistic.">
            <a:extLst>
              <a:ext uri="{FF2B5EF4-FFF2-40B4-BE49-F238E27FC236}">
                <a16:creationId xmlns:a16="http://schemas.microsoft.com/office/drawing/2014/main" id="{7EBA86D3-0965-4A64-90AA-F2E2E7668ED3}"/>
              </a:ext>
            </a:extLst>
          </p:cNvPr>
          <p:cNvPicPr>
            <a:picLocks noGrp="1" noChangeAspect="1"/>
          </p:cNvPicPr>
          <p:nvPr>
            <p:ph type="pic" sz="quarter" idx="23"/>
          </p:nvPr>
        </p:nvPicPr>
        <p:blipFill>
          <a:blip r:embed="rId3">
            <a:extLst>
              <a:ext uri="{28A0092B-C50C-407E-A947-70E740481C1C}">
                <a14:useLocalDpi xmlns:a14="http://schemas.microsoft.com/office/drawing/2010/main" val="0"/>
              </a:ext>
            </a:extLst>
          </a:blip>
          <a:stretch>
            <a:fillRect/>
          </a:stretch>
        </p:blipFill>
        <p:spPr>
          <a:xfrm>
            <a:off x="740791" y="1921627"/>
            <a:ext cx="2334768" cy="2133600"/>
          </a:xfrm>
          <a:prstGeom prst="rect">
            <a:avLst/>
          </a:prstGeom>
        </p:spPr>
      </p:pic>
      <p:sp>
        <p:nvSpPr>
          <p:cNvPr id="14" name="Content Placeholder 13">
            <a:extLst>
              <a:ext uri="{FF2B5EF4-FFF2-40B4-BE49-F238E27FC236}">
                <a16:creationId xmlns:a16="http://schemas.microsoft.com/office/drawing/2014/main" id="{C0DC185F-E18C-4244-A085-B3E8318A9569}"/>
              </a:ext>
            </a:extLst>
          </p:cNvPr>
          <p:cNvSpPr>
            <a:spLocks noGrp="1"/>
          </p:cNvSpPr>
          <p:nvPr>
            <p:ph sz="quarter" idx="14"/>
          </p:nvPr>
        </p:nvSpPr>
        <p:spPr>
          <a:xfrm>
            <a:off x="468000" y="4221088"/>
            <a:ext cx="3249436" cy="2144621"/>
          </a:xfrm>
        </p:spPr>
        <p:txBody>
          <a:bodyPr wrap="square" tIns="18000" bIns="18000">
            <a:spAutoFit/>
          </a:bodyPr>
          <a:lstStyle/>
          <a:p>
            <a:pPr>
              <a:spcBef>
                <a:spcPts val="600"/>
              </a:spcBef>
            </a:pPr>
            <a:r>
              <a:rPr lang="en-US">
                <a:latin typeface="Arial" panose="020B0604020202020204" pitchFamily="34" charset="0"/>
                <a:cs typeface="Arial" panose="020B0604020202020204" pitchFamily="34" charset="0"/>
              </a:rPr>
              <a:t>Rigid hierarchical relationships</a:t>
            </a:r>
          </a:p>
          <a:p>
            <a:pPr>
              <a:spcBef>
                <a:spcPts val="600"/>
              </a:spcBef>
            </a:pPr>
            <a:r>
              <a:rPr lang="en-US">
                <a:latin typeface="Arial" panose="020B0604020202020204" pitchFamily="34" charset="0"/>
                <a:cs typeface="Arial" panose="020B0604020202020204" pitchFamily="34" charset="0"/>
              </a:rPr>
              <a:t>Fixed duties</a:t>
            </a:r>
          </a:p>
          <a:p>
            <a:pPr>
              <a:spcBef>
                <a:spcPts val="600"/>
              </a:spcBef>
            </a:pPr>
            <a:r>
              <a:rPr lang="en-US">
                <a:latin typeface="Arial" panose="020B0604020202020204" pitchFamily="34" charset="0"/>
                <a:cs typeface="Arial" panose="020B0604020202020204" pitchFamily="34" charset="0"/>
              </a:rPr>
              <a:t>Many rules</a:t>
            </a:r>
          </a:p>
          <a:p>
            <a:pPr>
              <a:spcBef>
                <a:spcPts val="600"/>
              </a:spcBef>
            </a:pPr>
            <a:r>
              <a:rPr lang="en-US">
                <a:latin typeface="Arial" panose="020B0604020202020204" pitchFamily="34" charset="0"/>
                <a:cs typeface="Arial" panose="020B0604020202020204" pitchFamily="34" charset="0"/>
              </a:rPr>
              <a:t>Formalized communication channels</a:t>
            </a:r>
          </a:p>
          <a:p>
            <a:pPr>
              <a:spcBef>
                <a:spcPts val="600"/>
              </a:spcBef>
            </a:pPr>
            <a:r>
              <a:rPr lang="en-US">
                <a:latin typeface="Arial" panose="020B0604020202020204" pitchFamily="34" charset="0"/>
                <a:cs typeface="Arial" panose="020B0604020202020204" pitchFamily="34" charset="0"/>
              </a:rPr>
              <a:t>Centralized decision authority</a:t>
            </a:r>
          </a:p>
          <a:p>
            <a:pPr>
              <a:spcBef>
                <a:spcPts val="600"/>
              </a:spcBef>
            </a:pPr>
            <a:r>
              <a:rPr lang="en-US">
                <a:latin typeface="Arial" panose="020B0604020202020204" pitchFamily="34" charset="0"/>
                <a:cs typeface="Arial" panose="020B0604020202020204" pitchFamily="34" charset="0"/>
              </a:rPr>
              <a:t>Taller structures</a:t>
            </a:r>
          </a:p>
        </p:txBody>
      </p:sp>
      <p:pic>
        <p:nvPicPr>
          <p:cNvPr id="30" name="Picture Placeholder 29" descr="An illustration of an irregular shape with smooth curves labeled, organic.">
            <a:extLst>
              <a:ext uri="{FF2B5EF4-FFF2-40B4-BE49-F238E27FC236}">
                <a16:creationId xmlns:a16="http://schemas.microsoft.com/office/drawing/2014/main" id="{97ECF167-E532-4036-B3EC-6DC89E1061EA}"/>
              </a:ext>
            </a:extLst>
          </p:cNvPr>
          <p:cNvPicPr>
            <a:picLocks noGrp="1" noChangeAspect="1"/>
          </p:cNvPicPr>
          <p:nvPr>
            <p:ph type="pic" sz="quarter" idx="24"/>
          </p:nvPr>
        </p:nvPicPr>
        <p:blipFill>
          <a:blip r:embed="rId4">
            <a:extLst>
              <a:ext uri="{28A0092B-C50C-407E-A947-70E740481C1C}">
                <a14:useLocalDpi xmlns:a14="http://schemas.microsoft.com/office/drawing/2010/main" val="0"/>
              </a:ext>
            </a:extLst>
          </a:blip>
          <a:stretch>
            <a:fillRect/>
          </a:stretch>
        </p:blipFill>
        <p:spPr>
          <a:xfrm>
            <a:off x="4608355" y="1871464"/>
            <a:ext cx="2950464" cy="2133600"/>
          </a:xfrm>
          <a:prstGeom prst="rect">
            <a:avLst/>
          </a:prstGeom>
        </p:spPr>
      </p:pic>
      <p:sp>
        <p:nvSpPr>
          <p:cNvPr id="15" name="Content Placeholder 14">
            <a:extLst>
              <a:ext uri="{FF2B5EF4-FFF2-40B4-BE49-F238E27FC236}">
                <a16:creationId xmlns:a16="http://schemas.microsoft.com/office/drawing/2014/main" id="{800DE49B-A853-4EDF-B6CF-0EB9C0211671}"/>
              </a:ext>
            </a:extLst>
          </p:cNvPr>
          <p:cNvSpPr>
            <a:spLocks noGrp="1"/>
          </p:cNvSpPr>
          <p:nvPr>
            <p:ph sz="quarter" idx="15"/>
          </p:nvPr>
        </p:nvSpPr>
        <p:spPr>
          <a:xfrm>
            <a:off x="4572000" y="4437112"/>
            <a:ext cx="4176713" cy="1898400"/>
          </a:xfrm>
        </p:spPr>
        <p:txBody>
          <a:bodyPr wrap="square" tIns="18000" bIns="18000">
            <a:spAutoFit/>
          </a:bodyPr>
          <a:lstStyle/>
          <a:p>
            <a:pPr>
              <a:spcBef>
                <a:spcPts val="600"/>
              </a:spcBef>
            </a:pPr>
            <a:r>
              <a:rPr lang="en-US">
                <a:latin typeface="Arial" panose="020B0604020202020204" pitchFamily="34" charset="0"/>
                <a:cs typeface="Arial" panose="020B0604020202020204" pitchFamily="34" charset="0"/>
              </a:rPr>
              <a:t>Collaboration (both vertical and horizontal)</a:t>
            </a:r>
          </a:p>
          <a:p>
            <a:pPr>
              <a:spcBef>
                <a:spcPts val="600"/>
              </a:spcBef>
            </a:pPr>
            <a:r>
              <a:rPr lang="en-US">
                <a:latin typeface="Arial" panose="020B0604020202020204" pitchFamily="34" charset="0"/>
                <a:cs typeface="Arial" panose="020B0604020202020204" pitchFamily="34" charset="0"/>
              </a:rPr>
              <a:t>Adaptable duties</a:t>
            </a:r>
          </a:p>
          <a:p>
            <a:pPr>
              <a:spcBef>
                <a:spcPts val="600"/>
              </a:spcBef>
            </a:pPr>
            <a:r>
              <a:rPr lang="en-US">
                <a:latin typeface="Arial" panose="020B0604020202020204" pitchFamily="34" charset="0"/>
                <a:cs typeface="Arial" panose="020B0604020202020204" pitchFamily="34" charset="0"/>
              </a:rPr>
              <a:t>Few rules</a:t>
            </a:r>
          </a:p>
          <a:p>
            <a:pPr>
              <a:spcBef>
                <a:spcPts val="600"/>
              </a:spcBef>
            </a:pPr>
            <a:r>
              <a:rPr lang="en-US">
                <a:latin typeface="Arial" panose="020B0604020202020204" pitchFamily="34" charset="0"/>
                <a:cs typeface="Arial" panose="020B0604020202020204" pitchFamily="34" charset="0"/>
              </a:rPr>
              <a:t>Informal communication</a:t>
            </a:r>
          </a:p>
          <a:p>
            <a:pPr>
              <a:spcBef>
                <a:spcPts val="600"/>
              </a:spcBef>
            </a:pPr>
            <a:r>
              <a:rPr lang="en-US">
                <a:latin typeface="Arial" panose="020B0604020202020204" pitchFamily="34" charset="0"/>
                <a:cs typeface="Arial" panose="020B0604020202020204" pitchFamily="34" charset="0"/>
              </a:rPr>
              <a:t>Decentralized decision authority</a:t>
            </a:r>
          </a:p>
          <a:p>
            <a:pPr>
              <a:spcBef>
                <a:spcPts val="600"/>
              </a:spcBef>
            </a:pPr>
            <a:r>
              <a:rPr lang="en-US">
                <a:latin typeface="Arial" panose="020B0604020202020204" pitchFamily="34" charset="0"/>
                <a:cs typeface="Arial" panose="020B0604020202020204" pitchFamily="34" charset="0"/>
              </a:rPr>
              <a:t>Flatter structures</a:t>
            </a:r>
          </a:p>
        </p:txBody>
      </p:sp>
    </p:spTree>
    <p:extLst>
      <p:ext uri="{BB962C8B-B14F-4D97-AF65-F5344CB8AC3E}">
        <p14:creationId xmlns:p14="http://schemas.microsoft.com/office/powerpoint/2010/main" val="4237382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dirty="0">
                <a:latin typeface="+mj-lt"/>
                <a:ea typeface="ＭＳ Ｐゴシック" panose="020B0600070205080204" pitchFamily="34" charset="-128"/>
                <a:cs typeface="Arial" panose="020B0604020202020204" pitchFamily="34" charset="0"/>
              </a:rPr>
              <a:t>Strategy and Structure</a:t>
            </a:r>
            <a:endParaRPr lang="en-US" sz="3600" dirty="0">
              <a:latin typeface="+mj-lt"/>
            </a:endParaRPr>
          </a:p>
        </p:txBody>
      </p:sp>
      <p:sp>
        <p:nvSpPr>
          <p:cNvPr id="20" name="Content Placeholder 19">
            <a:extLst>
              <a:ext uri="{FF2B5EF4-FFF2-40B4-BE49-F238E27FC236}">
                <a16:creationId xmlns:a16="http://schemas.microsoft.com/office/drawing/2014/main" id="{8172D92B-6C57-4ECB-B08B-6483027F73BB}"/>
              </a:ext>
            </a:extLst>
          </p:cNvPr>
          <p:cNvSpPr>
            <a:spLocks noGrp="1"/>
          </p:cNvSpPr>
          <p:nvPr>
            <p:ph sz="quarter" idx="13"/>
          </p:nvPr>
        </p:nvSpPr>
        <p:spPr>
          <a:xfrm>
            <a:off x="468000" y="1124744"/>
            <a:ext cx="8280713" cy="775015"/>
          </a:xfrm>
        </p:spPr>
        <p:txBody>
          <a:bodyPr wrap="square" tIns="18000" bIns="18000">
            <a:spAutoFit/>
          </a:bodyPr>
          <a:lstStyle/>
          <a:p>
            <a:pPr marL="0" indent="0">
              <a:buNone/>
            </a:pPr>
            <a:r>
              <a:rPr lang="en-US" altLang="en-US" sz="2400" dirty="0">
                <a:latin typeface="Arial" panose="020B0604020202020204" pitchFamily="34" charset="0"/>
                <a:ea typeface="ＭＳ Ｐゴシック" pitchFamily="34" charset="-128"/>
                <a:cs typeface="Arial" panose="020B0604020202020204" pitchFamily="34" charset="0"/>
              </a:rPr>
              <a:t>Certain structural designs work best with different organizational strategies:</a:t>
            </a:r>
            <a:endParaRPr lang="en-US" sz="2400" dirty="0">
              <a:latin typeface="Arial" panose="020B0604020202020204" pitchFamily="34" charset="0"/>
              <a:cs typeface="Arial" panose="020B0604020202020204" pitchFamily="34" charset="0"/>
            </a:endParaRPr>
          </a:p>
        </p:txBody>
      </p:sp>
      <p:sp>
        <p:nvSpPr>
          <p:cNvPr id="21" name="Content Placeholder 20">
            <a:extLst>
              <a:ext uri="{FF2B5EF4-FFF2-40B4-BE49-F238E27FC236}">
                <a16:creationId xmlns:a16="http://schemas.microsoft.com/office/drawing/2014/main" id="{06BD3741-5589-4076-83ED-B36D1945846D}"/>
              </a:ext>
            </a:extLst>
          </p:cNvPr>
          <p:cNvSpPr>
            <a:spLocks noGrp="1"/>
          </p:cNvSpPr>
          <p:nvPr>
            <p:ph sz="quarter" idx="14"/>
          </p:nvPr>
        </p:nvSpPr>
        <p:spPr>
          <a:xfrm>
            <a:off x="468001" y="2055208"/>
            <a:ext cx="2159784" cy="405683"/>
          </a:xfrm>
        </p:spPr>
        <p:txBody>
          <a:bodyPr wrap="square" tIns="18000" bIns="18000">
            <a:spAutoFit/>
          </a:bodyPr>
          <a:lstStyle/>
          <a:p>
            <a:pPr marL="0" indent="0">
              <a:buNone/>
            </a:pPr>
            <a:r>
              <a:rPr lang="en-US" altLang="en-US" sz="2400" dirty="0">
                <a:latin typeface="Arial" panose="020B0604020202020204" pitchFamily="34" charset="0"/>
                <a:ea typeface="ＭＳ Ｐゴシック" pitchFamily="34" charset="-128"/>
                <a:cs typeface="Arial" panose="020B0604020202020204" pitchFamily="34" charset="0"/>
              </a:rPr>
              <a:t>Simple strategy</a:t>
            </a:r>
            <a:endParaRPr lang="en-US" sz="2400" dirty="0">
              <a:latin typeface="Arial" panose="020B0604020202020204" pitchFamily="34" charset="0"/>
              <a:cs typeface="Arial" panose="020B0604020202020204" pitchFamily="34" charset="0"/>
            </a:endParaRPr>
          </a:p>
        </p:txBody>
      </p:sp>
      <p:pic>
        <p:nvPicPr>
          <p:cNvPr id="35" name="Picture Placeholder 34" descr="A right arrow.">
            <a:extLst>
              <a:ext uri="{FF2B5EF4-FFF2-40B4-BE49-F238E27FC236}">
                <a16:creationId xmlns:a16="http://schemas.microsoft.com/office/drawing/2014/main" id="{68C8399F-F6B7-4A1E-AD64-5396A07BD9FF}"/>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tretch>
            <a:fillRect/>
          </a:stretch>
        </p:blipFill>
        <p:spPr>
          <a:xfrm>
            <a:off x="3422144" y="2040911"/>
            <a:ext cx="1005840" cy="548640"/>
          </a:xfrm>
          <a:prstGeom prst="rect">
            <a:avLst/>
          </a:prstGeom>
        </p:spPr>
      </p:pic>
      <p:sp>
        <p:nvSpPr>
          <p:cNvPr id="22" name="Content Placeholder 21">
            <a:extLst>
              <a:ext uri="{FF2B5EF4-FFF2-40B4-BE49-F238E27FC236}">
                <a16:creationId xmlns:a16="http://schemas.microsoft.com/office/drawing/2014/main" id="{FB074EF9-EF97-4C55-A630-EE903985EFBA}"/>
              </a:ext>
            </a:extLst>
          </p:cNvPr>
          <p:cNvSpPr>
            <a:spLocks noGrp="1"/>
          </p:cNvSpPr>
          <p:nvPr>
            <p:ph sz="quarter" idx="15"/>
          </p:nvPr>
        </p:nvSpPr>
        <p:spPr>
          <a:xfrm>
            <a:off x="4862303" y="2081573"/>
            <a:ext cx="2229977" cy="405683"/>
          </a:xfrm>
        </p:spPr>
        <p:txBody>
          <a:bodyPr wrap="square" tIns="18000" bIns="18000">
            <a:spAutoFit/>
          </a:bodyPr>
          <a:lstStyle/>
          <a:p>
            <a:pPr marL="0" indent="0">
              <a:buNone/>
            </a:pPr>
            <a:r>
              <a:rPr lang="en-US" altLang="en-US" sz="2400" dirty="0">
                <a:latin typeface="Arial" panose="020B0604020202020204" pitchFamily="34" charset="0"/>
                <a:ea typeface="ＭＳ Ｐゴシック" pitchFamily="34" charset="-128"/>
                <a:cs typeface="Arial" panose="020B0604020202020204" pitchFamily="34" charset="0"/>
              </a:rPr>
              <a:t>Simple structure</a:t>
            </a:r>
            <a:endParaRPr lang="en-US" sz="2400" dirty="0">
              <a:latin typeface="Arial" panose="020B0604020202020204" pitchFamily="34" charset="0"/>
              <a:cs typeface="Arial" panose="020B0604020202020204" pitchFamily="34" charset="0"/>
            </a:endParaRPr>
          </a:p>
        </p:txBody>
      </p:sp>
      <p:sp>
        <p:nvSpPr>
          <p:cNvPr id="23" name="Content Placeholder 22">
            <a:extLst>
              <a:ext uri="{FF2B5EF4-FFF2-40B4-BE49-F238E27FC236}">
                <a16:creationId xmlns:a16="http://schemas.microsoft.com/office/drawing/2014/main" id="{C66A53A3-6743-45C7-A835-0D0981F3B91C}"/>
              </a:ext>
            </a:extLst>
          </p:cNvPr>
          <p:cNvSpPr>
            <a:spLocks noGrp="1"/>
          </p:cNvSpPr>
          <p:nvPr>
            <p:ph sz="quarter" idx="16"/>
          </p:nvPr>
        </p:nvSpPr>
        <p:spPr>
          <a:xfrm>
            <a:off x="468000" y="2780928"/>
            <a:ext cx="2519824" cy="405683"/>
          </a:xfrm>
        </p:spPr>
        <p:txBody>
          <a:bodyPr wrap="square" tIns="18000" bIns="18000">
            <a:spAutoFit/>
          </a:bodyPr>
          <a:lstStyle/>
          <a:p>
            <a:pPr marL="0" indent="0">
              <a:buNone/>
            </a:pPr>
            <a:r>
              <a:rPr lang="en-US" altLang="en-US" sz="2400" dirty="0">
                <a:latin typeface="Arial" panose="020B0604020202020204" pitchFamily="34" charset="0"/>
                <a:ea typeface="ＭＳ Ｐゴシック" pitchFamily="34" charset="-128"/>
                <a:cs typeface="Arial" panose="020B0604020202020204" pitchFamily="34" charset="0"/>
              </a:rPr>
              <a:t>Elaborate strategy</a:t>
            </a:r>
            <a:endParaRPr lang="en-US" sz="2400" dirty="0">
              <a:latin typeface="Arial" panose="020B0604020202020204" pitchFamily="34" charset="0"/>
              <a:cs typeface="Arial" panose="020B0604020202020204" pitchFamily="34" charset="0"/>
            </a:endParaRPr>
          </a:p>
        </p:txBody>
      </p:sp>
      <p:pic>
        <p:nvPicPr>
          <p:cNvPr id="37" name="Picture Placeholder 36" descr="A right arrow.">
            <a:extLst>
              <a:ext uri="{FF2B5EF4-FFF2-40B4-BE49-F238E27FC236}">
                <a16:creationId xmlns:a16="http://schemas.microsoft.com/office/drawing/2014/main" id="{EE179078-D413-4F7E-BA57-AF713ACB6923}"/>
              </a:ext>
            </a:extLst>
          </p:cNvPr>
          <p:cNvPicPr>
            <a:picLocks noGrp="1" noChangeAspect="1"/>
          </p:cNvPicPr>
          <p:nvPr>
            <p:ph type="pic" sz="quarter" idx="20"/>
          </p:nvPr>
        </p:nvPicPr>
        <p:blipFill>
          <a:blip r:embed="rId3">
            <a:extLst>
              <a:ext uri="{28A0092B-C50C-407E-A947-70E740481C1C}">
                <a14:useLocalDpi xmlns:a14="http://schemas.microsoft.com/office/drawing/2010/main" val="0"/>
              </a:ext>
            </a:extLst>
          </a:blip>
          <a:stretch>
            <a:fillRect/>
          </a:stretch>
        </p:blipFill>
        <p:spPr>
          <a:xfrm>
            <a:off x="3422144" y="2781358"/>
            <a:ext cx="1005840" cy="548640"/>
          </a:xfrm>
          <a:prstGeom prst="rect">
            <a:avLst/>
          </a:prstGeom>
        </p:spPr>
      </p:pic>
      <p:sp>
        <p:nvSpPr>
          <p:cNvPr id="24" name="Content Placeholder 23">
            <a:extLst>
              <a:ext uri="{FF2B5EF4-FFF2-40B4-BE49-F238E27FC236}">
                <a16:creationId xmlns:a16="http://schemas.microsoft.com/office/drawing/2014/main" id="{89A33DAA-868B-469D-A89E-D2072AE82A8A}"/>
              </a:ext>
            </a:extLst>
          </p:cNvPr>
          <p:cNvSpPr>
            <a:spLocks noGrp="1"/>
          </p:cNvSpPr>
          <p:nvPr>
            <p:ph sz="quarter" idx="17"/>
          </p:nvPr>
        </p:nvSpPr>
        <p:spPr>
          <a:xfrm>
            <a:off x="4896204" y="2858482"/>
            <a:ext cx="3204188" cy="405683"/>
          </a:xfrm>
        </p:spPr>
        <p:txBody>
          <a:bodyPr wrap="square" tIns="18000" bIns="18000">
            <a:spAutoFit/>
          </a:bodyPr>
          <a:lstStyle/>
          <a:p>
            <a:pPr marL="0" indent="0">
              <a:buNone/>
            </a:pPr>
            <a:r>
              <a:rPr lang="en-US" altLang="en-US" sz="2400" dirty="0">
                <a:latin typeface="Arial" panose="020B0604020202020204" pitchFamily="34" charset="0"/>
                <a:ea typeface="ＭＳ Ｐゴシック" pitchFamily="34" charset="-128"/>
                <a:cs typeface="Arial" panose="020B0604020202020204" pitchFamily="34" charset="0"/>
              </a:rPr>
              <a:t>More complex structure</a:t>
            </a:r>
            <a:endParaRPr lang="en-US" sz="2400" dirty="0">
              <a:latin typeface="Arial" panose="020B0604020202020204" pitchFamily="34" charset="0"/>
              <a:cs typeface="Arial" panose="020B0604020202020204" pitchFamily="34" charset="0"/>
            </a:endParaRPr>
          </a:p>
        </p:txBody>
      </p:sp>
      <p:pic>
        <p:nvPicPr>
          <p:cNvPr id="39" name="Picture Placeholder 38" descr="A photo shows a hand writing on a board with a chalk. On the board, arrows from the word business intelligence point to the following words: Benchmark, goals, support, performance, data, analytics, and management.">
            <a:extLst>
              <a:ext uri="{FF2B5EF4-FFF2-40B4-BE49-F238E27FC236}">
                <a16:creationId xmlns:a16="http://schemas.microsoft.com/office/drawing/2014/main" id="{E69D8476-B898-456D-8BDC-7413860F16AB}"/>
              </a:ext>
            </a:extLst>
          </p:cNvPr>
          <p:cNvPicPr>
            <a:picLocks noGrp="1" noChangeAspect="1"/>
          </p:cNvPicPr>
          <p:nvPr>
            <p:ph type="pic" sz="quarter" idx="23"/>
          </p:nvPr>
        </p:nvPicPr>
        <p:blipFill>
          <a:blip r:embed="rId4">
            <a:extLst>
              <a:ext uri="{28A0092B-C50C-407E-A947-70E740481C1C}">
                <a14:useLocalDpi xmlns:a14="http://schemas.microsoft.com/office/drawing/2010/main" val="0"/>
              </a:ext>
            </a:extLst>
          </a:blip>
          <a:stretch>
            <a:fillRect/>
          </a:stretch>
        </p:blipFill>
        <p:spPr>
          <a:xfrm>
            <a:off x="2452848" y="3501008"/>
            <a:ext cx="4279392" cy="2859024"/>
          </a:xfrm>
          <a:prstGeom prst="rect">
            <a:avLst/>
          </a:prstGeom>
        </p:spPr>
      </p:pic>
    </p:spTree>
    <p:extLst>
      <p:ext uri="{BB962C8B-B14F-4D97-AF65-F5344CB8AC3E}">
        <p14:creationId xmlns:p14="http://schemas.microsoft.com/office/powerpoint/2010/main" val="101830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Size and Structure</a:t>
            </a:r>
            <a:endParaRPr lang="en-US">
              <a:latin typeface="+mj-lt"/>
            </a:endParaRPr>
          </a:p>
        </p:txBody>
      </p:sp>
      <p:sp>
        <p:nvSpPr>
          <p:cNvPr id="17" name="Content Placeholder 16">
            <a:extLst>
              <a:ext uri="{FF2B5EF4-FFF2-40B4-BE49-F238E27FC236}">
                <a16:creationId xmlns:a16="http://schemas.microsoft.com/office/drawing/2014/main" id="{07039E10-544D-4EBC-ABFE-2E245D708B11}"/>
              </a:ext>
            </a:extLst>
          </p:cNvPr>
          <p:cNvSpPr>
            <a:spLocks noGrp="1"/>
          </p:cNvSpPr>
          <p:nvPr>
            <p:ph sz="quarter" idx="13"/>
          </p:nvPr>
        </p:nvSpPr>
        <p:spPr>
          <a:xfrm>
            <a:off x="468000" y="1274400"/>
            <a:ext cx="8280713" cy="844265"/>
          </a:xfrm>
        </p:spPr>
        <p:txBody>
          <a:bodyPr wrap="square" tIns="18000" bIns="18000">
            <a:spAutoFit/>
          </a:bodyPr>
          <a:lstStyle/>
          <a:p>
            <a:pPr marL="0" indent="0">
              <a:buNone/>
              <a:defRPr/>
            </a:pPr>
            <a:r>
              <a:rPr lang="en-US" altLang="en-US" sz="2000" b="1">
                <a:latin typeface="Arial" panose="020B0604020202020204" pitchFamily="34" charset="0"/>
                <a:ea typeface="ＭＳ Ｐゴシック" pitchFamily="34" charset="-128"/>
                <a:cs typeface="Arial" panose="020B0604020202020204" pitchFamily="34" charset="0"/>
              </a:rPr>
              <a:t>Organic:</a:t>
            </a:r>
          </a:p>
          <a:p>
            <a:pPr>
              <a:buSzPct val="100000"/>
              <a:defRPr/>
            </a:pPr>
            <a:r>
              <a:rPr lang="en-US" altLang="en-US" sz="2000">
                <a:latin typeface="Arial" panose="020B0604020202020204" pitchFamily="34" charset="0"/>
                <a:ea typeface="ＭＳ Ｐゴシック" pitchFamily="34" charset="-128"/>
                <a:cs typeface="Arial" panose="020B0604020202020204" pitchFamily="34" charset="0"/>
              </a:rPr>
              <a:t>less than 2,000 employees can be organic.</a:t>
            </a:r>
            <a:endParaRPr lang="en-US" sz="2000">
              <a:latin typeface="Arial" panose="020B0604020202020204" pitchFamily="34" charset="0"/>
              <a:cs typeface="Arial" panose="020B0604020202020204" pitchFamily="34" charset="0"/>
            </a:endParaRPr>
          </a:p>
        </p:txBody>
      </p:sp>
      <p:sp>
        <p:nvSpPr>
          <p:cNvPr id="18" name="Content Placeholder 17">
            <a:extLst>
              <a:ext uri="{FF2B5EF4-FFF2-40B4-BE49-F238E27FC236}">
                <a16:creationId xmlns:a16="http://schemas.microsoft.com/office/drawing/2014/main" id="{0653BCD9-D622-45BE-AA68-B079D4AB5AD6}"/>
              </a:ext>
            </a:extLst>
          </p:cNvPr>
          <p:cNvSpPr>
            <a:spLocks noGrp="1"/>
          </p:cNvSpPr>
          <p:nvPr>
            <p:ph sz="quarter" idx="14"/>
          </p:nvPr>
        </p:nvSpPr>
        <p:spPr>
          <a:xfrm>
            <a:off x="468000" y="2276872"/>
            <a:ext cx="8280713" cy="844265"/>
          </a:xfrm>
        </p:spPr>
        <p:txBody>
          <a:bodyPr wrap="square" tIns="18000" bIns="18000">
            <a:spAutoFit/>
          </a:bodyPr>
          <a:lstStyle/>
          <a:p>
            <a:pPr marL="0" indent="0">
              <a:buNone/>
            </a:pPr>
            <a:r>
              <a:rPr lang="en-US" sz="2000" b="1">
                <a:latin typeface="Arial" panose="020B0604020202020204" pitchFamily="34" charset="0"/>
                <a:cs typeface="Arial" panose="020B0604020202020204" pitchFamily="34" charset="0"/>
              </a:rPr>
              <a:t>Mechanistic:</a:t>
            </a:r>
          </a:p>
          <a:p>
            <a:r>
              <a:rPr lang="en-US" sz="2000">
                <a:latin typeface="Arial" panose="020B0604020202020204" pitchFamily="34" charset="0"/>
                <a:cs typeface="Arial" panose="020B0604020202020204" pitchFamily="34" charset="0"/>
              </a:rPr>
              <a:t>more than 2,000 employees makes organizations to become more</a:t>
            </a:r>
          </a:p>
        </p:txBody>
      </p:sp>
      <p:pic>
        <p:nvPicPr>
          <p:cNvPr id="32" name="Picture Placeholder 31" descr="An illustration of a triangle labeled, mechanistic.">
            <a:extLst>
              <a:ext uri="{FF2B5EF4-FFF2-40B4-BE49-F238E27FC236}">
                <a16:creationId xmlns:a16="http://schemas.microsoft.com/office/drawing/2014/main" id="{963B8321-5C73-431D-8BBF-48E224F170CB}"/>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tretch>
            <a:fillRect/>
          </a:stretch>
        </p:blipFill>
        <p:spPr>
          <a:xfrm>
            <a:off x="899136" y="3284984"/>
            <a:ext cx="2638425" cy="1743075"/>
          </a:xfrm>
          <a:prstGeom prst="rect">
            <a:avLst/>
          </a:prstGeom>
        </p:spPr>
      </p:pic>
      <p:sp>
        <p:nvSpPr>
          <p:cNvPr id="19" name="Content Placeholder 18">
            <a:extLst>
              <a:ext uri="{FF2B5EF4-FFF2-40B4-BE49-F238E27FC236}">
                <a16:creationId xmlns:a16="http://schemas.microsoft.com/office/drawing/2014/main" id="{5C8436E8-CCE0-4721-9E69-65AE4A73CEE5}"/>
              </a:ext>
            </a:extLst>
          </p:cNvPr>
          <p:cNvSpPr>
            <a:spLocks noGrp="1"/>
          </p:cNvSpPr>
          <p:nvPr>
            <p:ph sz="quarter" idx="15"/>
          </p:nvPr>
        </p:nvSpPr>
        <p:spPr>
          <a:xfrm>
            <a:off x="755576" y="5085184"/>
            <a:ext cx="2808312" cy="1267458"/>
          </a:xfrm>
        </p:spPr>
        <p:txBody>
          <a:bodyPr wrap="square" tIns="18000" bIns="18000">
            <a:spAutoFit/>
          </a:bodyPr>
          <a:lstStyle/>
          <a:p>
            <a:pPr marL="0" indent="0">
              <a:buNone/>
            </a:pPr>
            <a:r>
              <a:rPr lang="en-US" sz="2000">
                <a:latin typeface="Arial" panose="020B0604020202020204" pitchFamily="34" charset="0"/>
                <a:cs typeface="Arial" panose="020B0604020202020204" pitchFamily="34" charset="0"/>
              </a:rPr>
              <a:t>more than 2,000 employees forces organizations to become more mechanicstic</a:t>
            </a:r>
          </a:p>
        </p:txBody>
      </p:sp>
      <p:pic>
        <p:nvPicPr>
          <p:cNvPr id="34" name="Picture Placeholder 33" descr="An illustration of an irregular shape with smooth curves labeled, organic.">
            <a:extLst>
              <a:ext uri="{FF2B5EF4-FFF2-40B4-BE49-F238E27FC236}">
                <a16:creationId xmlns:a16="http://schemas.microsoft.com/office/drawing/2014/main" id="{21C0971D-D5B9-4E1F-932F-B27B3C8C0587}"/>
              </a:ext>
            </a:extLst>
          </p:cNvPr>
          <p:cNvPicPr>
            <a:picLocks noGrp="1" noChangeAspect="1"/>
          </p:cNvPicPr>
          <p:nvPr>
            <p:ph type="pic" sz="quarter" idx="23"/>
          </p:nvPr>
        </p:nvPicPr>
        <p:blipFill>
          <a:blip r:embed="rId4">
            <a:extLst>
              <a:ext uri="{28A0092B-C50C-407E-A947-70E740481C1C}">
                <a14:useLocalDpi xmlns:a14="http://schemas.microsoft.com/office/drawing/2010/main" val="0"/>
              </a:ext>
            </a:extLst>
          </a:blip>
          <a:stretch>
            <a:fillRect/>
          </a:stretch>
        </p:blipFill>
        <p:spPr>
          <a:xfrm>
            <a:off x="5280297" y="3501008"/>
            <a:ext cx="2238375" cy="1209675"/>
          </a:xfrm>
          <a:prstGeom prst="rect">
            <a:avLst/>
          </a:prstGeom>
        </p:spPr>
      </p:pic>
      <p:sp>
        <p:nvSpPr>
          <p:cNvPr id="20" name="Content Placeholder 19">
            <a:extLst>
              <a:ext uri="{FF2B5EF4-FFF2-40B4-BE49-F238E27FC236}">
                <a16:creationId xmlns:a16="http://schemas.microsoft.com/office/drawing/2014/main" id="{C8DA538C-FC18-46CD-8CDB-F882D3B4FAF3}"/>
              </a:ext>
            </a:extLst>
          </p:cNvPr>
          <p:cNvSpPr>
            <a:spLocks noGrp="1"/>
          </p:cNvSpPr>
          <p:nvPr>
            <p:ph sz="quarter" idx="16"/>
          </p:nvPr>
        </p:nvSpPr>
        <p:spPr>
          <a:xfrm>
            <a:off x="5652120" y="5013176"/>
            <a:ext cx="2232248" cy="959681"/>
          </a:xfrm>
        </p:spPr>
        <p:txBody>
          <a:bodyPr wrap="square" tIns="18000" bIns="18000">
            <a:spAutoFit/>
          </a:bodyPr>
          <a:lstStyle/>
          <a:p>
            <a:pPr marL="0" indent="0">
              <a:buNone/>
            </a:pPr>
            <a:r>
              <a:rPr lang="en-US" sz="2000">
                <a:latin typeface="Arial" panose="020B0604020202020204" pitchFamily="34" charset="0"/>
                <a:cs typeface="Arial" panose="020B0604020202020204" pitchFamily="34" charset="0"/>
              </a:rPr>
              <a:t>fewer than 2,000 employees can be organic</a:t>
            </a:r>
          </a:p>
        </p:txBody>
      </p:sp>
    </p:spTree>
    <p:extLst>
      <p:ext uri="{BB962C8B-B14F-4D97-AF65-F5344CB8AC3E}">
        <p14:creationId xmlns:p14="http://schemas.microsoft.com/office/powerpoint/2010/main" val="845016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Technology and Structure</a:t>
            </a:r>
            <a:endParaRPr lang="en-US">
              <a:latin typeface="+mj-lt"/>
            </a:endParaRPr>
          </a:p>
        </p:txBody>
      </p:sp>
      <p:pic>
        <p:nvPicPr>
          <p:cNvPr id="27" name="Picture Placeholder 26" descr="A photo shows graphs on the screens of an electronic tablet and a smart phone.">
            <a:extLst>
              <a:ext uri="{FF2B5EF4-FFF2-40B4-BE49-F238E27FC236}">
                <a16:creationId xmlns:a16="http://schemas.microsoft.com/office/drawing/2014/main" id="{A1CDE1FE-78C6-4E16-8B24-0A4C97AA48E7}"/>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684213" y="1795971"/>
            <a:ext cx="2084832" cy="1993392"/>
          </a:xfrm>
          <a:prstGeom prst="rect">
            <a:avLst/>
          </a:prstGeom>
        </p:spPr>
      </p:pic>
      <p:sp>
        <p:nvSpPr>
          <p:cNvPr id="12" name="Content Placeholder 11">
            <a:extLst>
              <a:ext uri="{FF2B5EF4-FFF2-40B4-BE49-F238E27FC236}">
                <a16:creationId xmlns:a16="http://schemas.microsoft.com/office/drawing/2014/main" id="{4BE63657-3F13-499E-92CB-FC918F10C05E}"/>
              </a:ext>
            </a:extLst>
          </p:cNvPr>
          <p:cNvSpPr>
            <a:spLocks noGrp="1"/>
          </p:cNvSpPr>
          <p:nvPr>
            <p:ph sz="quarter" idx="13"/>
          </p:nvPr>
        </p:nvSpPr>
        <p:spPr>
          <a:xfrm>
            <a:off x="683990" y="3789040"/>
            <a:ext cx="1655762" cy="1421346"/>
          </a:xfrm>
        </p:spPr>
        <p:txBody>
          <a:bodyPr tIns="18000" bIns="18000">
            <a:spAutoFit/>
          </a:bodyPr>
          <a:lstStyle/>
          <a:p>
            <a:pPr marL="0" indent="0">
              <a:buNone/>
            </a:pPr>
            <a:r>
              <a:rPr lang="en-US" sz="1800" b="1">
                <a:latin typeface="Arial" panose="020B0604020202020204" pitchFamily="34" charset="0"/>
                <a:cs typeface="Arial" panose="020B0604020202020204" pitchFamily="34" charset="0"/>
              </a:rPr>
              <a:t>Your smartphone or tablet </a:t>
            </a:r>
            <a:r>
              <a:rPr lang="en-US" sz="1800">
                <a:latin typeface="Arial" panose="020B0604020202020204" pitchFamily="34" charset="0"/>
                <a:cs typeface="Arial" panose="020B0604020202020204" pitchFamily="34" charset="0"/>
              </a:rPr>
              <a:t>standardized assembly line</a:t>
            </a:r>
          </a:p>
        </p:txBody>
      </p:sp>
      <p:pic>
        <p:nvPicPr>
          <p:cNvPr id="29" name="Picture Placeholder 28" descr="A photo shows a résumé with graphs, charts, map, and textual data.">
            <a:extLst>
              <a:ext uri="{FF2B5EF4-FFF2-40B4-BE49-F238E27FC236}">
                <a16:creationId xmlns:a16="http://schemas.microsoft.com/office/drawing/2014/main" id="{2354DE77-096B-4AF1-975E-89BD03A17D02}"/>
              </a:ext>
            </a:extLst>
          </p:cNvPr>
          <p:cNvPicPr>
            <a:picLocks noGrp="1" noChangeAspect="1"/>
          </p:cNvPicPr>
          <p:nvPr>
            <p:ph type="pic" sz="quarter" idx="19"/>
          </p:nvPr>
        </p:nvPicPr>
        <p:blipFill>
          <a:blip r:embed="rId4">
            <a:extLst>
              <a:ext uri="{28A0092B-C50C-407E-A947-70E740481C1C}">
                <a14:useLocalDpi xmlns:a14="http://schemas.microsoft.com/office/drawing/2010/main" val="0"/>
              </a:ext>
            </a:extLst>
          </a:blip>
          <a:stretch>
            <a:fillRect/>
          </a:stretch>
        </p:blipFill>
        <p:spPr>
          <a:xfrm>
            <a:off x="3411773" y="980728"/>
            <a:ext cx="2657856" cy="4681728"/>
          </a:xfrm>
          <a:prstGeom prst="rect">
            <a:avLst/>
          </a:prstGeom>
        </p:spPr>
      </p:pic>
      <p:sp>
        <p:nvSpPr>
          <p:cNvPr id="13" name="Content Placeholder 12">
            <a:extLst>
              <a:ext uri="{FF2B5EF4-FFF2-40B4-BE49-F238E27FC236}">
                <a16:creationId xmlns:a16="http://schemas.microsoft.com/office/drawing/2014/main" id="{D285209D-75BF-4CE6-A87E-57AF84B3C842}"/>
              </a:ext>
            </a:extLst>
          </p:cNvPr>
          <p:cNvSpPr>
            <a:spLocks noGrp="1"/>
          </p:cNvSpPr>
          <p:nvPr>
            <p:ph sz="quarter" idx="14"/>
          </p:nvPr>
        </p:nvSpPr>
        <p:spPr>
          <a:xfrm>
            <a:off x="3347269" y="5805264"/>
            <a:ext cx="2520875" cy="590349"/>
          </a:xfrm>
        </p:spPr>
        <p:txBody>
          <a:bodyPr wrap="square" tIns="18000" bIns="18000">
            <a:spAutoFit/>
          </a:bodyPr>
          <a:lstStyle/>
          <a:p>
            <a:pPr marL="0" indent="0">
              <a:buNone/>
            </a:pPr>
            <a:r>
              <a:rPr lang="en-US" sz="1800" b="1">
                <a:latin typeface="Arial" panose="020B0604020202020204" pitchFamily="34" charset="0"/>
                <a:cs typeface="Arial" panose="020B0604020202020204" pitchFamily="34" charset="0"/>
              </a:rPr>
              <a:t>Your Résumé </a:t>
            </a:r>
            <a:r>
              <a:rPr lang="en-US" sz="1800">
                <a:latin typeface="Arial" panose="020B0604020202020204" pitchFamily="34" charset="0"/>
                <a:cs typeface="Arial" panose="020B0604020202020204" pitchFamily="34" charset="0"/>
              </a:rPr>
              <a:t>custom design and print</a:t>
            </a:r>
          </a:p>
        </p:txBody>
      </p:sp>
      <p:pic>
        <p:nvPicPr>
          <p:cNvPr id="31" name="Picture Placeholder 30" descr="A photo shows a plastic medicine container.">
            <a:extLst>
              <a:ext uri="{FF2B5EF4-FFF2-40B4-BE49-F238E27FC236}">
                <a16:creationId xmlns:a16="http://schemas.microsoft.com/office/drawing/2014/main" id="{113D3333-1726-45DA-9157-18945A55E75F}"/>
              </a:ext>
            </a:extLst>
          </p:cNvPr>
          <p:cNvPicPr>
            <a:picLocks noGrp="1" noChangeAspect="1"/>
          </p:cNvPicPr>
          <p:nvPr>
            <p:ph type="pic" sz="quarter" idx="20"/>
          </p:nvPr>
        </p:nvPicPr>
        <p:blipFill>
          <a:blip r:embed="rId5">
            <a:extLst>
              <a:ext uri="{28A0092B-C50C-407E-A947-70E740481C1C}">
                <a14:useLocalDpi xmlns:a14="http://schemas.microsoft.com/office/drawing/2010/main" val="0"/>
              </a:ext>
            </a:extLst>
          </a:blip>
          <a:stretch>
            <a:fillRect/>
          </a:stretch>
        </p:blipFill>
        <p:spPr>
          <a:xfrm>
            <a:off x="7020272" y="2005805"/>
            <a:ext cx="957072" cy="1987296"/>
          </a:xfrm>
          <a:prstGeom prst="rect">
            <a:avLst/>
          </a:prstGeom>
        </p:spPr>
      </p:pic>
      <p:sp>
        <p:nvSpPr>
          <p:cNvPr id="14" name="Content Placeholder 13">
            <a:extLst>
              <a:ext uri="{FF2B5EF4-FFF2-40B4-BE49-F238E27FC236}">
                <a16:creationId xmlns:a16="http://schemas.microsoft.com/office/drawing/2014/main" id="{696CFF88-281E-4892-8A05-4798474B30C3}"/>
              </a:ext>
            </a:extLst>
          </p:cNvPr>
          <p:cNvSpPr>
            <a:spLocks noGrp="1"/>
          </p:cNvSpPr>
          <p:nvPr>
            <p:ph sz="quarter" idx="15"/>
          </p:nvPr>
        </p:nvSpPr>
        <p:spPr>
          <a:xfrm>
            <a:off x="6510872" y="4221088"/>
            <a:ext cx="1949907" cy="1144347"/>
          </a:xfrm>
        </p:spPr>
        <p:txBody>
          <a:bodyPr wrap="square" tIns="18000" bIns="18000">
            <a:spAutoFit/>
          </a:bodyPr>
          <a:lstStyle/>
          <a:p>
            <a:pPr marL="0" indent="0">
              <a:buNone/>
            </a:pPr>
            <a:r>
              <a:rPr lang="en-US" sz="1800" b="1">
                <a:latin typeface="Arial" panose="020B0604020202020204" pitchFamily="34" charset="0"/>
                <a:cs typeface="Arial" panose="020B0604020202020204" pitchFamily="34" charset="0"/>
              </a:rPr>
              <a:t>Your bottle of ibuprofen </a:t>
            </a:r>
            <a:r>
              <a:rPr lang="en-US" sz="1800">
                <a:latin typeface="Arial" panose="020B0604020202020204" pitchFamily="34" charset="0"/>
                <a:cs typeface="Arial" panose="020B0604020202020204" pitchFamily="34" charset="0"/>
              </a:rPr>
              <a:t>continuous-flow production process</a:t>
            </a:r>
          </a:p>
        </p:txBody>
      </p:sp>
    </p:spTree>
    <p:extLst>
      <p:ext uri="{BB962C8B-B14F-4D97-AF65-F5344CB8AC3E}">
        <p14:creationId xmlns:p14="http://schemas.microsoft.com/office/powerpoint/2010/main" val="1259176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Environment and Structure</a:t>
            </a:r>
            <a:endParaRPr lang="en-US" sz="3600">
              <a:latin typeface="+mj-lt"/>
              <a:cs typeface="Arial" panose="020B0604020202020204" pitchFamily="34" charset="0"/>
            </a:endParaRPr>
          </a:p>
        </p:txBody>
      </p:sp>
      <p:sp>
        <p:nvSpPr>
          <p:cNvPr id="13" name="Content Placeholder 12">
            <a:extLst>
              <a:ext uri="{FF2B5EF4-FFF2-40B4-BE49-F238E27FC236}">
                <a16:creationId xmlns:a16="http://schemas.microsoft.com/office/drawing/2014/main" id="{0BBB90F3-FD39-42D0-A4DC-F8FC3A186DF9}"/>
              </a:ext>
            </a:extLst>
          </p:cNvPr>
          <p:cNvSpPr>
            <a:spLocks noGrp="1"/>
          </p:cNvSpPr>
          <p:nvPr>
            <p:ph sz="quarter" idx="13"/>
          </p:nvPr>
        </p:nvSpPr>
        <p:spPr>
          <a:xfrm>
            <a:off x="467999" y="1274400"/>
            <a:ext cx="8280713" cy="967376"/>
          </a:xfrm>
        </p:spPr>
        <p:txBody>
          <a:bodyPr wrap="square" tIns="18000" bIns="18000">
            <a:spAutoFit/>
          </a:bodyPr>
          <a:lstStyle/>
          <a:p>
            <a:pPr>
              <a:buSzPct val="100000"/>
            </a:pPr>
            <a:r>
              <a:rPr lang="en-US" altLang="en-US" sz="2400" b="1">
                <a:latin typeface="Arial" panose="020B0604020202020204" pitchFamily="34" charset="0"/>
                <a:ea typeface="ＭＳ Ｐゴシック" panose="020B0600070205080204" pitchFamily="34" charset="-128"/>
                <a:cs typeface="Arial" panose="020B0604020202020204" pitchFamily="34" charset="0"/>
              </a:rPr>
              <a:t>Stable environment: </a:t>
            </a:r>
            <a:r>
              <a:rPr lang="en-US" altLang="en-US" sz="2400">
                <a:latin typeface="Arial" panose="020B0604020202020204" pitchFamily="34" charset="0"/>
                <a:ea typeface="ＭＳ Ｐゴシック" panose="020B0600070205080204" pitchFamily="34" charset="-128"/>
                <a:cs typeface="Arial" panose="020B0604020202020204" pitchFamily="34" charset="0"/>
              </a:rPr>
              <a:t>mechanistic structure</a:t>
            </a:r>
          </a:p>
          <a:p>
            <a:pPr>
              <a:buSzPct val="100000"/>
            </a:pPr>
            <a:r>
              <a:rPr lang="en-US" altLang="en-US" sz="2400" b="1">
                <a:latin typeface="Arial" panose="020B0604020202020204" pitchFamily="34" charset="0"/>
                <a:ea typeface="ＭＳ Ｐゴシック" panose="020B0600070205080204" pitchFamily="34" charset="-128"/>
                <a:cs typeface="Arial" panose="020B0604020202020204" pitchFamily="34" charset="0"/>
              </a:rPr>
              <a:t>Dynamic environment: </a:t>
            </a:r>
            <a:r>
              <a:rPr lang="en-US" altLang="en-US" sz="2400">
                <a:latin typeface="Arial" panose="020B0604020202020204" pitchFamily="34" charset="0"/>
                <a:ea typeface="ＭＳ Ｐゴシック" panose="020B0600070205080204" pitchFamily="34" charset="-128"/>
                <a:cs typeface="Arial" panose="020B0604020202020204" pitchFamily="34" charset="0"/>
              </a:rPr>
              <a:t>organic structure</a:t>
            </a:r>
            <a:endParaRPr lang="en-US" sz="2400">
              <a:latin typeface="Arial" panose="020B0604020202020204" pitchFamily="34" charset="0"/>
              <a:cs typeface="Arial" panose="020B0604020202020204" pitchFamily="34" charset="0"/>
            </a:endParaRPr>
          </a:p>
        </p:txBody>
      </p:sp>
      <p:pic>
        <p:nvPicPr>
          <p:cNvPr id="28" name="Picture Placeholder 27" descr="An illustration of a triangle labeled, mechanistic.">
            <a:extLst>
              <a:ext uri="{FF2B5EF4-FFF2-40B4-BE49-F238E27FC236}">
                <a16:creationId xmlns:a16="http://schemas.microsoft.com/office/drawing/2014/main" id="{7EBA86D3-0965-4A64-90AA-F2E2E7668ED3}"/>
              </a:ext>
            </a:extLst>
          </p:cNvPr>
          <p:cNvPicPr>
            <a:picLocks noGrp="1" noChangeAspect="1"/>
          </p:cNvPicPr>
          <p:nvPr>
            <p:ph type="pic" sz="quarter" idx="23"/>
          </p:nvPr>
        </p:nvPicPr>
        <p:blipFill>
          <a:blip r:embed="rId3">
            <a:extLst>
              <a:ext uri="{28A0092B-C50C-407E-A947-70E740481C1C}">
                <a14:useLocalDpi xmlns:a14="http://schemas.microsoft.com/office/drawing/2010/main" val="0"/>
              </a:ext>
            </a:extLst>
          </a:blip>
          <a:stretch>
            <a:fillRect/>
          </a:stretch>
        </p:blipFill>
        <p:spPr>
          <a:xfrm>
            <a:off x="1043608" y="2948282"/>
            <a:ext cx="2657184" cy="2428236"/>
          </a:xfrm>
          <a:prstGeom prst="rect">
            <a:avLst/>
          </a:prstGeom>
        </p:spPr>
      </p:pic>
      <p:pic>
        <p:nvPicPr>
          <p:cNvPr id="30" name="Picture Placeholder 29" descr="An illustration of an irregular shape with smooth curves labeled, organic.">
            <a:extLst>
              <a:ext uri="{FF2B5EF4-FFF2-40B4-BE49-F238E27FC236}">
                <a16:creationId xmlns:a16="http://schemas.microsoft.com/office/drawing/2014/main" id="{97ECF167-E532-4036-B3EC-6DC89E1061EA}"/>
              </a:ext>
            </a:extLst>
          </p:cNvPr>
          <p:cNvPicPr>
            <a:picLocks noGrp="1" noChangeAspect="1"/>
          </p:cNvPicPr>
          <p:nvPr>
            <p:ph type="pic" sz="quarter" idx="24"/>
          </p:nvPr>
        </p:nvPicPr>
        <p:blipFill>
          <a:blip r:embed="rId4">
            <a:extLst>
              <a:ext uri="{28A0092B-C50C-407E-A947-70E740481C1C}">
                <a14:useLocalDpi xmlns:a14="http://schemas.microsoft.com/office/drawing/2010/main" val="0"/>
              </a:ext>
            </a:extLst>
          </a:blip>
          <a:stretch>
            <a:fillRect/>
          </a:stretch>
        </p:blipFill>
        <p:spPr>
          <a:xfrm>
            <a:off x="4834912" y="2873716"/>
            <a:ext cx="3425400" cy="2477043"/>
          </a:xfrm>
          <a:prstGeom prst="rect">
            <a:avLst/>
          </a:prstGeom>
        </p:spPr>
      </p:pic>
    </p:spTree>
    <p:extLst>
      <p:ext uri="{BB962C8B-B14F-4D97-AF65-F5344CB8AC3E}">
        <p14:creationId xmlns:p14="http://schemas.microsoft.com/office/powerpoint/2010/main" val="2689027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8229600" cy="590349"/>
          </a:xfrm>
        </p:spPr>
        <p:txBody>
          <a:bodyPr tIns="18000" bIns="18000">
            <a:spAutoFit/>
          </a:bodyPr>
          <a:lstStyle/>
          <a:p>
            <a:r>
              <a:rPr lang="en-US" altLang="en-US" sz="3600" dirty="0">
                <a:solidFill>
                  <a:schemeClr val="bg2"/>
                </a:solidFill>
                <a:latin typeface="+mj-lt"/>
                <a:cs typeface="Arial" pitchFamily="34" charset="0"/>
              </a:rPr>
              <a:t>Learning Objective 8.3</a:t>
            </a:r>
            <a:endParaRPr lang="en-US" sz="3600" dirty="0">
              <a:solidFill>
                <a:schemeClr val="bg2"/>
              </a:solidFill>
              <a:latin typeface="+mj-lt"/>
            </a:endParaRPr>
          </a:p>
        </p:txBody>
      </p:sp>
      <p:sp>
        <p:nvSpPr>
          <p:cNvPr id="3" name="Content Placeholder 2"/>
          <p:cNvSpPr>
            <a:spLocks noGrp="1"/>
          </p:cNvSpPr>
          <p:nvPr>
            <p:ph idx="1"/>
          </p:nvPr>
        </p:nvSpPr>
        <p:spPr>
          <a:xfrm>
            <a:off x="457200" y="1268760"/>
            <a:ext cx="8229600" cy="775015"/>
          </a:xfrm>
        </p:spPr>
        <p:txBody>
          <a:bodyPr tIns="18000" bIns="18000">
            <a:spAutoFit/>
          </a:bodyPr>
          <a:lstStyle/>
          <a:p>
            <a:r>
              <a:rPr lang="en-US" altLang="en-US" sz="2400" dirty="0">
                <a:cs typeface="Arial" panose="020B0604020202020204" pitchFamily="34" charset="0"/>
              </a:rPr>
              <a:t>Compare and contrast traditional and contemporary organizational designs.</a:t>
            </a:r>
            <a:endParaRPr lang="en-US" sz="2400" dirty="0"/>
          </a:p>
        </p:txBody>
      </p:sp>
    </p:spTree>
    <p:extLst>
      <p:ext uri="{BB962C8B-B14F-4D97-AF65-F5344CB8AC3E}">
        <p14:creationId xmlns:p14="http://schemas.microsoft.com/office/powerpoint/2010/main" val="1273958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Traditional Organizational Designs</a:t>
            </a:r>
            <a:endParaRPr lang="en-US">
              <a:latin typeface="+mj-lt"/>
            </a:endParaRPr>
          </a:p>
        </p:txBody>
      </p:sp>
      <p:sp>
        <p:nvSpPr>
          <p:cNvPr id="12" name="Content Placeholder 11">
            <a:extLst>
              <a:ext uri="{FF2B5EF4-FFF2-40B4-BE49-F238E27FC236}">
                <a16:creationId xmlns:a16="http://schemas.microsoft.com/office/drawing/2014/main" id="{4BE63657-3F13-499E-92CB-FC918F10C05E}"/>
              </a:ext>
            </a:extLst>
          </p:cNvPr>
          <p:cNvSpPr>
            <a:spLocks noGrp="1"/>
          </p:cNvSpPr>
          <p:nvPr>
            <p:ph sz="quarter" idx="13"/>
          </p:nvPr>
        </p:nvSpPr>
        <p:spPr>
          <a:xfrm>
            <a:off x="467999" y="1274400"/>
            <a:ext cx="8280713" cy="282573"/>
          </a:xfrm>
        </p:spPr>
        <p:txBody>
          <a:bodyPr wrap="square" tIns="18000" bIns="18000">
            <a:spAutoFit/>
          </a:bodyPr>
          <a:lstStyle/>
          <a:p>
            <a:pPr marL="0" indent="0">
              <a:buNone/>
            </a:pPr>
            <a:r>
              <a:rPr lang="en-US" b="1">
                <a:latin typeface="Arial" panose="020B0604020202020204" pitchFamily="34" charset="0"/>
                <a:cs typeface="Arial" panose="020B0604020202020204" pitchFamily="34" charset="0"/>
              </a:rPr>
              <a:t>Exhibit 8.9</a:t>
            </a:r>
            <a:r>
              <a:rPr lang="en-US">
                <a:latin typeface="Arial" panose="020B0604020202020204" pitchFamily="34" charset="0"/>
                <a:cs typeface="Arial" panose="020B0604020202020204" pitchFamily="34" charset="0"/>
              </a:rPr>
              <a:t> Traditional Organization Designs</a:t>
            </a:r>
          </a:p>
        </p:txBody>
      </p:sp>
      <p:pic>
        <p:nvPicPr>
          <p:cNvPr id="15" name="Picture Placeholder 14" descr="An illustration shows the strengths and weaknesses of different organizational structures.&#10;Long description is available in notes, press F6.">
            <a:extLst>
              <a:ext uri="{FF2B5EF4-FFF2-40B4-BE49-F238E27FC236}">
                <a16:creationId xmlns:a16="http://schemas.microsoft.com/office/drawing/2014/main" id="{F98E9081-36C1-4048-BFC9-73373FF7C287}"/>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2555776" y="1772816"/>
            <a:ext cx="4053840" cy="3663696"/>
          </a:xfrm>
          <a:prstGeom prst="rect">
            <a:avLst/>
          </a:prstGeom>
        </p:spPr>
      </p:pic>
      <p:sp>
        <p:nvSpPr>
          <p:cNvPr id="13" name="Content Placeholder 12">
            <a:extLst>
              <a:ext uri="{FF2B5EF4-FFF2-40B4-BE49-F238E27FC236}">
                <a16:creationId xmlns:a16="http://schemas.microsoft.com/office/drawing/2014/main" id="{D285209D-75BF-4CE6-A87E-57AF84B3C842}"/>
              </a:ext>
            </a:extLst>
          </p:cNvPr>
          <p:cNvSpPr>
            <a:spLocks noGrp="1"/>
          </p:cNvSpPr>
          <p:nvPr>
            <p:ph sz="quarter" idx="14"/>
          </p:nvPr>
        </p:nvSpPr>
        <p:spPr>
          <a:xfrm>
            <a:off x="468313" y="5805264"/>
            <a:ext cx="8280400" cy="405683"/>
          </a:xfrm>
        </p:spPr>
        <p:txBody>
          <a:bodyPr wrap="square" tIns="18000" bIns="18000">
            <a:spAutoFit/>
          </a:bodyPr>
          <a:lstStyle/>
          <a:p>
            <a:pPr marL="0" indent="0">
              <a:buNone/>
            </a:pPr>
            <a:r>
              <a:rPr lang="en-US" sz="1200" i="1">
                <a:latin typeface="Arial" panose="020B0604020202020204" pitchFamily="34" charset="0"/>
                <a:cs typeface="Arial" panose="020B0604020202020204" pitchFamily="34" charset="0"/>
              </a:rPr>
              <a:t>Source: </a:t>
            </a:r>
            <a:r>
              <a:rPr lang="en-US" sz="1200">
                <a:latin typeface="Arial" panose="020B0604020202020204" pitchFamily="34" charset="0"/>
                <a:cs typeface="Arial" panose="020B0604020202020204" pitchFamily="34" charset="0"/>
              </a:rPr>
              <a:t>Robbins, Stephen P., Coulter, Mary, </a:t>
            </a:r>
            <a:r>
              <a:rPr lang="en-US" sz="1200" i="1">
                <a:latin typeface="Arial" panose="020B0604020202020204" pitchFamily="34" charset="0"/>
                <a:cs typeface="Arial" panose="020B0604020202020204" pitchFamily="34" charset="0"/>
              </a:rPr>
              <a:t>Management</a:t>
            </a:r>
            <a:r>
              <a:rPr lang="en-US" sz="1200">
                <a:latin typeface="Arial" panose="020B0604020202020204" pitchFamily="34" charset="0"/>
                <a:cs typeface="Arial" panose="020B0604020202020204" pitchFamily="34" charset="0"/>
              </a:rPr>
              <a:t>, 13th E</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d., © 2016, p. 304. Reprinted and electronically reproduced by permission of Pearson Education, Inc., New York, </a:t>
            </a:r>
            <a:r>
              <a:rPr lang="en-US" sz="1200" spc="-200">
                <a:latin typeface="Arial" panose="020B0604020202020204" pitchFamily="34" charset="0"/>
                <a:cs typeface="Arial" panose="020B0604020202020204" pitchFamily="34" charset="0"/>
              </a:rPr>
              <a:t>N </a:t>
            </a:r>
            <a:r>
              <a:rPr lang="en-US" sz="120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28555206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Functional Structure</a:t>
            </a:r>
            <a:endParaRPr lang="en-US">
              <a:latin typeface="+mj-lt"/>
            </a:endParaRPr>
          </a:p>
        </p:txBody>
      </p:sp>
      <p:sp>
        <p:nvSpPr>
          <p:cNvPr id="3" name="Content Placeholder 2"/>
          <p:cNvSpPr>
            <a:spLocks noGrp="1"/>
          </p:cNvSpPr>
          <p:nvPr>
            <p:ph idx="1"/>
          </p:nvPr>
        </p:nvSpPr>
        <p:spPr>
          <a:xfrm>
            <a:off x="468000" y="1274400"/>
            <a:ext cx="8229600" cy="775015"/>
          </a:xfrm>
        </p:spPr>
        <p:txBody>
          <a:bodyPr tIns="18000" bIns="18000">
            <a:spAutoFit/>
          </a:bodyPr>
          <a:lstStyle/>
          <a:p>
            <a:pPr marL="0" indent="0">
              <a:buSzPct val="100000"/>
              <a:buNone/>
            </a:pPr>
            <a:r>
              <a:rPr lang="en-US" altLang="en-US" sz="2400">
                <a:latin typeface="Arial" panose="020B0604020202020204" pitchFamily="34" charset="0"/>
                <a:ea typeface="ＭＳ Ｐゴシック" panose="020B0600070205080204" pitchFamily="34" charset="-128"/>
                <a:cs typeface="Arial" panose="020B0604020202020204" pitchFamily="34" charset="0"/>
              </a:rPr>
              <a:t>An organizational design that groups similar or related occupational specialties</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90132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3985"/>
          </a:xfrm>
        </p:spPr>
        <p:txBody>
          <a:bodyPr tIns="18000" bIns="18000">
            <a:spAutoFit/>
          </a:bodyPr>
          <a:lstStyle/>
          <a:p>
            <a:r>
              <a:rPr lang="en-US" altLang="en-US" sz="3600" dirty="0">
                <a:latin typeface="+mj-lt"/>
                <a:ea typeface="ＭＳ Ｐゴシック" panose="020B0600070205080204" pitchFamily="34" charset="-128"/>
                <a:cs typeface="Arial" panose="020B0604020202020204" pitchFamily="34" charset="0"/>
              </a:rPr>
              <a:t>Divisional Structure</a:t>
            </a:r>
            <a:endParaRPr lang="en-US" dirty="0">
              <a:latin typeface="+mj-lt"/>
            </a:endParaRPr>
          </a:p>
        </p:txBody>
      </p:sp>
      <p:sp>
        <p:nvSpPr>
          <p:cNvPr id="3" name="Content Placeholder 2"/>
          <p:cNvSpPr>
            <a:spLocks noGrp="1"/>
          </p:cNvSpPr>
          <p:nvPr>
            <p:ph idx="1"/>
          </p:nvPr>
        </p:nvSpPr>
        <p:spPr>
          <a:xfrm>
            <a:off x="468000" y="1274400"/>
            <a:ext cx="8229600" cy="778650"/>
          </a:xfrm>
        </p:spPr>
        <p:txBody>
          <a:bodyPr tIns="18000" bIns="18000">
            <a:spAutoFit/>
          </a:bodyPr>
          <a:lstStyle/>
          <a:p>
            <a:pPr marL="0" indent="0">
              <a:buSzPct val="100000"/>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An organizational structure made up of separate business units or divisions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48726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Contemporary Organizational Design</a:t>
            </a:r>
            <a:endParaRPr lang="en-US">
              <a:latin typeface="+mj-lt"/>
            </a:endParaRPr>
          </a:p>
        </p:txBody>
      </p:sp>
      <p:sp>
        <p:nvSpPr>
          <p:cNvPr id="12" name="Content Placeholder 11">
            <a:extLst>
              <a:ext uri="{FF2B5EF4-FFF2-40B4-BE49-F238E27FC236}">
                <a16:creationId xmlns:a16="http://schemas.microsoft.com/office/drawing/2014/main" id="{4BE63657-3F13-499E-92CB-FC918F10C05E}"/>
              </a:ext>
            </a:extLst>
          </p:cNvPr>
          <p:cNvSpPr>
            <a:spLocks noGrp="1"/>
          </p:cNvSpPr>
          <p:nvPr>
            <p:ph sz="quarter" idx="13"/>
          </p:nvPr>
        </p:nvSpPr>
        <p:spPr>
          <a:xfrm>
            <a:off x="468312" y="1274400"/>
            <a:ext cx="3383607" cy="528794"/>
          </a:xfrm>
        </p:spPr>
        <p:txBody>
          <a:bodyPr wrap="square" tIns="18000" bIns="18000">
            <a:spAutoFit/>
          </a:bodyPr>
          <a:lstStyle/>
          <a:p>
            <a:pPr marL="0" indent="0">
              <a:buNone/>
            </a:pPr>
            <a:r>
              <a:rPr lang="en-US" b="1">
                <a:latin typeface="Arial" panose="020B0604020202020204" pitchFamily="34" charset="0"/>
                <a:cs typeface="Arial" panose="020B0604020202020204" pitchFamily="34" charset="0"/>
              </a:rPr>
              <a:t>Exhibit 8.10</a:t>
            </a:r>
            <a:r>
              <a:rPr lang="en-US">
                <a:latin typeface="Arial" panose="020B0604020202020204" pitchFamily="34" charset="0"/>
                <a:cs typeface="Arial" panose="020B0604020202020204" pitchFamily="34" charset="0"/>
              </a:rPr>
              <a:t> Contemporary Organization Designs</a:t>
            </a:r>
          </a:p>
        </p:txBody>
      </p:sp>
      <p:sp>
        <p:nvSpPr>
          <p:cNvPr id="13" name="Content Placeholder 12">
            <a:extLst>
              <a:ext uri="{FF2B5EF4-FFF2-40B4-BE49-F238E27FC236}">
                <a16:creationId xmlns:a16="http://schemas.microsoft.com/office/drawing/2014/main" id="{D285209D-75BF-4CE6-A87E-57AF84B3C842}"/>
              </a:ext>
            </a:extLst>
          </p:cNvPr>
          <p:cNvSpPr>
            <a:spLocks noGrp="1"/>
          </p:cNvSpPr>
          <p:nvPr>
            <p:ph sz="quarter" idx="14"/>
          </p:nvPr>
        </p:nvSpPr>
        <p:spPr>
          <a:xfrm>
            <a:off x="1091505" y="2801479"/>
            <a:ext cx="3168352" cy="344128"/>
          </a:xfrm>
        </p:spPr>
        <p:txBody>
          <a:bodyPr wrap="square" tIns="18000" bIns="18000">
            <a:spAutoFit/>
          </a:bodyPr>
          <a:lstStyle/>
          <a:p>
            <a:pPr marL="0" indent="0">
              <a:buNone/>
            </a:pPr>
            <a:r>
              <a:rPr lang="en-US" sz="2000" b="1" dirty="0">
                <a:solidFill>
                  <a:srgbClr val="007FA3"/>
                </a:solidFill>
                <a:latin typeface="Arial" panose="020B0604020202020204" pitchFamily="34" charset="0"/>
                <a:cs typeface="Arial" panose="020B0604020202020204" pitchFamily="34" charset="0"/>
              </a:rPr>
              <a:t>Lean. Flexible. Innovative.</a:t>
            </a:r>
            <a:endParaRPr lang="en-US" sz="2000" dirty="0">
              <a:solidFill>
                <a:srgbClr val="007FA3"/>
              </a:solidFill>
              <a:latin typeface="Arial" panose="020B0604020202020204" pitchFamily="34" charset="0"/>
              <a:cs typeface="Arial" panose="020B0604020202020204" pitchFamily="34" charset="0"/>
            </a:endParaRPr>
          </a:p>
        </p:txBody>
      </p:sp>
      <p:pic>
        <p:nvPicPr>
          <p:cNvPr id="10" name="Picture Placeholder 9" descr="An illustration shows the advantages and disadvantages of different organizational structures.&#10;Long description is available in notes, press F6.">
            <a:extLst>
              <a:ext uri="{FF2B5EF4-FFF2-40B4-BE49-F238E27FC236}">
                <a16:creationId xmlns:a16="http://schemas.microsoft.com/office/drawing/2014/main" id="{762628B5-F0B8-4660-9ABE-D1D3CD827923}"/>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4884160" y="980728"/>
            <a:ext cx="3589537" cy="4899384"/>
          </a:xfrm>
          <a:prstGeom prst="rect">
            <a:avLst/>
          </a:prstGeom>
        </p:spPr>
      </p:pic>
      <p:sp>
        <p:nvSpPr>
          <p:cNvPr id="14" name="Content Placeholder 13">
            <a:extLst>
              <a:ext uri="{FF2B5EF4-FFF2-40B4-BE49-F238E27FC236}">
                <a16:creationId xmlns:a16="http://schemas.microsoft.com/office/drawing/2014/main" id="{696CFF88-281E-4892-8A05-4798474B30C3}"/>
              </a:ext>
            </a:extLst>
          </p:cNvPr>
          <p:cNvSpPr>
            <a:spLocks noGrp="1"/>
          </p:cNvSpPr>
          <p:nvPr>
            <p:ph sz="quarter" idx="15"/>
          </p:nvPr>
        </p:nvSpPr>
        <p:spPr>
          <a:xfrm>
            <a:off x="468000" y="5975645"/>
            <a:ext cx="8280713" cy="405683"/>
          </a:xfrm>
        </p:spPr>
        <p:txBody>
          <a:bodyPr wrap="square" tIns="18000" bIns="18000">
            <a:spAutoFit/>
          </a:bodyPr>
          <a:lstStyle/>
          <a:p>
            <a:pPr marL="0" indent="0">
              <a:buNone/>
            </a:pPr>
            <a:r>
              <a:rPr lang="en-US" sz="1200" i="1">
                <a:latin typeface="Arial" panose="020B0604020202020204" pitchFamily="34" charset="0"/>
                <a:cs typeface="Arial" panose="020B0604020202020204" pitchFamily="34" charset="0"/>
              </a:rPr>
              <a:t>Source: </a:t>
            </a:r>
            <a:r>
              <a:rPr lang="en-US" sz="1200">
                <a:latin typeface="Arial" panose="020B0604020202020204" pitchFamily="34" charset="0"/>
                <a:cs typeface="Arial" panose="020B0604020202020204" pitchFamily="34" charset="0"/>
              </a:rPr>
              <a:t>Robbins, Stephen P., Coulter, Mary, </a:t>
            </a:r>
            <a:r>
              <a:rPr lang="en-US" sz="1200" i="1">
                <a:latin typeface="Arial" panose="020B0604020202020204" pitchFamily="34" charset="0"/>
                <a:cs typeface="Arial" panose="020B0604020202020204" pitchFamily="34" charset="0"/>
              </a:rPr>
              <a:t>Management</a:t>
            </a:r>
            <a:r>
              <a:rPr lang="en-US" sz="1200">
                <a:latin typeface="Arial" panose="020B0604020202020204" pitchFamily="34" charset="0"/>
                <a:cs typeface="Arial" panose="020B0604020202020204" pitchFamily="34" charset="0"/>
              </a:rPr>
              <a:t>, 13th E</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d., © 2016, p. 315. Reprinted and electronically reproduced by permission of Pearson Education, Inc., New York, </a:t>
            </a:r>
            <a:r>
              <a:rPr lang="en-US" sz="1200" spc="-200">
                <a:latin typeface="Arial" panose="020B0604020202020204" pitchFamily="34" charset="0"/>
                <a:cs typeface="Arial" panose="020B0604020202020204" pitchFamily="34" charset="0"/>
              </a:rPr>
              <a:t>N </a:t>
            </a:r>
            <a:r>
              <a:rPr lang="en-US" sz="120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1820403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dirty="0">
                <a:latin typeface="+mj-lt"/>
                <a:ea typeface="ＭＳ Ｐゴシック" panose="020B0600070205080204" pitchFamily="34" charset="-128"/>
                <a:cs typeface="Arial" panose="020B0604020202020204" pitchFamily="34" charset="0"/>
              </a:rPr>
              <a:t>Team Structure</a:t>
            </a:r>
            <a:endParaRPr lang="en-US" dirty="0">
              <a:latin typeface="+mj-lt"/>
            </a:endParaRPr>
          </a:p>
        </p:txBody>
      </p:sp>
      <p:sp>
        <p:nvSpPr>
          <p:cNvPr id="12" name="Content Placeholder 11">
            <a:extLst>
              <a:ext uri="{FF2B5EF4-FFF2-40B4-BE49-F238E27FC236}">
                <a16:creationId xmlns:a16="http://schemas.microsoft.com/office/drawing/2014/main" id="{4BE63657-3F13-499E-92CB-FC918F10C05E}"/>
              </a:ext>
            </a:extLst>
          </p:cNvPr>
          <p:cNvSpPr>
            <a:spLocks noGrp="1"/>
          </p:cNvSpPr>
          <p:nvPr>
            <p:ph sz="quarter" idx="13"/>
          </p:nvPr>
        </p:nvSpPr>
        <p:spPr>
          <a:xfrm>
            <a:off x="467999" y="1274400"/>
            <a:ext cx="8280713" cy="775015"/>
          </a:xfrm>
        </p:spPr>
        <p:txBody>
          <a:bodyPr wrap="square" tIns="18000" bIns="18000">
            <a:spAutoFit/>
          </a:bodyPr>
          <a:lstStyle/>
          <a:p>
            <a:pPr marL="0" indent="0">
              <a:buNone/>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A structure in which the entire organization is made up of work teams that do the organization’s work</a:t>
            </a:r>
            <a:endParaRPr lang="en-US" sz="2400" dirty="0">
              <a:latin typeface="Arial" panose="020B0604020202020204" pitchFamily="34" charset="0"/>
              <a:cs typeface="Arial" panose="020B0604020202020204" pitchFamily="34" charset="0"/>
            </a:endParaRPr>
          </a:p>
        </p:txBody>
      </p:sp>
      <p:pic>
        <p:nvPicPr>
          <p:cNvPr id="8" name="Picture Placeholder 7" descr="A photo shows a Chego! restaurant employee passing a bowl of food to a customer across a counter in the restaurant.">
            <a:extLst>
              <a:ext uri="{FF2B5EF4-FFF2-40B4-BE49-F238E27FC236}">
                <a16:creationId xmlns:a16="http://schemas.microsoft.com/office/drawing/2014/main" id="{FC633E41-372F-4DE4-83ED-145D38639AD8}"/>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1763688" y="2518752"/>
            <a:ext cx="5583936" cy="3718560"/>
          </a:xfrm>
          <a:prstGeom prst="rect">
            <a:avLst/>
          </a:prstGeom>
        </p:spPr>
      </p:pic>
    </p:spTree>
    <p:extLst>
      <p:ext uri="{BB962C8B-B14F-4D97-AF65-F5344CB8AC3E}">
        <p14:creationId xmlns:p14="http://schemas.microsoft.com/office/powerpoint/2010/main" val="7544015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Matrix and Project Structures</a:t>
            </a:r>
            <a:endParaRPr lang="en-US">
              <a:latin typeface="+mj-lt"/>
            </a:endParaRPr>
          </a:p>
        </p:txBody>
      </p:sp>
      <p:sp>
        <p:nvSpPr>
          <p:cNvPr id="12" name="Content Placeholder 11">
            <a:extLst>
              <a:ext uri="{FF2B5EF4-FFF2-40B4-BE49-F238E27FC236}">
                <a16:creationId xmlns:a16="http://schemas.microsoft.com/office/drawing/2014/main" id="{4BE63657-3F13-499E-92CB-FC918F10C05E}"/>
              </a:ext>
            </a:extLst>
          </p:cNvPr>
          <p:cNvSpPr>
            <a:spLocks noGrp="1"/>
          </p:cNvSpPr>
          <p:nvPr>
            <p:ph sz="quarter" idx="13"/>
          </p:nvPr>
        </p:nvSpPr>
        <p:spPr>
          <a:xfrm>
            <a:off x="467999" y="1274400"/>
            <a:ext cx="8280713" cy="282573"/>
          </a:xfrm>
        </p:spPr>
        <p:txBody>
          <a:bodyPr wrap="square" tIns="18000" bIns="18000">
            <a:spAutoFit/>
          </a:bodyPr>
          <a:lstStyle/>
          <a:p>
            <a:pPr marL="0" indent="0">
              <a:buNone/>
            </a:pPr>
            <a:r>
              <a:rPr lang="en-US" b="1">
                <a:latin typeface="Arial" panose="020B0604020202020204" pitchFamily="34" charset="0"/>
                <a:cs typeface="Arial" panose="020B0604020202020204" pitchFamily="34" charset="0"/>
              </a:rPr>
              <a:t>Exhibit 8.11</a:t>
            </a:r>
            <a:r>
              <a:rPr lang="en-US">
                <a:latin typeface="Arial" panose="020B0604020202020204" pitchFamily="34" charset="0"/>
                <a:cs typeface="Arial" panose="020B0604020202020204" pitchFamily="34" charset="0"/>
              </a:rPr>
              <a:t> Sample Matrix Structure</a:t>
            </a:r>
          </a:p>
        </p:txBody>
      </p:sp>
      <p:pic>
        <p:nvPicPr>
          <p:cNvPr id="6" name="Picture Placeholder 5" descr="An organization chart shows a project structure.&#10;Long description is available in notes, press F6.">
            <a:extLst>
              <a:ext uri="{FF2B5EF4-FFF2-40B4-BE49-F238E27FC236}">
                <a16:creationId xmlns:a16="http://schemas.microsoft.com/office/drawing/2014/main" id="{59CE84D4-30F8-431E-97D9-5BA8906AA751}"/>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968603" y="1906440"/>
            <a:ext cx="7275805" cy="4258864"/>
          </a:xfrm>
          <a:prstGeom prst="rect">
            <a:avLst/>
          </a:prstGeom>
        </p:spPr>
      </p:pic>
    </p:spTree>
    <p:extLst>
      <p:ext uri="{BB962C8B-B14F-4D97-AF65-F5344CB8AC3E}">
        <p14:creationId xmlns:p14="http://schemas.microsoft.com/office/powerpoint/2010/main" val="1397895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95833"/>
            <a:ext cx="8229600" cy="590349"/>
          </a:xfrm>
        </p:spPr>
        <p:txBody>
          <a:bodyPr tIns="18000" bIns="18000">
            <a:spAutoFit/>
          </a:bodyPr>
          <a:lstStyle/>
          <a:p>
            <a:r>
              <a:rPr lang="en-US" altLang="en-US" sz="3600" dirty="0">
                <a:latin typeface="+mj-lt"/>
                <a:ea typeface="ＭＳ Ｐゴシック" panose="020B0600070205080204" pitchFamily="34" charset="-128"/>
                <a:cs typeface="Arial" panose="020B0604020202020204" pitchFamily="34" charset="0"/>
              </a:rPr>
              <a:t>Project Structure</a:t>
            </a:r>
            <a:endParaRPr lang="en-US" sz="3600" dirty="0">
              <a:latin typeface="+mj-lt"/>
            </a:endParaRPr>
          </a:p>
        </p:txBody>
      </p:sp>
      <p:sp>
        <p:nvSpPr>
          <p:cNvPr id="3" name="Content Placeholder 2"/>
          <p:cNvSpPr>
            <a:spLocks noGrp="1"/>
          </p:cNvSpPr>
          <p:nvPr>
            <p:ph idx="1"/>
          </p:nvPr>
        </p:nvSpPr>
        <p:spPr>
          <a:xfrm>
            <a:off x="468000" y="1285833"/>
            <a:ext cx="8229600" cy="775015"/>
          </a:xfrm>
        </p:spPr>
        <p:txBody>
          <a:bodyPr tIns="18000" bIns="18000">
            <a:spAutoFit/>
          </a:bodyPr>
          <a:lstStyle/>
          <a:p>
            <a:pPr marL="0" indent="0">
              <a:buSzPct val="100000"/>
              <a:buNone/>
              <a:defRPr/>
            </a:pPr>
            <a:r>
              <a:rPr lang="en-US" altLang="en-US" sz="2400" dirty="0">
                <a:latin typeface="Arial" panose="020B0604020202020204" pitchFamily="34" charset="0"/>
                <a:ea typeface="ＭＳ Ｐゴシック" pitchFamily="34" charset="-128"/>
                <a:cs typeface="Arial" panose="020B0604020202020204" pitchFamily="34" charset="0"/>
              </a:rPr>
              <a:t>A structure in which employees continuously work on projects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2653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dirty="0">
                <a:latin typeface="+mj-lt"/>
                <a:ea typeface="ＭＳ Ｐゴシック" panose="020B0600070205080204" pitchFamily="34" charset="-128"/>
                <a:cs typeface="Arial" panose="020B0604020202020204" pitchFamily="34" charset="0"/>
              </a:rPr>
              <a:t>Boundaryless Organizations</a:t>
            </a:r>
            <a:endParaRPr lang="en-US" dirty="0">
              <a:latin typeface="+mj-lt"/>
            </a:endParaRPr>
          </a:p>
        </p:txBody>
      </p:sp>
      <p:sp>
        <p:nvSpPr>
          <p:cNvPr id="3" name="Content Placeholder 2"/>
          <p:cNvSpPr>
            <a:spLocks noGrp="1"/>
          </p:cNvSpPr>
          <p:nvPr>
            <p:ph idx="1"/>
          </p:nvPr>
        </p:nvSpPr>
        <p:spPr>
          <a:xfrm>
            <a:off x="468000" y="1274400"/>
            <a:ext cx="8229600" cy="775015"/>
          </a:xfrm>
        </p:spPr>
        <p:txBody>
          <a:bodyPr tIns="18000" bIns="18000">
            <a:spAutoFit/>
          </a:bodyPr>
          <a:lstStyle/>
          <a:p>
            <a:pPr marL="0" indent="0">
              <a:buSzPct val="100000"/>
              <a:buNone/>
            </a:pPr>
            <a:r>
              <a:rPr lang="en-US" altLang="en-US" sz="2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 organization whose design is not imposed by a predefined structure</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3627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53998"/>
          </a:xfrm>
        </p:spPr>
        <p:txBody>
          <a:bodyPr tIns="18000" bIns="18000">
            <a:noAutofit/>
          </a:bodyPr>
          <a:lstStyle/>
          <a:p>
            <a:r>
              <a:rPr lang="en-US" altLang="en-US" sz="3600" dirty="0">
                <a:solidFill>
                  <a:schemeClr val="bg2"/>
                </a:solidFill>
                <a:latin typeface="+mj-lt"/>
                <a:cs typeface="Arial" pitchFamily="34" charset="0"/>
              </a:rPr>
              <a:t>Learning Objective 8.4</a:t>
            </a:r>
            <a:endParaRPr lang="en-US" sz="3600" dirty="0">
              <a:solidFill>
                <a:schemeClr val="bg2"/>
              </a:solidFill>
              <a:latin typeface="+mj-lt"/>
            </a:endParaRPr>
          </a:p>
        </p:txBody>
      </p:sp>
      <p:sp>
        <p:nvSpPr>
          <p:cNvPr id="3" name="Content Placeholder 2"/>
          <p:cNvSpPr>
            <a:spLocks noGrp="1"/>
          </p:cNvSpPr>
          <p:nvPr>
            <p:ph idx="1"/>
          </p:nvPr>
        </p:nvSpPr>
        <p:spPr>
          <a:xfrm>
            <a:off x="468000" y="1274400"/>
            <a:ext cx="8229600" cy="775015"/>
          </a:xfrm>
        </p:spPr>
        <p:txBody>
          <a:bodyPr tIns="18000" bIns="18000">
            <a:spAutoFit/>
          </a:bodyPr>
          <a:lstStyle/>
          <a:p>
            <a:r>
              <a:rPr lang="en-US" altLang="en-US" sz="2400" dirty="0"/>
              <a:t>Discuss the design challenges faced by today’s organizations.</a:t>
            </a:r>
            <a:endParaRPr lang="en-US" sz="2400" dirty="0"/>
          </a:p>
        </p:txBody>
      </p:sp>
    </p:spTree>
    <p:extLst>
      <p:ext uri="{BB962C8B-B14F-4D97-AF65-F5344CB8AC3E}">
        <p14:creationId xmlns:p14="http://schemas.microsoft.com/office/powerpoint/2010/main" val="1227617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18488" cy="1144347"/>
          </a:xfrm>
        </p:spPr>
        <p:txBody>
          <a:bodyPr wrap="square" tIns="18000" bIns="18000">
            <a:spAutoFit/>
          </a:bodyPr>
          <a:lstStyle/>
          <a:p>
            <a:r>
              <a:rPr lang="en-US" altLang="en-US" sz="3600">
                <a:latin typeface="+mj-lt"/>
                <a:ea typeface="ＭＳ Ｐゴシック" panose="020B0600070205080204" pitchFamily="34" charset="-128"/>
                <a:cs typeface="Arial" panose="020B0604020202020204" pitchFamily="34" charset="0"/>
              </a:rPr>
              <a:t>Current Organizational Design Challenges</a:t>
            </a:r>
            <a:endParaRPr lang="en-US" sz="3600">
              <a:latin typeface="+mj-lt"/>
            </a:endParaRPr>
          </a:p>
        </p:txBody>
      </p:sp>
      <p:sp>
        <p:nvSpPr>
          <p:cNvPr id="5" name="Content Placeholder 4"/>
          <p:cNvSpPr>
            <a:spLocks noGrp="1"/>
          </p:cNvSpPr>
          <p:nvPr>
            <p:ph idx="1"/>
          </p:nvPr>
        </p:nvSpPr>
        <p:spPr>
          <a:xfrm>
            <a:off x="468000" y="1602000"/>
            <a:ext cx="8218488" cy="2094395"/>
          </a:xfrm>
        </p:spPr>
        <p:txBody>
          <a:bodyPr wrap="square" tIns="18000" bIns="18000">
            <a:spAutoFit/>
          </a:bodyPr>
          <a:lstStyle/>
          <a:p>
            <a:pPr>
              <a:buClr>
                <a:schemeClr val="bg2"/>
              </a:buClr>
              <a:defRPr/>
            </a:pPr>
            <a:r>
              <a:rPr lang="en-US" altLang="en-US" sz="2400">
                <a:latin typeface="Arial" panose="020B0604020202020204" pitchFamily="34" charset="0"/>
                <a:ea typeface="ＭＳ Ｐゴシック" pitchFamily="34" charset="-128"/>
                <a:cs typeface="Arial" panose="020B0604020202020204" pitchFamily="34" charset="0"/>
              </a:rPr>
              <a:t>Keeping employees connected</a:t>
            </a:r>
          </a:p>
          <a:p>
            <a:pPr>
              <a:buClr>
                <a:schemeClr val="bg2"/>
              </a:buClr>
              <a:defRPr/>
            </a:pPr>
            <a:r>
              <a:rPr lang="en-US" altLang="en-US" sz="2400">
                <a:latin typeface="Arial" panose="020B0604020202020204" pitchFamily="34" charset="0"/>
                <a:ea typeface="ＭＳ Ｐゴシック" pitchFamily="34" charset="-128"/>
                <a:cs typeface="Arial" panose="020B0604020202020204" pitchFamily="34" charset="0"/>
              </a:rPr>
              <a:t>Managing global structural issues</a:t>
            </a:r>
          </a:p>
          <a:p>
            <a:pPr>
              <a:buClr>
                <a:schemeClr val="bg2"/>
              </a:buClr>
              <a:defRPr/>
            </a:pPr>
            <a:r>
              <a:rPr lang="en-US" altLang="en-US" sz="2400">
                <a:latin typeface="Arial" panose="020B0604020202020204" pitchFamily="34" charset="0"/>
                <a:ea typeface="ＭＳ Ｐゴシック" pitchFamily="34" charset="-128"/>
                <a:cs typeface="Arial" panose="020B0604020202020204" pitchFamily="34" charset="0"/>
              </a:rPr>
              <a:t>Building a learning organization</a:t>
            </a:r>
          </a:p>
          <a:p>
            <a:pPr>
              <a:buClr>
                <a:schemeClr val="bg2"/>
              </a:buClr>
              <a:defRPr/>
            </a:pPr>
            <a:r>
              <a:rPr lang="en-US" altLang="en-US" sz="2400">
                <a:latin typeface="Arial" panose="020B0604020202020204" pitchFamily="34" charset="0"/>
                <a:ea typeface="ＭＳ Ｐゴシック" pitchFamily="34" charset="-128"/>
                <a:cs typeface="Arial" panose="020B0604020202020204" pitchFamily="34" charset="0"/>
              </a:rPr>
              <a:t>Designing flexible work arrangements</a:t>
            </a:r>
            <a:endParaRPr lang="en-US" sz="2400">
              <a:latin typeface="Arial" panose="020B0604020202020204" pitchFamily="34" charset="0"/>
              <a:cs typeface="Arial" panose="020B0604020202020204" pitchFamily="34" charset="0"/>
            </a:endParaRPr>
          </a:p>
        </p:txBody>
      </p:sp>
      <p:sp>
        <p:nvSpPr>
          <p:cNvPr id="3" name="Content Placeholder 2"/>
          <p:cNvSpPr>
            <a:spLocks noGrp="1"/>
          </p:cNvSpPr>
          <p:nvPr>
            <p:ph idx="13"/>
          </p:nvPr>
        </p:nvSpPr>
        <p:spPr>
          <a:xfrm>
            <a:off x="2221168" y="4247453"/>
            <a:ext cx="4701664" cy="405683"/>
          </a:xfrm>
        </p:spPr>
        <p:txBody>
          <a:bodyPr wrap="square" tIns="18000" bIns="18000">
            <a:spAutoFit/>
          </a:bodyPr>
          <a:lstStyle/>
          <a:p>
            <a:pPr marL="0" indent="0">
              <a:buNone/>
            </a:pPr>
            <a:r>
              <a:rPr lang="en-US" sz="2400" dirty="0">
                <a:solidFill>
                  <a:srgbClr val="007FA3"/>
                </a:solidFill>
                <a:latin typeface="Arial" panose="020B0604020202020204" pitchFamily="34" charset="0"/>
                <a:cs typeface="Arial" panose="020B0604020202020204" pitchFamily="34" charset="0"/>
              </a:rPr>
              <a:t>Changing the </a:t>
            </a:r>
            <a:r>
              <a:rPr lang="en-US" sz="2400" b="1" dirty="0">
                <a:solidFill>
                  <a:srgbClr val="007FA3"/>
                </a:solidFill>
                <a:latin typeface="Arial" panose="020B0604020202020204" pitchFamily="34" charset="0"/>
                <a:cs typeface="Arial" panose="020B0604020202020204" pitchFamily="34" charset="0"/>
              </a:rPr>
              <a:t>Way Work </a:t>
            </a:r>
            <a:r>
              <a:rPr lang="en-US" sz="2400" dirty="0">
                <a:solidFill>
                  <a:srgbClr val="007FA3"/>
                </a:solidFill>
                <a:latin typeface="Arial" panose="020B0604020202020204" pitchFamily="34" charset="0"/>
                <a:cs typeface="Arial" panose="020B0604020202020204" pitchFamily="34" charset="0"/>
              </a:rPr>
              <a:t>Is Done</a:t>
            </a:r>
          </a:p>
        </p:txBody>
      </p:sp>
    </p:spTree>
    <p:extLst>
      <p:ext uri="{BB962C8B-B14F-4D97-AF65-F5344CB8AC3E}">
        <p14:creationId xmlns:p14="http://schemas.microsoft.com/office/powerpoint/2010/main" val="4134790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a:latin typeface="+mj-lt"/>
                <a:ea typeface="ＭＳ Ｐゴシック" panose="020B0600070205080204" pitchFamily="34" charset="-128"/>
                <a:cs typeface="Arial" panose="020B0604020202020204" pitchFamily="34" charset="0"/>
              </a:rPr>
              <a:t>A Learning Organization</a:t>
            </a:r>
            <a:endParaRPr lang="en-US">
              <a:latin typeface="+mj-lt"/>
            </a:endParaRPr>
          </a:p>
        </p:txBody>
      </p:sp>
      <p:sp>
        <p:nvSpPr>
          <p:cNvPr id="12" name="Content Placeholder 11">
            <a:extLst>
              <a:ext uri="{FF2B5EF4-FFF2-40B4-BE49-F238E27FC236}">
                <a16:creationId xmlns:a16="http://schemas.microsoft.com/office/drawing/2014/main" id="{4BE63657-3F13-499E-92CB-FC918F10C05E}"/>
              </a:ext>
            </a:extLst>
          </p:cNvPr>
          <p:cNvSpPr>
            <a:spLocks noGrp="1"/>
          </p:cNvSpPr>
          <p:nvPr>
            <p:ph sz="quarter" idx="13"/>
          </p:nvPr>
        </p:nvSpPr>
        <p:spPr>
          <a:xfrm>
            <a:off x="468311" y="1274400"/>
            <a:ext cx="8280401" cy="282573"/>
          </a:xfrm>
        </p:spPr>
        <p:txBody>
          <a:bodyPr wrap="square" tIns="18000" bIns="18000">
            <a:spAutoFit/>
          </a:bodyPr>
          <a:lstStyle/>
          <a:p>
            <a:pPr marL="0" indent="0">
              <a:buNone/>
            </a:pPr>
            <a:r>
              <a:rPr lang="en-US" b="1">
                <a:latin typeface="Arial" panose="020B0604020202020204" pitchFamily="34" charset="0"/>
                <a:cs typeface="Arial" panose="020B0604020202020204" pitchFamily="34" charset="0"/>
              </a:rPr>
              <a:t>Exhibit 8.12</a:t>
            </a:r>
            <a:r>
              <a:rPr lang="en-US">
                <a:latin typeface="Arial" panose="020B0604020202020204" pitchFamily="34" charset="0"/>
                <a:cs typeface="Arial" panose="020B0604020202020204" pitchFamily="34" charset="0"/>
              </a:rPr>
              <a:t> Characteristics of a Learning Organization</a:t>
            </a:r>
          </a:p>
        </p:txBody>
      </p:sp>
      <p:pic>
        <p:nvPicPr>
          <p:cNvPr id="8" name="Picture Placeholder 7" descr="An illustration shows the four characteristics of a learning organization.&#10;Long description is available in notes, press F6.">
            <a:extLst>
              <a:ext uri="{FF2B5EF4-FFF2-40B4-BE49-F238E27FC236}">
                <a16:creationId xmlns:a16="http://schemas.microsoft.com/office/drawing/2014/main" id="{9CCCB563-388E-4373-96AB-98E40E2C6B11}"/>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1021792" y="1961604"/>
            <a:ext cx="7150608" cy="3371088"/>
          </a:xfrm>
          <a:prstGeom prst="rect">
            <a:avLst/>
          </a:prstGeom>
        </p:spPr>
      </p:pic>
      <p:sp>
        <p:nvSpPr>
          <p:cNvPr id="14" name="Content Placeholder 13">
            <a:extLst>
              <a:ext uri="{FF2B5EF4-FFF2-40B4-BE49-F238E27FC236}">
                <a16:creationId xmlns:a16="http://schemas.microsoft.com/office/drawing/2014/main" id="{696CFF88-281E-4892-8A05-4798474B30C3}"/>
              </a:ext>
            </a:extLst>
          </p:cNvPr>
          <p:cNvSpPr>
            <a:spLocks noGrp="1"/>
          </p:cNvSpPr>
          <p:nvPr>
            <p:ph sz="quarter" idx="15"/>
          </p:nvPr>
        </p:nvSpPr>
        <p:spPr>
          <a:xfrm>
            <a:off x="468000" y="5589240"/>
            <a:ext cx="8280713" cy="590349"/>
          </a:xfrm>
        </p:spPr>
        <p:txBody>
          <a:bodyPr wrap="square" tIns="18000" bIns="18000">
            <a:spAutoFit/>
          </a:bodyPr>
          <a:lstStyle/>
          <a:p>
            <a:pPr marL="0" indent="0">
              <a:buNone/>
            </a:pPr>
            <a:r>
              <a:rPr lang="en-US" sz="1200" i="1">
                <a:latin typeface="Arial" panose="020B0604020202020204" pitchFamily="34" charset="0"/>
                <a:cs typeface="Arial" panose="020B0604020202020204" pitchFamily="34" charset="0"/>
              </a:rPr>
              <a:t>Sources: </a:t>
            </a:r>
            <a:r>
              <a:rPr lang="en-US" sz="1200">
                <a:latin typeface="Arial" panose="020B0604020202020204" pitchFamily="34" charset="0"/>
                <a:cs typeface="Arial" panose="020B0604020202020204" pitchFamily="34" charset="0"/>
              </a:rPr>
              <a:t>Based on P. M. Senge, </a:t>
            </a:r>
            <a:r>
              <a:rPr lang="en-US" sz="1200" i="1">
                <a:latin typeface="Arial" panose="020B0604020202020204" pitchFamily="34" charset="0"/>
                <a:cs typeface="Arial" panose="020B0604020202020204" pitchFamily="34" charset="0"/>
              </a:rPr>
              <a:t>The Fifth Discipline: The Art and Practice of Learning Organizations </a:t>
            </a:r>
            <a:r>
              <a:rPr lang="en-US" sz="1200">
                <a:latin typeface="Arial" panose="020B0604020202020204" pitchFamily="34" charset="0"/>
                <a:cs typeface="Arial" panose="020B0604020202020204" pitchFamily="34" charset="0"/>
              </a:rPr>
              <a:t>(New York: Doubleday, 1990); and R. M. Hodgetts, F. Luthans, and S. M. Lee, “New Paradigm Organizations: From Total Quality to Learning to World Class,” </a:t>
            </a:r>
            <a:r>
              <a:rPr lang="en-US" sz="1200" i="1">
                <a:latin typeface="Arial" panose="020B0604020202020204" pitchFamily="34" charset="0"/>
                <a:cs typeface="Arial" panose="020B0604020202020204" pitchFamily="34" charset="0"/>
              </a:rPr>
              <a:t>Organizational Dynamics</a:t>
            </a:r>
            <a:r>
              <a:rPr lang="en-US" sz="1200">
                <a:latin typeface="Arial" panose="020B0604020202020204" pitchFamily="34" charset="0"/>
                <a:cs typeface="Arial" panose="020B0604020202020204" pitchFamily="34" charset="0"/>
              </a:rPr>
              <a:t>, Winter 1994, p</a:t>
            </a:r>
            <a:r>
              <a:rPr lang="en-US" sz="1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p. 4–19.</a:t>
            </a:r>
          </a:p>
        </p:txBody>
      </p:sp>
    </p:spTree>
    <p:extLst>
      <p:ext uri="{BB962C8B-B14F-4D97-AF65-F5344CB8AC3E}">
        <p14:creationId xmlns:p14="http://schemas.microsoft.com/office/powerpoint/2010/main" val="29171311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29600" cy="590349"/>
          </a:xfrm>
        </p:spPr>
        <p:txBody>
          <a:bodyPr tIns="18000" bIns="18000">
            <a:spAutoFit/>
          </a:bodyPr>
          <a:lstStyle/>
          <a:p>
            <a:r>
              <a:rPr lang="en-US" altLang="en-US" sz="3600" dirty="0">
                <a:latin typeface="+mj-lt"/>
                <a:ea typeface="ＭＳ Ｐゴシック" panose="020B0600070205080204" pitchFamily="34" charset="-128"/>
                <a:cs typeface="Arial" panose="020B0604020202020204" pitchFamily="34" charset="0"/>
              </a:rPr>
              <a:t>Flexible Work Arrangements</a:t>
            </a:r>
            <a:endParaRPr lang="en-US" dirty="0">
              <a:latin typeface="+mj-lt"/>
            </a:endParaRPr>
          </a:p>
        </p:txBody>
      </p:sp>
      <p:sp>
        <p:nvSpPr>
          <p:cNvPr id="4" name="Content Placeholder 3">
            <a:extLst>
              <a:ext uri="{FF2B5EF4-FFF2-40B4-BE49-F238E27FC236}">
                <a16:creationId xmlns:a16="http://schemas.microsoft.com/office/drawing/2014/main" id="{739723B2-A6FA-4F7A-9E2A-89DE6C4DC781}"/>
              </a:ext>
            </a:extLst>
          </p:cNvPr>
          <p:cNvSpPr>
            <a:spLocks noGrp="1"/>
          </p:cNvSpPr>
          <p:nvPr>
            <p:ph sz="quarter" idx="13"/>
          </p:nvPr>
        </p:nvSpPr>
        <p:spPr>
          <a:xfrm>
            <a:off x="467999" y="1274400"/>
            <a:ext cx="3383921" cy="3006395"/>
          </a:xfrm>
        </p:spPr>
        <p:txBody>
          <a:bodyPr wrap="square" tIns="18000" bIns="18000">
            <a:spAutoFit/>
          </a:bodyPr>
          <a:lstStyle/>
          <a:p>
            <a:pPr>
              <a:spcBef>
                <a:spcPts val="600"/>
              </a:spcBef>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Remote work</a:t>
            </a:r>
          </a:p>
          <a:p>
            <a:pPr>
              <a:spcBef>
                <a:spcPts val="600"/>
              </a:spcBef>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Telecommuting</a:t>
            </a:r>
          </a:p>
          <a:p>
            <a:pPr>
              <a:spcBef>
                <a:spcPts val="600"/>
              </a:spcBef>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Compressed workweek</a:t>
            </a:r>
          </a:p>
          <a:p>
            <a:pPr>
              <a:spcBef>
                <a:spcPts val="600"/>
              </a:spcBef>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Flextime</a:t>
            </a:r>
          </a:p>
          <a:p>
            <a:pPr>
              <a:spcBef>
                <a:spcPts val="600"/>
              </a:spcBef>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Job Sharing</a:t>
            </a:r>
          </a:p>
          <a:p>
            <a:pPr>
              <a:spcBef>
                <a:spcPts val="600"/>
              </a:spcBef>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Contingent workers</a:t>
            </a:r>
            <a:endParaRPr lang="en-US" sz="2400" dirty="0">
              <a:latin typeface="Arial" panose="020B0604020202020204" pitchFamily="34" charset="0"/>
              <a:cs typeface="Arial" panose="020B0604020202020204" pitchFamily="34" charset="0"/>
            </a:endParaRPr>
          </a:p>
        </p:txBody>
      </p:sp>
      <p:pic>
        <p:nvPicPr>
          <p:cNvPr id="13" name="Picture Placeholder 12" descr="A photo shows a woman and a man sitting at a table in a conference room and smiling for the camera. A screen in the background shows the woman’s face.">
            <a:extLst>
              <a:ext uri="{FF2B5EF4-FFF2-40B4-BE49-F238E27FC236}">
                <a16:creationId xmlns:a16="http://schemas.microsoft.com/office/drawing/2014/main" id="{4690EE06-5306-41A5-9618-6AEF1D04082D}"/>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4377499" y="1466300"/>
            <a:ext cx="4298502" cy="2814495"/>
          </a:xfrm>
          <a:prstGeom prst="rect">
            <a:avLst/>
          </a:prstGeom>
        </p:spPr>
      </p:pic>
    </p:spTree>
    <p:extLst>
      <p:ext uri="{BB962C8B-B14F-4D97-AF65-F5344CB8AC3E}">
        <p14:creationId xmlns:p14="http://schemas.microsoft.com/office/powerpoint/2010/main" val="40883492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67999" y="284400"/>
            <a:ext cx="8280713" cy="590349"/>
          </a:xfrm>
        </p:spPr>
        <p:txBody>
          <a:bodyPr wrap="square" lIns="0" tIns="18000" rIns="0" bIns="18000" rtlCol="0" anchor="b" anchorCtr="0">
            <a:spAutoFit/>
          </a:bodyPr>
          <a:lstStyle/>
          <a:p>
            <a:pPr eaLnBrk="1" fontAlgn="auto" hangingPunct="1">
              <a:spcAft>
                <a:spcPts val="0"/>
              </a:spcAft>
              <a:defRPr/>
            </a:pPr>
            <a:r>
              <a:rPr lang="en-US" sz="3600" dirty="0">
                <a:latin typeface="+mj-lt"/>
              </a:rPr>
              <a:t>Copyright</a:t>
            </a:r>
            <a:endParaRPr lang="en-US" sz="3600" b="0" dirty="0">
              <a:latin typeface="+mj-lt"/>
            </a:endParaRPr>
          </a:p>
        </p:txBody>
      </p:sp>
      <p:pic>
        <p:nvPicPr>
          <p:cNvPr id="47107" name="Picture Placeholder 9" descr="Warning">
            <a:extLst>
              <a:ext uri="{FF2B5EF4-FFF2-40B4-BE49-F238E27FC236}">
                <a16:creationId xmlns:a16="http://schemas.microsoft.com/office/drawing/2014/main" id="{39143CDC-0F5E-4B76-B367-735F3520DE46}"/>
              </a:ext>
            </a:extLst>
          </p:cNvPr>
          <p:cNvPicPr>
            <a:picLocks noGrp="1" noChangeAspect="1" noChangeArrowheads="1"/>
          </p:cNvPicPr>
          <p:nvPr>
            <p:ph type="pic" sz="quarter" idx="14"/>
          </p:nvPr>
        </p:nvPicPr>
        <p:blipFill>
          <a:blip r:embed="rId3" cstate="print">
            <a:extLst>
              <a:ext uri="{28A0092B-C50C-407E-A947-70E740481C1C}">
                <a14:useLocalDpi xmlns:a14="http://schemas.microsoft.com/office/drawing/2010/main" val="0"/>
              </a:ext>
            </a:extLst>
          </a:blip>
          <a:srcRect/>
          <a:stretch>
            <a:fillRect/>
          </a:stretch>
        </p:blipFill>
        <p:spPr bwMode="auto">
          <a:xfrm>
            <a:off x="467544" y="2739600"/>
            <a:ext cx="1269677" cy="1269677"/>
          </a:xfr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2218181" y="2012400"/>
            <a:ext cx="6530532" cy="3239167"/>
          </a:xfrm>
          <a:ln w="28575">
            <a:solidFill>
              <a:schemeClr val="tx1"/>
            </a:solidFill>
            <a:miter lim="800000"/>
            <a:headEnd/>
            <a:tailEnd/>
          </a:ln>
        </p:spPr>
        <p:txBody>
          <a:bodyPr wrap="square" lIns="273600" tIns="273600" rIns="273600" bIns="273600" numCol="1" anchor="t" anchorCtr="0" compatLnSpc="1">
            <a:prstTxWarp prst="textNoShape">
              <a:avLst/>
            </a:prstTxWarp>
            <a:spAutoFit/>
          </a:bodyPr>
          <a:lstStyle/>
          <a:p>
            <a:pPr marL="0" indent="0" eaLnBrk="1" hangingPunct="1">
              <a:buFont typeface="Arial" panose="020B0604020202020204" pitchFamily="34" charset="0"/>
              <a:buNone/>
            </a:pPr>
            <a:r>
              <a:rPr lang="en-US" altLang="en-US" b="1" dirty="0">
                <a:latin typeface="Arial" panose="020B0604020202020204" pitchFamily="34" charset="0"/>
                <a:cs typeface="Arial" panose="020B0604020202020204" pitchFamily="34" charset="0"/>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117443060"/>
      </p:ext>
    </p:extLst>
  </p:cSld>
  <p:clrMapOvr>
    <a:masterClrMapping/>
  </p:clrMapOvr>
</p:sld>
</file>

<file path=ppt/theme/theme1.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2_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6" ma:contentTypeDescription="Create a new document." ma:contentTypeScope="" ma:versionID="29a186ed1e65123c1a0879605a93f476">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0b181892f94accdb799936a4747b12d"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b6de40a-7f9e-437f-b1fb-43a1e580b69e}" ma:internalName="TaxCatchAll" ma:showField="CatchAllData" ma:web="7c1bd8dc-4e40-424f-a15f-9ffcd522197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c1bd8dc-4e40-424f-a15f-9ffcd522197f" xsi:nil="true"/>
    <lcf76f155ced4ddcb4097134ff3c332f xmlns="6125ffc9-2c56-435e-8267-1393444907b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B1F8304-06A1-4EE6-A2C6-A46C1E0E57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B560C9F-B733-4253-9786-3BAF07775AB4}">
  <ds:schemaRefs>
    <ds:schemaRef ds:uri="http://schemas.microsoft.com/sharepoint/v3/contenttype/forms"/>
  </ds:schemaRefs>
</ds:datastoreItem>
</file>

<file path=customXml/itemProps3.xml><?xml version="1.0" encoding="utf-8"?>
<ds:datastoreItem xmlns:ds="http://schemas.openxmlformats.org/officeDocument/2006/customXml" ds:itemID="{1EB66022-B9F9-4C22-B459-ECDDB4990567}">
  <ds:schemaRefs>
    <ds:schemaRef ds:uri="http://schemas.microsoft.com/office/2006/metadata/properties"/>
    <ds:schemaRef ds:uri="http://schemas.microsoft.com/office/infopath/2007/PartnerControls"/>
    <ds:schemaRef ds:uri="7c1bd8dc-4e40-424f-a15f-9ffcd522197f"/>
    <ds:schemaRef ds:uri="6125ffc9-2c56-435e-8267-1393444907b2"/>
  </ds:schemaRefs>
</ds:datastoreItem>
</file>

<file path=docProps/app.xml><?xml version="1.0" encoding="utf-8"?>
<Properties xmlns="http://schemas.openxmlformats.org/officeDocument/2006/extended-properties" xmlns:vt="http://schemas.openxmlformats.org/officeDocument/2006/docPropsVTypes">
  <Template/>
  <TotalTime>3574</TotalTime>
  <Words>1125</Words>
  <Application>Microsoft Office PowerPoint</Application>
  <PresentationFormat>On-screen Show (4:3)</PresentationFormat>
  <Paragraphs>180</Paragraphs>
  <Slides>35</Slides>
  <Notes>31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35</vt:i4>
      </vt:variant>
    </vt:vector>
  </HeadingPairs>
  <TitlesOfParts>
    <vt:vector size="42" baseType="lpstr">
      <vt:lpstr>Arial</vt:lpstr>
      <vt:lpstr>Noto Sans Symbols</vt:lpstr>
      <vt:lpstr>Times New Roman</vt:lpstr>
      <vt:lpstr>Verdana</vt:lpstr>
      <vt:lpstr>Wingdings</vt:lpstr>
      <vt:lpstr>1_508 Lecture</vt:lpstr>
      <vt:lpstr>2_508 Lecture</vt:lpstr>
      <vt:lpstr>Fundamentals of Management</vt:lpstr>
      <vt:lpstr>Learning Objectives</vt:lpstr>
      <vt:lpstr>Learning Objective 8.1</vt:lpstr>
      <vt:lpstr>Elements of Organizational Structure</vt:lpstr>
      <vt:lpstr>Work Specialization</vt:lpstr>
      <vt:lpstr>Departmentalization</vt:lpstr>
      <vt:lpstr>Types of Authority Relationships</vt:lpstr>
      <vt:lpstr>Line and Staff Authority</vt:lpstr>
      <vt:lpstr>Unity of Command</vt:lpstr>
      <vt:lpstr>How Do Authority and Power Differ?</vt:lpstr>
      <vt:lpstr>Power versus Authority</vt:lpstr>
      <vt:lpstr>Types of Power</vt:lpstr>
      <vt:lpstr>Span of Control</vt:lpstr>
      <vt:lpstr>Centralization and Decentralization</vt:lpstr>
      <vt:lpstr>Formalization</vt:lpstr>
      <vt:lpstr>Learning Objective 8.2</vt:lpstr>
      <vt:lpstr>Models of Organizational Design</vt:lpstr>
      <vt:lpstr>Strategy and Structure</vt:lpstr>
      <vt:lpstr>Size and Structure</vt:lpstr>
      <vt:lpstr>Technology and Structure</vt:lpstr>
      <vt:lpstr>Environment and Structure</vt:lpstr>
      <vt:lpstr>Learning Objective 8.3</vt:lpstr>
      <vt:lpstr>Traditional Organizational Designs</vt:lpstr>
      <vt:lpstr>Functional Structure</vt:lpstr>
      <vt:lpstr>Divisional Structure</vt:lpstr>
      <vt:lpstr>Contemporary Organizational Design</vt:lpstr>
      <vt:lpstr>Team Structure</vt:lpstr>
      <vt:lpstr>Matrix and Project Structures</vt:lpstr>
      <vt:lpstr>Project Structure</vt:lpstr>
      <vt:lpstr>Boundaryless Organizations</vt:lpstr>
      <vt:lpstr>Learning Objective 8.4</vt:lpstr>
      <vt:lpstr>Current Organizational Design Challenges</vt:lpstr>
      <vt:lpstr>A Learning Organization</vt:lpstr>
      <vt:lpstr>Flexible Work Arrangements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Management, Eleventh Edition, Chapter 8</dc:title>
  <dc:subject>Fundamentals of Management</dc:subject>
  <dc:creator>Robbins, Coulter and DeCenzo</dc:creator>
  <cp:keywords>Fundamentals of Management</cp:keywords>
  <dc:description>Additional information may be found in the Notes Pane of each slide by pressing F6.</dc:description>
  <cp:lastModifiedBy>John Frazier</cp:lastModifiedBy>
  <cp:revision>1289</cp:revision>
  <dcterms:created xsi:type="dcterms:W3CDTF">2014-07-14T20:04:21Z</dcterms:created>
  <dcterms:modified xsi:type="dcterms:W3CDTF">2023-08-08T14:16:59Z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0x01010086D90B95B22DD945BDFF45EB84A5E21C</vt:lpwstr>
  </property>
</Properties>
</file>